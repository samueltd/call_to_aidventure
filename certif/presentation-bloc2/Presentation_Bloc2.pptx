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Présenter votre identité, votre rôle exact et le commanditaire. E2 dure 15 minutes ; E3 suit pendant 20 minutes, puis le bloc prévoit 10 minutes de questions. Le rapport professionnel reste distinct de ce support. Le choix du service doit être défendu par des preuves, pas uniquement par son utilisation dans le code.</a:t>
            </a:r>
          </a:p>
          <a:p/>
          <a:p>
            <a:r>
              <a:t>Sources : Référentiel 2023, p. 6–9 ; règlement, p.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Illustrer avec une porte fermée : la narration décrit la situation, le modèle propose trois actions, puis le joueur en choisit une. Le modèle ne doit pas inventer directement les nouvelles statistiques. Les schémas imposent une forme, pas la pertinence narrative ou la langue : celles-ci nécessitent une évaluation distincte.</a:t>
            </a:r>
          </a:p>
          <a:p/>
          <a:p>
            <a:r>
              <a:t>Sources : docs/block2/ai-requirements-and-selection.md ; src/agents/schemas.py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Expliquer p95 : 95 % des observations sont sous cette durée sur une fenêtre définie. Ne pas confondre timeout d’un appel et durée totale d’un tour, qui peut contenir plusieurs appels et reprises. Budget, volume réel et arbitrage final ne sont pas fournis. Le taux de 90 % exige un corpus représentatif et une notation adaptée.</a:t>
            </a:r>
          </a:p>
          <a:p/>
          <a:p>
            <a:r>
              <a:t>Sources : docs/block2/ai-requirements-and-selection.md ; ai-test-strategy.md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référentiel demande au minimum une heure hebdomadaire. Le document de diagnostic renvoie C6 à un dossier séparé : son absence dans ce dépôt ne prouve pas que vous ne l’avez pas réalisé ailleurs. Insérer vos dates, outils, sources identifiées, synthèses et destinataires. Cette slide est une trame, pas une veille effectivement conduite ni un état de l’art actualisé.</a:t>
            </a:r>
          </a:p>
          <a:p/>
          <a:p>
            <a:r>
              <a:t>Sources : Référentiel, C6, p. 6–8 ; certif/block-2-technical-gap-analysis.md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Pour chaque candidat, relever version, date, validité, qualité FR/EN, p50/p95, tokens, coût estimé, région de traitement et rétention. Inclure les informations disponibles sur la démarche écoresponsable. Expliciter les services non étudiés et pourquoi. Ce support ne remplace pas le benchmark exigé par C7 ; aucune invocation payante n’a été réalisée.</a:t>
            </a:r>
          </a:p>
          <a:p/>
          <a:p>
            <a:r>
              <a:t>Sources : docs/block2/ai-requirements-and-selection.md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 justification actuelle vise la génération multilingue et structurée sans héberger un gros modèle, un petit corpus vectoriel local et des transitions explicites. Le lore retrouvé est injecté dans les prompts envoyés au service de génération : rendre ce flux clair. Ne pas présenter cette décision qualitative comme un benchmark déjà conclu.</a:t>
            </a:r>
          </a:p>
          <a:p/>
          <a:p>
            <a:r>
              <a:t>Sources : docs/block2/ai-requirements-and-selection.md ; docs/rag-system.md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Lire les valeurs réellement configurées avant démonstration. Le nom du modèle par défaut est une chaîne du dépôt, pas une vérification de disponibilité commerciale. La commande check_ai_services valide les paramètres ; son option --connect vérifie Ollama, pas une génération réelle du fournisseur. Ne jamais afficher le fichier .env.</a:t>
            </a:r>
          </a:p>
          <a:p/>
          <a:p>
            <a:r>
              <a:t>Sources : src/agents/runtime_config.py ; .env.example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dry-run exécuté prépare 36 fragments de personnages et 21 de lieux. La documentation ancienne annonce 39 : la mesure du code courant prime. Aucun serveur Ollama ni Chroma n’a été testé en ligne ici. L’objectif de rappel des sources doit être mesuré séparément ; le runner actuel ne le calcule pas.</a:t>
            </a:r>
          </a:p>
          <a:p/>
          <a:p>
            <a:r>
              <a:t>Sources : src/retrieval/ ; vérification du 14/09/2026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 formule complète utilise des tarifs par million de tokens : diviser la consommation par un million et distinguer entrée/sortie. Aucun tarif actuel n’est avancé. Les coûts estimés ne sont pas une facture. Éviter d’affirmer qu’un modèle local est automatiquement moins cher ou plus sobre ; cela dépend du matériel et des usages.</a:t>
            </a:r>
          </a:p>
          <a:p/>
          <a:p>
            <a:r>
              <a:t>Sources : docs/block2/ai-requirements-and-selection.md ; docs/rag-system.md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Rappeler ce qui fonctionne dans le code et ce qui reste à montrer en réel. Préparer une démonstration safe de configuration et une sortie structurée issue d’un vrai appel, en conservant modèle, date et contexte d’évaluation. Le bilan ne prétend pas valider toutes les compétences E2.</a:t>
            </a:r>
          </a:p>
          <a:p/>
          <a:p>
            <a:r>
              <a:t>Sources : docs/block2/evidence-checklist.md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Introduire E3 de façon autonome si ce fichier est présenté séparément. Il s’agit de mettre en service un modèle préexistant dans une application, pas d’entraîner ses poids. Expliquer ce qui est versionné localement et ce qui dépend du fournisseur distant.</a:t>
            </a:r>
          </a:p>
          <a:p/>
          <a:p>
            <a:r>
              <a:t>Sources : Référentiel, C9–C13, p. 10–16 ; docs/block2/traceability.md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health renvoie des booléens, pas un ping fournisseur. Décrire le body {"choice": "Open the gate"}. L’API réutilise StepGameView pour déclencher le moteur. Le contrat YAML existe, mais quelques écarts contrat/code sont identifiés en annexe et ne doivent pas être présentés comme une conformité OpenAPI parfaite.</a:t>
            </a:r>
          </a:p>
          <a:p/>
          <a:p>
            <a:r>
              <a:t>Sources : src/django/game/ai_api.py ; docs/block2/openapi.yaml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Résultats vérifiés : utilisateur étranger rejeté, choix arbitraire rejeté avec liste renseignée, CSRF refusé sans jeton et quota exercé. Limite importante : le code ne rejette pas par ce contrôle un choix lorsque current_choices est vide. Ne pas affirmer une prévention générale des injections de prompt. Ne pas montrer d’identifiants de session réels.</a:t>
            </a:r>
          </a:p>
          <a:p/>
          <a:p>
            <a:r>
              <a:t>Sources : src/django/game/ai_api.py ; src/django/game/test_ai_api.py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Éviter un schéma trompeur qui ferait passer le navigateur par v1 : le template pointe vers api_step. L’intégration effective du fournisseur passe par les chaînes du moteur ; v1 expose une autre frontière. Une preuve C10 complète doit montrer les endpoints réellement consommés et les adaptations d’interface, avec leur évaluation d’accessibilité.</a:t>
            </a:r>
          </a:p>
          <a:p/>
          <a:p>
            <a:r>
              <a:t>Sources : src/django/game/templates/game/play.html ; ai_api.py ; services/game_engine.py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ciblés ont exercé les prompts FR, la reprise narrative, l’échec sans progression, les outils de soin et les objectifs. La classe SaveGamePersistenceTests n’appartient pas au lot de 33 exécuté ici : ne pas attribuer à ce lot la totalité des tests de persistance. Les cas sont simulés ; aucune qualité linguistique en réel n’est mesurée.</a:t>
            </a:r>
          </a:p>
          <a:p/>
          <a:p>
            <a:r>
              <a:t>Sources : src/agents/schemas.py ; src/django/game/tests.py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compteur et histogramme, ainsi que la fenêtre de calcul. Les métriques exposées ont des tests ciblés, mais la chaîne Prometheus/Grafana n’a pas été lancée pour ce support. Les tokens peuvent dépendre des données d’usage fournies par le service ; l’estimation de coût nécessite des tarifs à jour. Les labels bornés évitent données sensibles et cardinalité excessive.</a:t>
            </a:r>
          </a:p>
          <a:p/>
          <a:p>
            <a:r>
              <a:t>Sources : src/observability/ ; docs/block2/monitoring-slos.md ;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seuil précis de RAG documenté est plus de deux échecs en quinze minutes. La latence doit être élevée pendant dix minutes. Préparer un déclenchement contrôlé en bac à sable avec capture horodatée et retour à la règle initiale. Ce projet ajuste l’intégration ; il ne réentraîne pas automatiquement le modèle distant.</a:t>
            </a:r>
          </a:p>
          <a:p/>
          <a:p>
            <a:r>
              <a:t>Sources : docs/block2/monitoring-slos.md ; monitoring/alertmanager/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Point central : validate_dataset vérifie version, identifiants et types de tâches ; ce n’est pas une validation exhaustive du contenu. En live, passed=True signifie ici passage de la chaîne et de ChoiceOutput. Les seuils 1,0 et 0,9 sont écrits dans le rapport ; le code de sortie exige tous les résultats passed. Ne pas annoncer 100 % de qualité à partir de validated_offline.</a:t>
            </a:r>
          </a:p>
          <a:p/>
          <a:p>
            <a:r>
              <a:t>Sources : src/evaluation/runner.py ; evaluation/dataset.json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Nommer les classes exécutées, disponibles dans le fichier de preuve. Les 33 tests sont un sous-ensemble, pas toute la suite ni une mesure de couverture. Le résultat de 3,711 s est la durée des tests, jamais une latence d’inférence. Aucune suite API complète ou audit de sécurité ne doit être revendiqué à partir de ce lot.</a:t>
            </a:r>
          </a:p>
          <a:p/>
          <a:p>
            <a:r>
              <a:t>Sources : preuves/evaluation-offline.json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PR, push main et déclenchement manuel. Le conteneur est construit et chargé localement dans le job : le workflow ne prouve pas la publication d’une image dans un registre. Le smoke test utilise une clé factice et RAG désactivé ; il vérifie le démarrage HTTP, pas le modèle. La couverture 55 % est un seuil configuré, pas une mesure obtenue aujourd’hui.</a:t>
            </a:r>
          </a:p>
          <a:p/>
          <a:p>
            <a:r>
              <a:t>Sources : .github/workflows/block2-ai.yml ; docs/block2/delivery.md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Garder au moins un artefact connu bon. Le modèle hébergé peut évoluer si son identifiant n’est pas une version figée ; expliciter cette limite. Versionner une collection RAG fait partie de la procédure à organiser, pas d’une preuve d’activation déjà produite ici. Staging, registre et liens de jobs restent à renseigner.</a:t>
            </a:r>
          </a:p>
          <a:p/>
          <a:p>
            <a:r>
              <a:t>Sources : docs/block2/delivery.md ; src/evaluation/runner.py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manipulations tiennent dans le créneau de cette slide si les onglets sont prêts. Sans service démarré, montrer les preuves hors ligne et nommer explicitement ce qui est une simulation. Ne pas déclencher un appel payant ou envoyer une notification à un tiers par surprise. Préparer l’audit d’accessibilité et les liens de démonstration avant la soutenance.</a:t>
            </a:r>
          </a:p>
          <a:p/>
          <a:p>
            <a:r>
              <a:t>Sources : docs/block2/evidence-checklist.md ; Notes_orales_Bloc2.md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Ces observations proviennent du code local, sans test d’exploitation. Le lot courant couvre une liste de choix non vide. Ajouter des tests de contrat et corriger les écarts avant de revendiquer une conformité stricte. Ce support ne change pas le périmètre de la demande en tâche de développement.</a:t>
            </a:r>
          </a:p>
          <a:p/>
          <a:p>
            <a:r>
              <a:t>Sources : docs/block2/openapi.yaml ; src/django/game/ai_api.py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Les chemins des cartes sont abrégés pour projection. Utiliser les notes et le dépôt pour ouvrir les fichiers exacts. Le référentiel local fourni est la base de ce support ; aucune affirmation n’est faite sur une éventuelle version plus récente de la certification.</a:t>
            </a:r>
          </a:p>
          <a:p/>
          <a:p>
            <a:r>
              <a:t>Sources : Référentiel fourni, p. 6–16 ; docs/block2/traceability.md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Préparer aussi : confidentialité du contexte envoyé, timeout par appel versus tour complet, quota multi-instance, limite des schémas et stabilité des modèles hébergés. Rester précis sur l’absence d’entraînement ou de réentraînement dans ce projet.</a:t>
            </a:r>
          </a:p>
          <a:p/>
          <a:p>
            <a:r>
              <a:t>Sources : docs/block2/evidence-checklist.md ; src/evaluation/runner.py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C6 À C8</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et configurer le service d’IA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2 · E2 : 15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BESOIN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maître du jeu narratif en</a:t>
            </a:r>
          </a:p>
          <a:p>
            <a:pPr>
              <a:lnSpc>
                <a:spcPts val="2000"/>
              </a:lnSpc>
              <a:spcBef>
                <a:spcPts val="0"/>
              </a:spcBef>
              <a:spcAft>
                <a:spcPts val="0"/>
              </a:spcAft>
              <a:defRPr sz="1600" b="0">
                <a:solidFill>
                  <a:srgbClr val="F4F6FA"/>
                </a:solidFill>
                <a:latin typeface="Arial"/>
              </a:defRPr>
            </a:pPr>
            <a:r>
              <a:t>français et en anglais, relié à un</a:t>
            </a:r>
          </a:p>
          <a:p>
            <a:pPr>
              <a:lnSpc>
                <a:spcPts val="2000"/>
              </a:lnSpc>
              <a:spcBef>
                <a:spcPts val="0"/>
              </a:spcBef>
              <a:spcAft>
                <a:spcPts val="0"/>
              </a:spcAft>
              <a:defRPr sz="1600" b="0">
                <a:solidFill>
                  <a:srgbClr val="F4F6FA"/>
                </a:solidFill>
                <a:latin typeface="Arial"/>
              </a:defRPr>
            </a:pPr>
            <a:r>
              <a:t>état de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DÉMARCHE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Veille, critères de sélection,</a:t>
            </a:r>
          </a:p>
          <a:p>
            <a:pPr>
              <a:lnSpc>
                <a:spcPts val="2000"/>
              </a:lnSpc>
              <a:spcBef>
                <a:spcPts val="0"/>
              </a:spcBef>
              <a:spcAft>
                <a:spcPts val="0"/>
              </a:spcAft>
              <a:defRPr sz="1600" b="0">
                <a:solidFill>
                  <a:srgbClr val="F4F6FA"/>
                </a:solidFill>
                <a:latin typeface="Arial"/>
              </a:defRPr>
            </a:pPr>
            <a:r>
              <a:t>architecture et configuration.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POSITIONNEMENT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Intégration de services</a:t>
            </a:r>
          </a:p>
          <a:p>
            <a:pPr>
              <a:lnSpc>
                <a:spcPts val="2000"/>
              </a:lnSpc>
              <a:spcBef>
                <a:spcPts val="0"/>
              </a:spcBef>
              <a:spcAft>
                <a:spcPts val="0"/>
              </a:spcAft>
              <a:defRPr sz="1600" b="0">
                <a:solidFill>
                  <a:srgbClr val="F4F6FA"/>
                </a:solidFill>
                <a:latin typeface="Arial"/>
              </a:defRPr>
            </a:pPr>
            <a:r>
              <a:t>préexistants. Pas d’entraînement</a:t>
            </a:r>
          </a:p>
          <a:p>
            <a:pPr>
              <a:lnSpc>
                <a:spcPts val="2000"/>
              </a:lnSpc>
              <a:spcBef>
                <a:spcPts val="0"/>
              </a:spcBef>
              <a:spcAft>
                <a:spcPts val="0"/>
              </a:spcAft>
              <a:defRPr sz="1600" b="0">
                <a:solidFill>
                  <a:srgbClr val="F4F6FA"/>
                </a:solidFill>
                <a:latin typeface="Arial"/>
              </a:defRPr>
            </a:pPr>
            <a:r>
              <a:t>d’un modèle de génération dans ce</a:t>
            </a:r>
          </a:p>
          <a:p>
            <a:pPr>
              <a:lnSpc>
                <a:spcPts val="2000"/>
              </a:lnSpc>
              <a:spcBef>
                <a:spcPts val="0"/>
              </a:spcBef>
              <a:spcAft>
                <a:spcPts val="0"/>
              </a:spcAft>
              <a:defRPr sz="1600" b="0">
                <a:solidFill>
                  <a:srgbClr val="F4F6FA"/>
                </a:solidFill>
                <a:latin typeface="Arial"/>
              </a:defRPr>
            </a:pPr>
            <a:r>
              <a:t>projet.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De la demande fonctionnelle à une solution intégrable.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2023, p. 6–9 ; règlement, p.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EXPRESSION DU BESOIN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Raconter, proposer, agir : trois contrats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L’IA intervient dans un moteur dont les règles restent côté serveur.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NARRATION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État + action + contexte</a:t>
            </a:r>
          </a:p>
          <a:p>
            <a:pPr>
              <a:lnSpc>
                <a:spcPts val="2000"/>
              </a:lnSpc>
              <a:spcBef>
                <a:spcPts val="0"/>
              </a:spcBef>
              <a:spcAft>
                <a:spcPts val="0"/>
              </a:spcAft>
              <a:defRPr sz="1600" b="0">
                <a:solidFill>
                  <a:srgbClr val="F4F6FA"/>
                </a:solidFill>
                <a:latin typeface="Arial"/>
              </a:defRPr>
            </a:pPr>
            <a:r>
              <a:t>documentaire → suite de</a:t>
            </a:r>
          </a:p>
          <a:p>
            <a:pPr>
              <a:lnSpc>
                <a:spcPts val="2000"/>
              </a:lnSpc>
              <a:spcBef>
                <a:spcPts val="0"/>
              </a:spcBef>
              <a:spcAft>
                <a:spcPts val="0"/>
              </a:spcAft>
              <a:defRPr sz="1600" b="0">
                <a:solidFill>
                  <a:srgbClr val="F4F6FA"/>
                </a:solidFill>
                <a:latin typeface="Arial"/>
              </a:defRPr>
            </a:pPr>
            <a:r>
              <a:t>l’aventure en FR ou EN.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CHOIX</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Exactement 3 actions distinctes.</a:t>
            </a:r>
          </a:p>
          <a:p>
            <a:pPr>
              <a:lnSpc>
                <a:spcPts val="2000"/>
              </a:lnSpc>
              <a:spcBef>
                <a:spcPts val="0"/>
              </a:spcBef>
              <a:spcAft>
                <a:spcPts val="0"/>
              </a:spcAft>
              <a:defRPr sz="1600" b="0">
                <a:solidFill>
                  <a:srgbClr val="F4F6FA"/>
                </a:solidFill>
                <a:latin typeface="Arial"/>
              </a:defRPr>
            </a:pPr>
            <a:r>
              <a:t>6 mots maximum par action.</a:t>
            </a:r>
          </a:p>
          <a:p>
            <a:pPr>
              <a:lnSpc>
                <a:spcPts val="2000"/>
              </a:lnSpc>
              <a:spcBef>
                <a:spcPts val="0"/>
              </a:spcBef>
              <a:spcAft>
                <a:spcPts val="0"/>
              </a:spcAft>
              <a:defRPr sz="1600" b="0">
                <a:solidFill>
                  <a:srgbClr val="F4F6FA"/>
                </a:solidFill>
                <a:latin typeface="Arial"/>
              </a:defRPr>
            </a:pPr>
            <a:r>
              <a:t>Structure validée par Pydantic.</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DÉCISIONS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Objectifs et salle : sorties typées.</a:t>
            </a:r>
          </a:p>
          <a:p>
            <a:pPr>
              <a:lnSpc>
                <a:spcPts val="2000"/>
              </a:lnSpc>
              <a:spcBef>
                <a:spcPts val="0"/>
              </a:spcBef>
              <a:spcAft>
                <a:spcPts val="0"/>
              </a:spcAft>
              <a:defRPr sz="1600" b="0">
                <a:solidFill>
                  <a:srgbClr val="F4F6FA"/>
                </a:solidFill>
                <a:latin typeface="Arial"/>
              </a:defRPr>
            </a:pPr>
            <a:r>
              <a:t>Combat, soin et dégâts : outils</a:t>
            </a:r>
          </a:p>
          <a:p>
            <a:pPr>
              <a:lnSpc>
                <a:spcPts val="2000"/>
              </a:lnSpc>
              <a:spcBef>
                <a:spcPts val="0"/>
              </a:spcBef>
              <a:spcAft>
                <a:spcPts val="0"/>
              </a:spcAft>
              <a:defRPr sz="1600" b="0">
                <a:solidFill>
                  <a:srgbClr val="F4F6FA"/>
                </a:solidFill>
                <a:latin typeface="Arial"/>
              </a:defRPr>
            </a:pPr>
            <a:r>
              <a:t>autorisés et règles déterministes.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sortie grammaticalement correcte peut rester incorrecte pour le jeu.</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src/agents/schemas.py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CRITÈRES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Définir la réussite avant de comparer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valeurs suivantes sont des objectifs documentés, pas des scores mesurés.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100 % de sorties structurées</a:t>
            </a:r>
          </a:p>
          <a:p>
            <a:pPr>
              <a:lnSpc>
                <a:spcPts val="2000"/>
              </a:lnSpc>
              <a:spcBef>
                <a:spcPts val="0"/>
              </a:spcBef>
              <a:spcAft>
                <a:spcPts val="0"/>
              </a:spcAft>
              <a:defRPr sz="1600" b="0">
                <a:solidFill>
                  <a:srgbClr val="F4F6FA"/>
                </a:solidFill>
                <a:latin typeface="Arial"/>
              </a:defRPr>
            </a:pPr>
            <a:r>
              <a:t>valides.</a:t>
            </a:r>
          </a:p>
          <a:p>
            <a:pPr>
              <a:lnSpc>
                <a:spcPts val="2000"/>
              </a:lnSpc>
              <a:spcBef>
                <a:spcPts val="0"/>
              </a:spcBef>
              <a:spcAft>
                <a:spcPts val="0"/>
              </a:spcAft>
              <a:defRPr sz="1600" b="0">
                <a:solidFill>
                  <a:srgbClr val="F4F6FA"/>
                </a:solidFill>
                <a:latin typeface="Arial"/>
              </a:defRPr>
            </a:pPr>
            <a:r>
              <a:t>Au moins 90 % de réussite sur le</a:t>
            </a:r>
          </a:p>
          <a:p>
            <a:pPr>
              <a:lnSpc>
                <a:spcPts val="2000"/>
              </a:lnSpc>
              <a:spcBef>
                <a:spcPts val="0"/>
              </a:spcBef>
              <a:spcAft>
                <a:spcPts val="0"/>
              </a:spcAft>
              <a:defRPr sz="1600" b="0">
                <a:solidFill>
                  <a:srgbClr val="F4F6FA"/>
                </a:solidFill>
                <a:latin typeface="Arial"/>
              </a:defRPr>
            </a:pPr>
            <a:r>
              <a:t>jeu de cas.</a:t>
            </a:r>
          </a:p>
          <a:p>
            <a:pPr>
              <a:lnSpc>
                <a:spcPts val="2000"/>
              </a:lnSpc>
              <a:spcBef>
                <a:spcPts val="0"/>
              </a:spcBef>
              <a:spcAft>
                <a:spcPts val="0"/>
              </a:spcAft>
              <a:defRPr sz="1600" b="0">
                <a:solidFill>
                  <a:srgbClr val="F4F6FA"/>
                </a:solidFill>
                <a:latin typeface="Arial"/>
              </a:defRPr>
            </a:pPr>
            <a:r>
              <a:t>Relecture humaine FR / EN.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Objectif p95 inférieur à 30 s.</a:t>
            </a:r>
          </a:p>
          <a:p>
            <a:pPr>
              <a:lnSpc>
                <a:spcPts val="2000"/>
              </a:lnSpc>
              <a:spcBef>
                <a:spcPts val="0"/>
              </a:spcBef>
              <a:spcAft>
                <a:spcPts val="0"/>
              </a:spcAft>
              <a:defRPr sz="1600" b="0">
                <a:solidFill>
                  <a:srgbClr val="F4F6FA"/>
                </a:solidFill>
                <a:latin typeface="Arial"/>
              </a:defRPr>
            </a:pPr>
            <a:r>
              <a:t>Disponibilité logique visée : 99 %.</a:t>
            </a:r>
          </a:p>
          <a:p>
            <a:pPr>
              <a:lnSpc>
                <a:spcPts val="2000"/>
              </a:lnSpc>
              <a:spcBef>
                <a:spcPts val="0"/>
              </a:spcBef>
              <a:spcAft>
                <a:spcPts val="0"/>
              </a:spcAft>
              <a:defRPr sz="1600" b="0">
                <a:solidFill>
                  <a:srgbClr val="F4F6FA"/>
                </a:solidFill>
                <a:latin typeface="Arial"/>
              </a:defRPr>
            </a:pPr>
            <a:r>
              <a:t>Échec contrôlé sans perte d’état.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CONTRAINTES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Budget mensuel à renseigner.</a:t>
            </a:r>
          </a:p>
          <a:p>
            <a:pPr>
              <a:lnSpc>
                <a:spcPts val="2000"/>
              </a:lnSpc>
              <a:spcBef>
                <a:spcPts val="0"/>
              </a:spcBef>
              <a:spcAft>
                <a:spcPts val="0"/>
              </a:spcAft>
              <a:defRPr sz="1600" b="0">
                <a:solidFill>
                  <a:srgbClr val="F4F6FA"/>
                </a:solidFill>
                <a:latin typeface="Arial"/>
              </a:defRPr>
            </a:pPr>
            <a:r>
              <a:t>Conditions de traitement à vérifier.</a:t>
            </a:r>
          </a:p>
          <a:p>
            <a:pPr>
              <a:lnSpc>
                <a:spcPts val="2000"/>
              </a:lnSpc>
              <a:spcBef>
                <a:spcPts val="0"/>
              </a:spcBef>
              <a:spcAft>
                <a:spcPts val="0"/>
              </a:spcAft>
              <a:defRPr sz="1600" b="0">
                <a:solidFill>
                  <a:srgbClr val="F4F6FA"/>
                </a:solidFill>
                <a:latin typeface="Arial"/>
              </a:defRPr>
            </a:pPr>
            <a:r>
              <a:t>Matériel local pour les</a:t>
            </a:r>
          </a:p>
          <a:p>
            <a:pPr>
              <a:lnSpc>
                <a:spcPts val="2000"/>
              </a:lnSpc>
              <a:spcBef>
                <a:spcPts val="0"/>
              </a:spcBef>
              <a:spcAft>
                <a:spcPts val="0"/>
              </a:spcAft>
              <a:defRPr sz="1600" b="0">
                <a:solidFill>
                  <a:srgbClr val="F4F6FA"/>
                </a:solidFill>
                <a:latin typeface="Arial"/>
              </a:defRPr>
            </a:pPr>
            <a:r>
              <a:t>embeddings.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Séparer validité du format, qualité de la réponse et disponibilité du service.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ai-test-strategy.md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C6 · VEILLE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veille à rattacher aux décisions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Trame proposée ; les preuves de veille ne figurent pas dans le dépôt consulté.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THÈMES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Sorties structurées et outils.</a:t>
            </a:r>
          </a:p>
          <a:p>
            <a:pPr>
              <a:lnSpc>
                <a:spcPts val="2000"/>
              </a:lnSpc>
              <a:spcBef>
                <a:spcPts val="0"/>
              </a:spcBef>
              <a:spcAft>
                <a:spcPts val="0"/>
              </a:spcAft>
              <a:defRPr sz="1600" b="0">
                <a:solidFill>
                  <a:srgbClr val="F4F6FA"/>
                </a:solidFill>
                <a:latin typeface="Arial"/>
              </a:defRPr>
            </a:pPr>
            <a:r>
              <a:t>RAG et évaluation.</a:t>
            </a:r>
          </a:p>
          <a:p>
            <a:pPr>
              <a:lnSpc>
                <a:spcPts val="2000"/>
              </a:lnSpc>
              <a:spcBef>
                <a:spcPts val="0"/>
              </a:spcBef>
              <a:spcAft>
                <a:spcPts val="0"/>
              </a:spcAft>
              <a:defRPr sz="1600" b="0">
                <a:solidFill>
                  <a:srgbClr val="F4F6FA"/>
                </a:solidFill>
                <a:latin typeface="Arial"/>
              </a:defRPr>
            </a:pPr>
            <a:r>
              <a:t>Sécurité, données personnelles,</a:t>
            </a:r>
          </a:p>
          <a:p>
            <a:pPr>
              <a:lnSpc>
                <a:spcPts val="2000"/>
              </a:lnSpc>
              <a:spcBef>
                <a:spcPts val="0"/>
              </a:spcBef>
              <a:spcAft>
                <a:spcPts val="0"/>
              </a:spcAft>
              <a:defRPr sz="1600" b="0">
                <a:solidFill>
                  <a:srgbClr val="F4F6FA"/>
                </a:solidFill>
                <a:latin typeface="Arial"/>
              </a:defRPr>
            </a:pPr>
            <a:r>
              <a:t>accessibilité et sobriété.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MÉTHODE PROPOSÉE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1 h hebdomadaire.</a:t>
            </a:r>
          </a:p>
          <a:p>
            <a:pPr>
              <a:lnSpc>
                <a:spcPts val="2000"/>
              </a:lnSpc>
              <a:spcBef>
                <a:spcPts val="0"/>
              </a:spcBef>
              <a:spcAft>
                <a:spcPts val="0"/>
              </a:spcAft>
              <a:defRPr sz="1600" b="0">
                <a:solidFill>
                  <a:srgbClr val="F4F6FA"/>
                </a:solidFill>
                <a:latin typeface="Arial"/>
              </a:defRPr>
            </a:pPr>
            <a:r>
              <a:t>Agrégateur RSS + journal daté.</a:t>
            </a:r>
          </a:p>
          <a:p>
            <a:pPr>
              <a:lnSpc>
                <a:spcPts val="2000"/>
              </a:lnSpc>
              <a:spcBef>
                <a:spcPts val="0"/>
              </a:spcBef>
              <a:spcAft>
                <a:spcPts val="0"/>
              </a:spcAft>
              <a:defRPr sz="1600" b="0">
                <a:solidFill>
                  <a:srgbClr val="F4F6FA"/>
                </a:solidFill>
                <a:latin typeface="Arial"/>
              </a:defRPr>
            </a:pPr>
            <a:r>
              <a:t>Auteur, date et fiabilité.</a:t>
            </a:r>
          </a:p>
          <a:p>
            <a:pPr>
              <a:lnSpc>
                <a:spcPts val="2000"/>
              </a:lnSpc>
              <a:spcBef>
                <a:spcPts val="0"/>
              </a:spcBef>
              <a:spcAft>
                <a:spcPts val="0"/>
              </a:spcAft>
              <a:defRPr sz="1600" b="0">
                <a:solidFill>
                  <a:srgbClr val="F4F6FA"/>
                </a:solidFill>
                <a:latin typeface="Arial"/>
              </a:defRPr>
            </a:pPr>
            <a:r>
              <a:t>Recoupement des informations.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 ATTENDUE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synthèse accessible.</a:t>
            </a:r>
          </a:p>
          <a:p>
            <a:pPr>
              <a:lnSpc>
                <a:spcPts val="2000"/>
              </a:lnSpc>
              <a:spcBef>
                <a:spcPts val="0"/>
              </a:spcBef>
              <a:spcAft>
                <a:spcPts val="0"/>
              </a:spcAft>
              <a:defRPr sz="1600" b="0">
                <a:solidFill>
                  <a:srgbClr val="F4F6FA"/>
                </a:solidFill>
                <a:latin typeface="Arial"/>
              </a:defRPr>
            </a:pPr>
            <a:r>
              <a:t>Une recommandation argumentée.</a:t>
            </a:r>
          </a:p>
          <a:p>
            <a:pPr>
              <a:lnSpc>
                <a:spcPts val="2000"/>
              </a:lnSpc>
              <a:spcBef>
                <a:spcPts val="0"/>
              </a:spcBef>
              <a:spcAft>
                <a:spcPts val="0"/>
              </a:spcAft>
              <a:defRPr sz="1600" b="0">
                <a:solidFill>
                  <a:srgbClr val="F4F6FA"/>
                </a:solidFill>
                <a:latin typeface="Arial"/>
              </a:defRPr>
            </a:pPr>
            <a:r>
              <a:t>Une décision liée au projet.</a:t>
            </a:r>
          </a:p>
          <a:p>
            <a:pPr>
              <a:lnSpc>
                <a:spcPts val="2000"/>
              </a:lnSpc>
              <a:spcBef>
                <a:spcPts val="0"/>
              </a:spcBef>
              <a:spcAft>
                <a:spcPts val="0"/>
              </a:spcAft>
              <a:defRPr sz="1600" b="0">
                <a:solidFill>
                  <a:srgbClr val="F4F6FA"/>
                </a:solidFill>
                <a:latin typeface="Arial"/>
              </a:defRPr>
            </a:pPr>
            <a:r>
              <a:t>Une trace de partage effective.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À compléter avec votre veille réelle ; aucune synthèse diffusée n’est inventée.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C6, p. 6–8 ; certif/block-2-technical-gap-analysis.md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COMPARAISON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Comparer sur un protocole identique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benchmark réel de plusieurs modèles reste à réaliser.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MODÈLE HÉBERGÉ ACTUEL</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Intégré dans le code.</a:t>
            </a:r>
          </a:p>
          <a:p>
            <a:pPr>
              <a:lnSpc>
                <a:spcPts val="2000"/>
              </a:lnSpc>
              <a:spcBef>
                <a:spcPts val="0"/>
              </a:spcBef>
              <a:spcAft>
                <a:spcPts val="0"/>
              </a:spcAft>
              <a:defRPr sz="1600" b="0">
                <a:solidFill>
                  <a:srgbClr val="F4F6FA"/>
                </a:solidFill>
                <a:latin typeface="Arial"/>
              </a:defRPr>
            </a:pPr>
            <a:r>
              <a:t>Structure, langue, latence et coût à</a:t>
            </a:r>
          </a:p>
          <a:p>
            <a:pPr>
              <a:lnSpc>
                <a:spcPts val="2000"/>
              </a:lnSpc>
              <a:spcBef>
                <a:spcPts val="0"/>
              </a:spcBef>
              <a:spcAft>
                <a:spcPts val="0"/>
              </a:spcAft>
              <a:defRPr sz="1600" b="0">
                <a:solidFill>
                  <a:srgbClr val="F4F6FA"/>
                </a:solidFill>
                <a:latin typeface="Arial"/>
              </a:defRPr>
            </a:pPr>
            <a:r>
              <a:t>mesurer.</a:t>
            </a:r>
          </a:p>
          <a:p>
            <a:pPr>
              <a:lnSpc>
                <a:spcPts val="2000"/>
              </a:lnSpc>
              <a:spcBef>
                <a:spcPts val="0"/>
              </a:spcBef>
              <a:spcAft>
                <a:spcPts val="0"/>
              </a:spcAft>
              <a:defRPr sz="1600" b="0">
                <a:solidFill>
                  <a:srgbClr val="F4F6FA"/>
                </a:solidFill>
                <a:latin typeface="Arial"/>
              </a:defRPr>
            </a:pPr>
            <a:r>
              <a:t>Choix encore provisoire.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SECOND SERVICE</a:t>
            </a:r>
          </a:p>
          <a:p>
            <a:pPr>
              <a:lnSpc>
                <a:spcPts val="2250"/>
              </a:lnSpc>
              <a:spcBef>
                <a:spcPts val="0"/>
              </a:spcBef>
              <a:spcAft>
                <a:spcPts val="0"/>
              </a:spcAft>
              <a:defRPr sz="1800" b="1">
                <a:solidFill>
                  <a:srgbClr val="60DFBD"/>
                </a:solidFill>
                <a:latin typeface="Arial"/>
              </a:defRPr>
            </a:pPr>
            <a:r>
              <a:t>HÉBERGÉ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Candidat exact à nommer.</a:t>
            </a:r>
          </a:p>
          <a:p>
            <a:pPr>
              <a:lnSpc>
                <a:spcPts val="2000"/>
              </a:lnSpc>
              <a:spcBef>
                <a:spcPts val="0"/>
              </a:spcBef>
              <a:spcAft>
                <a:spcPts val="0"/>
              </a:spcAft>
              <a:defRPr sz="1600" b="0">
                <a:solidFill>
                  <a:srgbClr val="F4F6FA"/>
                </a:solidFill>
                <a:latin typeface="Arial"/>
              </a:defRPr>
            </a:pPr>
            <a:r>
              <a:t>Même dataset et même révision.</a:t>
            </a:r>
          </a:p>
          <a:p>
            <a:pPr>
              <a:lnSpc>
                <a:spcPts val="2000"/>
              </a:lnSpc>
              <a:spcBef>
                <a:spcPts val="0"/>
              </a:spcBef>
              <a:spcAft>
                <a:spcPts val="0"/>
              </a:spcAft>
              <a:defRPr sz="1600" b="0">
                <a:solidFill>
                  <a:srgbClr val="F4F6FA"/>
                </a:solidFill>
                <a:latin typeface="Arial"/>
              </a:defRPr>
            </a:pPr>
            <a:r>
              <a:t>Comparer les capacités requises et</a:t>
            </a:r>
          </a:p>
          <a:p>
            <a:pPr>
              <a:lnSpc>
                <a:spcPts val="2000"/>
              </a:lnSpc>
              <a:spcBef>
                <a:spcPts val="0"/>
              </a:spcBef>
              <a:spcAft>
                <a:spcPts val="0"/>
              </a:spcAft>
              <a:defRPr sz="1600" b="0">
                <a:solidFill>
                  <a:srgbClr val="F4F6FA"/>
                </a:solidFill>
                <a:latin typeface="Arial"/>
              </a:defRPr>
            </a:pPr>
            <a:r>
              <a:t>les conditions de traitement.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GÉNÉRATION LOCALE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Option à étudier.</a:t>
            </a:r>
          </a:p>
          <a:p>
            <a:pPr>
              <a:lnSpc>
                <a:spcPts val="2000"/>
              </a:lnSpc>
              <a:spcBef>
                <a:spcPts val="0"/>
              </a:spcBef>
              <a:spcAft>
                <a:spcPts val="0"/>
              </a:spcAft>
              <a:defRPr sz="1600" b="0">
                <a:solidFill>
                  <a:srgbClr val="F4F6FA"/>
                </a:solidFill>
                <a:latin typeface="Arial"/>
              </a:defRPr>
            </a:pPr>
            <a:r>
              <a:t>Matériel et latence à mesurer.</a:t>
            </a:r>
          </a:p>
          <a:p>
            <a:pPr>
              <a:lnSpc>
                <a:spcPts val="2000"/>
              </a:lnSpc>
              <a:spcBef>
                <a:spcPts val="0"/>
              </a:spcBef>
              <a:spcAft>
                <a:spcPts val="0"/>
              </a:spcAft>
              <a:defRPr sz="1600" b="0">
                <a:solidFill>
                  <a:srgbClr val="F4F6FA"/>
                </a:solidFill>
                <a:latin typeface="Arial"/>
              </a:defRPr>
            </a:pPr>
            <a:r>
              <a:t>Données locales ; exploitation à</a:t>
            </a:r>
          </a:p>
          <a:p>
            <a:pPr>
              <a:lnSpc>
                <a:spcPts val="2000"/>
              </a:lnSpc>
              <a:spcBef>
                <a:spcPts val="0"/>
              </a:spcBef>
              <a:spcAft>
                <a:spcPts val="0"/>
              </a:spcAft>
              <a:defRPr sz="1600" b="0">
                <a:solidFill>
                  <a:srgbClr val="F4F6FA"/>
                </a:solidFill>
                <a:latin typeface="Arial"/>
              </a:defRPr>
            </a:pPr>
            <a:r>
              <a:t>assurer.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Aucun service n’est déclaré meilleur sans résultats comparables.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ARCHITECTURE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génération hébergée, un RAG local</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Décision d’architecture déjà documentée dans le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Service OpenAI-compatible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Narration, choix et décisions</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Modèle piloté par configuration.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RETROUVER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JSON de lore → fragments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Embeddings Ollama → Chroma</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Contexte filtré par aventure.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ORCHESTRER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LangGraph</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Transitions explicites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Outils et moteur de jeu.</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Localiser les embeddings ne signifie pas que le contexte reste entièrement local.</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docs/rag-system.md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PARAMÉTRAGE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la configuration explicite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Valeurs par défaut du code ; l’environnement peut les remplacer.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Modèle : OPENAI_MODEL.</a:t>
            </a:r>
          </a:p>
          <a:p>
            <a:pPr>
              <a:lnSpc>
                <a:spcPts val="2000"/>
              </a:lnSpc>
              <a:spcBef>
                <a:spcPts val="0"/>
              </a:spcBef>
              <a:spcAft>
                <a:spcPts val="0"/>
              </a:spcAft>
              <a:defRPr sz="1600" b="0">
                <a:solidFill>
                  <a:srgbClr val="F4F6FA"/>
                </a:solidFill>
                <a:latin typeface="Arial"/>
              </a:defRPr>
            </a:pPr>
            <a:r>
              <a:t>Clé dans l’environnement.</a:t>
            </a:r>
          </a:p>
          <a:p>
            <a:pPr>
              <a:lnSpc>
                <a:spcPts val="2000"/>
              </a:lnSpc>
              <a:spcBef>
                <a:spcPts val="0"/>
              </a:spcBef>
              <a:spcAft>
                <a:spcPts val="0"/>
              </a:spcAft>
              <a:defRPr sz="1600" b="0">
                <a:solidFill>
                  <a:srgbClr val="F4F6FA"/>
                </a:solidFill>
                <a:latin typeface="Arial"/>
              </a:defRPr>
            </a:pPr>
            <a:r>
              <a:t>Timeout d’appel : 30 s.</a:t>
            </a:r>
          </a:p>
          <a:p>
            <a:pPr>
              <a:lnSpc>
                <a:spcPts val="2000"/>
              </a:lnSpc>
              <a:spcBef>
                <a:spcPts val="0"/>
              </a:spcBef>
              <a:spcAft>
                <a:spcPts val="0"/>
              </a:spcAft>
              <a:defRPr sz="1600" b="0">
                <a:solidFill>
                  <a:srgbClr val="F4F6FA"/>
                </a:solidFill>
                <a:latin typeface="Arial"/>
              </a:defRPr>
            </a:pPr>
            <a:r>
              <a:t>Métadonnées sans clé secrète.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RETRIEVAL</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RAG_ENABLED configurable.</a:t>
            </a:r>
          </a:p>
          <a:p>
            <a:pPr>
              <a:lnSpc>
                <a:spcPts val="2000"/>
              </a:lnSpc>
              <a:spcBef>
                <a:spcPts val="0"/>
              </a:spcBef>
              <a:spcAft>
                <a:spcPts val="0"/>
              </a:spcAft>
              <a:defRPr sz="1600" b="0">
                <a:solidFill>
                  <a:srgbClr val="F4F6FA"/>
                </a:solidFill>
                <a:latin typeface="Arial"/>
              </a:defRPr>
            </a:pPr>
            <a:r>
              <a:t>Ollama : hôte local par défaut.</a:t>
            </a:r>
          </a:p>
          <a:p>
            <a:pPr>
              <a:lnSpc>
                <a:spcPts val="2000"/>
              </a:lnSpc>
              <a:spcBef>
                <a:spcPts val="0"/>
              </a:spcBef>
              <a:spcAft>
                <a:spcPts val="0"/>
              </a:spcAft>
              <a:defRPr sz="1600" b="0">
                <a:solidFill>
                  <a:srgbClr val="F4F6FA"/>
                </a:solidFill>
                <a:latin typeface="Arial"/>
              </a:defRPr>
            </a:pPr>
            <a:r>
              <a:t>Embeddings : mxbai-embed-large.</a:t>
            </a:r>
          </a:p>
          <a:p>
            <a:pPr>
              <a:lnSpc>
                <a:spcPts val="2000"/>
              </a:lnSpc>
              <a:spcBef>
                <a:spcPts val="0"/>
              </a:spcBef>
              <a:spcAft>
                <a:spcPts val="0"/>
              </a:spcAft>
              <a:defRPr sz="1600" b="0">
                <a:solidFill>
                  <a:srgbClr val="F4F6FA"/>
                </a:solidFill>
                <a:latin typeface="Arial"/>
              </a:defRPr>
            </a:pPr>
            <a:r>
              <a:t>Timeout : 10 s ; 3 tentatives.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FRONTIÈRE API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Choix : 1 000 caractères max.</a:t>
            </a:r>
          </a:p>
          <a:p>
            <a:pPr>
              <a:lnSpc>
                <a:spcPts val="2000"/>
              </a:lnSpc>
              <a:spcBef>
                <a:spcPts val="0"/>
              </a:spcBef>
              <a:spcAft>
                <a:spcPts val="0"/>
              </a:spcAft>
              <a:defRPr sz="1600" b="0">
                <a:solidFill>
                  <a:srgbClr val="F4F6FA"/>
                </a:solidFill>
                <a:latin typeface="Arial"/>
              </a:defRPr>
            </a:pPr>
            <a:r>
              <a:t>Quota par défaut : 20 tours par</a:t>
            </a:r>
          </a:p>
          <a:p>
            <a:pPr>
              <a:lnSpc>
                <a:spcPts val="2000"/>
              </a:lnSpc>
              <a:spcBef>
                <a:spcPts val="0"/>
              </a:spcBef>
              <a:spcAft>
                <a:spcPts val="0"/>
              </a:spcAft>
              <a:defRPr sz="1600" b="0">
                <a:solidFill>
                  <a:srgbClr val="F4F6FA"/>
                </a:solidFill>
                <a:latin typeface="Arial"/>
              </a:defRPr>
            </a:pPr>
            <a:r>
              <a:t>utilisateur et par heure.</a:t>
            </a:r>
          </a:p>
          <a:p>
            <a:pPr>
              <a:lnSpc>
                <a:spcPts val="2000"/>
              </a:lnSpc>
              <a:spcBef>
                <a:spcPts val="0"/>
              </a:spcBef>
              <a:spcAft>
                <a:spcPts val="0"/>
              </a:spcAft>
              <a:defRPr sz="1600" b="0">
                <a:solidFill>
                  <a:srgbClr val="F4F6FA"/>
                </a:solidFill>
                <a:latin typeface="Arial"/>
              </a:defRPr>
            </a:pPr>
            <a:r>
              <a:t>Validation de configuration.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paramètres décrivent le déploiement ; les secrets restent hors des supports.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src/agents/runtime_config.py ; .env.example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RAG</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Préparer le contexte avant la génération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 locale du corpus : 57 fragments préparés.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CORPUS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6 fichiers de personnages.</a:t>
            </a:r>
          </a:p>
          <a:p>
            <a:pPr>
              <a:lnSpc>
                <a:spcPts val="2000"/>
              </a:lnSpc>
              <a:spcBef>
                <a:spcPts val="0"/>
              </a:spcBef>
              <a:spcAft>
                <a:spcPts val="0"/>
              </a:spcAft>
              <a:defRPr sz="1600" b="0">
                <a:solidFill>
                  <a:srgbClr val="F4F6FA"/>
                </a:solidFill>
                <a:latin typeface="Arial"/>
              </a:defRPr>
            </a:pPr>
            <a:r>
              <a:t>3 fichiers de lieux.</a:t>
            </a:r>
          </a:p>
          <a:p>
            <a:pPr>
              <a:lnSpc>
                <a:spcPts val="2000"/>
              </a:lnSpc>
              <a:spcBef>
                <a:spcPts val="0"/>
              </a:spcBef>
              <a:spcAft>
                <a:spcPts val="0"/>
              </a:spcAft>
              <a:defRPr sz="1600" b="0">
                <a:solidFill>
                  <a:srgbClr val="F4F6FA"/>
                </a:solidFill>
                <a:latin typeface="Arial"/>
              </a:defRPr>
            </a:pPr>
            <a:r>
              <a:t>57 fragments au dry-run.</a:t>
            </a:r>
          </a:p>
          <a:p>
            <a:pPr>
              <a:lnSpc>
                <a:spcPts val="2000"/>
              </a:lnSpc>
              <a:spcBef>
                <a:spcPts val="0"/>
              </a:spcBef>
              <a:spcAft>
                <a:spcPts val="0"/>
              </a:spcAft>
              <a:defRPr sz="1600" b="0">
                <a:solidFill>
                  <a:srgbClr val="F4F6FA"/>
                </a:solidFill>
                <a:latin typeface="Arial"/>
              </a:defRPr>
            </a:pPr>
            <a:r>
              <a:t>Métadonnées de source.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L’EXÉCUTION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Requête contextualisée.</a:t>
            </a:r>
          </a:p>
          <a:p>
            <a:pPr>
              <a:lnSpc>
                <a:spcPts val="2000"/>
              </a:lnSpc>
              <a:spcBef>
                <a:spcPts val="0"/>
              </a:spcBef>
              <a:spcAft>
                <a:spcPts val="0"/>
              </a:spcAft>
              <a:defRPr sz="1600" b="0">
                <a:solidFill>
                  <a:srgbClr val="F4F6FA"/>
                </a:solidFill>
                <a:latin typeface="Arial"/>
              </a:defRPr>
            </a:pPr>
            <a:r>
              <a:t>Recherche filtrée par aventure.</a:t>
            </a:r>
          </a:p>
          <a:p>
            <a:pPr>
              <a:lnSpc>
                <a:spcPts val="2000"/>
              </a:lnSpc>
              <a:spcBef>
                <a:spcPts val="0"/>
              </a:spcBef>
              <a:spcAft>
                <a:spcPts val="0"/>
              </a:spcAft>
              <a:defRPr sz="1600" b="0">
                <a:solidFill>
                  <a:srgbClr val="F4F6FA"/>
                </a:solidFill>
                <a:latin typeface="Arial"/>
              </a:defRPr>
            </a:pPr>
            <a:r>
              <a:t>Passages injectés au prompt.</a:t>
            </a:r>
          </a:p>
          <a:p>
            <a:pPr>
              <a:lnSpc>
                <a:spcPts val="2000"/>
              </a:lnSpc>
              <a:spcBef>
                <a:spcPts val="0"/>
              </a:spcBef>
              <a:spcAft>
                <a:spcPts val="0"/>
              </a:spcAft>
              <a:defRPr sz="1600" b="0">
                <a:solidFill>
                  <a:srgbClr val="F4F6FA"/>
                </a:solidFill>
                <a:latin typeface="Arial"/>
              </a:defRPr>
            </a:pPr>
            <a:r>
              <a:t>Cache selon le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 CAS D’ÉCHEC</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Contexte vide et poursuite du jeu.</a:t>
            </a:r>
          </a:p>
          <a:p>
            <a:pPr>
              <a:lnSpc>
                <a:spcPts val="2000"/>
              </a:lnSpc>
              <a:spcBef>
                <a:spcPts val="0"/>
              </a:spcBef>
              <a:spcAft>
                <a:spcPts val="0"/>
              </a:spcAft>
              <a:defRPr sz="1600" b="0">
                <a:solidFill>
                  <a:srgbClr val="F4F6FA"/>
                </a:solidFill>
                <a:latin typeface="Arial"/>
              </a:defRPr>
            </a:pPr>
            <a:r>
              <a:t>Échec visible dans les métriques.</a:t>
            </a:r>
          </a:p>
          <a:p>
            <a:pPr>
              <a:lnSpc>
                <a:spcPts val="2000"/>
              </a:lnSpc>
              <a:spcBef>
                <a:spcPts val="0"/>
              </a:spcBef>
              <a:spcAft>
                <a:spcPts val="0"/>
              </a:spcAft>
              <a:defRPr sz="1600" b="0">
                <a:solidFill>
                  <a:srgbClr val="F4F6FA"/>
                </a:solidFill>
                <a:latin typeface="Arial"/>
              </a:defRPr>
            </a:pPr>
            <a:r>
              <a:t>Qualité narrative à surveiller.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dry-run vérifie la préparation ; il ne mesure ni les embeddings ni le rappel du RAG.</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src/retrieval/ ; vérification du 14/09/2026</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C8 · ARBITRAGES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Maîtriser coûts, données et dépendances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arbitrages à chiffrer avant une sélection définitive.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COÛT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Tours × appels par tour × tokens</a:t>
            </a:r>
          </a:p>
          <a:p>
            <a:pPr>
              <a:lnSpc>
                <a:spcPts val="2000"/>
              </a:lnSpc>
              <a:spcBef>
                <a:spcPts val="0"/>
              </a:spcBef>
              <a:spcAft>
                <a:spcPts val="0"/>
              </a:spcAft>
              <a:defRPr sz="1600" b="0">
                <a:solidFill>
                  <a:srgbClr val="F4F6FA"/>
                </a:solidFill>
                <a:latin typeface="Arial"/>
              </a:defRPr>
            </a:pPr>
            <a:r>
              <a:t>moyens × tarifs.</a:t>
            </a:r>
          </a:p>
          <a:p>
            <a:pPr>
              <a:lnSpc>
                <a:spcPts val="2000"/>
              </a:lnSpc>
              <a:spcBef>
                <a:spcPts val="0"/>
              </a:spcBef>
              <a:spcAft>
                <a:spcPts val="0"/>
              </a:spcAft>
              <a:defRPr sz="1600" b="0">
                <a:solidFill>
                  <a:srgbClr val="F4F6FA"/>
                </a:solidFill>
                <a:latin typeface="Arial"/>
              </a:defRPr>
            </a:pPr>
            <a:r>
              <a:t>Ajouter hébergement, stockage et</a:t>
            </a:r>
          </a:p>
          <a:p>
            <a:pPr>
              <a:lnSpc>
                <a:spcPts val="2000"/>
              </a:lnSpc>
              <a:spcBef>
                <a:spcPts val="0"/>
              </a:spcBef>
              <a:spcAft>
                <a:spcPts val="0"/>
              </a:spcAft>
              <a:defRPr sz="1600" b="0">
                <a:solidFill>
                  <a:srgbClr val="F4F6FA"/>
                </a:solidFill>
                <a:latin typeface="Arial"/>
              </a:defRPr>
            </a:pPr>
            <a:r>
              <a:t>calcul local.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DONNÉES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Décrire ce qui entre dans les</a:t>
            </a:r>
          </a:p>
          <a:p>
            <a:pPr>
              <a:lnSpc>
                <a:spcPts val="2000"/>
              </a:lnSpc>
              <a:spcBef>
                <a:spcPts val="0"/>
              </a:spcBef>
              <a:spcAft>
                <a:spcPts val="0"/>
              </a:spcAft>
              <a:defRPr sz="1600" b="0">
                <a:solidFill>
                  <a:srgbClr val="F4F6FA"/>
                </a:solidFill>
                <a:latin typeface="Arial"/>
              </a:defRPr>
            </a:pPr>
            <a:r>
              <a:t>prompts. Vérifier les conditions du</a:t>
            </a:r>
          </a:p>
          <a:p>
            <a:pPr>
              <a:lnSpc>
                <a:spcPts val="2000"/>
              </a:lnSpc>
              <a:spcBef>
                <a:spcPts val="0"/>
              </a:spcBef>
              <a:spcAft>
                <a:spcPts val="0"/>
              </a:spcAft>
              <a:defRPr sz="1600" b="0">
                <a:solidFill>
                  <a:srgbClr val="F4F6FA"/>
                </a:solidFill>
                <a:latin typeface="Arial"/>
              </a:defRPr>
            </a:pPr>
            <a:r>
              <a:t>fournisseur et les règles de</a:t>
            </a:r>
          </a:p>
          <a:p>
            <a:pPr>
              <a:lnSpc>
                <a:spcPts val="2000"/>
              </a:lnSpc>
              <a:spcBef>
                <a:spcPts val="0"/>
              </a:spcBef>
              <a:spcAft>
                <a:spcPts val="0"/>
              </a:spcAft>
              <a:defRPr sz="1600" b="0">
                <a:solidFill>
                  <a:srgbClr val="F4F6FA"/>
                </a:solidFill>
                <a:latin typeface="Arial"/>
              </a:defRPr>
            </a:pPr>
            <a:r>
              <a:t>conservation.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SOBRIÉTÉ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Limiter le contexte utile.</a:t>
            </a:r>
          </a:p>
          <a:p>
            <a:pPr>
              <a:lnSpc>
                <a:spcPts val="2000"/>
              </a:lnSpc>
              <a:spcBef>
                <a:spcPts val="0"/>
              </a:spcBef>
              <a:spcAft>
                <a:spcPts val="0"/>
              </a:spcAft>
              <a:defRPr sz="1600" b="0">
                <a:solidFill>
                  <a:srgbClr val="F4F6FA"/>
                </a:solidFill>
                <a:latin typeface="Arial"/>
              </a:defRPr>
            </a:pPr>
            <a:r>
              <a:t>Réutiliser les embeddings.</a:t>
            </a:r>
          </a:p>
          <a:p>
            <a:pPr>
              <a:lnSpc>
                <a:spcPts val="2000"/>
              </a:lnSpc>
              <a:spcBef>
                <a:spcPts val="0"/>
              </a:spcBef>
              <a:spcAft>
                <a:spcPts val="0"/>
              </a:spcAft>
              <a:defRPr sz="1600" b="0">
                <a:solidFill>
                  <a:srgbClr val="F4F6FA"/>
                </a:solidFill>
                <a:latin typeface="Arial"/>
              </a:defRPr>
            </a:pPr>
            <a:r>
              <a:t>Comparer qualité et ressources.</a:t>
            </a:r>
          </a:p>
          <a:p>
            <a:pPr>
              <a:lnSpc>
                <a:spcPts val="2000"/>
              </a:lnSpc>
              <a:spcBef>
                <a:spcPts val="0"/>
              </a:spcBef>
              <a:spcAft>
                <a:spcPts val="0"/>
              </a:spcAft>
              <a:defRPr sz="1600" b="0">
                <a:solidFill>
                  <a:srgbClr val="F4F6FA"/>
                </a:solidFill>
                <a:latin typeface="Arial"/>
              </a:defRPr>
            </a:pPr>
            <a:r>
              <a:t>Bilan environnemental non</a:t>
            </a:r>
          </a:p>
          <a:p>
            <a:pPr>
              <a:lnSpc>
                <a:spcPts val="2000"/>
              </a:lnSpc>
              <a:spcBef>
                <a:spcPts val="0"/>
              </a:spcBef>
              <a:spcAft>
                <a:spcPts val="0"/>
              </a:spcAft>
              <a:defRPr sz="1600" b="0">
                <a:solidFill>
                  <a:srgbClr val="F4F6FA"/>
                </a:solidFill>
                <a:latin typeface="Arial"/>
              </a:defRPr>
            </a:pPr>
            <a:r>
              <a:t>mesuré.</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registre des coûts et l’analyse fournisseur restent à compléter avec des données datées.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docs/rag-system.md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solution configurée, une sélection à étayer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Passer de l’architecture à la preuve de pertinence.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C6</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Relier le dossier de veille.</a:t>
            </a:r>
          </a:p>
          <a:p>
            <a:pPr>
              <a:lnSpc>
                <a:spcPts val="2000"/>
              </a:lnSpc>
              <a:spcBef>
                <a:spcPts val="0"/>
              </a:spcBef>
              <a:spcAft>
                <a:spcPts val="0"/>
              </a:spcAft>
              <a:defRPr sz="1600" b="0">
                <a:solidFill>
                  <a:srgbClr val="F4F6FA"/>
                </a:solidFill>
                <a:latin typeface="Arial"/>
              </a:defRPr>
            </a:pPr>
            <a:r>
              <a:t>Ajouter synthèses datées et</a:t>
            </a:r>
          </a:p>
          <a:p>
            <a:pPr>
              <a:lnSpc>
                <a:spcPts val="2000"/>
              </a:lnSpc>
              <a:spcBef>
                <a:spcPts val="0"/>
              </a:spcBef>
              <a:spcAft>
                <a:spcPts val="0"/>
              </a:spcAft>
              <a:defRPr sz="1600" b="0">
                <a:solidFill>
                  <a:srgbClr val="F4F6FA"/>
                </a:solidFill>
                <a:latin typeface="Arial"/>
              </a:defRPr>
            </a:pPr>
            <a:r>
              <a:t>décisions réellement prises.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C7</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Besoins et protocole présents.</a:t>
            </a:r>
          </a:p>
          <a:p>
            <a:pPr>
              <a:lnSpc>
                <a:spcPts val="2000"/>
              </a:lnSpc>
              <a:spcBef>
                <a:spcPts val="0"/>
              </a:spcBef>
              <a:spcAft>
                <a:spcPts val="0"/>
              </a:spcAft>
              <a:defRPr sz="1600" b="0">
                <a:solidFill>
                  <a:srgbClr val="F4F6FA"/>
                </a:solidFill>
                <a:latin typeface="Arial"/>
              </a:defRPr>
            </a:pPr>
            <a:r>
              <a:t>Comparer au moins deux</a:t>
            </a:r>
          </a:p>
          <a:p>
            <a:pPr>
              <a:lnSpc>
                <a:spcPts val="2000"/>
              </a:lnSpc>
              <a:spcBef>
                <a:spcPts val="0"/>
              </a:spcBef>
              <a:spcAft>
                <a:spcPts val="0"/>
              </a:spcAft>
              <a:defRPr sz="1600" b="0">
                <a:solidFill>
                  <a:srgbClr val="F4F6FA"/>
                </a:solidFill>
                <a:latin typeface="Arial"/>
              </a:defRPr>
            </a:pPr>
            <a:r>
              <a:t>candidats.</a:t>
            </a:r>
          </a:p>
          <a:p>
            <a:pPr>
              <a:lnSpc>
                <a:spcPts val="2000"/>
              </a:lnSpc>
              <a:spcBef>
                <a:spcPts val="0"/>
              </a:spcBef>
              <a:spcAft>
                <a:spcPts val="0"/>
              </a:spcAft>
              <a:defRPr sz="1600" b="0">
                <a:solidFill>
                  <a:srgbClr val="F4F6FA"/>
                </a:solidFill>
                <a:latin typeface="Arial"/>
              </a:defRPr>
            </a:pPr>
            <a:r>
              <a:t>Compléter budget, données et</a:t>
            </a:r>
          </a:p>
          <a:p>
            <a:pPr>
              <a:lnSpc>
                <a:spcPts val="2000"/>
              </a:lnSpc>
              <a:spcBef>
                <a:spcPts val="0"/>
              </a:spcBef>
              <a:spcAft>
                <a:spcPts val="0"/>
              </a:spcAft>
              <a:defRPr sz="1600" b="0">
                <a:solidFill>
                  <a:srgbClr val="F4F6FA"/>
                </a:solidFill>
                <a:latin typeface="Arial"/>
              </a:defRPr>
            </a:pPr>
            <a:r>
              <a:t>critères environnementaux.</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C8</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et RAG préparés.</a:t>
            </a:r>
          </a:p>
          <a:p>
            <a:pPr>
              <a:lnSpc>
                <a:spcPts val="2000"/>
              </a:lnSpc>
              <a:spcBef>
                <a:spcPts val="0"/>
              </a:spcBef>
              <a:spcAft>
                <a:spcPts val="0"/>
              </a:spcAft>
              <a:defRPr sz="1600" b="0">
                <a:solidFill>
                  <a:srgbClr val="F4F6FA"/>
                </a:solidFill>
                <a:latin typeface="Arial"/>
              </a:defRPr>
            </a:pPr>
            <a:r>
              <a:t>Prouver la connectivité réelle et la</a:t>
            </a:r>
          </a:p>
          <a:p>
            <a:pPr>
              <a:lnSpc>
                <a:spcPts val="2000"/>
              </a:lnSpc>
              <a:spcBef>
                <a:spcPts val="0"/>
              </a:spcBef>
              <a:spcAft>
                <a:spcPts val="0"/>
              </a:spcAft>
              <a:defRPr sz="1600" b="0">
                <a:solidFill>
                  <a:srgbClr val="F4F6FA"/>
                </a:solidFill>
                <a:latin typeface="Arial"/>
              </a:defRPr>
            </a:pPr>
            <a:r>
              <a:t>génération dans un environnement</a:t>
            </a:r>
          </a:p>
          <a:p>
            <a:pPr>
              <a:lnSpc>
                <a:spcPts val="2000"/>
              </a:lnSpc>
              <a:spcBef>
                <a:spcPts val="0"/>
              </a:spcBef>
              <a:spcAft>
                <a:spcPts val="0"/>
              </a:spcAft>
              <a:defRPr sz="1600" b="0">
                <a:solidFill>
                  <a:srgbClr val="F4F6FA"/>
                </a:solidFill>
                <a:latin typeface="Arial"/>
              </a:defRPr>
            </a:pPr>
            <a:r>
              <a:t>de démonstration.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Transition E3 : exposer, intégrer, tester et surveiller le composant.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docs/block2/evidence-checklist.md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C9 À C13</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Mettre le composant d’IA en service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2 · E3 : 20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EXPOSER / INTÉGRER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authentifiée, connexion au</a:t>
            </a:r>
          </a:p>
          <a:p>
            <a:pPr>
              <a:lnSpc>
                <a:spcPts val="2000"/>
              </a:lnSpc>
              <a:spcBef>
                <a:spcPts val="0"/>
              </a:spcBef>
              <a:spcAft>
                <a:spcPts val="0"/>
              </a:spcAft>
              <a:defRPr sz="1600" b="0">
                <a:solidFill>
                  <a:srgbClr val="F4F6FA"/>
                </a:solidFill>
                <a:latin typeface="Arial"/>
              </a:defRPr>
            </a:pPr>
            <a:r>
              <a:t>moteur du jeu et gestion des</a:t>
            </a:r>
          </a:p>
          <a:p>
            <a:pPr>
              <a:lnSpc>
                <a:spcPts val="2000"/>
              </a:lnSpc>
              <a:spcBef>
                <a:spcPts val="0"/>
              </a:spcBef>
              <a:spcAft>
                <a:spcPts val="0"/>
              </a:spcAft>
              <a:defRPr sz="1600" b="0">
                <a:solidFill>
                  <a:srgbClr val="F4F6FA"/>
                </a:solidFill>
                <a:latin typeface="Arial"/>
              </a:defRPr>
            </a:pPr>
            <a:r>
              <a:t>erreurs.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SURVEILLER / TESTER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Métriques techniques, qualité des</a:t>
            </a:r>
          </a:p>
          <a:p>
            <a:pPr>
              <a:lnSpc>
                <a:spcPts val="2000"/>
              </a:lnSpc>
              <a:spcBef>
                <a:spcPts val="0"/>
              </a:spcBef>
              <a:spcAft>
                <a:spcPts val="0"/>
              </a:spcAft>
              <a:defRPr sz="1600" b="0">
                <a:solidFill>
                  <a:srgbClr val="F4F6FA"/>
                </a:solidFill>
                <a:latin typeface="Arial"/>
              </a:defRPr>
            </a:pPr>
            <a:r>
              <a:t>sorties et vérifications</a:t>
            </a:r>
          </a:p>
          <a:p>
            <a:pPr>
              <a:lnSpc>
                <a:spcPts val="2000"/>
              </a:lnSpc>
              <a:spcBef>
                <a:spcPts val="0"/>
              </a:spcBef>
              <a:spcAft>
                <a:spcPts val="0"/>
              </a:spcAft>
              <a:defRPr sz="1600" b="0">
                <a:solidFill>
                  <a:srgbClr val="F4F6FA"/>
                </a:solidFill>
                <a:latin typeface="Arial"/>
              </a:defRPr>
            </a:pPr>
            <a:r>
              <a:t>reproductibles.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LIVRER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Workflow de validation, image</a:t>
            </a:r>
          </a:p>
          <a:p>
            <a:pPr>
              <a:lnSpc>
                <a:spcPts val="2000"/>
              </a:lnSpc>
              <a:spcBef>
                <a:spcPts val="0"/>
              </a:spcBef>
              <a:spcAft>
                <a:spcPts val="0"/>
              </a:spcAft>
              <a:defRPr sz="1600" b="0">
                <a:solidFill>
                  <a:srgbClr val="F4F6FA"/>
                </a:solidFill>
                <a:latin typeface="Arial"/>
              </a:defRPr>
            </a:pPr>
            <a:r>
              <a:t>Docker et procédure de promotion</a:t>
            </a:r>
          </a:p>
          <a:p>
            <a:pPr>
              <a:lnSpc>
                <a:spcPts val="2000"/>
              </a:lnSpc>
              <a:spcBef>
                <a:spcPts val="0"/>
              </a:spcBef>
              <a:spcAft>
                <a:spcPts val="0"/>
              </a:spcAft>
              <a:defRPr sz="1600" b="0">
                <a:solidFill>
                  <a:srgbClr val="F4F6FA"/>
                </a:solidFill>
                <a:latin typeface="Arial"/>
              </a:defRPr>
            </a:pPr>
            <a:r>
              <a:t>/ retour arrière.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composant livré comprend le code, les prompts, la configuration et les 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C9–C13, p. 10–16 ; docs/block2/traceability.md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API REST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Exposer trois points d’entrée documentés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Contrat versionné dans docs/block2/openapi.yaml.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DE CONFIGURATION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/api/v1/ai/health/</a:t>
            </a:r>
          </a:p>
          <a:p>
            <a:pPr>
              <a:lnSpc>
                <a:spcPts val="2000"/>
              </a:lnSpc>
              <a:spcBef>
                <a:spcPts val="0"/>
              </a:spcBef>
              <a:spcAft>
                <a:spcPts val="0"/>
              </a:spcAft>
              <a:defRPr sz="1600" b="0">
                <a:solidFill>
                  <a:srgbClr val="F4F6FA"/>
                </a:solidFill>
                <a:latin typeface="Arial"/>
              </a:defRPr>
            </a:pPr>
            <a:r>
              <a:t>Public.</a:t>
            </a:r>
          </a:p>
          <a:p>
            <a:pPr>
              <a:lnSpc>
                <a:spcPts val="2000"/>
              </a:lnSpc>
              <a:spcBef>
                <a:spcPts val="0"/>
              </a:spcBef>
              <a:spcAft>
                <a:spcPts val="0"/>
              </a:spcAft>
              <a:defRPr sz="1600" b="0">
                <a:solidFill>
                  <a:srgbClr val="F4F6FA"/>
                </a:solidFill>
                <a:latin typeface="Arial"/>
              </a:defRPr>
            </a:pPr>
            <a:r>
              <a:t>Indique la configuration.</a:t>
            </a:r>
          </a:p>
          <a:p>
            <a:pPr>
              <a:lnSpc>
                <a:spcPts val="2000"/>
              </a:lnSpc>
              <a:spcBef>
                <a:spcPts val="0"/>
              </a:spcBef>
              <a:spcAft>
                <a:spcPts val="0"/>
              </a:spcAft>
              <a:defRPr sz="1600" b="0">
                <a:solidFill>
                  <a:srgbClr val="F4F6FA"/>
                </a:solidFill>
                <a:latin typeface="Arial"/>
              </a:defRPr>
            </a:pPr>
            <a:r>
              <a:t>Ne prouve pas un appel réussi au</a:t>
            </a:r>
          </a:p>
          <a:p>
            <a:pPr>
              <a:lnSpc>
                <a:spcPts val="2000"/>
              </a:lnSpc>
              <a:spcBef>
                <a:spcPts val="0"/>
              </a:spcBef>
              <a:spcAft>
                <a:spcPts val="0"/>
              </a:spcAft>
              <a:defRPr sz="1600" b="0">
                <a:solidFill>
                  <a:srgbClr val="F4F6FA"/>
                </a:solidFill>
                <a:latin typeface="Arial"/>
              </a:defRPr>
            </a:pPr>
            <a:r>
              <a:t>fournisseur.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MÉTADONNÉES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/api/v1/ai/configuration/</a:t>
            </a:r>
          </a:p>
          <a:p>
            <a:pPr>
              <a:lnSpc>
                <a:spcPts val="2000"/>
              </a:lnSpc>
              <a:spcBef>
                <a:spcPts val="0"/>
              </a:spcBef>
              <a:spcAft>
                <a:spcPts val="0"/>
              </a:spcAft>
              <a:defRPr sz="1600" b="0">
                <a:solidFill>
                  <a:srgbClr val="F4F6FA"/>
                </a:solidFill>
                <a:latin typeface="Arial"/>
              </a:defRPr>
            </a:pPr>
            <a:r>
              <a:t>Authentifié.</a:t>
            </a:r>
          </a:p>
          <a:p>
            <a:pPr>
              <a:lnSpc>
                <a:spcPts val="2000"/>
              </a:lnSpc>
              <a:spcBef>
                <a:spcPts val="0"/>
              </a:spcBef>
              <a:spcAft>
                <a:spcPts val="0"/>
              </a:spcAft>
              <a:defRPr sz="1600" b="0">
                <a:solidFill>
                  <a:srgbClr val="F4F6FA"/>
                </a:solidFill>
                <a:latin typeface="Arial"/>
              </a:defRPr>
            </a:pPr>
            <a:r>
              <a:t>Modèles et limites utiles.</a:t>
            </a:r>
          </a:p>
          <a:p>
            <a:pPr>
              <a:lnSpc>
                <a:spcPts val="2000"/>
              </a:lnSpc>
              <a:spcBef>
                <a:spcPts val="0"/>
              </a:spcBef>
              <a:spcAft>
                <a:spcPts val="0"/>
              </a:spcAft>
              <a:defRPr sz="1600" b="0">
                <a:solidFill>
                  <a:srgbClr val="F4F6FA"/>
                </a:solidFill>
                <a:latin typeface="Arial"/>
              </a:defRPr>
            </a:pPr>
            <a:r>
              <a:t>Aucune clé ni prompt.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TOUR DE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POST /api/v1/games/</a:t>
            </a:r>
          </a:p>
          <a:p>
            <a:pPr>
              <a:lnSpc>
                <a:spcPts val="2000"/>
              </a:lnSpc>
              <a:spcBef>
                <a:spcPts val="0"/>
              </a:spcBef>
              <a:spcAft>
                <a:spcPts val="0"/>
              </a:spcAft>
              <a:defRPr sz="1600" b="0">
                <a:solidFill>
                  <a:srgbClr val="F4F6FA"/>
                </a:solidFill>
                <a:latin typeface="Arial"/>
              </a:defRPr>
            </a:pPr>
            <a:r>
              <a:t>{game_id}/turns/</a:t>
            </a:r>
          </a:p>
          <a:p>
            <a:pPr>
              <a:lnSpc>
                <a:spcPts val="2000"/>
              </a:lnSpc>
              <a:spcBef>
                <a:spcPts val="0"/>
              </a:spcBef>
              <a:spcAft>
                <a:spcPts val="0"/>
              </a:spcAft>
              <a:defRPr sz="1600" b="0">
                <a:solidFill>
                  <a:srgbClr val="F4F6FA"/>
                </a:solidFill>
                <a:latin typeface="Arial"/>
              </a:defRPr>
            </a:pPr>
            <a:r>
              <a:t>Session + CSRF.</a:t>
            </a:r>
          </a:p>
          <a:p>
            <a:pPr>
              <a:lnSpc>
                <a:spcPts val="2000"/>
              </a:lnSpc>
              <a:spcBef>
                <a:spcPts val="0"/>
              </a:spcBef>
              <a:spcAft>
                <a:spcPts val="0"/>
              </a:spcAft>
              <a:defRPr sz="1600" b="0">
                <a:solidFill>
                  <a:srgbClr val="F4F6FA"/>
                </a:solidFill>
                <a:latin typeface="Arial"/>
              </a:defRPr>
            </a:pPr>
            <a:r>
              <a:t>Avance une sauvegarde possédée.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configuration valide ne constitue pas une mesure de disponibilité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docs/block2/openapi.yaml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CONTRÔLES D’ACCÈS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Contrôler avant de solliciter le modèle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frontière v1 associe identité, propriété et limites.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IDENTITÉ / PROPRIÉTÉ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Session Django.</a:t>
            </a:r>
          </a:p>
          <a:p>
            <a:pPr>
              <a:lnSpc>
                <a:spcPts val="2000"/>
              </a:lnSpc>
              <a:spcBef>
                <a:spcPts val="0"/>
              </a:spcBef>
              <a:spcAft>
                <a:spcPts val="0"/>
              </a:spcAft>
              <a:defRPr sz="1600" b="0">
                <a:solidFill>
                  <a:srgbClr val="F4F6FA"/>
                </a:solidFill>
                <a:latin typeface="Arial"/>
              </a:defRPr>
            </a:pPr>
            <a:r>
              <a:t>Recherche par ID + utilisateur.</a:t>
            </a:r>
          </a:p>
          <a:p>
            <a:pPr>
              <a:lnSpc>
                <a:spcPts val="2000"/>
              </a:lnSpc>
              <a:spcBef>
                <a:spcPts val="0"/>
              </a:spcBef>
              <a:spcAft>
                <a:spcPts val="0"/>
              </a:spcAft>
              <a:defRPr sz="1600" b="0">
                <a:solidFill>
                  <a:srgbClr val="F4F6FA"/>
                </a:solidFill>
                <a:latin typeface="Arial"/>
              </a:defRPr>
            </a:pPr>
            <a:r>
              <a:t>Partie étrangère ou absente :</a:t>
            </a:r>
          </a:p>
          <a:p>
            <a:pPr>
              <a:lnSpc>
                <a:spcPts val="2000"/>
              </a:lnSpc>
              <a:spcBef>
                <a:spcPts val="0"/>
              </a:spcBef>
              <a:spcAft>
                <a:spcPts val="0"/>
              </a:spcAft>
              <a:defRPr sz="1600" b="0">
                <a:solidFill>
                  <a:srgbClr val="F4F6FA"/>
                </a:solidFill>
                <a:latin typeface="Arial"/>
              </a:defRPr>
            </a:pPr>
            <a:r>
              <a:t>même réponse 404.</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requis pour le POST.</a:t>
            </a:r>
          </a:p>
          <a:p>
            <a:pPr>
              <a:lnSpc>
                <a:spcPts val="2000"/>
              </a:lnSpc>
              <a:spcBef>
                <a:spcPts val="0"/>
              </a:spcBef>
              <a:spcAft>
                <a:spcPts val="0"/>
              </a:spcAft>
              <a:defRPr sz="1600" b="0">
                <a:solidFill>
                  <a:srgbClr val="F4F6FA"/>
                </a:solidFill>
                <a:latin typeface="Arial"/>
              </a:defRPr>
            </a:pPr>
            <a:r>
              <a:t>Taille et longueur bornées.</a:t>
            </a:r>
          </a:p>
          <a:p>
            <a:pPr>
              <a:lnSpc>
                <a:spcPts val="2000"/>
              </a:lnSpc>
              <a:spcBef>
                <a:spcPts val="0"/>
              </a:spcBef>
              <a:spcAft>
                <a:spcPts val="0"/>
              </a:spcAft>
              <a:defRPr sz="1600" b="0">
                <a:solidFill>
                  <a:srgbClr val="F4F6FA"/>
                </a:solidFill>
                <a:latin typeface="Arial"/>
              </a:defRPr>
            </a:pPr>
            <a:r>
              <a:t>Choix comparé à la liste serveur</a:t>
            </a:r>
          </a:p>
          <a:p>
            <a:pPr>
              <a:lnSpc>
                <a:spcPts val="2000"/>
              </a:lnSpc>
              <a:spcBef>
                <a:spcPts val="0"/>
              </a:spcBef>
              <a:spcAft>
                <a:spcPts val="0"/>
              </a:spcAft>
              <a:defRPr sz="1600" b="0">
                <a:solidFill>
                  <a:srgbClr val="F4F6FA"/>
                </a:solidFill>
                <a:latin typeface="Arial"/>
              </a:defRPr>
            </a:pPr>
            <a:r>
              <a:t>lorsqu’elle est non vide.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QUOTA</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Compteur utilisateur en cache.</a:t>
            </a:r>
          </a:p>
          <a:p>
            <a:pPr>
              <a:lnSpc>
                <a:spcPts val="2000"/>
              </a:lnSpc>
              <a:spcBef>
                <a:spcPts val="0"/>
              </a:spcBef>
              <a:spcAft>
                <a:spcPts val="0"/>
              </a:spcAft>
              <a:defRPr sz="1600" b="0">
                <a:solidFill>
                  <a:srgbClr val="F4F6FA"/>
                </a:solidFill>
                <a:latin typeface="Arial"/>
              </a:defRPr>
            </a:pPr>
            <a:r>
              <a:t>Dépassement : HTTP 429.</a:t>
            </a:r>
          </a:p>
          <a:p>
            <a:pPr>
              <a:lnSpc>
                <a:spcPts val="2000"/>
              </a:lnSpc>
              <a:spcBef>
                <a:spcPts val="0"/>
              </a:spcBef>
              <a:spcAft>
                <a:spcPts val="0"/>
              </a:spcAft>
              <a:defRPr sz="1600" b="0">
                <a:solidFill>
                  <a:srgbClr val="F4F6FA"/>
                </a:solidFill>
                <a:latin typeface="Arial"/>
              </a:defRPr>
            </a:pPr>
            <a:r>
              <a:t>Un cache partagé et sa</a:t>
            </a:r>
          </a:p>
          <a:p>
            <a:pPr>
              <a:lnSpc>
                <a:spcPts val="2000"/>
              </a:lnSpc>
              <a:spcBef>
                <a:spcPts val="0"/>
              </a:spcBef>
              <a:spcAft>
                <a:spcPts val="0"/>
              </a:spcAft>
              <a:defRPr sz="1600" b="0">
                <a:solidFill>
                  <a:srgbClr val="F4F6FA"/>
                </a:solidFill>
                <a:latin typeface="Arial"/>
              </a:defRPr>
            </a:pPr>
            <a:r>
              <a:t>concurrence sont à revoir pour</a:t>
            </a:r>
          </a:p>
          <a:p>
            <a:pPr>
              <a:lnSpc>
                <a:spcPts val="2000"/>
              </a:lnSpc>
              <a:spcBef>
                <a:spcPts val="0"/>
              </a:spcBef>
              <a:spcAft>
                <a:spcPts val="0"/>
              </a:spcAft>
              <a:defRPr sz="1600" b="0">
                <a:solidFill>
                  <a:srgbClr val="F4F6FA"/>
                </a:solidFill>
                <a:latin typeface="Arial"/>
              </a:defRPr>
            </a:pPr>
            <a:r>
              <a:t>plusieurs instances.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prouvent des contrôles précis ; ils ne constituent pas un audit complet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src/django/game/test_ai_api.py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INTÉGRATION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Relier l’interface au moteur narratif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Deux surfaces HTTP réutilisent la logique de jeu.</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NAVIGATEUR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play.html → api_step</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StepGameView</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Parcours actif du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API DE CERTIFICATION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/api/v1/games/{id}/turns/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Contrôles puis StepGameView</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Surface v1 distincte.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MOTEUR COMMUN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 → LangGraph</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RAG, modèle et outils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Récit / combat / fin / erreur.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navigateur n’appelle pas directement l’endpoint v1 dans le code consulté.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src/django/game/templates/game/play.html ; ai_api.py ; services/game_engine.py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SORTIES ET ERREURS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Valider la forme et protéger la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appels au modèle peuvent échouer ou produire une réponse inutilisable.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SORTIES TYPÉES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ChoiceOutput : 3 choix distincts,</a:t>
            </a:r>
          </a:p>
          <a:p>
            <a:pPr>
              <a:lnSpc>
                <a:spcPts val="2000"/>
              </a:lnSpc>
              <a:spcBef>
                <a:spcPts val="0"/>
              </a:spcBef>
              <a:spcAft>
                <a:spcPts val="0"/>
              </a:spcAft>
              <a:defRPr sz="1600" b="0">
                <a:solidFill>
                  <a:srgbClr val="F4F6FA"/>
                </a:solidFill>
                <a:latin typeface="Arial"/>
              </a:defRPr>
            </a:pPr>
            <a:r>
              <a:t>chacun ≤ 6 mots.</a:t>
            </a:r>
          </a:p>
          <a:p>
            <a:pPr>
              <a:lnSpc>
                <a:spcPts val="2000"/>
              </a:lnSpc>
              <a:spcBef>
                <a:spcPts val="0"/>
              </a:spcBef>
              <a:spcAft>
                <a:spcPts val="0"/>
              </a:spcAft>
              <a:defRPr sz="1600" b="0">
                <a:solidFill>
                  <a:srgbClr val="F4F6FA"/>
                </a:solidFill>
                <a:latin typeface="Arial"/>
              </a:defRPr>
            </a:pPr>
            <a:r>
              <a:t>Objectifs et progression : schémas</a:t>
            </a:r>
          </a:p>
          <a:p>
            <a:pPr>
              <a:lnSpc>
                <a:spcPts val="2000"/>
              </a:lnSpc>
              <a:spcBef>
                <a:spcPts val="0"/>
              </a:spcBef>
              <a:spcAft>
                <a:spcPts val="0"/>
              </a:spcAft>
              <a:defRPr sz="1600" b="0">
                <a:solidFill>
                  <a:srgbClr val="F4F6FA"/>
                </a:solidFill>
                <a:latin typeface="Arial"/>
              </a:defRPr>
            </a:pPr>
            <a:r>
              <a:t>dédiés.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REPRISES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Retry sur erreurs transitoires.</a:t>
            </a:r>
          </a:p>
          <a:p>
            <a:pPr>
              <a:lnSpc>
                <a:spcPts val="2000"/>
              </a:lnSpc>
              <a:spcBef>
                <a:spcPts val="0"/>
              </a:spcBef>
              <a:spcAft>
                <a:spcPts val="0"/>
              </a:spcAft>
              <a:defRPr sz="1600" b="0">
                <a:solidFill>
                  <a:srgbClr val="F4F6FA"/>
                </a:solidFill>
                <a:latin typeface="Arial"/>
              </a:defRPr>
            </a:pPr>
            <a:r>
              <a:t>Délais et tentatives bornés.</a:t>
            </a:r>
          </a:p>
          <a:p>
            <a:pPr>
              <a:lnSpc>
                <a:spcPts val="2000"/>
              </a:lnSpc>
              <a:spcBef>
                <a:spcPts val="0"/>
              </a:spcBef>
              <a:spcAft>
                <a:spcPts val="0"/>
              </a:spcAft>
              <a:defRPr sz="1600" b="0">
                <a:solidFill>
                  <a:srgbClr val="F4F6FA"/>
                </a:solidFill>
                <a:latin typeface="Arial"/>
              </a:defRPr>
            </a:pPr>
            <a:r>
              <a:t>Après épuisement : erreur</a:t>
            </a:r>
          </a:p>
          <a:p>
            <a:pPr>
              <a:lnSpc>
                <a:spcPts val="2000"/>
              </a:lnSpc>
              <a:spcBef>
                <a:spcPts val="0"/>
              </a:spcBef>
              <a:spcAft>
                <a:spcPts val="0"/>
              </a:spcAft>
              <a:defRPr sz="1600" b="0">
                <a:solidFill>
                  <a:srgbClr val="F4F6FA"/>
                </a:solidFill>
                <a:latin typeface="Arial"/>
              </a:defRPr>
            </a:pPr>
            <a:r>
              <a:t>contrôlée du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DU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génération échouée ne doit</a:t>
            </a:r>
          </a:p>
          <a:p>
            <a:pPr>
              <a:lnSpc>
                <a:spcPts val="2000"/>
              </a:lnSpc>
              <a:spcBef>
                <a:spcPts val="0"/>
              </a:spcBef>
              <a:spcAft>
                <a:spcPts val="0"/>
              </a:spcAft>
              <a:defRPr sz="1600" b="0">
                <a:solidFill>
                  <a:srgbClr val="F4F6FA"/>
                </a:solidFill>
                <a:latin typeface="Arial"/>
              </a:defRPr>
            </a:pPr>
            <a:r>
              <a:t>pas avancer l’état.</a:t>
            </a:r>
          </a:p>
          <a:p>
            <a:pPr>
              <a:lnSpc>
                <a:spcPts val="2000"/>
              </a:lnSpc>
              <a:spcBef>
                <a:spcPts val="0"/>
              </a:spcBef>
              <a:spcAft>
                <a:spcPts val="0"/>
              </a:spcAft>
              <a:defRPr sz="1600" b="0">
                <a:solidFill>
                  <a:srgbClr val="F4F6FA"/>
                </a:solidFill>
                <a:latin typeface="Arial"/>
              </a:defRPr>
            </a:pPr>
            <a:r>
              <a:t>Les règles de soin, dégâts et</a:t>
            </a:r>
          </a:p>
          <a:p>
            <a:pPr>
              <a:lnSpc>
                <a:spcPts val="2000"/>
              </a:lnSpc>
              <a:spcBef>
                <a:spcPts val="0"/>
              </a:spcBef>
              <a:spcAft>
                <a:spcPts val="0"/>
              </a:spcAft>
              <a:defRPr sz="1600" b="0">
                <a:solidFill>
                  <a:srgbClr val="F4F6FA"/>
                </a:solidFill>
                <a:latin typeface="Arial"/>
              </a:defRPr>
            </a:pPr>
            <a:r>
              <a:t>progression restent côté serveur.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Réussite HTTP, validité du schéma et pertinence narrative sont trois vérifications différentes.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src/agents/schemas.py ; src/django/game/tests.py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OBSERVABILITÉ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Observer disponibilité, qualité et coût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Collecteurs → Prometheus → Grafana ; règles vers Alertmanager.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Nombre d’appels et erreurs.</a:t>
            </a:r>
          </a:p>
          <a:p>
            <a:pPr>
              <a:lnSpc>
                <a:spcPts val="2000"/>
              </a:lnSpc>
              <a:spcBef>
                <a:spcPts val="0"/>
              </a:spcBef>
              <a:spcAft>
                <a:spcPts val="0"/>
              </a:spcAft>
              <a:defRPr sz="1600" b="0">
                <a:solidFill>
                  <a:srgbClr val="F4F6FA"/>
                </a:solidFill>
                <a:latin typeface="Arial"/>
              </a:defRPr>
            </a:pPr>
            <a:r>
              <a:t>Histogramme des durées.</a:t>
            </a:r>
          </a:p>
          <a:p>
            <a:pPr>
              <a:lnSpc>
                <a:spcPts val="2000"/>
              </a:lnSpc>
              <a:spcBef>
                <a:spcPts val="0"/>
              </a:spcBef>
              <a:spcAft>
                <a:spcPts val="0"/>
              </a:spcAft>
              <a:defRPr sz="1600" b="0">
                <a:solidFill>
                  <a:srgbClr val="F4F6FA"/>
                </a:solidFill>
                <a:latin typeface="Arial"/>
              </a:defRPr>
            </a:pPr>
            <a:r>
              <a:t>Objectifs : 99 % de succès et p95</a:t>
            </a:r>
          </a:p>
          <a:p>
            <a:pPr>
              <a:lnSpc>
                <a:spcPts val="2000"/>
              </a:lnSpc>
              <a:spcBef>
                <a:spcPts val="0"/>
              </a:spcBef>
              <a:spcAft>
                <a:spcPts val="0"/>
              </a:spcAft>
              <a:defRPr sz="1600" b="0">
                <a:solidFill>
                  <a:srgbClr val="F4F6FA"/>
                </a:solidFill>
                <a:latin typeface="Arial"/>
              </a:defRPr>
            </a:pPr>
            <a:r>
              <a:t>&lt; 30 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RAG</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Sorties structurées valides ou</a:t>
            </a:r>
          </a:p>
          <a:p>
            <a:pPr>
              <a:lnSpc>
                <a:spcPts val="2000"/>
              </a:lnSpc>
              <a:spcBef>
                <a:spcPts val="0"/>
              </a:spcBef>
              <a:spcAft>
                <a:spcPts val="0"/>
              </a:spcAft>
              <a:defRPr sz="1600" b="0">
                <a:solidFill>
                  <a:srgbClr val="F4F6FA"/>
                </a:solidFill>
                <a:latin typeface="Arial"/>
              </a:defRPr>
            </a:pPr>
            <a:r>
              <a:t>invalides.</a:t>
            </a:r>
          </a:p>
          <a:p>
            <a:pPr>
              <a:lnSpc>
                <a:spcPts val="2000"/>
              </a:lnSpc>
              <a:spcBef>
                <a:spcPts val="0"/>
              </a:spcBef>
              <a:spcAft>
                <a:spcPts val="0"/>
              </a:spcAft>
              <a:defRPr sz="1600" b="0">
                <a:solidFill>
                  <a:srgbClr val="F4F6FA"/>
                </a:solidFill>
                <a:latin typeface="Arial"/>
              </a:defRPr>
            </a:pPr>
            <a:r>
              <a:t>RAG : résultats, vides, erreurs et</a:t>
            </a:r>
          </a:p>
          <a:p>
            <a:pPr>
              <a:lnSpc>
                <a:spcPts val="2000"/>
              </a:lnSpc>
              <a:spcBef>
                <a:spcPts val="0"/>
              </a:spcBef>
              <a:spcAft>
                <a:spcPts val="0"/>
              </a:spcAft>
              <a:defRPr sz="1600" b="0">
                <a:solidFill>
                  <a:srgbClr val="F4F6FA"/>
                </a:solidFill>
                <a:latin typeface="Arial"/>
              </a:defRPr>
            </a:pPr>
            <a:r>
              <a:t>durées de récupération.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CONSOMMATION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Tokens d’entrée / sortie.</a:t>
            </a:r>
          </a:p>
          <a:p>
            <a:pPr>
              <a:lnSpc>
                <a:spcPts val="2000"/>
              </a:lnSpc>
              <a:spcBef>
                <a:spcPts val="0"/>
              </a:spcBef>
              <a:spcAft>
                <a:spcPts val="0"/>
              </a:spcAft>
              <a:defRPr sz="1600" b="0">
                <a:solidFill>
                  <a:srgbClr val="F4F6FA"/>
                </a:solidFill>
                <a:latin typeface="Arial"/>
              </a:defRPr>
            </a:pPr>
            <a:r>
              <a:t>Coût estimé avec tarifs configurés.</a:t>
            </a:r>
          </a:p>
          <a:p>
            <a:pPr>
              <a:lnSpc>
                <a:spcPts val="2000"/>
              </a:lnSpc>
              <a:spcBef>
                <a:spcPts val="0"/>
              </a:spcBef>
              <a:spcAft>
                <a:spcPts val="0"/>
              </a:spcAft>
              <a:defRPr sz="1600" b="0">
                <a:solidFill>
                  <a:srgbClr val="F4F6FA"/>
                </a:solidFill>
                <a:latin typeface="Arial"/>
              </a:defRPr>
            </a:pPr>
            <a:r>
              <a:t>Labels sans prompts, identités ni</a:t>
            </a:r>
          </a:p>
          <a:p>
            <a:pPr>
              <a:lnSpc>
                <a:spcPts val="2000"/>
              </a:lnSpc>
              <a:spcBef>
                <a:spcPts val="0"/>
              </a:spcBef>
              <a:spcAft>
                <a:spcPts val="0"/>
              </a:spcAft>
              <a:defRPr sz="1600" b="0">
                <a:solidFill>
                  <a:srgbClr val="F4F6FA"/>
                </a:solidFill>
                <a:latin typeface="Arial"/>
              </a:defRPr>
            </a:pPr>
            <a:r>
              <a:t>sessions.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SLO sont des objectifs ; aucun historique de production n’est présenté ici.</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src/observability/ ; docs/block2/monitoring-slos.md ; monitoring/</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ALERTES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un signal en action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Règles présentes ; livraison d’une notification externe à démontrer.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DÉTECTER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3 indisponibilités en 10 min.</a:t>
            </a:r>
          </a:p>
          <a:p>
            <a:pPr>
              <a:lnSpc>
                <a:spcPts val="2000"/>
              </a:lnSpc>
              <a:spcBef>
                <a:spcPts val="0"/>
              </a:spcBef>
              <a:spcAft>
                <a:spcPts val="0"/>
              </a:spcAft>
              <a:defRPr sz="1600" b="0">
                <a:solidFill>
                  <a:srgbClr val="F4F6FA"/>
                </a:solidFill>
                <a:latin typeface="Arial"/>
              </a:defRPr>
            </a:pPr>
            <a:r>
              <a:t>Latence élevée persistante.</a:t>
            </a:r>
          </a:p>
          <a:p>
            <a:pPr>
              <a:lnSpc>
                <a:spcPts val="2000"/>
              </a:lnSpc>
              <a:spcBef>
                <a:spcPts val="0"/>
              </a:spcBef>
              <a:spcAft>
                <a:spcPts val="0"/>
              </a:spcAft>
              <a:defRPr sz="1600" b="0">
                <a:solidFill>
                  <a:srgbClr val="F4F6FA"/>
                </a:solidFill>
                <a:latin typeface="Arial"/>
              </a:defRPr>
            </a:pPr>
            <a:r>
              <a:t>Sortie structurée invalide.</a:t>
            </a:r>
          </a:p>
          <a:p>
            <a:pPr>
              <a:lnSpc>
                <a:spcPts val="2000"/>
              </a:lnSpc>
              <a:spcBef>
                <a:spcPts val="0"/>
              </a:spcBef>
              <a:spcAft>
                <a:spcPts val="0"/>
              </a:spcAft>
              <a:defRPr sz="1600" b="0">
                <a:solidFill>
                  <a:srgbClr val="F4F6FA"/>
                </a:solidFill>
                <a:latin typeface="Arial"/>
              </a:defRPr>
            </a:pPr>
            <a:r>
              <a:t>Erreurs de retrieval.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DIAGNOSTIQUER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Identifier modèle et révision.</a:t>
            </a:r>
          </a:p>
          <a:p>
            <a:pPr>
              <a:lnSpc>
                <a:spcPts val="2000"/>
              </a:lnSpc>
              <a:spcBef>
                <a:spcPts val="0"/>
              </a:spcBef>
              <a:spcAft>
                <a:spcPts val="0"/>
              </a:spcAft>
              <a:defRPr sz="1600" b="0">
                <a:solidFill>
                  <a:srgbClr val="F4F6FA"/>
                </a:solidFill>
                <a:latin typeface="Arial"/>
              </a:defRPr>
            </a:pPr>
            <a:r>
              <a:t>Comparer erreurs, durée et RAG.</a:t>
            </a:r>
          </a:p>
          <a:p>
            <a:pPr>
              <a:lnSpc>
                <a:spcPts val="2000"/>
              </a:lnSpc>
              <a:spcBef>
                <a:spcPts val="0"/>
              </a:spcBef>
              <a:spcAft>
                <a:spcPts val="0"/>
              </a:spcAft>
              <a:defRPr sz="1600" b="0">
                <a:solidFill>
                  <a:srgbClr val="F4F6FA"/>
                </a:solidFill>
                <a:latin typeface="Arial"/>
              </a:defRPr>
            </a:pPr>
            <a:r>
              <a:t>Reproduire avec un cas minimal</a:t>
            </a:r>
          </a:p>
          <a:p>
            <a:pPr>
              <a:lnSpc>
                <a:spcPts val="2000"/>
              </a:lnSpc>
              <a:spcBef>
                <a:spcPts val="0"/>
              </a:spcBef>
              <a:spcAft>
                <a:spcPts val="0"/>
              </a:spcAft>
              <a:defRPr sz="1600" b="0">
                <a:solidFill>
                  <a:srgbClr val="F4F6FA"/>
                </a:solidFill>
                <a:latin typeface="Arial"/>
              </a:defRPr>
            </a:pPr>
            <a:r>
              <a:t>sans donnée personnelle.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AMÉLIORER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Corriger prompt ou configuration.</a:t>
            </a:r>
          </a:p>
          <a:p>
            <a:pPr>
              <a:lnSpc>
                <a:spcPts val="2000"/>
              </a:lnSpc>
              <a:spcBef>
                <a:spcPts val="0"/>
              </a:spcBef>
              <a:spcAft>
                <a:spcPts val="0"/>
              </a:spcAft>
              <a:defRPr sz="1600" b="0">
                <a:solidFill>
                  <a:srgbClr val="F4F6FA"/>
                </a:solidFill>
                <a:latin typeface="Arial"/>
              </a:defRPr>
            </a:pPr>
            <a:r>
              <a:t>Rejouer les cas de référence.</a:t>
            </a:r>
          </a:p>
          <a:p>
            <a:pPr>
              <a:lnSpc>
                <a:spcPts val="2000"/>
              </a:lnSpc>
              <a:spcBef>
                <a:spcPts val="0"/>
              </a:spcBef>
              <a:spcAft>
                <a:spcPts val="0"/>
              </a:spcAft>
              <a:defRPr sz="1600" b="0">
                <a:solidFill>
                  <a:srgbClr val="F4F6FA"/>
                </a:solidFill>
                <a:latin typeface="Arial"/>
              </a:defRPr>
            </a:pPr>
            <a:r>
              <a:t>Comparer avant / après.</a:t>
            </a:r>
          </a:p>
          <a:p>
            <a:pPr>
              <a:lnSpc>
                <a:spcPts val="2000"/>
              </a:lnSpc>
              <a:spcBef>
                <a:spcPts val="0"/>
              </a:spcBef>
              <a:spcAft>
                <a:spcPts val="0"/>
              </a:spcAft>
              <a:defRPr sz="1600" b="0">
                <a:solidFill>
                  <a:srgbClr val="F4F6FA"/>
                </a:solidFill>
                <a:latin typeface="Arial"/>
              </a:defRPr>
            </a:pPr>
            <a:r>
              <a:t>Garder un retour arrière.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Alertmanager utilise un récepteur local : aucune notification externe n’a été prouvée.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docs/block2/monitoring-slos.md ; monitoring/alertmanager/</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STRATÉGIE DE TEST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Distinguer tests logiciels et évaluation 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Trois niveaux complémentaires, avec des limites explicites.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INTÉGRATION SIMULÉE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Tests Django et mocks.</a:t>
            </a:r>
          </a:p>
          <a:p>
            <a:pPr>
              <a:lnSpc>
                <a:spcPts val="2000"/>
              </a:lnSpc>
              <a:spcBef>
                <a:spcPts val="0"/>
              </a:spcBef>
              <a:spcAft>
                <a:spcPts val="0"/>
              </a:spcAft>
              <a:defRPr sz="1600" b="0">
                <a:solidFill>
                  <a:srgbClr val="F4F6FA"/>
                </a:solidFill>
                <a:latin typeface="Arial"/>
              </a:defRPr>
            </a:pPr>
            <a:r>
              <a:t>Authentification, CSRF, quota,</a:t>
            </a:r>
          </a:p>
          <a:p>
            <a:pPr>
              <a:lnSpc>
                <a:spcPts val="2000"/>
              </a:lnSpc>
              <a:spcBef>
                <a:spcPts val="0"/>
              </a:spcBef>
              <a:spcAft>
                <a:spcPts val="0"/>
              </a:spcAft>
              <a:defRPr sz="1600" b="0">
                <a:solidFill>
                  <a:srgbClr val="F4F6FA"/>
                </a:solidFill>
                <a:latin typeface="Arial"/>
              </a:defRPr>
            </a:pPr>
            <a:r>
              <a:t>erreurs, prompts, outils et</a:t>
            </a:r>
          </a:p>
          <a:p>
            <a:pPr>
              <a:lnSpc>
                <a:spcPts val="2000"/>
              </a:lnSpc>
              <a:spcBef>
                <a:spcPts val="0"/>
              </a:spcBef>
              <a:spcAft>
                <a:spcPts val="0"/>
              </a:spcAft>
              <a:defRPr sz="1600" b="0">
                <a:solidFill>
                  <a:srgbClr val="F4F6FA"/>
                </a:solidFill>
                <a:latin typeface="Arial"/>
              </a:defRPr>
            </a:pPr>
            <a:r>
              <a:t>transitions.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DATASET HORS LIGNE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4 cas déclarés : choix EN, choix</a:t>
            </a:r>
          </a:p>
          <a:p>
            <a:pPr>
              <a:lnSpc>
                <a:spcPts val="2000"/>
              </a:lnSpc>
              <a:spcBef>
                <a:spcPts val="0"/>
              </a:spcBef>
              <a:spcAft>
                <a:spcPts val="0"/>
              </a:spcAft>
              <a:defRPr sz="1600" b="0">
                <a:solidFill>
                  <a:srgbClr val="F4F6FA"/>
                </a:solidFill>
                <a:latin typeface="Arial"/>
              </a:defRPr>
            </a:pPr>
            <a:r>
              <a:t>FR, source RAG et entrée adverse.</a:t>
            </a:r>
          </a:p>
          <a:p>
            <a:pPr>
              <a:lnSpc>
                <a:spcPts val="2000"/>
              </a:lnSpc>
              <a:spcBef>
                <a:spcPts val="0"/>
              </a:spcBef>
              <a:spcAft>
                <a:spcPts val="0"/>
              </a:spcAft>
              <a:defRPr sz="1600" b="0">
                <a:solidFill>
                  <a:srgbClr val="F4F6FA"/>
                </a:solidFill>
                <a:latin typeface="Arial"/>
              </a:defRPr>
            </a:pPr>
            <a:r>
              <a:t>Validation du format du dataset.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 RÉELLE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--live appelle les 2 cas de choix.</a:t>
            </a:r>
          </a:p>
          <a:p>
            <a:pPr>
              <a:lnSpc>
                <a:spcPts val="2000"/>
              </a:lnSpc>
              <a:spcBef>
                <a:spcPts val="0"/>
              </a:spcBef>
              <a:spcAft>
                <a:spcPts val="0"/>
              </a:spcAft>
              <a:defRPr sz="1600" b="0">
                <a:solidFill>
                  <a:srgbClr val="F4F6FA"/>
                </a:solidFill>
                <a:latin typeface="Arial"/>
              </a:defRPr>
            </a:pPr>
            <a:r>
              <a:t>Les cas RAG et frontière API</a:t>
            </a:r>
          </a:p>
          <a:p>
            <a:pPr>
              <a:lnSpc>
                <a:spcPts val="2000"/>
              </a:lnSpc>
              <a:spcBef>
                <a:spcPts val="0"/>
              </a:spcBef>
              <a:spcAft>
                <a:spcPts val="0"/>
              </a:spcAft>
              <a:defRPr sz="1600" b="0">
                <a:solidFill>
                  <a:srgbClr val="F4F6FA"/>
                </a:solidFill>
                <a:latin typeface="Arial"/>
              </a:defRPr>
            </a:pPr>
            <a:r>
              <a:t>restent marqués hors ligne.</a:t>
            </a:r>
          </a:p>
          <a:p>
            <a:pPr>
              <a:lnSpc>
                <a:spcPts val="2000"/>
              </a:lnSpc>
              <a:spcBef>
                <a:spcPts val="0"/>
              </a:spcBef>
              <a:spcAft>
                <a:spcPts val="0"/>
              </a:spcAft>
              <a:defRPr sz="1600" b="0">
                <a:solidFill>
                  <a:srgbClr val="F4F6FA"/>
                </a:solidFill>
                <a:latin typeface="Arial"/>
              </a:defRPr>
            </a:pPr>
            <a:r>
              <a:t>Qualité sémantique non notée.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runner actuel ne mesure pas un taux global de qualité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src/evaluation/runner.py ; evaluation/dataset.json</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PREUVES LOCALES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33 tests ciblés réussis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Vérifications du 14 septembre 2026 · appels IA simulés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33 TESTS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et configuration.</a:t>
            </a:r>
          </a:p>
          <a:p>
            <a:pPr>
              <a:lnSpc>
                <a:spcPts val="2000"/>
              </a:lnSpc>
              <a:spcBef>
                <a:spcPts val="0"/>
              </a:spcBef>
              <a:spcAft>
                <a:spcPts val="0"/>
              </a:spcAft>
              <a:defRPr sz="1600" b="0">
                <a:solidFill>
                  <a:srgbClr val="F4F6FA"/>
                </a:solidFill>
                <a:latin typeface="Arial"/>
              </a:defRPr>
            </a:pPr>
            <a:r>
              <a:t>Prompts FR, scope / cache RAG.</a:t>
            </a:r>
          </a:p>
          <a:p>
            <a:pPr>
              <a:lnSpc>
                <a:spcPts val="2000"/>
              </a:lnSpc>
              <a:spcBef>
                <a:spcPts val="0"/>
              </a:spcBef>
              <a:spcAft>
                <a:spcPts val="0"/>
              </a:spcAft>
              <a:defRPr sz="1600" b="0">
                <a:solidFill>
                  <a:srgbClr val="F4F6FA"/>
                </a:solidFill>
                <a:latin typeface="Arial"/>
              </a:defRPr>
            </a:pPr>
            <a:r>
              <a:t>Soin, objectifs et métriques.</a:t>
            </a:r>
          </a:p>
          <a:p>
            <a:pPr>
              <a:lnSpc>
                <a:spcPts val="2000"/>
              </a:lnSpc>
              <a:spcBef>
                <a:spcPts val="0"/>
              </a:spcBef>
              <a:spcAft>
                <a:spcPts val="0"/>
              </a:spcAft>
              <a:defRPr sz="1600" b="0">
                <a:solidFill>
                  <a:srgbClr val="F4F6FA"/>
                </a:solidFill>
                <a:latin typeface="Arial"/>
              </a:defRPr>
            </a:pPr>
            <a:r>
              <a:t>Django : aucun problème détecté.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57 FRAGMENTS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Préparation du corpus réussie.</a:t>
            </a:r>
          </a:p>
          <a:p>
            <a:pPr>
              <a:lnSpc>
                <a:spcPts val="2000"/>
              </a:lnSpc>
              <a:spcBef>
                <a:spcPts val="0"/>
              </a:spcBef>
              <a:spcAft>
                <a:spcPts val="0"/>
              </a:spcAft>
              <a:defRPr sz="1600" b="0">
                <a:solidFill>
                  <a:srgbClr val="F4F6FA"/>
                </a:solidFill>
                <a:latin typeface="Arial"/>
              </a:defRPr>
            </a:pPr>
            <a:r>
              <a:t>Aucun calcul d’embedding pendant</a:t>
            </a:r>
          </a:p>
          <a:p>
            <a:pPr>
              <a:lnSpc>
                <a:spcPts val="2000"/>
              </a:lnSpc>
              <a:spcBef>
                <a:spcPts val="0"/>
              </a:spcBef>
              <a:spcAft>
                <a:spcPts val="0"/>
              </a:spcAft>
              <a:defRPr sz="1600" b="0">
                <a:solidFill>
                  <a:srgbClr val="F4F6FA"/>
                </a:solidFill>
                <a:latin typeface="Arial"/>
              </a:defRPr>
            </a:pPr>
            <a:r>
              <a:t>le dry-run.</a:t>
            </a:r>
          </a:p>
          <a:p>
            <a:pPr>
              <a:lnSpc>
                <a:spcPts val="2000"/>
              </a:lnSpc>
              <a:spcBef>
                <a:spcPts val="0"/>
              </a:spcBef>
              <a:spcAft>
                <a:spcPts val="0"/>
              </a:spcAft>
              <a:defRPr sz="1600" b="0">
                <a:solidFill>
                  <a:srgbClr val="F4F6FA"/>
                </a:solidFill>
                <a:latin typeface="Arial"/>
              </a:defRPr>
            </a:pPr>
            <a:r>
              <a:t>Aucune mesure de rappel.</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4 CAS DÉCLARÉS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Rapport offline-validation.</a:t>
            </a:r>
          </a:p>
          <a:p>
            <a:pPr>
              <a:lnSpc>
                <a:spcPts val="2000"/>
              </a:lnSpc>
              <a:spcBef>
                <a:spcPts val="0"/>
              </a:spcBef>
              <a:spcAft>
                <a:spcPts val="0"/>
              </a:spcAft>
              <a:defRPr sz="1600" b="0">
                <a:solidFill>
                  <a:srgbClr val="F4F6FA"/>
                </a:solidFill>
                <a:latin typeface="Arial"/>
              </a:defRPr>
            </a:pPr>
            <a:r>
              <a:t>Pas de benchmark fournisseur.</a:t>
            </a:r>
          </a:p>
          <a:p>
            <a:pPr>
              <a:lnSpc>
                <a:spcPts val="2000"/>
              </a:lnSpc>
              <a:spcBef>
                <a:spcPts val="0"/>
              </a:spcBef>
              <a:spcAft>
                <a:spcPts val="0"/>
              </a:spcAft>
              <a:defRPr sz="1600" b="0">
                <a:solidFill>
                  <a:srgbClr val="F4F6FA"/>
                </a:solidFill>
                <a:latin typeface="Arial"/>
              </a:defRPr>
            </a:pPr>
            <a:r>
              <a:t>Pas de score FR / EN.</a:t>
            </a:r>
          </a:p>
          <a:p>
            <a:pPr>
              <a:lnSpc>
                <a:spcPts val="2000"/>
              </a:lnSpc>
              <a:spcBef>
                <a:spcPts val="0"/>
              </a:spcBef>
              <a:spcAft>
                <a:spcPts val="0"/>
              </a:spcAft>
              <a:defRPr sz="1600" b="0">
                <a:solidFill>
                  <a:srgbClr val="F4F6FA"/>
                </a:solidFill>
                <a:latin typeface="Arial"/>
              </a:defRPr>
            </a:pPr>
            <a:r>
              <a:t>Pas de latence modèle mesurée.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résultats démontrent un socle logiciel ; ils ne remplacent pas l’évaluation en conditions réelles.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preuves/evaluation-offline.json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INTÉGRATION CONTINUE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Automatiser les contrôles avant livraison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Workflow Block 2 AI component versionné dans GitHub Actions.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Lint et checks Django.</a:t>
            </a:r>
          </a:p>
          <a:p>
            <a:pPr>
              <a:lnSpc>
                <a:spcPts val="2000"/>
              </a:lnSpc>
              <a:spcBef>
                <a:spcPts val="0"/>
              </a:spcBef>
              <a:spcAft>
                <a:spcPts val="0"/>
              </a:spcAft>
              <a:defRPr sz="1600" b="0">
                <a:solidFill>
                  <a:srgbClr val="F4F6FA"/>
                </a:solidFill>
                <a:latin typeface="Arial"/>
              </a:defRPr>
            </a:pPr>
            <a:r>
              <a:t>Tests + seuil de couverture 55 %.</a:t>
            </a:r>
          </a:p>
          <a:p>
            <a:pPr>
              <a:lnSpc>
                <a:spcPts val="2000"/>
              </a:lnSpc>
              <a:spcBef>
                <a:spcPts val="0"/>
              </a:spcBef>
              <a:spcAft>
                <a:spcPts val="0"/>
              </a:spcAft>
              <a:defRPr sz="1600" b="0">
                <a:solidFill>
                  <a:srgbClr val="F4F6FA"/>
                </a:solidFill>
                <a:latin typeface="Arial"/>
              </a:defRPr>
            </a:pPr>
            <a:r>
              <a:t>RAG dry-run + dataset offline.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ARTEFACT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Validation des configurations de</a:t>
            </a:r>
          </a:p>
          <a:p>
            <a:pPr>
              <a:lnSpc>
                <a:spcPts val="2000"/>
              </a:lnSpc>
              <a:spcBef>
                <a:spcPts val="0"/>
              </a:spcBef>
              <a:spcAft>
                <a:spcPts val="0"/>
              </a:spcAft>
              <a:defRPr sz="1600" b="0">
                <a:solidFill>
                  <a:srgbClr val="F4F6FA"/>
                </a:solidFill>
                <a:latin typeface="Arial"/>
              </a:defRPr>
            </a:pPr>
            <a:r>
              <a:t>monitoring.</a:t>
            </a:r>
          </a:p>
          <a:p>
            <a:pPr>
              <a:lnSpc>
                <a:spcPts val="2000"/>
              </a:lnSpc>
              <a:spcBef>
                <a:spcPts val="0"/>
              </a:spcBef>
              <a:spcAft>
                <a:spcPts val="0"/>
              </a:spcAft>
              <a:defRPr sz="1600" b="0">
                <a:solidFill>
                  <a:srgbClr val="F4F6FA"/>
                </a:solidFill>
                <a:latin typeface="Arial"/>
              </a:defRPr>
            </a:pPr>
            <a:r>
              <a:t>Build Docker tagué SHA Git.</a:t>
            </a:r>
          </a:p>
          <a:p>
            <a:pPr>
              <a:lnSpc>
                <a:spcPts val="2000"/>
              </a:lnSpc>
              <a:spcBef>
                <a:spcPts val="0"/>
              </a:spcBef>
              <a:spcAft>
                <a:spcPts val="0"/>
              </a:spcAft>
              <a:defRPr sz="1600" b="0">
                <a:solidFill>
                  <a:srgbClr val="F4F6FA"/>
                </a:solidFill>
                <a:latin typeface="Arial"/>
              </a:defRPr>
            </a:pPr>
            <a:r>
              <a:t>Smoke test HTTP /health.</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 LIVE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Déclenchement manuel.</a:t>
            </a:r>
          </a:p>
          <a:p>
            <a:pPr>
              <a:lnSpc>
                <a:spcPts val="2000"/>
              </a:lnSpc>
              <a:spcBef>
                <a:spcPts val="0"/>
              </a:spcBef>
              <a:spcAft>
                <a:spcPts val="0"/>
              </a:spcAft>
              <a:defRPr sz="1600" b="0">
                <a:solidFill>
                  <a:srgbClr val="F4F6FA"/>
                </a:solidFill>
                <a:latin typeface="Arial"/>
              </a:defRPr>
            </a:pPr>
            <a:r>
              <a:t>Environnement ai-evaluation.</a:t>
            </a:r>
          </a:p>
          <a:p>
            <a:pPr>
              <a:lnSpc>
                <a:spcPts val="2000"/>
              </a:lnSpc>
              <a:spcBef>
                <a:spcPts val="0"/>
              </a:spcBef>
              <a:spcAft>
                <a:spcPts val="0"/>
              </a:spcAft>
              <a:defRPr sz="1600" b="0">
                <a:solidFill>
                  <a:srgbClr val="F4F6FA"/>
                </a:solidFill>
                <a:latin typeface="Arial"/>
              </a:defRPr>
            </a:pPr>
            <a:r>
              <a:t>Clé protégée.</a:t>
            </a:r>
          </a:p>
          <a:p>
            <a:pPr>
              <a:lnSpc>
                <a:spcPts val="2000"/>
              </a:lnSpc>
              <a:spcBef>
                <a:spcPts val="0"/>
              </a:spcBef>
              <a:spcAft>
                <a:spcPts val="0"/>
              </a:spcAft>
              <a:defRPr sz="1600" b="0">
                <a:solidFill>
                  <a:srgbClr val="F4F6FA"/>
                </a:solidFill>
                <a:latin typeface="Arial"/>
              </a:defRPr>
            </a:pPr>
            <a:r>
              <a:t>Rapport conservé comme artefact.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workflow est présent ; aucun succès GitHub distant n’a été vérifié pour ces slides.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.github/workflows/block2-ai.yml ; docs/block2/delivery.md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Promouvoir un artefact, prévoir le retour arrière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Procédure documentée ; déploiement réel encore à prouver.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Revoir les tests et le rapport IA.</a:t>
            </a:r>
          </a:p>
          <a:p>
            <a:pPr>
              <a:lnSpc>
                <a:spcPts val="2000"/>
              </a:lnSpc>
              <a:spcBef>
                <a:spcPts val="0"/>
              </a:spcBef>
              <a:spcAft>
                <a:spcPts val="0"/>
              </a:spcAft>
              <a:defRPr sz="1600" b="0">
                <a:solidFill>
                  <a:srgbClr val="F4F6FA"/>
                </a:solidFill>
                <a:latin typeface="Arial"/>
              </a:defRPr>
            </a:pPr>
            <a:r>
              <a:t>Publier l’image exacte.</a:t>
            </a:r>
          </a:p>
          <a:p>
            <a:pPr>
              <a:lnSpc>
                <a:spcPts val="2000"/>
              </a:lnSpc>
              <a:spcBef>
                <a:spcPts val="0"/>
              </a:spcBef>
              <a:spcAft>
                <a:spcPts val="0"/>
              </a:spcAft>
              <a:defRPr sz="1600" b="0">
                <a:solidFill>
                  <a:srgbClr val="F4F6FA"/>
                </a:solidFill>
                <a:latin typeface="Arial"/>
              </a:defRPr>
            </a:pPr>
            <a:r>
              <a:t>Déployer son digest en staging.</a:t>
            </a:r>
          </a:p>
          <a:p>
            <a:pPr>
              <a:lnSpc>
                <a:spcPts val="2000"/>
              </a:lnSpc>
              <a:spcBef>
                <a:spcPts val="0"/>
              </a:spcBef>
              <a:spcAft>
                <a:spcPts val="0"/>
              </a:spcAft>
              <a:defRPr sz="1600" b="0">
                <a:solidFill>
                  <a:srgbClr val="F4F6FA"/>
                </a:solidFill>
                <a:latin typeface="Arial"/>
              </a:defRPr>
            </a:pPr>
            <a:r>
              <a:t>Vérifier santé et parcours.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TRAÇABILITÉ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Révision Git et dataset.</a:t>
            </a:r>
          </a:p>
          <a:p>
            <a:pPr>
              <a:lnSpc>
                <a:spcPts val="2000"/>
              </a:lnSpc>
              <a:spcBef>
                <a:spcPts val="0"/>
              </a:spcBef>
              <a:spcAft>
                <a:spcPts val="0"/>
              </a:spcAft>
              <a:defRPr sz="1600" b="0">
                <a:solidFill>
                  <a:srgbClr val="F4F6FA"/>
                </a:solidFill>
                <a:latin typeface="Arial"/>
              </a:defRPr>
            </a:pPr>
            <a:r>
              <a:t>Modèle et paramètres.</a:t>
            </a:r>
          </a:p>
          <a:p>
            <a:pPr>
              <a:lnSpc>
                <a:spcPts val="2000"/>
              </a:lnSpc>
              <a:spcBef>
                <a:spcPts val="0"/>
              </a:spcBef>
              <a:spcAft>
                <a:spcPts val="0"/>
              </a:spcAft>
              <a:defRPr sz="1600" b="0">
                <a:solidFill>
                  <a:srgbClr val="F4F6FA"/>
                </a:solidFill>
                <a:latin typeface="Arial"/>
              </a:defRPr>
            </a:pPr>
            <a:r>
              <a:t>Prompts versionnés.</a:t>
            </a:r>
          </a:p>
          <a:p>
            <a:pPr>
              <a:lnSpc>
                <a:spcPts val="2000"/>
              </a:lnSpc>
              <a:spcBef>
                <a:spcPts val="0"/>
              </a:spcBef>
              <a:spcAft>
                <a:spcPts val="0"/>
              </a:spcAft>
              <a:defRPr sz="1600" b="0">
                <a:solidFill>
                  <a:srgbClr val="F4F6FA"/>
                </a:solidFill>
                <a:latin typeface="Arial"/>
              </a:defRPr>
            </a:pPr>
            <a:r>
              <a:t>Collection RAG identifiée.</a:t>
            </a:r>
          </a:p>
          <a:p>
            <a:pPr>
              <a:lnSpc>
                <a:spcPts val="2000"/>
              </a:lnSpc>
              <a:spcBef>
                <a:spcPts val="0"/>
              </a:spcBef>
              <a:spcAft>
                <a:spcPts val="0"/>
              </a:spcAft>
              <a:defRPr sz="1600" b="0">
                <a:solidFill>
                  <a:srgbClr val="F4F6FA"/>
                </a:solidFill>
                <a:latin typeface="Arial"/>
              </a:defRPr>
            </a:pPr>
            <a:r>
              <a:t>Conserver les rapports.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RETOUR ARRIÈRE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Redéployer le digest précédent.</a:t>
            </a:r>
          </a:p>
          <a:p>
            <a:pPr>
              <a:lnSpc>
                <a:spcPts val="2000"/>
              </a:lnSpc>
              <a:spcBef>
                <a:spcPts val="0"/>
              </a:spcBef>
              <a:spcAft>
                <a:spcPts val="0"/>
              </a:spcAft>
              <a:defRPr sz="1600" b="0">
                <a:solidFill>
                  <a:srgbClr val="F4F6FA"/>
                </a:solidFill>
                <a:latin typeface="Arial"/>
              </a:defRPr>
            </a:pPr>
            <a:r>
              <a:t>Restaurer sa configuration.</a:t>
            </a:r>
          </a:p>
          <a:p>
            <a:pPr>
              <a:lnSpc>
                <a:spcPts val="2000"/>
              </a:lnSpc>
              <a:spcBef>
                <a:spcPts val="0"/>
              </a:spcBef>
              <a:spcAft>
                <a:spcPts val="0"/>
              </a:spcAft>
              <a:defRPr sz="1600" b="0">
                <a:solidFill>
                  <a:srgbClr val="F4F6FA"/>
                </a:solidFill>
                <a:latin typeface="Arial"/>
              </a:defRPr>
            </a:pPr>
            <a:r>
              <a:t>Revenir à la collection RAG</a:t>
            </a:r>
          </a:p>
          <a:p>
            <a:pPr>
              <a:lnSpc>
                <a:spcPts val="2000"/>
              </a:lnSpc>
              <a:spcBef>
                <a:spcPts val="0"/>
              </a:spcBef>
              <a:spcAft>
                <a:spcPts val="0"/>
              </a:spcAft>
              <a:defRPr sz="1600" b="0">
                <a:solidFill>
                  <a:srgbClr val="F4F6FA"/>
                </a:solidFill>
                <a:latin typeface="Arial"/>
              </a:defRPr>
            </a:pPr>
            <a:r>
              <a:t>prévue.</a:t>
            </a:r>
          </a:p>
          <a:p>
            <a:pPr>
              <a:lnSpc>
                <a:spcPts val="2000"/>
              </a:lnSpc>
              <a:spcBef>
                <a:spcPts val="0"/>
              </a:spcBef>
              <a:spcAft>
                <a:spcPts val="0"/>
              </a:spcAft>
              <a:defRPr sz="1600" b="0">
                <a:solidFill>
                  <a:srgbClr val="F4F6FA"/>
                </a:solidFill>
                <a:latin typeface="Arial"/>
              </a:defRPr>
            </a:pPr>
            <a:r>
              <a:t>Rejouer santé et smoke tests.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digest fixe le conteneur ; il ne fige pas à lui seul le comportement d’un fournisseur distant.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docs/block2/delivery.md ; src/evaluation/runner.py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DÉMONSTRATION ET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une preuve à chaque frontière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proposée sur un environnement de démonstration préparé.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API / INTÉGRATION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configuration sans secret.</a:t>
            </a:r>
          </a:p>
          <a:p>
            <a:pPr>
              <a:lnSpc>
                <a:spcPts val="2000"/>
              </a:lnSpc>
              <a:spcBef>
                <a:spcPts val="0"/>
              </a:spcBef>
              <a:spcAft>
                <a:spcPts val="0"/>
              </a:spcAft>
              <a:defRPr sz="1600" b="0">
                <a:solidFill>
                  <a:srgbClr val="F4F6FA"/>
                </a:solidFill>
                <a:latin typeface="Arial"/>
              </a:defRPr>
            </a:pPr>
            <a:r>
              <a:t>Exercer un tour autorisé.</a:t>
            </a:r>
          </a:p>
          <a:p>
            <a:pPr>
              <a:lnSpc>
                <a:spcPts val="2000"/>
              </a:lnSpc>
              <a:spcBef>
                <a:spcPts val="0"/>
              </a:spcBef>
              <a:spcAft>
                <a:spcPts val="0"/>
              </a:spcAft>
              <a:defRPr sz="1600" b="0">
                <a:solidFill>
                  <a:srgbClr val="F4F6FA"/>
                </a:solidFill>
                <a:latin typeface="Arial"/>
              </a:defRPr>
            </a:pPr>
            <a:r>
              <a:t>Afficher un refus de propriété.</a:t>
            </a:r>
          </a:p>
          <a:p>
            <a:pPr>
              <a:lnSpc>
                <a:spcPts val="2000"/>
              </a:lnSpc>
              <a:spcBef>
                <a:spcPts val="0"/>
              </a:spcBef>
              <a:spcAft>
                <a:spcPts val="0"/>
              </a:spcAft>
              <a:defRPr sz="1600" b="0">
                <a:solidFill>
                  <a:srgbClr val="F4F6FA"/>
                </a:solidFill>
                <a:latin typeface="Arial"/>
              </a:defRPr>
            </a:pPr>
            <a:r>
              <a:t>Expliquer les routes navigateur /</a:t>
            </a:r>
          </a:p>
          <a:p>
            <a:pPr>
              <a:lnSpc>
                <a:spcPts val="2000"/>
              </a:lnSpc>
              <a:spcBef>
                <a:spcPts val="0"/>
              </a:spcBef>
              <a:spcAft>
                <a:spcPts val="0"/>
              </a:spcAft>
              <a:defRPr sz="1600" b="0">
                <a:solidFill>
                  <a:srgbClr val="F4F6FA"/>
                </a:solidFill>
                <a:latin typeface="Arial"/>
              </a:defRPr>
            </a:pPr>
            <a:r>
              <a:t>v1.</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TESTS / SURVEILLANCE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 lot de tests et le rapport</a:t>
            </a:r>
          </a:p>
          <a:p>
            <a:pPr>
              <a:lnSpc>
                <a:spcPts val="2000"/>
              </a:lnSpc>
              <a:spcBef>
                <a:spcPts val="0"/>
              </a:spcBef>
              <a:spcAft>
                <a:spcPts val="0"/>
              </a:spcAft>
              <a:defRPr sz="1600" b="0">
                <a:solidFill>
                  <a:srgbClr val="F4F6FA"/>
                </a:solidFill>
                <a:latin typeface="Arial"/>
              </a:defRPr>
            </a:pPr>
            <a:r>
              <a:t>offline.</a:t>
            </a:r>
          </a:p>
          <a:p>
            <a:pPr>
              <a:lnSpc>
                <a:spcPts val="2000"/>
              </a:lnSpc>
              <a:spcBef>
                <a:spcPts val="0"/>
              </a:spcBef>
              <a:spcAft>
                <a:spcPts val="0"/>
              </a:spcAft>
              <a:defRPr sz="1600" b="0">
                <a:solidFill>
                  <a:srgbClr val="F4F6FA"/>
                </a:solidFill>
                <a:latin typeface="Arial"/>
              </a:defRPr>
            </a:pPr>
            <a:r>
              <a:t>En environnement prêt : métriques,</a:t>
            </a:r>
          </a:p>
          <a:p>
            <a:pPr>
              <a:lnSpc>
                <a:spcPts val="2000"/>
              </a:lnSpc>
              <a:spcBef>
                <a:spcPts val="0"/>
              </a:spcBef>
              <a:spcAft>
                <a:spcPts val="0"/>
              </a:spcAft>
              <a:defRPr sz="1600" b="0">
                <a:solidFill>
                  <a:srgbClr val="F4F6FA"/>
                </a:solidFill>
                <a:latin typeface="Arial"/>
              </a:defRPr>
            </a:pPr>
            <a:r>
              <a:t>erreur simulée et alerte.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LIVRAISON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le workflow.</a:t>
            </a:r>
          </a:p>
          <a:p>
            <a:pPr>
              <a:lnSpc>
                <a:spcPts val="2000"/>
              </a:lnSpc>
              <a:spcBef>
                <a:spcPts val="0"/>
              </a:spcBef>
              <a:spcAft>
                <a:spcPts val="0"/>
              </a:spcAft>
              <a:defRPr sz="1600" b="0">
                <a:solidFill>
                  <a:srgbClr val="F4F6FA"/>
                </a:solidFill>
                <a:latin typeface="Arial"/>
              </a:defRPr>
            </a:pPr>
            <a:r>
              <a:t>Relier code et artefact.</a:t>
            </a:r>
          </a:p>
          <a:p>
            <a:pPr>
              <a:lnSpc>
                <a:spcPts val="2000"/>
              </a:lnSpc>
              <a:spcBef>
                <a:spcPts val="0"/>
              </a:spcBef>
              <a:spcAft>
                <a:spcPts val="0"/>
              </a:spcAft>
              <a:defRPr sz="1600" b="0">
                <a:solidFill>
                  <a:srgbClr val="F4F6FA"/>
                </a:solidFill>
                <a:latin typeface="Arial"/>
              </a:defRPr>
            </a:pPr>
            <a:r>
              <a:t>Présenter un déploiement et un</a:t>
            </a:r>
          </a:p>
          <a:p>
            <a:pPr>
              <a:lnSpc>
                <a:spcPts val="2000"/>
              </a:lnSpc>
              <a:spcBef>
                <a:spcPts val="0"/>
              </a:spcBef>
              <a:spcAft>
                <a:spcPts val="0"/>
              </a:spcAft>
              <a:defRPr sz="1600" b="0">
                <a:solidFill>
                  <a:srgbClr val="F4F6FA"/>
                </a:solidFill>
                <a:latin typeface="Arial"/>
              </a:defRPr>
            </a:pPr>
            <a:r>
              <a:t>rollback seulement s’ils ont été</a:t>
            </a:r>
          </a:p>
          <a:p>
            <a:pPr>
              <a:lnSpc>
                <a:spcPts val="2000"/>
              </a:lnSpc>
              <a:spcBef>
                <a:spcPts val="0"/>
              </a:spcBef>
              <a:spcAft>
                <a:spcPts val="0"/>
              </a:spcAft>
              <a:defRPr sz="1600" b="0">
                <a:solidFill>
                  <a:srgbClr val="F4F6FA"/>
                </a:solidFill>
                <a:latin typeface="Arial"/>
              </a:defRPr>
            </a:pPr>
            <a:r>
              <a:t>exécutés.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Restent à prouver : qualité réelle, accessibilité, alerte reçue et livraison effective.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docs/block2/evidence-checklist.md ; Notes_orales_Bloc2.md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C9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Écarts repérés entre contrat et code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Points identifiés à la lecture ; aucune modification applicative dans cette livraison.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OPENAPI</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liste security encode session</a:t>
            </a:r>
          </a:p>
          <a:p>
            <a:pPr>
              <a:lnSpc>
                <a:spcPts val="2000"/>
              </a:lnSpc>
              <a:spcBef>
                <a:spcPts val="0"/>
              </a:spcBef>
              <a:spcAft>
                <a:spcPts val="0"/>
              </a:spcAft>
              <a:defRPr sz="1600" b="0">
                <a:solidFill>
                  <a:srgbClr val="F4F6FA"/>
                </a:solidFill>
                <a:latin typeface="Arial"/>
              </a:defRPr>
            </a:pPr>
            <a:r>
              <a:t>OU CSRF, alors que la vue exige</a:t>
            </a:r>
          </a:p>
          <a:p>
            <a:pPr>
              <a:lnSpc>
                <a:spcPts val="2000"/>
              </a:lnSpc>
              <a:spcBef>
                <a:spcPts val="0"/>
              </a:spcBef>
              <a:spcAft>
                <a:spcPts val="0"/>
              </a:spcAft>
              <a:defRPr sz="1600" b="0">
                <a:solidFill>
                  <a:srgbClr val="F4F6FA"/>
                </a:solidFill>
                <a:latin typeface="Arial"/>
              </a:defRPr>
            </a:pPr>
            <a:r>
              <a:t>les deux.</a:t>
            </a:r>
          </a:p>
          <a:p>
            <a:pPr>
              <a:lnSpc>
                <a:spcPts val="2000"/>
              </a:lnSpc>
              <a:spcBef>
                <a:spcPts val="0"/>
              </a:spcBef>
              <a:spcAft>
                <a:spcPts val="0"/>
              </a:spcAft>
              <a:defRPr sz="1600" b="0">
                <a:solidFill>
                  <a:srgbClr val="F4F6FA"/>
                </a:solidFill>
                <a:latin typeface="Arial"/>
              </a:defRPr>
            </a:pPr>
            <a:r>
              <a:t>Réunir les exigences dans le</a:t>
            </a:r>
          </a:p>
          <a:p>
            <a:pPr>
              <a:lnSpc>
                <a:spcPts val="2000"/>
              </a:lnSpc>
              <a:spcBef>
                <a:spcPts val="0"/>
              </a:spcBef>
              <a:spcAft>
                <a:spcPts val="0"/>
              </a:spcAft>
              <a:defRPr sz="1600" b="0">
                <a:solidFill>
                  <a:srgbClr val="F4F6FA"/>
                </a:solidFill>
                <a:latin typeface="Arial"/>
              </a:defRPr>
            </a:pPr>
            <a:r>
              <a:t>contrat.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contrat interdit les champs</a:t>
            </a:r>
          </a:p>
          <a:p>
            <a:pPr>
              <a:lnSpc>
                <a:spcPts val="2000"/>
              </a:lnSpc>
              <a:spcBef>
                <a:spcPts val="0"/>
              </a:spcBef>
              <a:spcAft>
                <a:spcPts val="0"/>
              </a:spcAft>
              <a:defRPr sz="1600" b="0">
                <a:solidFill>
                  <a:srgbClr val="F4F6FA"/>
                </a:solidFill>
                <a:latin typeface="Arial"/>
              </a:defRPr>
            </a:pPr>
            <a:r>
              <a:t>supplémentaires ; la vue ne les</a:t>
            </a:r>
          </a:p>
          <a:p>
            <a:pPr>
              <a:lnSpc>
                <a:spcPts val="2000"/>
              </a:lnSpc>
              <a:spcBef>
                <a:spcPts val="0"/>
              </a:spcBef>
              <a:spcAft>
                <a:spcPts val="0"/>
              </a:spcAft>
              <a:defRPr sz="1600" b="0">
                <a:solidFill>
                  <a:srgbClr val="F4F6FA"/>
                </a:solidFill>
                <a:latin typeface="Arial"/>
              </a:defRPr>
            </a:pPr>
            <a:r>
              <a:t>rejette pas explicitement.</a:t>
            </a:r>
          </a:p>
          <a:p>
            <a:pPr>
              <a:lnSpc>
                <a:spcPts val="2000"/>
              </a:lnSpc>
              <a:spcBef>
                <a:spcPts val="0"/>
              </a:spcBef>
              <a:spcAft>
                <a:spcPts val="0"/>
              </a:spcAft>
              <a:defRPr sz="1600" b="0">
                <a:solidFill>
                  <a:srgbClr val="F4F6FA"/>
                </a:solidFill>
                <a:latin typeface="Arial"/>
              </a:defRPr>
            </a:pPr>
            <a:r>
              <a:t>Un JSON non objet reste à tester.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CHOIX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comparaison est conditionnée à</a:t>
            </a:r>
          </a:p>
          <a:p>
            <a:pPr>
              <a:lnSpc>
                <a:spcPts val="2000"/>
              </a:lnSpc>
              <a:spcBef>
                <a:spcPts val="0"/>
              </a:spcBef>
              <a:spcAft>
                <a:spcPts val="0"/>
              </a:spcAft>
              <a:defRPr sz="1600" b="0">
                <a:solidFill>
                  <a:srgbClr val="F4F6FA"/>
                </a:solidFill>
                <a:latin typeface="Arial"/>
              </a:defRPr>
            </a:pPr>
            <a:r>
              <a:t>une liste serveur non vide.</a:t>
            </a:r>
          </a:p>
          <a:p>
            <a:pPr>
              <a:lnSpc>
                <a:spcPts val="2000"/>
              </a:lnSpc>
              <a:spcBef>
                <a:spcPts val="0"/>
              </a:spcBef>
              <a:spcAft>
                <a:spcPts val="0"/>
              </a:spcAft>
              <a:defRPr sz="1600" b="0">
                <a:solidFill>
                  <a:srgbClr val="F4F6FA"/>
                </a:solidFill>
                <a:latin typeface="Arial"/>
              </a:defRPr>
            </a:pPr>
            <a:r>
              <a:t>Définir et tester le comportement</a:t>
            </a:r>
          </a:p>
          <a:p>
            <a:pPr>
              <a:lnSpc>
                <a:spcPts val="2000"/>
              </a:lnSpc>
              <a:spcBef>
                <a:spcPts val="0"/>
              </a:spcBef>
              <a:spcAft>
                <a:spcPts val="0"/>
              </a:spcAft>
              <a:defRPr sz="1600" b="0">
                <a:solidFill>
                  <a:srgbClr val="F4F6FA"/>
                </a:solidFill>
                <a:latin typeface="Arial"/>
              </a:defRPr>
            </a:pPr>
            <a:r>
              <a:t>quand elle est vide.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Conserver ces réserves dans l’argumentaire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docs/block2/openapi.yaml ; src/django/game/ai_api.py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TRAÇABILITÉ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Retrouver les preuves C6 à C13</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Sources relatives à la racine du dépôt.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E2</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C6 : dossier de veille à joindre.</a:t>
            </a:r>
          </a:p>
          <a:p>
            <a:pPr>
              <a:lnSpc>
                <a:spcPts val="2000"/>
              </a:lnSpc>
              <a:spcBef>
                <a:spcPts val="0"/>
              </a:spcBef>
              <a:spcAft>
                <a:spcPts val="0"/>
              </a:spcAft>
              <a:defRPr sz="1600" b="0">
                <a:solidFill>
                  <a:srgbClr val="F4F6FA"/>
                </a:solidFill>
                <a:latin typeface="Arial"/>
              </a:defRPr>
            </a:pPr>
            <a:r>
              <a:t>C7 :</a:t>
            </a:r>
          </a:p>
          <a:p>
            <a:pPr>
              <a:lnSpc>
                <a:spcPts val="2000"/>
              </a:lnSpc>
              <a:spcBef>
                <a:spcPts val="0"/>
              </a:spcBef>
              <a:spcAft>
                <a:spcPts val="0"/>
              </a:spcAft>
              <a:defRPr sz="1600" b="0">
                <a:solidFill>
                  <a:srgbClr val="F4F6FA"/>
                </a:solidFill>
                <a:latin typeface="Arial"/>
              </a:defRPr>
            </a:pPr>
            <a:r>
              <a:t>ai-requirements-and-selection.md</a:t>
            </a:r>
          </a:p>
          <a:p>
            <a:pPr>
              <a:lnSpc>
                <a:spcPts val="2000"/>
              </a:lnSpc>
              <a:spcBef>
                <a:spcPts val="0"/>
              </a:spcBef>
              <a:spcAft>
                <a:spcPts val="0"/>
              </a:spcAft>
              <a:defRPr sz="1600" b="0">
                <a:solidFill>
                  <a:srgbClr val="F4F6FA"/>
                </a:solidFill>
                <a:latin typeface="Arial"/>
              </a:defRPr>
            </a:pPr>
            <a:r>
              <a:t>C8 : runtime_config.py et</a:t>
            </a:r>
          </a:p>
          <a:p>
            <a:pPr>
              <a:lnSpc>
                <a:spcPts val="2000"/>
              </a:lnSpc>
              <a:spcBef>
                <a:spcPts val="0"/>
              </a:spcBef>
              <a:spcAft>
                <a:spcPts val="0"/>
              </a:spcAft>
              <a:defRPr sz="1600" b="0">
                <a:solidFill>
                  <a:srgbClr val="F4F6FA"/>
                </a:solidFill>
                <a:latin typeface="Arial"/>
              </a:defRPr>
            </a:pPr>
            <a:r>
              <a:t>documentation RAG.</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SERVICE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C9 : ai_api.py + test_ai_api.py</a:t>
            </a:r>
          </a:p>
          <a:p>
            <a:pPr>
              <a:lnSpc>
                <a:spcPts val="2000"/>
              </a:lnSpc>
              <a:spcBef>
                <a:spcPts val="0"/>
              </a:spcBef>
              <a:spcAft>
                <a:spcPts val="0"/>
              </a:spcAft>
              <a:defRPr sz="1600" b="0">
                <a:solidFill>
                  <a:srgbClr val="F4F6FA"/>
                </a:solidFill>
                <a:latin typeface="Arial"/>
              </a:defRPr>
            </a:pPr>
            <a:r>
              <a:t>C10 : game_engine.py et play.html</a:t>
            </a:r>
          </a:p>
          <a:p>
            <a:pPr>
              <a:lnSpc>
                <a:spcPts val="2000"/>
              </a:lnSpc>
              <a:spcBef>
                <a:spcPts val="0"/>
              </a:spcBef>
              <a:spcAft>
                <a:spcPts val="0"/>
              </a:spcAft>
              <a:defRPr sz="1600" b="0">
                <a:solidFill>
                  <a:srgbClr val="F4F6FA"/>
                </a:solidFill>
                <a:latin typeface="Arial"/>
              </a:defRPr>
            </a:pPr>
            <a:r>
              <a:t>C11 : observability/ et monitoring/</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QUALITÉ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C12 : evaluation/ et tests Django</a:t>
            </a:r>
          </a:p>
          <a:p>
            <a:pPr>
              <a:lnSpc>
                <a:spcPts val="2000"/>
              </a:lnSpc>
              <a:spcBef>
                <a:spcPts val="0"/>
              </a:spcBef>
              <a:spcAft>
                <a:spcPts val="0"/>
              </a:spcAft>
              <a:defRPr sz="1600" b="0">
                <a:solidFill>
                  <a:srgbClr val="F4F6FA"/>
                </a:solidFill>
                <a:latin typeface="Arial"/>
              </a:defRPr>
            </a:pPr>
            <a:r>
              <a:t>C13 : block2-ai.yml</a:t>
            </a:r>
          </a:p>
          <a:p>
            <a:pPr>
              <a:lnSpc>
                <a:spcPts val="2000"/>
              </a:lnSpc>
              <a:spcBef>
                <a:spcPts val="0"/>
              </a:spcBef>
              <a:spcAft>
                <a:spcPts val="0"/>
              </a:spcAft>
              <a:defRPr sz="1600" b="0">
                <a:solidFill>
                  <a:srgbClr val="F4F6FA"/>
                </a:solidFill>
                <a:latin typeface="Arial"/>
              </a:defRPr>
            </a:pPr>
            <a:r>
              <a:t>Rapport :</a:t>
            </a:r>
          </a:p>
          <a:p>
            <a:pPr>
              <a:lnSpc>
                <a:spcPts val="2000"/>
              </a:lnSpc>
              <a:spcBef>
                <a:spcPts val="0"/>
              </a:spcBef>
              <a:spcAft>
                <a:spcPts val="0"/>
              </a:spcAft>
              <a:defRPr sz="1600" b="0">
                <a:solidFill>
                  <a:srgbClr val="F4F6FA"/>
                </a:solidFill>
                <a:latin typeface="Arial"/>
              </a:defRPr>
            </a:pPr>
            <a:r>
              <a:t>preuves/evaluation-offline.json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documentation de synthèse se trouve sous docs/block2/.</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fourni, p. 6–16 ; docs/block2/traceability.md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les limites du dispositif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Préparer une réponse courte, puis une preuve.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POURQUOI CE MODÈLE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Architecture cohérente avec le</a:t>
            </a:r>
          </a:p>
          <a:p>
            <a:pPr>
              <a:lnSpc>
                <a:spcPts val="2000"/>
              </a:lnSpc>
              <a:spcBef>
                <a:spcPts val="0"/>
              </a:spcBef>
              <a:spcAft>
                <a:spcPts val="0"/>
              </a:spcAft>
              <a:defRPr sz="1600" b="0">
                <a:solidFill>
                  <a:srgbClr val="F4F6FA"/>
                </a:solidFill>
                <a:latin typeface="Arial"/>
              </a:defRPr>
            </a:pPr>
            <a:r>
              <a:t>besoin ; sélection finale à soutenir</a:t>
            </a:r>
          </a:p>
          <a:p>
            <a:pPr>
              <a:lnSpc>
                <a:spcPts val="2000"/>
              </a:lnSpc>
              <a:spcBef>
                <a:spcPts val="0"/>
              </a:spcBef>
              <a:spcAft>
                <a:spcPts val="0"/>
              </a:spcAft>
              <a:defRPr sz="1600" b="0">
                <a:solidFill>
                  <a:srgbClr val="F4F6FA"/>
                </a:solidFill>
                <a:latin typeface="Arial"/>
              </a:defRPr>
            </a:pPr>
            <a:r>
              <a:t>par un comparatif réel.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COMMENT MESURER ?</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Format par schéma ; pertinence</a:t>
            </a:r>
          </a:p>
          <a:p>
            <a:pPr>
              <a:lnSpc>
                <a:spcPts val="2000"/>
              </a:lnSpc>
              <a:spcBef>
                <a:spcPts val="0"/>
              </a:spcBef>
              <a:spcAft>
                <a:spcPts val="0"/>
              </a:spcAft>
              <a:defRPr sz="1600" b="0">
                <a:solidFill>
                  <a:srgbClr val="F4F6FA"/>
                </a:solidFill>
                <a:latin typeface="Arial"/>
              </a:defRPr>
            </a:pPr>
            <a:r>
              <a:t>par cas et revue humaine ;</a:t>
            </a:r>
          </a:p>
          <a:p>
            <a:pPr>
              <a:lnSpc>
                <a:spcPts val="2000"/>
              </a:lnSpc>
              <a:spcBef>
                <a:spcPts val="0"/>
              </a:spcBef>
              <a:spcAft>
                <a:spcPts val="0"/>
              </a:spcAft>
              <a:defRPr sz="1600" b="0">
                <a:solidFill>
                  <a:srgbClr val="F4F6FA"/>
                </a:solidFill>
                <a:latin typeface="Arial"/>
              </a:defRPr>
            </a:pPr>
            <a:r>
              <a:t>disponibilité et délai par métriques.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QU’EST-CE QUI MANQUE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Veille jointe, benchmark, notation</a:t>
            </a:r>
          </a:p>
          <a:p>
            <a:pPr>
              <a:lnSpc>
                <a:spcPts val="2000"/>
              </a:lnSpc>
              <a:spcBef>
                <a:spcPts val="0"/>
              </a:spcBef>
              <a:spcAft>
                <a:spcPts val="0"/>
              </a:spcAft>
              <a:defRPr sz="1600" b="0">
                <a:solidFill>
                  <a:srgbClr val="F4F6FA"/>
                </a:solidFill>
                <a:latin typeface="Arial"/>
              </a:defRPr>
            </a:pPr>
            <a:r>
              <a:t>RAG / adversarial, audit</a:t>
            </a:r>
          </a:p>
          <a:p>
            <a:pPr>
              <a:lnSpc>
                <a:spcPts val="2000"/>
              </a:lnSpc>
              <a:spcBef>
                <a:spcPts val="0"/>
              </a:spcBef>
              <a:spcAft>
                <a:spcPts val="0"/>
              </a:spcAft>
              <a:defRPr sz="1600" b="0">
                <a:solidFill>
                  <a:srgbClr val="F4F6FA"/>
                </a:solidFill>
                <a:latin typeface="Arial"/>
              </a:defRPr>
            </a:pPr>
            <a:r>
              <a:t>accessible, alerte reçue et</a:t>
            </a:r>
          </a:p>
          <a:p>
            <a:pPr>
              <a:lnSpc>
                <a:spcPts val="2000"/>
              </a:lnSpc>
              <a:spcBef>
                <a:spcPts val="0"/>
              </a:spcBef>
              <a:spcAft>
                <a:spcPts val="0"/>
              </a:spcAft>
              <a:defRPr sz="1600" b="0">
                <a:solidFill>
                  <a:srgbClr val="F4F6FA"/>
                </a:solidFill>
                <a:latin typeface="Arial"/>
              </a:defRPr>
            </a:pPr>
            <a:r>
              <a:t>déploiement tracé.</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modèle préentraîné déplace les contrôles vers les données, les prompts et l’intégration.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docs/block2/evidence-checklist.md ; src/evaluation/runner.py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