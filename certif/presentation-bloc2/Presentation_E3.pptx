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Introduire E3 de façon autonome si ce fichier est présenté séparément. Il s’agit de mettre en service un modèle préexistant dans une application, pas d’entraîner ses poids. Expliquer ce qui est versionné localement et ce qui dépend du fournisseur distant.</a:t>
            </a:r>
          </a:p>
          <a:p/>
          <a:p>
            <a:r>
              <a:t>Sources : Référentiel, C9–C13, p. 10–16 ; docs/block2/traceability.md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health renvoie des booléens, pas un ping fournisseur. Décrire le body {"choice": "Open the gate"}. L’API réutilise StepGameView pour déclencher le moteur. Le contrat YAML existe, mais quelques écarts contrat/code sont identifiés en annexe et ne doivent pas être présentés comme une conformité OpenAPI parfaite.</a:t>
            </a:r>
          </a:p>
          <a:p/>
          <a:p>
            <a:r>
              <a:t>Sources : src/django/game/ai_api.py ; docs/block2/openapi.yaml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Résultats vérifiés : utilisateur étranger rejeté, choix arbitraire rejeté avec liste renseignée, CSRF refusé sans jeton et quota exercé. Limite importante : le code ne rejette pas par ce contrôle un choix lorsque current_choices est vide. Ne pas affirmer une prévention générale des injections de prompt. Ne pas montrer d’identifiants de session réels.</a:t>
            </a:r>
          </a:p>
          <a:p/>
          <a:p>
            <a:r>
              <a:t>Sources : src/django/game/ai_api.py ; src/django/game/test_ai_api.py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Éviter un schéma trompeur qui ferait passer le navigateur par v1 : le template pointe vers api_step. L’intégration effective du fournisseur passe par les chaînes du moteur ; v1 expose une autre frontière. Une preuve C10 complète doit montrer les endpoints réellement consommés et les adaptations d’interface, avec leur évaluation d’accessibilité.</a:t>
            </a:r>
          </a:p>
          <a:p/>
          <a:p>
            <a:r>
              <a:t>Sources : src/django/game/templates/game/play.html ; ai_api.py ; services/game_engine.py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tests ciblés ont exercé les prompts FR, la reprise narrative, l’échec sans progression, les outils de soin et les objectifs. La classe SaveGamePersistenceTests n’appartient pas au lot de 33 exécuté ici : ne pas attribuer à ce lot la totalité des tests de persistance. Les cas sont simulés ; aucune qualité linguistique en réel n’est mesurée.</a:t>
            </a:r>
          </a:p>
          <a:p/>
          <a:p>
            <a:r>
              <a:t>Sources : src/agents/schemas.py ; src/django/game/tests.py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Expliquer compteur et histogramme, ainsi que la fenêtre de calcul. Les métriques exposées ont des tests ciblés, mais la chaîne Prometheus/Grafana n’a pas été lancée pour ce support. Les tokens peuvent dépendre des données d’usage fournies par le service ; l’estimation de coût nécessite des tarifs à jour. Les labels bornés évitent données sensibles et cardinalité excessive.</a:t>
            </a:r>
          </a:p>
          <a:p/>
          <a:p>
            <a:r>
              <a:t>Sources : src/observability/ ; docs/block2/monitoring-slos.md ; monitoring/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 seuil précis de RAG documenté est plus de deux échecs en quinze minutes. La latence doit être élevée pendant dix minutes. Préparer un déclenchement contrôlé en bac à sable avec capture horodatée et retour à la règle initiale. Ce projet ajuste l’intégration ; il ne réentraîne pas automatiquement le modèle distant.</a:t>
            </a:r>
          </a:p>
          <a:p/>
          <a:p>
            <a:r>
              <a:t>Sources : docs/block2/monitoring-slos.md ; monitoring/alertmanager/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Point central : validate_dataset vérifie version, identifiants et types de tâches ; ce n’est pas une validation exhaustive du contenu. En live, passed=True signifie ici passage de la chaîne et de ChoiceOutput. Les seuils 1,0 et 0,9 sont écrits dans le rapport ; le code de sortie exige tous les résultats passed. Ne pas annoncer 100 % de qualité à partir de validated_offline.</a:t>
            </a:r>
          </a:p>
          <a:p/>
          <a:p>
            <a:r>
              <a:t>Sources : src/evaluation/runner.py ; evaluation/dataset.json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Nommer les classes exécutées, disponibles dans le fichier de preuve. Les 33 tests sont un sous-ensemble, pas toute la suite ni une mesure de couverture. Le résultat de 3,711 s est la durée des tests, jamais une latence d’inférence. Aucune suite API complète ou audit de sécurité ne doit être revendiqué à partir de ce lot.</a:t>
            </a:r>
          </a:p>
          <a:p/>
          <a:p>
            <a:r>
              <a:t>Sources : preuves/evaluation-offline.json ; preuves/verification.md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Décrire PR, push main et déclenchement manuel. Le conteneur est construit et chargé localement dans le job : le workflow ne prouve pas la publication d’une image dans un registre. Le smoke test utilise une clé factice et RAG désactivé ; il vérifie le démarrage HTTP, pas le modèle. La couverture 55 % est un seuil configuré, pas une mesure obtenue aujourd’hui.</a:t>
            </a:r>
          </a:p>
          <a:p/>
          <a:p>
            <a:r>
              <a:t>Sources : .github/workflows/block2-ai.yml ; docs/block2/delivery.md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Garder au moins un artefact connu bon. Le modèle hébergé peut évoluer si son identifiant n’est pas une version figée ; expliciter cette limite. Versionner une collection RAG fait partie de la procédure à organiser, pas d’une preuve d’activation déjà produite ici. Staging, registre et liens de jobs restent à renseigner.</a:t>
            </a:r>
          </a:p>
          <a:p/>
          <a:p>
            <a:r>
              <a:t>Sources : docs/block2/delivery.md ; src/evaluation/runner.py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100 s.</a:t>
            </a:r>
          </a:p>
          <a:p/>
          <a:p>
            <a:r>
              <a:t>Les manipulations tiennent dans le créneau de cette slide si les onglets sont prêts. Sans service démarré, montrer les preuves hors ligne et nommer explicitement ce qui est une simulation. Ne pas déclencher un appel payant ou envoyer une notification à un tiers par surprise. Préparer l’audit d’accessibilité et les liens de démonstration avant la soutenance.</a:t>
            </a:r>
          </a:p>
          <a:p/>
          <a:p>
            <a:r>
              <a:t>Sources : docs/block2/evidence-checklist.md ; Notes_orales_Bloc2.md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Ces observations proviennent du code local, sans test d’exploitation. Le lot courant couvre une liste de choix non vide. Ajouter des tests de contrat et corriger les écarts avant de revendiquer une conformité stricte. Ce support ne change pas le périmètre de la demande en tâche de développement.</a:t>
            </a:r>
          </a:p>
          <a:p/>
          <a:p>
            <a:r>
              <a:t>Sources : docs/block2/openapi.yaml ; src/django/game/ai_api.py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Les chemins des cartes sont abrégés pour projection. Utiliser les notes et le dépôt pour ouvrir les fichiers exacts. Le référentiel local fourni est la base de ce support ; aucune affirmation n’est faite sur une éventuelle version plus récente de la certification.</a:t>
            </a:r>
          </a:p>
          <a:p/>
          <a:p>
            <a:r>
              <a:t>Sources : Référentiel fourni, p. 6–16 ; docs/block2/traceability.md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Durée indicative : 0 s.</a:t>
            </a:r>
          </a:p>
          <a:p/>
          <a:p>
            <a:r>
              <a:t>Préparer aussi : confidentialité du contexte envoyé, timeout par appel versus tour complet, quota multi-instance, limite des schémas et stabilité des modèles hébergés. Rester précis sur l’absence d’entraînement ou de réentraînement dans ce projet.</a:t>
            </a:r>
          </a:p>
          <a:p/>
          <a:p>
            <a:r>
              <a:t>Sources : docs/block2/evidence-checklist.md ; src/evaluation/runner.py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E3 · C9 À C13</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Mettre le composant d’IA en service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Call To AIdventure · Bloc 2 · E3 : 20 minutes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EXPOSER / INTÉGRER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 authentifiée, connexion au</a:t>
            </a:r>
          </a:p>
          <a:p>
            <a:pPr>
              <a:lnSpc>
                <a:spcPts val="2000"/>
              </a:lnSpc>
              <a:spcBef>
                <a:spcPts val="0"/>
              </a:spcBef>
              <a:spcAft>
                <a:spcPts val="0"/>
              </a:spcAft>
              <a:defRPr sz="1600" b="0">
                <a:solidFill>
                  <a:srgbClr val="F4F6FA"/>
                </a:solidFill>
                <a:latin typeface="Arial"/>
              </a:defRPr>
            </a:pPr>
            <a:r>
              <a:t>moteur du jeu et gestion des</a:t>
            </a:r>
          </a:p>
          <a:p>
            <a:pPr>
              <a:lnSpc>
                <a:spcPts val="2000"/>
              </a:lnSpc>
              <a:spcBef>
                <a:spcPts val="0"/>
              </a:spcBef>
              <a:spcAft>
                <a:spcPts val="0"/>
              </a:spcAft>
              <a:defRPr sz="1600" b="0">
                <a:solidFill>
                  <a:srgbClr val="F4F6FA"/>
                </a:solidFill>
                <a:latin typeface="Arial"/>
              </a:defRPr>
            </a:pPr>
            <a:r>
              <a:t>erreurs.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SURVEILLER / TESTER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Métriques techniques, qualité des</a:t>
            </a:r>
          </a:p>
          <a:p>
            <a:pPr>
              <a:lnSpc>
                <a:spcPts val="2000"/>
              </a:lnSpc>
              <a:spcBef>
                <a:spcPts val="0"/>
              </a:spcBef>
              <a:spcAft>
                <a:spcPts val="0"/>
              </a:spcAft>
              <a:defRPr sz="1600" b="0">
                <a:solidFill>
                  <a:srgbClr val="F4F6FA"/>
                </a:solidFill>
                <a:latin typeface="Arial"/>
              </a:defRPr>
            </a:pPr>
            <a:r>
              <a:t>sorties et vérifications</a:t>
            </a:r>
          </a:p>
          <a:p>
            <a:pPr>
              <a:lnSpc>
                <a:spcPts val="2000"/>
              </a:lnSpc>
              <a:spcBef>
                <a:spcPts val="0"/>
              </a:spcBef>
              <a:spcAft>
                <a:spcPts val="0"/>
              </a:spcAft>
              <a:defRPr sz="1600" b="0">
                <a:solidFill>
                  <a:srgbClr val="F4F6FA"/>
                </a:solidFill>
                <a:latin typeface="Arial"/>
              </a:defRPr>
            </a:pPr>
            <a:r>
              <a:t>reproductibles.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LIVRER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Workflow de validation, image</a:t>
            </a:r>
          </a:p>
          <a:p>
            <a:pPr>
              <a:lnSpc>
                <a:spcPts val="2000"/>
              </a:lnSpc>
              <a:spcBef>
                <a:spcPts val="0"/>
              </a:spcBef>
              <a:spcAft>
                <a:spcPts val="0"/>
              </a:spcAft>
              <a:defRPr sz="1600" b="0">
                <a:solidFill>
                  <a:srgbClr val="F4F6FA"/>
                </a:solidFill>
                <a:latin typeface="Arial"/>
              </a:defRPr>
            </a:pPr>
            <a:r>
              <a:t>Docker et procédure de promotion</a:t>
            </a:r>
          </a:p>
          <a:p>
            <a:pPr>
              <a:lnSpc>
                <a:spcPts val="2000"/>
              </a:lnSpc>
              <a:spcBef>
                <a:spcPts val="0"/>
              </a:spcBef>
              <a:spcAft>
                <a:spcPts val="0"/>
              </a:spcAft>
              <a:defRPr sz="1600" b="0">
                <a:solidFill>
                  <a:srgbClr val="F4F6FA"/>
                </a:solidFill>
                <a:latin typeface="Arial"/>
              </a:defRPr>
            </a:pPr>
            <a:r>
              <a:t>/ retour arrière.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composant livré comprend le code, les prompts, la configuration et les preuves.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C9–C13, p. 10–16 ; docs/block2/traceability.md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C9 · API REST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Exposer trois points d’entrée documentés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Contrat versionné dans docs/block2/openapi.yaml.</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 DE CONFIGURATION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/api/v1/ai/health/</a:t>
            </a:r>
          </a:p>
          <a:p>
            <a:pPr>
              <a:lnSpc>
                <a:spcPts val="2000"/>
              </a:lnSpc>
              <a:spcBef>
                <a:spcPts val="0"/>
              </a:spcBef>
              <a:spcAft>
                <a:spcPts val="0"/>
              </a:spcAft>
              <a:defRPr sz="1600" b="0">
                <a:solidFill>
                  <a:srgbClr val="F4F6FA"/>
                </a:solidFill>
                <a:latin typeface="Arial"/>
              </a:defRPr>
            </a:pPr>
            <a:r>
              <a:t>Public.</a:t>
            </a:r>
          </a:p>
          <a:p>
            <a:pPr>
              <a:lnSpc>
                <a:spcPts val="2000"/>
              </a:lnSpc>
              <a:spcBef>
                <a:spcPts val="0"/>
              </a:spcBef>
              <a:spcAft>
                <a:spcPts val="0"/>
              </a:spcAft>
              <a:defRPr sz="1600" b="0">
                <a:solidFill>
                  <a:srgbClr val="F4F6FA"/>
                </a:solidFill>
                <a:latin typeface="Arial"/>
              </a:defRPr>
            </a:pPr>
            <a:r>
              <a:t>Indique la configuration.</a:t>
            </a:r>
          </a:p>
          <a:p>
            <a:pPr>
              <a:lnSpc>
                <a:spcPts val="2000"/>
              </a:lnSpc>
              <a:spcBef>
                <a:spcPts val="0"/>
              </a:spcBef>
              <a:spcAft>
                <a:spcPts val="0"/>
              </a:spcAft>
              <a:defRPr sz="1600" b="0">
                <a:solidFill>
                  <a:srgbClr val="F4F6FA"/>
                </a:solidFill>
                <a:latin typeface="Arial"/>
              </a:defRPr>
            </a:pPr>
            <a:r>
              <a:t>Ne prouve pas un appel réussi au</a:t>
            </a:r>
          </a:p>
          <a:p>
            <a:pPr>
              <a:lnSpc>
                <a:spcPts val="2000"/>
              </a:lnSpc>
              <a:spcBef>
                <a:spcPts val="0"/>
              </a:spcBef>
              <a:spcAft>
                <a:spcPts val="0"/>
              </a:spcAft>
              <a:defRPr sz="1600" b="0">
                <a:solidFill>
                  <a:srgbClr val="F4F6FA"/>
                </a:solidFill>
                <a:latin typeface="Arial"/>
              </a:defRPr>
            </a:pPr>
            <a:r>
              <a:t>fournisseur.</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MÉTADONNÉES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GET /api/v1/ai/configuration/</a:t>
            </a:r>
          </a:p>
          <a:p>
            <a:pPr>
              <a:lnSpc>
                <a:spcPts val="2000"/>
              </a:lnSpc>
              <a:spcBef>
                <a:spcPts val="0"/>
              </a:spcBef>
              <a:spcAft>
                <a:spcPts val="0"/>
              </a:spcAft>
              <a:defRPr sz="1600" b="0">
                <a:solidFill>
                  <a:srgbClr val="F4F6FA"/>
                </a:solidFill>
                <a:latin typeface="Arial"/>
              </a:defRPr>
            </a:pPr>
            <a:r>
              <a:t>Authentifié.</a:t>
            </a:r>
          </a:p>
          <a:p>
            <a:pPr>
              <a:lnSpc>
                <a:spcPts val="2000"/>
              </a:lnSpc>
              <a:spcBef>
                <a:spcPts val="0"/>
              </a:spcBef>
              <a:spcAft>
                <a:spcPts val="0"/>
              </a:spcAft>
              <a:defRPr sz="1600" b="0">
                <a:solidFill>
                  <a:srgbClr val="F4F6FA"/>
                </a:solidFill>
                <a:latin typeface="Arial"/>
              </a:defRPr>
            </a:pPr>
            <a:r>
              <a:t>Modèles et limites utiles.</a:t>
            </a:r>
          </a:p>
          <a:p>
            <a:pPr>
              <a:lnSpc>
                <a:spcPts val="2000"/>
              </a:lnSpc>
              <a:spcBef>
                <a:spcPts val="0"/>
              </a:spcBef>
              <a:spcAft>
                <a:spcPts val="0"/>
              </a:spcAft>
              <a:defRPr sz="1600" b="0">
                <a:solidFill>
                  <a:srgbClr val="F4F6FA"/>
                </a:solidFill>
                <a:latin typeface="Arial"/>
              </a:defRPr>
            </a:pPr>
            <a:r>
              <a:t>Aucune clé ni prompt.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TOUR DE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POST /api/v1/games/</a:t>
            </a:r>
          </a:p>
          <a:p>
            <a:pPr>
              <a:lnSpc>
                <a:spcPts val="2000"/>
              </a:lnSpc>
              <a:spcBef>
                <a:spcPts val="0"/>
              </a:spcBef>
              <a:spcAft>
                <a:spcPts val="0"/>
              </a:spcAft>
              <a:defRPr sz="1600" b="0">
                <a:solidFill>
                  <a:srgbClr val="F4F6FA"/>
                </a:solidFill>
                <a:latin typeface="Arial"/>
              </a:defRPr>
            </a:pPr>
            <a:r>
              <a:t>{game_id}/turns/</a:t>
            </a:r>
          </a:p>
          <a:p>
            <a:pPr>
              <a:lnSpc>
                <a:spcPts val="2000"/>
              </a:lnSpc>
              <a:spcBef>
                <a:spcPts val="0"/>
              </a:spcBef>
              <a:spcAft>
                <a:spcPts val="0"/>
              </a:spcAft>
              <a:defRPr sz="1600" b="0">
                <a:solidFill>
                  <a:srgbClr val="F4F6FA"/>
                </a:solidFill>
                <a:latin typeface="Arial"/>
              </a:defRPr>
            </a:pPr>
            <a:r>
              <a:t>Session + CSRF.</a:t>
            </a:r>
          </a:p>
          <a:p>
            <a:pPr>
              <a:lnSpc>
                <a:spcPts val="2000"/>
              </a:lnSpc>
              <a:spcBef>
                <a:spcPts val="0"/>
              </a:spcBef>
              <a:spcAft>
                <a:spcPts val="0"/>
              </a:spcAft>
              <a:defRPr sz="1600" b="0">
                <a:solidFill>
                  <a:srgbClr val="F4F6FA"/>
                </a:solidFill>
                <a:latin typeface="Arial"/>
              </a:defRPr>
            </a:pPr>
            <a:r>
              <a:t>Avance une sauvegarde possédée.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Une configuration valide ne constitue pas une mesure de disponibilité du modèle.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src/django/game/ai_api.py ; docs/block2/openapi.yaml</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C9 · CONTRÔLES D’ACCÈS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Contrôler avant de solliciter le modèle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La frontière v1 associe identité, propriété et limites.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IDENTITÉ / PROPRIÉTÉ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Session Django.</a:t>
            </a:r>
          </a:p>
          <a:p>
            <a:pPr>
              <a:lnSpc>
                <a:spcPts val="2000"/>
              </a:lnSpc>
              <a:spcBef>
                <a:spcPts val="0"/>
              </a:spcBef>
              <a:spcAft>
                <a:spcPts val="0"/>
              </a:spcAft>
              <a:defRPr sz="1600" b="0">
                <a:solidFill>
                  <a:srgbClr val="F4F6FA"/>
                </a:solidFill>
                <a:latin typeface="Arial"/>
              </a:defRPr>
            </a:pPr>
            <a:r>
              <a:t>Recherche par ID + utilisateur.</a:t>
            </a:r>
          </a:p>
          <a:p>
            <a:pPr>
              <a:lnSpc>
                <a:spcPts val="2000"/>
              </a:lnSpc>
              <a:spcBef>
                <a:spcPts val="0"/>
              </a:spcBef>
              <a:spcAft>
                <a:spcPts val="0"/>
              </a:spcAft>
              <a:defRPr sz="1600" b="0">
                <a:solidFill>
                  <a:srgbClr val="F4F6FA"/>
                </a:solidFill>
                <a:latin typeface="Arial"/>
              </a:defRPr>
            </a:pPr>
            <a:r>
              <a:t>Partie étrangère ou absente :</a:t>
            </a:r>
          </a:p>
          <a:p>
            <a:pPr>
              <a:lnSpc>
                <a:spcPts val="2000"/>
              </a:lnSpc>
              <a:spcBef>
                <a:spcPts val="0"/>
              </a:spcBef>
              <a:spcAft>
                <a:spcPts val="0"/>
              </a:spcAft>
              <a:defRPr sz="1600" b="0">
                <a:solidFill>
                  <a:srgbClr val="F4F6FA"/>
                </a:solidFill>
                <a:latin typeface="Arial"/>
              </a:defRPr>
            </a:pPr>
            <a:r>
              <a:t>même réponse 404.</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REQUÊTE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CSRF requis pour le POST.</a:t>
            </a:r>
          </a:p>
          <a:p>
            <a:pPr>
              <a:lnSpc>
                <a:spcPts val="2000"/>
              </a:lnSpc>
              <a:spcBef>
                <a:spcPts val="0"/>
              </a:spcBef>
              <a:spcAft>
                <a:spcPts val="0"/>
              </a:spcAft>
              <a:defRPr sz="1600" b="0">
                <a:solidFill>
                  <a:srgbClr val="F4F6FA"/>
                </a:solidFill>
                <a:latin typeface="Arial"/>
              </a:defRPr>
            </a:pPr>
            <a:r>
              <a:t>Taille et longueur bornées.</a:t>
            </a:r>
          </a:p>
          <a:p>
            <a:pPr>
              <a:lnSpc>
                <a:spcPts val="2000"/>
              </a:lnSpc>
              <a:spcBef>
                <a:spcPts val="0"/>
              </a:spcBef>
              <a:spcAft>
                <a:spcPts val="0"/>
              </a:spcAft>
              <a:defRPr sz="1600" b="0">
                <a:solidFill>
                  <a:srgbClr val="F4F6FA"/>
                </a:solidFill>
                <a:latin typeface="Arial"/>
              </a:defRPr>
            </a:pPr>
            <a:r>
              <a:t>Choix comparé à la liste serveur</a:t>
            </a:r>
          </a:p>
          <a:p>
            <a:pPr>
              <a:lnSpc>
                <a:spcPts val="2000"/>
              </a:lnSpc>
              <a:spcBef>
                <a:spcPts val="0"/>
              </a:spcBef>
              <a:spcAft>
                <a:spcPts val="0"/>
              </a:spcAft>
              <a:defRPr sz="1600" b="0">
                <a:solidFill>
                  <a:srgbClr val="F4F6FA"/>
                </a:solidFill>
                <a:latin typeface="Arial"/>
              </a:defRPr>
            </a:pPr>
            <a:r>
              <a:t>lorsqu’elle est non vide.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QUOTA</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Compteur utilisateur en cache.</a:t>
            </a:r>
          </a:p>
          <a:p>
            <a:pPr>
              <a:lnSpc>
                <a:spcPts val="2000"/>
              </a:lnSpc>
              <a:spcBef>
                <a:spcPts val="0"/>
              </a:spcBef>
              <a:spcAft>
                <a:spcPts val="0"/>
              </a:spcAft>
              <a:defRPr sz="1600" b="0">
                <a:solidFill>
                  <a:srgbClr val="F4F6FA"/>
                </a:solidFill>
                <a:latin typeface="Arial"/>
              </a:defRPr>
            </a:pPr>
            <a:r>
              <a:t>Dépassement : HTTP 429.</a:t>
            </a:r>
          </a:p>
          <a:p>
            <a:pPr>
              <a:lnSpc>
                <a:spcPts val="2000"/>
              </a:lnSpc>
              <a:spcBef>
                <a:spcPts val="0"/>
              </a:spcBef>
              <a:spcAft>
                <a:spcPts val="0"/>
              </a:spcAft>
              <a:defRPr sz="1600" b="0">
                <a:solidFill>
                  <a:srgbClr val="F4F6FA"/>
                </a:solidFill>
                <a:latin typeface="Arial"/>
              </a:defRPr>
            </a:pPr>
            <a:r>
              <a:t>Un cache partagé et sa</a:t>
            </a:r>
          </a:p>
          <a:p>
            <a:pPr>
              <a:lnSpc>
                <a:spcPts val="2000"/>
              </a:lnSpc>
              <a:spcBef>
                <a:spcPts val="0"/>
              </a:spcBef>
              <a:spcAft>
                <a:spcPts val="0"/>
              </a:spcAft>
              <a:defRPr sz="1600" b="0">
                <a:solidFill>
                  <a:srgbClr val="F4F6FA"/>
                </a:solidFill>
                <a:latin typeface="Arial"/>
              </a:defRPr>
            </a:pPr>
            <a:r>
              <a:t>concurrence sont à revoir pour</a:t>
            </a:r>
          </a:p>
          <a:p>
            <a:pPr>
              <a:lnSpc>
                <a:spcPts val="2000"/>
              </a:lnSpc>
              <a:spcBef>
                <a:spcPts val="0"/>
              </a:spcBef>
              <a:spcAft>
                <a:spcPts val="0"/>
              </a:spcAft>
              <a:defRPr sz="1600" b="0">
                <a:solidFill>
                  <a:srgbClr val="F4F6FA"/>
                </a:solidFill>
                <a:latin typeface="Arial"/>
              </a:defRPr>
            </a:pPr>
            <a:r>
              <a:t>plusieurs instances.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tests prouvent des contrôles précis ; ils ne constituent pas un audit complet de sécurité.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src/django/game/ai_api.py ; src/django/game/test_ai_api.py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C10 · INTÉGRATION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Relier l’interface au moteur narratif</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Deux surfaces HTTP réutilisent la logique de jeu.</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NAVIGATEUR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play.html → api_step</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StepGameView</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Parcours actif du jeu.</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API DE CERTIFICATION</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/api/v1/games/{id}/turns/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Contrôles puis StepGameView</a:t>
            </a:r>
          </a:p>
          <a:p>
            <a:pPr>
              <a:lnSpc>
                <a:spcPts val="2000"/>
              </a:lnSpc>
              <a:spcBef>
                <a:spcPts val="0"/>
              </a:spcBef>
              <a:spcAft>
                <a:spcPts val="0"/>
              </a:spcAft>
              <a:defRPr sz="1600" b="0">
                <a:solidFill>
                  <a:srgbClr val="F4F6FA"/>
                </a:solidFill>
                <a:latin typeface="Arial"/>
              </a:defRPr>
            </a:pPr>
          </a:p>
          <a:p>
            <a:pPr>
              <a:lnSpc>
                <a:spcPts val="2000"/>
              </a:lnSpc>
              <a:spcBef>
                <a:spcPts val="0"/>
              </a:spcBef>
              <a:spcAft>
                <a:spcPts val="0"/>
              </a:spcAft>
              <a:defRPr sz="1600" b="0">
                <a:solidFill>
                  <a:srgbClr val="F4F6FA"/>
                </a:solidFill>
                <a:latin typeface="Arial"/>
              </a:defRPr>
            </a:pPr>
            <a:r>
              <a:t>Surface v1 distincte.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MOTEUR COMMUN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GameEngine → LangGraph</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RAG, modèle et outils</a:t>
            </a:r>
          </a:p>
          <a:p>
            <a:pPr>
              <a:lnSpc>
                <a:spcPts val="2000"/>
              </a:lnSpc>
              <a:spcBef>
                <a:spcPts val="0"/>
              </a:spcBef>
              <a:spcAft>
                <a:spcPts val="0"/>
              </a:spcAft>
              <a:defRPr sz="1600" b="0">
                <a:solidFill>
                  <a:srgbClr val="F4F6FA"/>
                </a:solidFill>
                <a:latin typeface="Arial"/>
              </a:defRPr>
            </a:pPr>
            <a:r>
              <a:t>↓</a:t>
            </a:r>
          </a:p>
          <a:p>
            <a:pPr>
              <a:lnSpc>
                <a:spcPts val="2000"/>
              </a:lnSpc>
              <a:spcBef>
                <a:spcPts val="0"/>
              </a:spcBef>
              <a:spcAft>
                <a:spcPts val="0"/>
              </a:spcAft>
              <a:defRPr sz="1600" b="0">
                <a:solidFill>
                  <a:srgbClr val="F4F6FA"/>
                </a:solidFill>
                <a:latin typeface="Arial"/>
              </a:defRPr>
            </a:pPr>
            <a:r>
              <a:t>Récit / combat / fin / erreur.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navigateur n’appelle pas directement l’endpoint v1 dans le code consulté.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src/django/game/templates/game/play.html ; ai_api.py ; services/game_engine.py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C10 · SORTIES ET ERREURS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Valider la forme et protéger la progression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Les appels au modèle peuvent échouer ou produire une réponse inutilisable.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SORTIES TYPÉES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ChoiceOutput : 3 choix distincts,</a:t>
            </a:r>
          </a:p>
          <a:p>
            <a:pPr>
              <a:lnSpc>
                <a:spcPts val="2000"/>
              </a:lnSpc>
              <a:spcBef>
                <a:spcPts val="0"/>
              </a:spcBef>
              <a:spcAft>
                <a:spcPts val="0"/>
              </a:spcAft>
              <a:defRPr sz="1600" b="0">
                <a:solidFill>
                  <a:srgbClr val="F4F6FA"/>
                </a:solidFill>
                <a:latin typeface="Arial"/>
              </a:defRPr>
            </a:pPr>
            <a:r>
              <a:t>chacun ≤ 6 mots.</a:t>
            </a:r>
          </a:p>
          <a:p>
            <a:pPr>
              <a:lnSpc>
                <a:spcPts val="2000"/>
              </a:lnSpc>
              <a:spcBef>
                <a:spcPts val="0"/>
              </a:spcBef>
              <a:spcAft>
                <a:spcPts val="0"/>
              </a:spcAft>
              <a:defRPr sz="1600" b="0">
                <a:solidFill>
                  <a:srgbClr val="F4F6FA"/>
                </a:solidFill>
                <a:latin typeface="Arial"/>
              </a:defRPr>
            </a:pPr>
            <a:r>
              <a:t>Objectifs et progression : schémas</a:t>
            </a:r>
          </a:p>
          <a:p>
            <a:pPr>
              <a:lnSpc>
                <a:spcPts val="2000"/>
              </a:lnSpc>
              <a:spcBef>
                <a:spcPts val="0"/>
              </a:spcBef>
              <a:spcAft>
                <a:spcPts val="0"/>
              </a:spcAft>
              <a:defRPr sz="1600" b="0">
                <a:solidFill>
                  <a:srgbClr val="F4F6FA"/>
                </a:solidFill>
                <a:latin typeface="Arial"/>
              </a:defRPr>
            </a:pPr>
            <a:r>
              <a:t>dédiés.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REPRISES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Retry sur erreurs transitoires.</a:t>
            </a:r>
          </a:p>
          <a:p>
            <a:pPr>
              <a:lnSpc>
                <a:spcPts val="2000"/>
              </a:lnSpc>
              <a:spcBef>
                <a:spcPts val="0"/>
              </a:spcBef>
              <a:spcAft>
                <a:spcPts val="0"/>
              </a:spcAft>
              <a:defRPr sz="1600" b="0">
                <a:solidFill>
                  <a:srgbClr val="F4F6FA"/>
                </a:solidFill>
                <a:latin typeface="Arial"/>
              </a:defRPr>
            </a:pPr>
            <a:r>
              <a:t>Délais et tentatives bornés.</a:t>
            </a:r>
          </a:p>
          <a:p>
            <a:pPr>
              <a:lnSpc>
                <a:spcPts val="2000"/>
              </a:lnSpc>
              <a:spcBef>
                <a:spcPts val="0"/>
              </a:spcBef>
              <a:spcAft>
                <a:spcPts val="0"/>
              </a:spcAft>
              <a:defRPr sz="1600" b="0">
                <a:solidFill>
                  <a:srgbClr val="F4F6FA"/>
                </a:solidFill>
                <a:latin typeface="Arial"/>
              </a:defRPr>
            </a:pPr>
            <a:r>
              <a:t>Après épuisement : erreur</a:t>
            </a:r>
          </a:p>
          <a:p>
            <a:pPr>
              <a:lnSpc>
                <a:spcPts val="2000"/>
              </a:lnSpc>
              <a:spcBef>
                <a:spcPts val="0"/>
              </a:spcBef>
              <a:spcAft>
                <a:spcPts val="0"/>
              </a:spcAft>
              <a:defRPr sz="1600" b="0">
                <a:solidFill>
                  <a:srgbClr val="F4F6FA"/>
                </a:solidFill>
                <a:latin typeface="Arial"/>
              </a:defRPr>
            </a:pPr>
            <a:r>
              <a:t>contrôlée du service.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ÉTAT DU JEU</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Une génération échouée ne doit</a:t>
            </a:r>
          </a:p>
          <a:p>
            <a:pPr>
              <a:lnSpc>
                <a:spcPts val="2000"/>
              </a:lnSpc>
              <a:spcBef>
                <a:spcPts val="0"/>
              </a:spcBef>
              <a:spcAft>
                <a:spcPts val="0"/>
              </a:spcAft>
              <a:defRPr sz="1600" b="0">
                <a:solidFill>
                  <a:srgbClr val="F4F6FA"/>
                </a:solidFill>
                <a:latin typeface="Arial"/>
              </a:defRPr>
            </a:pPr>
            <a:r>
              <a:t>pas avancer l’état.</a:t>
            </a:r>
          </a:p>
          <a:p>
            <a:pPr>
              <a:lnSpc>
                <a:spcPts val="2000"/>
              </a:lnSpc>
              <a:spcBef>
                <a:spcPts val="0"/>
              </a:spcBef>
              <a:spcAft>
                <a:spcPts val="0"/>
              </a:spcAft>
              <a:defRPr sz="1600" b="0">
                <a:solidFill>
                  <a:srgbClr val="F4F6FA"/>
                </a:solidFill>
                <a:latin typeface="Arial"/>
              </a:defRPr>
            </a:pPr>
            <a:r>
              <a:t>Les règles de soin, dégâts et</a:t>
            </a:r>
          </a:p>
          <a:p>
            <a:pPr>
              <a:lnSpc>
                <a:spcPts val="2000"/>
              </a:lnSpc>
              <a:spcBef>
                <a:spcPts val="0"/>
              </a:spcBef>
              <a:spcAft>
                <a:spcPts val="0"/>
              </a:spcAft>
              <a:defRPr sz="1600" b="0">
                <a:solidFill>
                  <a:srgbClr val="F4F6FA"/>
                </a:solidFill>
                <a:latin typeface="Arial"/>
              </a:defRPr>
            </a:pPr>
            <a:r>
              <a:t>progression restent côté serveur.</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Réussite HTTP, validité du schéma et pertinence narrative sont trois vérifications différentes.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src/agents/schemas.py ; src/django/game/tests.py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C11 · OBSERVABILITÉ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Observer disponibilité, qualité et coût</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Collecteurs → Prometheus → Grafana ; règles vers Alertmanager.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SERVICE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Nombre d’appels et erreurs.</a:t>
            </a:r>
          </a:p>
          <a:p>
            <a:pPr>
              <a:lnSpc>
                <a:spcPts val="2000"/>
              </a:lnSpc>
              <a:spcBef>
                <a:spcPts val="0"/>
              </a:spcBef>
              <a:spcAft>
                <a:spcPts val="0"/>
              </a:spcAft>
              <a:defRPr sz="1600" b="0">
                <a:solidFill>
                  <a:srgbClr val="F4F6FA"/>
                </a:solidFill>
                <a:latin typeface="Arial"/>
              </a:defRPr>
            </a:pPr>
            <a:r>
              <a:t>Histogramme des durées.</a:t>
            </a:r>
          </a:p>
          <a:p>
            <a:pPr>
              <a:lnSpc>
                <a:spcPts val="2000"/>
              </a:lnSpc>
              <a:spcBef>
                <a:spcPts val="0"/>
              </a:spcBef>
              <a:spcAft>
                <a:spcPts val="0"/>
              </a:spcAft>
              <a:defRPr sz="1600" b="0">
                <a:solidFill>
                  <a:srgbClr val="F4F6FA"/>
                </a:solidFill>
                <a:latin typeface="Arial"/>
              </a:defRPr>
            </a:pPr>
            <a:r>
              <a:t>Objectifs : 99 % de succès et p95</a:t>
            </a:r>
          </a:p>
          <a:p>
            <a:pPr>
              <a:lnSpc>
                <a:spcPts val="2000"/>
              </a:lnSpc>
              <a:spcBef>
                <a:spcPts val="0"/>
              </a:spcBef>
              <a:spcAft>
                <a:spcPts val="0"/>
              </a:spcAft>
              <a:defRPr sz="1600" b="0">
                <a:solidFill>
                  <a:srgbClr val="F4F6FA"/>
                </a:solidFill>
                <a:latin typeface="Arial"/>
              </a:defRPr>
            </a:pPr>
            <a:r>
              <a:t>&lt; 30 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 / RAG</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Sorties structurées valides ou</a:t>
            </a:r>
          </a:p>
          <a:p>
            <a:pPr>
              <a:lnSpc>
                <a:spcPts val="2000"/>
              </a:lnSpc>
              <a:spcBef>
                <a:spcPts val="0"/>
              </a:spcBef>
              <a:spcAft>
                <a:spcPts val="0"/>
              </a:spcAft>
              <a:defRPr sz="1600" b="0">
                <a:solidFill>
                  <a:srgbClr val="F4F6FA"/>
                </a:solidFill>
                <a:latin typeface="Arial"/>
              </a:defRPr>
            </a:pPr>
            <a:r>
              <a:t>invalides.</a:t>
            </a:r>
          </a:p>
          <a:p>
            <a:pPr>
              <a:lnSpc>
                <a:spcPts val="2000"/>
              </a:lnSpc>
              <a:spcBef>
                <a:spcPts val="0"/>
              </a:spcBef>
              <a:spcAft>
                <a:spcPts val="0"/>
              </a:spcAft>
              <a:defRPr sz="1600" b="0">
                <a:solidFill>
                  <a:srgbClr val="F4F6FA"/>
                </a:solidFill>
                <a:latin typeface="Arial"/>
              </a:defRPr>
            </a:pPr>
            <a:r>
              <a:t>RAG : résultats, vides, erreurs et</a:t>
            </a:r>
          </a:p>
          <a:p>
            <a:pPr>
              <a:lnSpc>
                <a:spcPts val="2000"/>
              </a:lnSpc>
              <a:spcBef>
                <a:spcPts val="0"/>
              </a:spcBef>
              <a:spcAft>
                <a:spcPts val="0"/>
              </a:spcAft>
              <a:defRPr sz="1600" b="0">
                <a:solidFill>
                  <a:srgbClr val="F4F6FA"/>
                </a:solidFill>
                <a:latin typeface="Arial"/>
              </a:defRPr>
            </a:pPr>
            <a:r>
              <a:t>durées de récupération.</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CONSOMMATION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Tokens d’entrée / sortie.</a:t>
            </a:r>
          </a:p>
          <a:p>
            <a:pPr>
              <a:lnSpc>
                <a:spcPts val="2000"/>
              </a:lnSpc>
              <a:spcBef>
                <a:spcPts val="0"/>
              </a:spcBef>
              <a:spcAft>
                <a:spcPts val="0"/>
              </a:spcAft>
              <a:defRPr sz="1600" b="0">
                <a:solidFill>
                  <a:srgbClr val="F4F6FA"/>
                </a:solidFill>
                <a:latin typeface="Arial"/>
              </a:defRPr>
            </a:pPr>
            <a:r>
              <a:t>Coût estimé avec tarifs configurés.</a:t>
            </a:r>
          </a:p>
          <a:p>
            <a:pPr>
              <a:lnSpc>
                <a:spcPts val="2000"/>
              </a:lnSpc>
              <a:spcBef>
                <a:spcPts val="0"/>
              </a:spcBef>
              <a:spcAft>
                <a:spcPts val="0"/>
              </a:spcAft>
              <a:defRPr sz="1600" b="0">
                <a:solidFill>
                  <a:srgbClr val="F4F6FA"/>
                </a:solidFill>
                <a:latin typeface="Arial"/>
              </a:defRPr>
            </a:pPr>
            <a:r>
              <a:t>Labels sans prompts, identités ni</a:t>
            </a:r>
          </a:p>
          <a:p>
            <a:pPr>
              <a:lnSpc>
                <a:spcPts val="2000"/>
              </a:lnSpc>
              <a:spcBef>
                <a:spcPts val="0"/>
              </a:spcBef>
              <a:spcAft>
                <a:spcPts val="0"/>
              </a:spcAft>
              <a:defRPr sz="1600" b="0">
                <a:solidFill>
                  <a:srgbClr val="F4F6FA"/>
                </a:solidFill>
                <a:latin typeface="Arial"/>
              </a:defRPr>
            </a:pPr>
            <a:r>
              <a:t>sessions.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Les SLO sont des objectifs ; aucun historique de production n’est présenté ici.</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src/observability/ ; docs/block2/monitoring-slos.md ; monitoring/</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C11 · ALERTES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Transformer un signal en action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Règles présentes ; livraison d’une notification externe à démontrer.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DÉTECTER</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3 indisponibilités en 10 min.</a:t>
            </a:r>
          </a:p>
          <a:p>
            <a:pPr>
              <a:lnSpc>
                <a:spcPts val="2000"/>
              </a:lnSpc>
              <a:spcBef>
                <a:spcPts val="0"/>
              </a:spcBef>
              <a:spcAft>
                <a:spcPts val="0"/>
              </a:spcAft>
              <a:defRPr sz="1600" b="0">
                <a:solidFill>
                  <a:srgbClr val="F4F6FA"/>
                </a:solidFill>
                <a:latin typeface="Arial"/>
              </a:defRPr>
            </a:pPr>
            <a:r>
              <a:t>Latence élevée persistante.</a:t>
            </a:r>
          </a:p>
          <a:p>
            <a:pPr>
              <a:lnSpc>
                <a:spcPts val="2000"/>
              </a:lnSpc>
              <a:spcBef>
                <a:spcPts val="0"/>
              </a:spcBef>
              <a:spcAft>
                <a:spcPts val="0"/>
              </a:spcAft>
              <a:defRPr sz="1600" b="0">
                <a:solidFill>
                  <a:srgbClr val="F4F6FA"/>
                </a:solidFill>
                <a:latin typeface="Arial"/>
              </a:defRPr>
            </a:pPr>
            <a:r>
              <a:t>Sortie structurée invalide.</a:t>
            </a:r>
          </a:p>
          <a:p>
            <a:pPr>
              <a:lnSpc>
                <a:spcPts val="2000"/>
              </a:lnSpc>
              <a:spcBef>
                <a:spcPts val="0"/>
              </a:spcBef>
              <a:spcAft>
                <a:spcPts val="0"/>
              </a:spcAft>
              <a:defRPr sz="1600" b="0">
                <a:solidFill>
                  <a:srgbClr val="F4F6FA"/>
                </a:solidFill>
                <a:latin typeface="Arial"/>
              </a:defRPr>
            </a:pPr>
            <a:r>
              <a:t>Erreurs de retrieval.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DIAGNOSTIQUER</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Identifier modèle et révision.</a:t>
            </a:r>
          </a:p>
          <a:p>
            <a:pPr>
              <a:lnSpc>
                <a:spcPts val="2000"/>
              </a:lnSpc>
              <a:spcBef>
                <a:spcPts val="0"/>
              </a:spcBef>
              <a:spcAft>
                <a:spcPts val="0"/>
              </a:spcAft>
              <a:defRPr sz="1600" b="0">
                <a:solidFill>
                  <a:srgbClr val="F4F6FA"/>
                </a:solidFill>
                <a:latin typeface="Arial"/>
              </a:defRPr>
            </a:pPr>
            <a:r>
              <a:t>Comparer erreurs, durée et RAG.</a:t>
            </a:r>
          </a:p>
          <a:p>
            <a:pPr>
              <a:lnSpc>
                <a:spcPts val="2000"/>
              </a:lnSpc>
              <a:spcBef>
                <a:spcPts val="0"/>
              </a:spcBef>
              <a:spcAft>
                <a:spcPts val="0"/>
              </a:spcAft>
              <a:defRPr sz="1600" b="0">
                <a:solidFill>
                  <a:srgbClr val="F4F6FA"/>
                </a:solidFill>
                <a:latin typeface="Arial"/>
              </a:defRPr>
            </a:pPr>
            <a:r>
              <a:t>Reproduire avec un cas minimal</a:t>
            </a:r>
          </a:p>
          <a:p>
            <a:pPr>
              <a:lnSpc>
                <a:spcPts val="2000"/>
              </a:lnSpc>
              <a:spcBef>
                <a:spcPts val="0"/>
              </a:spcBef>
              <a:spcAft>
                <a:spcPts val="0"/>
              </a:spcAft>
              <a:defRPr sz="1600" b="0">
                <a:solidFill>
                  <a:srgbClr val="F4F6FA"/>
                </a:solidFill>
                <a:latin typeface="Arial"/>
              </a:defRPr>
            </a:pPr>
            <a:r>
              <a:t>sans donnée personnelle.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AMÉLIORER</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Corriger prompt ou configuration.</a:t>
            </a:r>
          </a:p>
          <a:p>
            <a:pPr>
              <a:lnSpc>
                <a:spcPts val="2000"/>
              </a:lnSpc>
              <a:spcBef>
                <a:spcPts val="0"/>
              </a:spcBef>
              <a:spcAft>
                <a:spcPts val="0"/>
              </a:spcAft>
              <a:defRPr sz="1600" b="0">
                <a:solidFill>
                  <a:srgbClr val="F4F6FA"/>
                </a:solidFill>
                <a:latin typeface="Arial"/>
              </a:defRPr>
            </a:pPr>
            <a:r>
              <a:t>Rejouer les cas de référence.</a:t>
            </a:r>
          </a:p>
          <a:p>
            <a:pPr>
              <a:lnSpc>
                <a:spcPts val="2000"/>
              </a:lnSpc>
              <a:spcBef>
                <a:spcPts val="0"/>
              </a:spcBef>
              <a:spcAft>
                <a:spcPts val="0"/>
              </a:spcAft>
              <a:defRPr sz="1600" b="0">
                <a:solidFill>
                  <a:srgbClr val="F4F6FA"/>
                </a:solidFill>
                <a:latin typeface="Arial"/>
              </a:defRPr>
            </a:pPr>
            <a:r>
              <a:t>Comparer avant / après.</a:t>
            </a:r>
          </a:p>
          <a:p>
            <a:pPr>
              <a:lnSpc>
                <a:spcPts val="2000"/>
              </a:lnSpc>
              <a:spcBef>
                <a:spcPts val="0"/>
              </a:spcBef>
              <a:spcAft>
                <a:spcPts val="0"/>
              </a:spcAft>
              <a:defRPr sz="1600" b="0">
                <a:solidFill>
                  <a:srgbClr val="F4F6FA"/>
                </a:solidFill>
                <a:latin typeface="Arial"/>
              </a:defRPr>
            </a:pPr>
            <a:r>
              <a:t>Garder un retour arrière.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Alertmanager utilise un récepteur local : aucune notification externe n’a été prouvée.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docs/block2/monitoring-slos.md ; monitoring/alertmanager/</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C12 · STRATÉGIE DE TEST</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Distinguer tests logiciels et évaluation IA</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Trois niveaux complémentaires, avec des limites explicites.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INTÉGRATION SIMULÉE</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Tests Django et mocks.</a:t>
            </a:r>
          </a:p>
          <a:p>
            <a:pPr>
              <a:lnSpc>
                <a:spcPts val="2000"/>
              </a:lnSpc>
              <a:spcBef>
                <a:spcPts val="0"/>
              </a:spcBef>
              <a:spcAft>
                <a:spcPts val="0"/>
              </a:spcAft>
              <a:defRPr sz="1600" b="0">
                <a:solidFill>
                  <a:srgbClr val="F4F6FA"/>
                </a:solidFill>
                <a:latin typeface="Arial"/>
              </a:defRPr>
            </a:pPr>
            <a:r>
              <a:t>Authentification, CSRF, quota,</a:t>
            </a:r>
          </a:p>
          <a:p>
            <a:pPr>
              <a:lnSpc>
                <a:spcPts val="2000"/>
              </a:lnSpc>
              <a:spcBef>
                <a:spcPts val="0"/>
              </a:spcBef>
              <a:spcAft>
                <a:spcPts val="0"/>
              </a:spcAft>
              <a:defRPr sz="1600" b="0">
                <a:solidFill>
                  <a:srgbClr val="F4F6FA"/>
                </a:solidFill>
                <a:latin typeface="Arial"/>
              </a:defRPr>
            </a:pPr>
            <a:r>
              <a:t>erreurs, prompts, outils et</a:t>
            </a:r>
          </a:p>
          <a:p>
            <a:pPr>
              <a:lnSpc>
                <a:spcPts val="2000"/>
              </a:lnSpc>
              <a:spcBef>
                <a:spcPts val="0"/>
              </a:spcBef>
              <a:spcAft>
                <a:spcPts val="0"/>
              </a:spcAft>
              <a:defRPr sz="1600" b="0">
                <a:solidFill>
                  <a:srgbClr val="F4F6FA"/>
                </a:solidFill>
                <a:latin typeface="Arial"/>
              </a:defRPr>
            </a:pPr>
            <a:r>
              <a:t>transitions.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DATASET HORS LIGNE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4 cas déclarés : choix EN, choix</a:t>
            </a:r>
          </a:p>
          <a:p>
            <a:pPr>
              <a:lnSpc>
                <a:spcPts val="2000"/>
              </a:lnSpc>
              <a:spcBef>
                <a:spcPts val="0"/>
              </a:spcBef>
              <a:spcAft>
                <a:spcPts val="0"/>
              </a:spcAft>
              <a:defRPr sz="1600" b="0">
                <a:solidFill>
                  <a:srgbClr val="F4F6FA"/>
                </a:solidFill>
                <a:latin typeface="Arial"/>
              </a:defRPr>
            </a:pPr>
            <a:r>
              <a:t>FR, source RAG et entrée adverse.</a:t>
            </a:r>
          </a:p>
          <a:p>
            <a:pPr>
              <a:lnSpc>
                <a:spcPts val="2000"/>
              </a:lnSpc>
              <a:spcBef>
                <a:spcPts val="0"/>
              </a:spcBef>
              <a:spcAft>
                <a:spcPts val="0"/>
              </a:spcAft>
              <a:defRPr sz="1600" b="0">
                <a:solidFill>
                  <a:srgbClr val="F4F6FA"/>
                </a:solidFill>
                <a:latin typeface="Arial"/>
              </a:defRPr>
            </a:pPr>
            <a:r>
              <a:t>Validation du format du dataset.</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ÉVALUATION RÉELLE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--live appelle les 2 cas de choix.</a:t>
            </a:r>
          </a:p>
          <a:p>
            <a:pPr>
              <a:lnSpc>
                <a:spcPts val="2000"/>
              </a:lnSpc>
              <a:spcBef>
                <a:spcPts val="0"/>
              </a:spcBef>
              <a:spcAft>
                <a:spcPts val="0"/>
              </a:spcAft>
              <a:defRPr sz="1600" b="0">
                <a:solidFill>
                  <a:srgbClr val="F4F6FA"/>
                </a:solidFill>
                <a:latin typeface="Arial"/>
              </a:defRPr>
            </a:pPr>
            <a:r>
              <a:t>Les cas RAG et frontière API</a:t>
            </a:r>
          </a:p>
          <a:p>
            <a:pPr>
              <a:lnSpc>
                <a:spcPts val="2000"/>
              </a:lnSpc>
              <a:spcBef>
                <a:spcPts val="0"/>
              </a:spcBef>
              <a:spcAft>
                <a:spcPts val="0"/>
              </a:spcAft>
              <a:defRPr sz="1600" b="0">
                <a:solidFill>
                  <a:srgbClr val="F4F6FA"/>
                </a:solidFill>
                <a:latin typeface="Arial"/>
              </a:defRPr>
            </a:pPr>
            <a:r>
              <a:t>restent marqués hors ligne.</a:t>
            </a:r>
          </a:p>
          <a:p>
            <a:pPr>
              <a:lnSpc>
                <a:spcPts val="2000"/>
              </a:lnSpc>
              <a:spcBef>
                <a:spcPts val="0"/>
              </a:spcBef>
              <a:spcAft>
                <a:spcPts val="0"/>
              </a:spcAft>
              <a:defRPr sz="1600" b="0">
                <a:solidFill>
                  <a:srgbClr val="F4F6FA"/>
                </a:solidFill>
                <a:latin typeface="Arial"/>
              </a:defRPr>
            </a:pPr>
            <a:r>
              <a:t>Qualité sémantique non notée.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runner actuel ne mesure pas un taux global de qualité du modèle.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src/evaluation/runner.py ; evaluation/dataset.json</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C12 · PREUVES LOCALES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33 tests ciblés réussis</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Vérifications du 14 septembre 2026 · appels IA simulés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33 TESTS</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API et configuration.</a:t>
            </a:r>
          </a:p>
          <a:p>
            <a:pPr>
              <a:lnSpc>
                <a:spcPts val="2000"/>
              </a:lnSpc>
              <a:spcBef>
                <a:spcPts val="0"/>
              </a:spcBef>
              <a:spcAft>
                <a:spcPts val="0"/>
              </a:spcAft>
              <a:defRPr sz="1600" b="0">
                <a:solidFill>
                  <a:srgbClr val="F4F6FA"/>
                </a:solidFill>
                <a:latin typeface="Arial"/>
              </a:defRPr>
            </a:pPr>
            <a:r>
              <a:t>Prompts FR, scope / cache RAG.</a:t>
            </a:r>
          </a:p>
          <a:p>
            <a:pPr>
              <a:lnSpc>
                <a:spcPts val="2000"/>
              </a:lnSpc>
              <a:spcBef>
                <a:spcPts val="0"/>
              </a:spcBef>
              <a:spcAft>
                <a:spcPts val="0"/>
              </a:spcAft>
              <a:defRPr sz="1600" b="0">
                <a:solidFill>
                  <a:srgbClr val="F4F6FA"/>
                </a:solidFill>
                <a:latin typeface="Arial"/>
              </a:defRPr>
            </a:pPr>
            <a:r>
              <a:t>Soin, objectifs et métriques.</a:t>
            </a:r>
          </a:p>
          <a:p>
            <a:pPr>
              <a:lnSpc>
                <a:spcPts val="2000"/>
              </a:lnSpc>
              <a:spcBef>
                <a:spcPts val="0"/>
              </a:spcBef>
              <a:spcAft>
                <a:spcPts val="0"/>
              </a:spcAft>
              <a:defRPr sz="1600" b="0">
                <a:solidFill>
                  <a:srgbClr val="F4F6FA"/>
                </a:solidFill>
                <a:latin typeface="Arial"/>
              </a:defRPr>
            </a:pPr>
            <a:r>
              <a:t>Django : aucun problème détecté.</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57 FRAGMENTS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Préparation du corpus réussie.</a:t>
            </a:r>
          </a:p>
          <a:p>
            <a:pPr>
              <a:lnSpc>
                <a:spcPts val="2000"/>
              </a:lnSpc>
              <a:spcBef>
                <a:spcPts val="0"/>
              </a:spcBef>
              <a:spcAft>
                <a:spcPts val="0"/>
              </a:spcAft>
              <a:defRPr sz="1600" b="0">
                <a:solidFill>
                  <a:srgbClr val="F4F6FA"/>
                </a:solidFill>
                <a:latin typeface="Arial"/>
              </a:defRPr>
            </a:pPr>
            <a:r>
              <a:t>Aucun calcul d’embedding pendant</a:t>
            </a:r>
          </a:p>
          <a:p>
            <a:pPr>
              <a:lnSpc>
                <a:spcPts val="2000"/>
              </a:lnSpc>
              <a:spcBef>
                <a:spcPts val="0"/>
              </a:spcBef>
              <a:spcAft>
                <a:spcPts val="0"/>
              </a:spcAft>
              <a:defRPr sz="1600" b="0">
                <a:solidFill>
                  <a:srgbClr val="F4F6FA"/>
                </a:solidFill>
                <a:latin typeface="Arial"/>
              </a:defRPr>
            </a:pPr>
            <a:r>
              <a:t>le dry-run.</a:t>
            </a:r>
          </a:p>
          <a:p>
            <a:pPr>
              <a:lnSpc>
                <a:spcPts val="2000"/>
              </a:lnSpc>
              <a:spcBef>
                <a:spcPts val="0"/>
              </a:spcBef>
              <a:spcAft>
                <a:spcPts val="0"/>
              </a:spcAft>
              <a:defRPr sz="1600" b="0">
                <a:solidFill>
                  <a:srgbClr val="F4F6FA"/>
                </a:solidFill>
                <a:latin typeface="Arial"/>
              </a:defRPr>
            </a:pPr>
            <a:r>
              <a:t>Aucune mesure de rappel.</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4 CAS DÉCLARÉS</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Rapport offline-validation.</a:t>
            </a:r>
          </a:p>
          <a:p>
            <a:pPr>
              <a:lnSpc>
                <a:spcPts val="2000"/>
              </a:lnSpc>
              <a:spcBef>
                <a:spcPts val="0"/>
              </a:spcBef>
              <a:spcAft>
                <a:spcPts val="0"/>
              </a:spcAft>
              <a:defRPr sz="1600" b="0">
                <a:solidFill>
                  <a:srgbClr val="F4F6FA"/>
                </a:solidFill>
                <a:latin typeface="Arial"/>
              </a:defRPr>
            </a:pPr>
            <a:r>
              <a:t>Pas de benchmark fournisseur.</a:t>
            </a:r>
          </a:p>
          <a:p>
            <a:pPr>
              <a:lnSpc>
                <a:spcPts val="2000"/>
              </a:lnSpc>
              <a:spcBef>
                <a:spcPts val="0"/>
              </a:spcBef>
              <a:spcAft>
                <a:spcPts val="0"/>
              </a:spcAft>
              <a:defRPr sz="1600" b="0">
                <a:solidFill>
                  <a:srgbClr val="F4F6FA"/>
                </a:solidFill>
                <a:latin typeface="Arial"/>
              </a:defRPr>
            </a:pPr>
            <a:r>
              <a:t>Pas de score FR / EN.</a:t>
            </a:r>
          </a:p>
          <a:p>
            <a:pPr>
              <a:lnSpc>
                <a:spcPts val="2000"/>
              </a:lnSpc>
              <a:spcBef>
                <a:spcPts val="0"/>
              </a:spcBef>
              <a:spcAft>
                <a:spcPts val="0"/>
              </a:spcAft>
              <a:defRPr sz="1600" b="0">
                <a:solidFill>
                  <a:srgbClr val="F4F6FA"/>
                </a:solidFill>
                <a:latin typeface="Arial"/>
              </a:defRPr>
            </a:pPr>
            <a:r>
              <a:t>Pas de latence modèle mesurée.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Ces résultats démontrent un socle logiciel ; ils ne remplacent pas l’évaluation en conditions réelles.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preuves/evaluation-offline.json ; preuves/verification.md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C13 · INTÉGRATION CONTINUE</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Automatiser les contrôles avant livraison</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Workflow Block 2 AI component versionné dans GitHub Actions.</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QUALITÉ</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Dépendances verrouillées.</a:t>
            </a:r>
          </a:p>
          <a:p>
            <a:pPr>
              <a:lnSpc>
                <a:spcPts val="2000"/>
              </a:lnSpc>
              <a:spcBef>
                <a:spcPts val="0"/>
              </a:spcBef>
              <a:spcAft>
                <a:spcPts val="0"/>
              </a:spcAft>
              <a:defRPr sz="1600" b="0">
                <a:solidFill>
                  <a:srgbClr val="F4F6FA"/>
                </a:solidFill>
                <a:latin typeface="Arial"/>
              </a:defRPr>
            </a:pPr>
            <a:r>
              <a:t>Lint et checks Django.</a:t>
            </a:r>
          </a:p>
          <a:p>
            <a:pPr>
              <a:lnSpc>
                <a:spcPts val="2000"/>
              </a:lnSpc>
              <a:spcBef>
                <a:spcPts val="0"/>
              </a:spcBef>
              <a:spcAft>
                <a:spcPts val="0"/>
              </a:spcAft>
              <a:defRPr sz="1600" b="0">
                <a:solidFill>
                  <a:srgbClr val="F4F6FA"/>
                </a:solidFill>
                <a:latin typeface="Arial"/>
              </a:defRPr>
            </a:pPr>
            <a:r>
              <a:t>Tests + seuil de couverture 55 %.</a:t>
            </a:r>
          </a:p>
          <a:p>
            <a:pPr>
              <a:lnSpc>
                <a:spcPts val="2000"/>
              </a:lnSpc>
              <a:spcBef>
                <a:spcPts val="0"/>
              </a:spcBef>
              <a:spcAft>
                <a:spcPts val="0"/>
              </a:spcAft>
              <a:defRPr sz="1600" b="0">
                <a:solidFill>
                  <a:srgbClr val="F4F6FA"/>
                </a:solidFill>
                <a:latin typeface="Arial"/>
              </a:defRPr>
            </a:pPr>
            <a:r>
              <a:t>RAG dry-run + dataset offline.</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ARTEFACT</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Validation des configurations de</a:t>
            </a:r>
          </a:p>
          <a:p>
            <a:pPr>
              <a:lnSpc>
                <a:spcPts val="2000"/>
              </a:lnSpc>
              <a:spcBef>
                <a:spcPts val="0"/>
              </a:spcBef>
              <a:spcAft>
                <a:spcPts val="0"/>
              </a:spcAft>
              <a:defRPr sz="1600" b="0">
                <a:solidFill>
                  <a:srgbClr val="F4F6FA"/>
                </a:solidFill>
                <a:latin typeface="Arial"/>
              </a:defRPr>
            </a:pPr>
            <a:r>
              <a:t>monitoring.</a:t>
            </a:r>
          </a:p>
          <a:p>
            <a:pPr>
              <a:lnSpc>
                <a:spcPts val="2000"/>
              </a:lnSpc>
              <a:spcBef>
                <a:spcPts val="0"/>
              </a:spcBef>
              <a:spcAft>
                <a:spcPts val="0"/>
              </a:spcAft>
              <a:defRPr sz="1600" b="0">
                <a:solidFill>
                  <a:srgbClr val="F4F6FA"/>
                </a:solidFill>
                <a:latin typeface="Arial"/>
              </a:defRPr>
            </a:pPr>
            <a:r>
              <a:t>Build Docker tagué SHA Git.</a:t>
            </a:r>
          </a:p>
          <a:p>
            <a:pPr>
              <a:lnSpc>
                <a:spcPts val="2000"/>
              </a:lnSpc>
              <a:spcBef>
                <a:spcPts val="0"/>
              </a:spcBef>
              <a:spcAft>
                <a:spcPts val="0"/>
              </a:spcAft>
              <a:defRPr sz="1600" b="0">
                <a:solidFill>
                  <a:srgbClr val="F4F6FA"/>
                </a:solidFill>
                <a:latin typeface="Arial"/>
              </a:defRPr>
            </a:pPr>
            <a:r>
              <a:t>Smoke test HTTP /health.</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ÉVALUATION LIVE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Déclenchement manuel.</a:t>
            </a:r>
          </a:p>
          <a:p>
            <a:pPr>
              <a:lnSpc>
                <a:spcPts val="2000"/>
              </a:lnSpc>
              <a:spcBef>
                <a:spcPts val="0"/>
              </a:spcBef>
              <a:spcAft>
                <a:spcPts val="0"/>
              </a:spcAft>
              <a:defRPr sz="1600" b="0">
                <a:solidFill>
                  <a:srgbClr val="F4F6FA"/>
                </a:solidFill>
                <a:latin typeface="Arial"/>
              </a:defRPr>
            </a:pPr>
            <a:r>
              <a:t>Environnement ai-evaluation.</a:t>
            </a:r>
          </a:p>
          <a:p>
            <a:pPr>
              <a:lnSpc>
                <a:spcPts val="2000"/>
              </a:lnSpc>
              <a:spcBef>
                <a:spcPts val="0"/>
              </a:spcBef>
              <a:spcAft>
                <a:spcPts val="0"/>
              </a:spcAft>
              <a:defRPr sz="1600" b="0">
                <a:solidFill>
                  <a:srgbClr val="F4F6FA"/>
                </a:solidFill>
                <a:latin typeface="Arial"/>
              </a:defRPr>
            </a:pPr>
            <a:r>
              <a:t>Clé protégée.</a:t>
            </a:r>
          </a:p>
          <a:p>
            <a:pPr>
              <a:lnSpc>
                <a:spcPts val="2000"/>
              </a:lnSpc>
              <a:spcBef>
                <a:spcPts val="0"/>
              </a:spcBef>
              <a:spcAft>
                <a:spcPts val="0"/>
              </a:spcAft>
              <a:defRPr sz="1600" b="0">
                <a:solidFill>
                  <a:srgbClr val="F4F6FA"/>
                </a:solidFill>
                <a:latin typeface="Arial"/>
              </a:defRPr>
            </a:pPr>
            <a:r>
              <a:t>Rapport conservé comme artefact.</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Le workflow est présent ; aucun succès GitHub distant n’a été vérifié pour ces slides.</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.github/workflows/block2-ai.yml ; docs/block2/delivery.md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C13 · LIVRAISON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Promouvoir un artefact, prévoir le retour arrière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Procédure documentée ; déploiement réel encore à prouver.</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PROMOTION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Revoir les tests et le rapport IA.</a:t>
            </a:r>
          </a:p>
          <a:p>
            <a:pPr>
              <a:lnSpc>
                <a:spcPts val="2000"/>
              </a:lnSpc>
              <a:spcBef>
                <a:spcPts val="0"/>
              </a:spcBef>
              <a:spcAft>
                <a:spcPts val="0"/>
              </a:spcAft>
              <a:defRPr sz="1600" b="0">
                <a:solidFill>
                  <a:srgbClr val="F4F6FA"/>
                </a:solidFill>
                <a:latin typeface="Arial"/>
              </a:defRPr>
            </a:pPr>
            <a:r>
              <a:t>Publier l’image exacte.</a:t>
            </a:r>
          </a:p>
          <a:p>
            <a:pPr>
              <a:lnSpc>
                <a:spcPts val="2000"/>
              </a:lnSpc>
              <a:spcBef>
                <a:spcPts val="0"/>
              </a:spcBef>
              <a:spcAft>
                <a:spcPts val="0"/>
              </a:spcAft>
              <a:defRPr sz="1600" b="0">
                <a:solidFill>
                  <a:srgbClr val="F4F6FA"/>
                </a:solidFill>
                <a:latin typeface="Arial"/>
              </a:defRPr>
            </a:pPr>
            <a:r>
              <a:t>Déployer son digest en staging.</a:t>
            </a:r>
          </a:p>
          <a:p>
            <a:pPr>
              <a:lnSpc>
                <a:spcPts val="2000"/>
              </a:lnSpc>
              <a:spcBef>
                <a:spcPts val="0"/>
              </a:spcBef>
              <a:spcAft>
                <a:spcPts val="0"/>
              </a:spcAft>
              <a:defRPr sz="1600" b="0">
                <a:solidFill>
                  <a:srgbClr val="F4F6FA"/>
                </a:solidFill>
                <a:latin typeface="Arial"/>
              </a:defRPr>
            </a:pPr>
            <a:r>
              <a:t>Vérifier santé et parcours.</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TRAÇABILITÉ</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Révision Git et dataset.</a:t>
            </a:r>
          </a:p>
          <a:p>
            <a:pPr>
              <a:lnSpc>
                <a:spcPts val="2000"/>
              </a:lnSpc>
              <a:spcBef>
                <a:spcPts val="0"/>
              </a:spcBef>
              <a:spcAft>
                <a:spcPts val="0"/>
              </a:spcAft>
              <a:defRPr sz="1600" b="0">
                <a:solidFill>
                  <a:srgbClr val="F4F6FA"/>
                </a:solidFill>
                <a:latin typeface="Arial"/>
              </a:defRPr>
            </a:pPr>
            <a:r>
              <a:t>Modèle et paramètres.</a:t>
            </a:r>
          </a:p>
          <a:p>
            <a:pPr>
              <a:lnSpc>
                <a:spcPts val="2000"/>
              </a:lnSpc>
              <a:spcBef>
                <a:spcPts val="0"/>
              </a:spcBef>
              <a:spcAft>
                <a:spcPts val="0"/>
              </a:spcAft>
              <a:defRPr sz="1600" b="0">
                <a:solidFill>
                  <a:srgbClr val="F4F6FA"/>
                </a:solidFill>
                <a:latin typeface="Arial"/>
              </a:defRPr>
            </a:pPr>
            <a:r>
              <a:t>Prompts versionnés.</a:t>
            </a:r>
          </a:p>
          <a:p>
            <a:pPr>
              <a:lnSpc>
                <a:spcPts val="2000"/>
              </a:lnSpc>
              <a:spcBef>
                <a:spcPts val="0"/>
              </a:spcBef>
              <a:spcAft>
                <a:spcPts val="0"/>
              </a:spcAft>
              <a:defRPr sz="1600" b="0">
                <a:solidFill>
                  <a:srgbClr val="F4F6FA"/>
                </a:solidFill>
                <a:latin typeface="Arial"/>
              </a:defRPr>
            </a:pPr>
            <a:r>
              <a:t>Collection RAG identifiée.</a:t>
            </a:r>
          </a:p>
          <a:p>
            <a:pPr>
              <a:lnSpc>
                <a:spcPts val="2000"/>
              </a:lnSpc>
              <a:spcBef>
                <a:spcPts val="0"/>
              </a:spcBef>
              <a:spcAft>
                <a:spcPts val="0"/>
              </a:spcAft>
              <a:defRPr sz="1600" b="0">
                <a:solidFill>
                  <a:srgbClr val="F4F6FA"/>
                </a:solidFill>
                <a:latin typeface="Arial"/>
              </a:defRPr>
            </a:pPr>
            <a:r>
              <a:t>Conserver les rapports.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RETOUR ARRIÈRE</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Redéployer le digest précédent.</a:t>
            </a:r>
          </a:p>
          <a:p>
            <a:pPr>
              <a:lnSpc>
                <a:spcPts val="2000"/>
              </a:lnSpc>
              <a:spcBef>
                <a:spcPts val="0"/>
              </a:spcBef>
              <a:spcAft>
                <a:spcPts val="0"/>
              </a:spcAft>
              <a:defRPr sz="1600" b="0">
                <a:solidFill>
                  <a:srgbClr val="F4F6FA"/>
                </a:solidFill>
                <a:latin typeface="Arial"/>
              </a:defRPr>
            </a:pPr>
            <a:r>
              <a:t>Restaurer sa configuration.</a:t>
            </a:r>
          </a:p>
          <a:p>
            <a:pPr>
              <a:lnSpc>
                <a:spcPts val="2000"/>
              </a:lnSpc>
              <a:spcBef>
                <a:spcPts val="0"/>
              </a:spcBef>
              <a:spcAft>
                <a:spcPts val="0"/>
              </a:spcAft>
              <a:defRPr sz="1600" b="0">
                <a:solidFill>
                  <a:srgbClr val="F4F6FA"/>
                </a:solidFill>
                <a:latin typeface="Arial"/>
              </a:defRPr>
            </a:pPr>
            <a:r>
              <a:t>Revenir à la collection RAG</a:t>
            </a:r>
          </a:p>
          <a:p>
            <a:pPr>
              <a:lnSpc>
                <a:spcPts val="2000"/>
              </a:lnSpc>
              <a:spcBef>
                <a:spcPts val="0"/>
              </a:spcBef>
              <a:spcAft>
                <a:spcPts val="0"/>
              </a:spcAft>
              <a:defRPr sz="1600" b="0">
                <a:solidFill>
                  <a:srgbClr val="F4F6FA"/>
                </a:solidFill>
                <a:latin typeface="Arial"/>
              </a:defRPr>
            </a:pPr>
            <a:r>
              <a:t>prévue.</a:t>
            </a:r>
          </a:p>
          <a:p>
            <a:pPr>
              <a:lnSpc>
                <a:spcPts val="2000"/>
              </a:lnSpc>
              <a:spcBef>
                <a:spcPts val="0"/>
              </a:spcBef>
              <a:spcAft>
                <a:spcPts val="0"/>
              </a:spcAft>
              <a:defRPr sz="1600" b="0">
                <a:solidFill>
                  <a:srgbClr val="F4F6FA"/>
                </a:solidFill>
                <a:latin typeface="Arial"/>
              </a:defRPr>
            </a:pPr>
            <a:r>
              <a:t>Rejouer santé et smoke tests.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digest fixe le conteneur ; il ne fige pas à lui seul le comportement d’un fournisseur distant.</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docs/block2/delivery.md ; src/evaluation/runner.py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E3 · DÉMONSTRATION ET BILAN</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Montrer une preuve à chaque frontière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Séquence proposée sur un environnement de démonstration préparé.</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API / INTÉGRATION</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Montrer configuration sans secret.</a:t>
            </a:r>
          </a:p>
          <a:p>
            <a:pPr>
              <a:lnSpc>
                <a:spcPts val="2000"/>
              </a:lnSpc>
              <a:spcBef>
                <a:spcPts val="0"/>
              </a:spcBef>
              <a:spcAft>
                <a:spcPts val="0"/>
              </a:spcAft>
              <a:defRPr sz="1600" b="0">
                <a:solidFill>
                  <a:srgbClr val="F4F6FA"/>
                </a:solidFill>
                <a:latin typeface="Arial"/>
              </a:defRPr>
            </a:pPr>
            <a:r>
              <a:t>Exercer un tour autorisé.</a:t>
            </a:r>
          </a:p>
          <a:p>
            <a:pPr>
              <a:lnSpc>
                <a:spcPts val="2000"/>
              </a:lnSpc>
              <a:spcBef>
                <a:spcPts val="0"/>
              </a:spcBef>
              <a:spcAft>
                <a:spcPts val="0"/>
              </a:spcAft>
              <a:defRPr sz="1600" b="0">
                <a:solidFill>
                  <a:srgbClr val="F4F6FA"/>
                </a:solidFill>
                <a:latin typeface="Arial"/>
              </a:defRPr>
            </a:pPr>
            <a:r>
              <a:t>Afficher un refus de propriété.</a:t>
            </a:r>
          </a:p>
          <a:p>
            <a:pPr>
              <a:lnSpc>
                <a:spcPts val="2000"/>
              </a:lnSpc>
              <a:spcBef>
                <a:spcPts val="0"/>
              </a:spcBef>
              <a:spcAft>
                <a:spcPts val="0"/>
              </a:spcAft>
              <a:defRPr sz="1600" b="0">
                <a:solidFill>
                  <a:srgbClr val="F4F6FA"/>
                </a:solidFill>
                <a:latin typeface="Arial"/>
              </a:defRPr>
            </a:pPr>
            <a:r>
              <a:t>Expliquer les routes navigateur /</a:t>
            </a:r>
          </a:p>
          <a:p>
            <a:pPr>
              <a:lnSpc>
                <a:spcPts val="2000"/>
              </a:lnSpc>
              <a:spcBef>
                <a:spcPts val="0"/>
              </a:spcBef>
              <a:spcAft>
                <a:spcPts val="0"/>
              </a:spcAft>
              <a:defRPr sz="1600" b="0">
                <a:solidFill>
                  <a:srgbClr val="F4F6FA"/>
                </a:solidFill>
                <a:latin typeface="Arial"/>
              </a:defRPr>
            </a:pPr>
            <a:r>
              <a:t>v1.</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TESTS / SURVEILLANCE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Afficher le lot de tests et le rapport</a:t>
            </a:r>
          </a:p>
          <a:p>
            <a:pPr>
              <a:lnSpc>
                <a:spcPts val="2000"/>
              </a:lnSpc>
              <a:spcBef>
                <a:spcPts val="0"/>
              </a:spcBef>
              <a:spcAft>
                <a:spcPts val="0"/>
              </a:spcAft>
              <a:defRPr sz="1600" b="0">
                <a:solidFill>
                  <a:srgbClr val="F4F6FA"/>
                </a:solidFill>
                <a:latin typeface="Arial"/>
              </a:defRPr>
            </a:pPr>
            <a:r>
              <a:t>offline.</a:t>
            </a:r>
          </a:p>
          <a:p>
            <a:pPr>
              <a:lnSpc>
                <a:spcPts val="2000"/>
              </a:lnSpc>
              <a:spcBef>
                <a:spcPts val="0"/>
              </a:spcBef>
              <a:spcAft>
                <a:spcPts val="0"/>
              </a:spcAft>
              <a:defRPr sz="1600" b="0">
                <a:solidFill>
                  <a:srgbClr val="F4F6FA"/>
                </a:solidFill>
                <a:latin typeface="Arial"/>
              </a:defRPr>
            </a:pPr>
            <a:r>
              <a:t>En environnement prêt : métriques,</a:t>
            </a:r>
          </a:p>
          <a:p>
            <a:pPr>
              <a:lnSpc>
                <a:spcPts val="2000"/>
              </a:lnSpc>
              <a:spcBef>
                <a:spcPts val="0"/>
              </a:spcBef>
              <a:spcAft>
                <a:spcPts val="0"/>
              </a:spcAft>
              <a:defRPr sz="1600" b="0">
                <a:solidFill>
                  <a:srgbClr val="F4F6FA"/>
                </a:solidFill>
                <a:latin typeface="Arial"/>
              </a:defRPr>
            </a:pPr>
            <a:r>
              <a:t>erreur simulée et alerte.</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LIVRAISON</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Ouvrir le workflow.</a:t>
            </a:r>
          </a:p>
          <a:p>
            <a:pPr>
              <a:lnSpc>
                <a:spcPts val="2000"/>
              </a:lnSpc>
              <a:spcBef>
                <a:spcPts val="0"/>
              </a:spcBef>
              <a:spcAft>
                <a:spcPts val="0"/>
              </a:spcAft>
              <a:defRPr sz="1600" b="0">
                <a:solidFill>
                  <a:srgbClr val="F4F6FA"/>
                </a:solidFill>
                <a:latin typeface="Arial"/>
              </a:defRPr>
            </a:pPr>
            <a:r>
              <a:t>Relier code et artefact.</a:t>
            </a:r>
          </a:p>
          <a:p>
            <a:pPr>
              <a:lnSpc>
                <a:spcPts val="2000"/>
              </a:lnSpc>
              <a:spcBef>
                <a:spcPts val="0"/>
              </a:spcBef>
              <a:spcAft>
                <a:spcPts val="0"/>
              </a:spcAft>
              <a:defRPr sz="1600" b="0">
                <a:solidFill>
                  <a:srgbClr val="F4F6FA"/>
                </a:solidFill>
                <a:latin typeface="Arial"/>
              </a:defRPr>
            </a:pPr>
            <a:r>
              <a:t>Présenter un déploiement et un</a:t>
            </a:r>
          </a:p>
          <a:p>
            <a:pPr>
              <a:lnSpc>
                <a:spcPts val="2000"/>
              </a:lnSpc>
              <a:spcBef>
                <a:spcPts val="0"/>
              </a:spcBef>
              <a:spcAft>
                <a:spcPts val="0"/>
              </a:spcAft>
              <a:defRPr sz="1600" b="0">
                <a:solidFill>
                  <a:srgbClr val="F4F6FA"/>
                </a:solidFill>
                <a:latin typeface="Arial"/>
              </a:defRPr>
            </a:pPr>
            <a:r>
              <a:t>rollback seulement s’ils ont été</a:t>
            </a:r>
          </a:p>
          <a:p>
            <a:pPr>
              <a:lnSpc>
                <a:spcPts val="2000"/>
              </a:lnSpc>
              <a:spcBef>
                <a:spcPts val="0"/>
              </a:spcBef>
              <a:spcAft>
                <a:spcPts val="0"/>
              </a:spcAft>
              <a:defRPr sz="1600" b="0">
                <a:solidFill>
                  <a:srgbClr val="F4F6FA"/>
                </a:solidFill>
                <a:latin typeface="Arial"/>
              </a:defRPr>
            </a:pPr>
            <a:r>
              <a:t>exécutés.</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Restent à prouver : qualité réelle, accessibilité, alerte reçue et livraison effective.</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docs/block2/evidence-checklist.md ; Notes_orales_Bloc2.md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A · C9</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Écarts repérés entre contrat et code</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Points identifiés à la lecture ; aucune modification applicative dans cette livraison.</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OPENAPI</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 liste security encode session</a:t>
            </a:r>
          </a:p>
          <a:p>
            <a:pPr>
              <a:lnSpc>
                <a:spcPts val="2000"/>
              </a:lnSpc>
              <a:spcBef>
                <a:spcPts val="0"/>
              </a:spcBef>
              <a:spcAft>
                <a:spcPts val="0"/>
              </a:spcAft>
              <a:defRPr sz="1600" b="0">
                <a:solidFill>
                  <a:srgbClr val="F4F6FA"/>
                </a:solidFill>
                <a:latin typeface="Arial"/>
              </a:defRPr>
            </a:pPr>
            <a:r>
              <a:t>OU CSRF, alors que la vue exige</a:t>
            </a:r>
          </a:p>
          <a:p>
            <a:pPr>
              <a:lnSpc>
                <a:spcPts val="2000"/>
              </a:lnSpc>
              <a:spcBef>
                <a:spcPts val="0"/>
              </a:spcBef>
              <a:spcAft>
                <a:spcPts val="0"/>
              </a:spcAft>
              <a:defRPr sz="1600" b="0">
                <a:solidFill>
                  <a:srgbClr val="F4F6FA"/>
                </a:solidFill>
                <a:latin typeface="Arial"/>
              </a:defRPr>
            </a:pPr>
            <a:r>
              <a:t>les deux.</a:t>
            </a:r>
          </a:p>
          <a:p>
            <a:pPr>
              <a:lnSpc>
                <a:spcPts val="2000"/>
              </a:lnSpc>
              <a:spcBef>
                <a:spcPts val="0"/>
              </a:spcBef>
              <a:spcAft>
                <a:spcPts val="0"/>
              </a:spcAft>
              <a:defRPr sz="1600" b="0">
                <a:solidFill>
                  <a:srgbClr val="F4F6FA"/>
                </a:solidFill>
                <a:latin typeface="Arial"/>
              </a:defRPr>
            </a:pPr>
            <a:r>
              <a:t>Réunir les exigences dans le</a:t>
            </a:r>
          </a:p>
          <a:p>
            <a:pPr>
              <a:lnSpc>
                <a:spcPts val="2000"/>
              </a:lnSpc>
              <a:spcBef>
                <a:spcPts val="0"/>
              </a:spcBef>
              <a:spcAft>
                <a:spcPts val="0"/>
              </a:spcAft>
              <a:defRPr sz="1600" b="0">
                <a:solidFill>
                  <a:srgbClr val="F4F6FA"/>
                </a:solidFill>
                <a:latin typeface="Arial"/>
              </a:defRPr>
            </a:pPr>
            <a:r>
              <a:t>contrat.</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ENTRÉES</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Le contrat interdit les champs</a:t>
            </a:r>
          </a:p>
          <a:p>
            <a:pPr>
              <a:lnSpc>
                <a:spcPts val="2000"/>
              </a:lnSpc>
              <a:spcBef>
                <a:spcPts val="0"/>
              </a:spcBef>
              <a:spcAft>
                <a:spcPts val="0"/>
              </a:spcAft>
              <a:defRPr sz="1600" b="0">
                <a:solidFill>
                  <a:srgbClr val="F4F6FA"/>
                </a:solidFill>
                <a:latin typeface="Arial"/>
              </a:defRPr>
            </a:pPr>
            <a:r>
              <a:t>supplémentaires ; la vue ne les</a:t>
            </a:r>
          </a:p>
          <a:p>
            <a:pPr>
              <a:lnSpc>
                <a:spcPts val="2000"/>
              </a:lnSpc>
              <a:spcBef>
                <a:spcPts val="0"/>
              </a:spcBef>
              <a:spcAft>
                <a:spcPts val="0"/>
              </a:spcAft>
              <a:defRPr sz="1600" b="0">
                <a:solidFill>
                  <a:srgbClr val="F4F6FA"/>
                </a:solidFill>
                <a:latin typeface="Arial"/>
              </a:defRPr>
            </a:pPr>
            <a:r>
              <a:t>rejette pas explicitement.</a:t>
            </a:r>
          </a:p>
          <a:p>
            <a:pPr>
              <a:lnSpc>
                <a:spcPts val="2000"/>
              </a:lnSpc>
              <a:spcBef>
                <a:spcPts val="0"/>
              </a:spcBef>
              <a:spcAft>
                <a:spcPts val="0"/>
              </a:spcAft>
              <a:defRPr sz="1600" b="0">
                <a:solidFill>
                  <a:srgbClr val="F4F6FA"/>
                </a:solidFill>
                <a:latin typeface="Arial"/>
              </a:defRPr>
            </a:pPr>
            <a:r>
              <a:t>Un JSON non objet reste à tester.</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CHOIX</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La comparaison est conditionnée à</a:t>
            </a:r>
          </a:p>
          <a:p>
            <a:pPr>
              <a:lnSpc>
                <a:spcPts val="2000"/>
              </a:lnSpc>
              <a:spcBef>
                <a:spcPts val="0"/>
              </a:spcBef>
              <a:spcAft>
                <a:spcPts val="0"/>
              </a:spcAft>
              <a:defRPr sz="1600" b="0">
                <a:solidFill>
                  <a:srgbClr val="F4F6FA"/>
                </a:solidFill>
                <a:latin typeface="Arial"/>
              </a:defRPr>
            </a:pPr>
            <a:r>
              <a:t>une liste serveur non vide.</a:t>
            </a:r>
          </a:p>
          <a:p>
            <a:pPr>
              <a:lnSpc>
                <a:spcPts val="2000"/>
              </a:lnSpc>
              <a:spcBef>
                <a:spcPts val="0"/>
              </a:spcBef>
              <a:spcAft>
                <a:spcPts val="0"/>
              </a:spcAft>
              <a:defRPr sz="1600" b="0">
                <a:solidFill>
                  <a:srgbClr val="F4F6FA"/>
                </a:solidFill>
                <a:latin typeface="Arial"/>
              </a:defRPr>
            </a:pPr>
            <a:r>
              <a:t>Définir et tester le comportement</a:t>
            </a:r>
          </a:p>
          <a:p>
            <a:pPr>
              <a:lnSpc>
                <a:spcPts val="2000"/>
              </a:lnSpc>
              <a:spcBef>
                <a:spcPts val="0"/>
              </a:spcBef>
              <a:spcAft>
                <a:spcPts val="0"/>
              </a:spcAft>
              <a:defRPr sz="1600" b="0">
                <a:solidFill>
                  <a:srgbClr val="F4F6FA"/>
                </a:solidFill>
                <a:latin typeface="Arial"/>
              </a:defRPr>
            </a:pPr>
            <a:r>
              <a:t>quand elle est vide.</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Conserver ces réserves dans l’argumentaire de sécurité.</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docs/block2/openapi.yaml ; src/django/game/ai_api.py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B · TRAÇABILITÉ</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Retrouver les preuves C6 à C13</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Sources relatives à la racine du dépôt.</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E2</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C6 : dossier de veille à joindre.</a:t>
            </a:r>
          </a:p>
          <a:p>
            <a:pPr>
              <a:lnSpc>
                <a:spcPts val="2000"/>
              </a:lnSpc>
              <a:spcBef>
                <a:spcPts val="0"/>
              </a:spcBef>
              <a:spcAft>
                <a:spcPts val="0"/>
              </a:spcAft>
              <a:defRPr sz="1600" b="0">
                <a:solidFill>
                  <a:srgbClr val="F4F6FA"/>
                </a:solidFill>
                <a:latin typeface="Arial"/>
              </a:defRPr>
            </a:pPr>
            <a:r>
              <a:t>C7 :</a:t>
            </a:r>
          </a:p>
          <a:p>
            <a:pPr>
              <a:lnSpc>
                <a:spcPts val="2000"/>
              </a:lnSpc>
              <a:spcBef>
                <a:spcPts val="0"/>
              </a:spcBef>
              <a:spcAft>
                <a:spcPts val="0"/>
              </a:spcAft>
              <a:defRPr sz="1600" b="0">
                <a:solidFill>
                  <a:srgbClr val="F4F6FA"/>
                </a:solidFill>
                <a:latin typeface="Arial"/>
              </a:defRPr>
            </a:pPr>
            <a:r>
              <a:t>ai-requirements-and-selection.md</a:t>
            </a:r>
          </a:p>
          <a:p>
            <a:pPr>
              <a:lnSpc>
                <a:spcPts val="2000"/>
              </a:lnSpc>
              <a:spcBef>
                <a:spcPts val="0"/>
              </a:spcBef>
              <a:spcAft>
                <a:spcPts val="0"/>
              </a:spcAft>
              <a:defRPr sz="1600" b="0">
                <a:solidFill>
                  <a:srgbClr val="F4F6FA"/>
                </a:solidFill>
                <a:latin typeface="Arial"/>
              </a:defRPr>
            </a:pPr>
            <a:r>
              <a:t>C8 : runtime_config.py et</a:t>
            </a:r>
          </a:p>
          <a:p>
            <a:pPr>
              <a:lnSpc>
                <a:spcPts val="2000"/>
              </a:lnSpc>
              <a:spcBef>
                <a:spcPts val="0"/>
              </a:spcBef>
              <a:spcAft>
                <a:spcPts val="0"/>
              </a:spcAft>
              <a:defRPr sz="1600" b="0">
                <a:solidFill>
                  <a:srgbClr val="F4F6FA"/>
                </a:solidFill>
                <a:latin typeface="Arial"/>
              </a:defRPr>
            </a:pPr>
            <a:r>
              <a:t>documentation RAG.</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E3 · SERVICE</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C9 : ai_api.py + test_ai_api.py</a:t>
            </a:r>
          </a:p>
          <a:p>
            <a:pPr>
              <a:lnSpc>
                <a:spcPts val="2000"/>
              </a:lnSpc>
              <a:spcBef>
                <a:spcPts val="0"/>
              </a:spcBef>
              <a:spcAft>
                <a:spcPts val="0"/>
              </a:spcAft>
              <a:defRPr sz="1600" b="0">
                <a:solidFill>
                  <a:srgbClr val="F4F6FA"/>
                </a:solidFill>
                <a:latin typeface="Arial"/>
              </a:defRPr>
            </a:pPr>
            <a:r>
              <a:t>C10 : game_engine.py et play.html</a:t>
            </a:r>
          </a:p>
          <a:p>
            <a:pPr>
              <a:lnSpc>
                <a:spcPts val="2000"/>
              </a:lnSpc>
              <a:spcBef>
                <a:spcPts val="0"/>
              </a:spcBef>
              <a:spcAft>
                <a:spcPts val="0"/>
              </a:spcAft>
              <a:defRPr sz="1600" b="0">
                <a:solidFill>
                  <a:srgbClr val="F4F6FA"/>
                </a:solidFill>
                <a:latin typeface="Arial"/>
              </a:defRPr>
            </a:pPr>
            <a:r>
              <a:t>C11 : observability/ et monitoring/</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E3 · QUALITÉ</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C12 : evaluation/ et tests Django</a:t>
            </a:r>
          </a:p>
          <a:p>
            <a:pPr>
              <a:lnSpc>
                <a:spcPts val="2000"/>
              </a:lnSpc>
              <a:spcBef>
                <a:spcPts val="0"/>
              </a:spcBef>
              <a:spcAft>
                <a:spcPts val="0"/>
              </a:spcAft>
              <a:defRPr sz="1600" b="0">
                <a:solidFill>
                  <a:srgbClr val="F4F6FA"/>
                </a:solidFill>
                <a:latin typeface="Arial"/>
              </a:defRPr>
            </a:pPr>
            <a:r>
              <a:t>C13 : block2-ai.yml</a:t>
            </a:r>
          </a:p>
          <a:p>
            <a:pPr>
              <a:lnSpc>
                <a:spcPts val="2000"/>
              </a:lnSpc>
              <a:spcBef>
                <a:spcPts val="0"/>
              </a:spcBef>
              <a:spcAft>
                <a:spcPts val="0"/>
              </a:spcAft>
              <a:defRPr sz="1600" b="0">
                <a:solidFill>
                  <a:srgbClr val="F4F6FA"/>
                </a:solidFill>
                <a:latin typeface="Arial"/>
              </a:defRPr>
            </a:pPr>
            <a:r>
              <a:t>Rapport :</a:t>
            </a:r>
          </a:p>
          <a:p>
            <a:pPr>
              <a:lnSpc>
                <a:spcPts val="2000"/>
              </a:lnSpc>
              <a:spcBef>
                <a:spcPts val="0"/>
              </a:spcBef>
              <a:spcAft>
                <a:spcPts val="0"/>
              </a:spcAft>
              <a:defRPr sz="1600" b="0">
                <a:solidFill>
                  <a:srgbClr val="F4F6FA"/>
                </a:solidFill>
                <a:latin typeface="Arial"/>
              </a:defRPr>
            </a:pPr>
            <a:r>
              <a:t>preuves/evaluation-offline.json</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La documentation de synthèse se trouve sous docs/block2/.</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Référentiel fourni, p. 6–16 ; docs/block2/traceability.md</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01C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406400"/>
            <a:ext cx="431800" cy="50800"/>
          </a:xfrm>
          <a:prstGeom prst="rect">
            <a:avLst/>
          </a:prstGeom>
          <a:solidFill>
            <a:srgbClr val="60DF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41400" y="279400"/>
            <a:ext cx="10160000" cy="381000"/>
          </a:xfrm>
          <a:prstGeom prst="rect">
            <a:avLst/>
          </a:prstGeom>
          <a:noFill/>
        </p:spPr>
        <p:txBody>
          <a:bodyPr wrap="none" lIns="0" rIns="0" tIns="0" bIns="0">
            <a:spAutoFit/>
          </a:bodyPr>
          <a:lstStyle/>
          <a:p>
            <a:pPr>
              <a:lnSpc>
                <a:spcPts val="1500"/>
              </a:lnSpc>
              <a:spcBef>
                <a:spcPts val="0"/>
              </a:spcBef>
              <a:spcAft>
                <a:spcPts val="0"/>
              </a:spcAft>
              <a:defRPr sz="1200" b="1">
                <a:solidFill>
                  <a:srgbClr val="60DFBD"/>
                </a:solidFill>
                <a:latin typeface="Arial"/>
              </a:defRPr>
            </a:pPr>
            <a:r>
              <a:t>ANNEXE C · QUESTIONS</a:t>
            </a:r>
          </a:p>
        </p:txBody>
      </p:sp>
      <p:sp>
        <p:nvSpPr>
          <p:cNvPr id="5" name="TextBox 4"/>
          <p:cNvSpPr txBox="1"/>
          <p:nvPr/>
        </p:nvSpPr>
        <p:spPr>
          <a:xfrm>
            <a:off x="457200" y="812800"/>
            <a:ext cx="11239500" cy="1143000"/>
          </a:xfrm>
          <a:prstGeom prst="rect">
            <a:avLst/>
          </a:prstGeom>
          <a:noFill/>
        </p:spPr>
        <p:txBody>
          <a:bodyPr wrap="none" lIns="0" rIns="0" tIns="0" bIns="0">
            <a:spAutoFit/>
          </a:bodyPr>
          <a:lstStyle/>
          <a:p>
            <a:pPr>
              <a:lnSpc>
                <a:spcPts val="4250"/>
              </a:lnSpc>
              <a:spcBef>
                <a:spcPts val="0"/>
              </a:spcBef>
              <a:spcAft>
                <a:spcPts val="0"/>
              </a:spcAft>
              <a:defRPr sz="3400" b="1">
                <a:solidFill>
                  <a:srgbClr val="F4F6FA"/>
                </a:solidFill>
                <a:latin typeface="Arial"/>
              </a:defRPr>
            </a:pPr>
            <a:r>
              <a:t>Défendre les limites du dispositif</a:t>
            </a:r>
          </a:p>
        </p:txBody>
      </p:sp>
      <p:sp>
        <p:nvSpPr>
          <p:cNvPr id="6" name="TextBox 5"/>
          <p:cNvSpPr txBox="1"/>
          <p:nvPr/>
        </p:nvSpPr>
        <p:spPr>
          <a:xfrm>
            <a:off x="457200" y="1943100"/>
            <a:ext cx="11239500" cy="698500"/>
          </a:xfrm>
          <a:prstGeom prst="rect">
            <a:avLst/>
          </a:prstGeom>
          <a:noFill/>
        </p:spPr>
        <p:txBody>
          <a:bodyPr wrap="none" lIns="0" rIns="0" tIns="0" bIns="0">
            <a:spAutoFit/>
          </a:bodyPr>
          <a:lstStyle/>
          <a:p>
            <a:pPr>
              <a:lnSpc>
                <a:spcPts val="2250"/>
              </a:lnSpc>
              <a:spcBef>
                <a:spcPts val="0"/>
              </a:spcBef>
              <a:spcAft>
                <a:spcPts val="0"/>
              </a:spcAft>
              <a:defRPr sz="1800" b="0">
                <a:solidFill>
                  <a:srgbClr val="B5C2D3"/>
                </a:solidFill>
                <a:latin typeface="Arial"/>
              </a:defRPr>
            </a:pPr>
            <a:r>
              <a:t>Préparer une réponse courte, puis une preuve.</a:t>
            </a:r>
          </a:p>
        </p:txBody>
      </p:sp>
      <p:sp>
        <p:nvSpPr>
          <p:cNvPr id="7" name="Rectangle 6"/>
          <p:cNvSpPr/>
          <p:nvPr/>
        </p:nvSpPr>
        <p:spPr>
          <a:xfrm>
            <a:off x="45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6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POURQUOI CE MODÈLE ?</a:t>
            </a:r>
          </a:p>
        </p:txBody>
      </p:sp>
      <p:sp>
        <p:nvSpPr>
          <p:cNvPr id="9" name="TextBox 8"/>
          <p:cNvSpPr txBox="1"/>
          <p:nvPr/>
        </p:nvSpPr>
        <p:spPr>
          <a:xfrm>
            <a:off x="66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Architecture cohérente avec le</a:t>
            </a:r>
          </a:p>
          <a:p>
            <a:pPr>
              <a:lnSpc>
                <a:spcPts val="2000"/>
              </a:lnSpc>
              <a:spcBef>
                <a:spcPts val="0"/>
              </a:spcBef>
              <a:spcAft>
                <a:spcPts val="0"/>
              </a:spcAft>
              <a:defRPr sz="1600" b="0">
                <a:solidFill>
                  <a:srgbClr val="F4F6FA"/>
                </a:solidFill>
                <a:latin typeface="Arial"/>
              </a:defRPr>
            </a:pPr>
            <a:r>
              <a:t>besoin ; sélection finale à soutenir</a:t>
            </a:r>
          </a:p>
          <a:p>
            <a:pPr>
              <a:lnSpc>
                <a:spcPts val="2000"/>
              </a:lnSpc>
              <a:spcBef>
                <a:spcPts val="0"/>
              </a:spcBef>
              <a:spcAft>
                <a:spcPts val="0"/>
              </a:spcAft>
              <a:defRPr sz="1600" b="0">
                <a:solidFill>
                  <a:srgbClr val="F4F6FA"/>
                </a:solidFill>
                <a:latin typeface="Arial"/>
              </a:defRPr>
            </a:pPr>
            <a:r>
              <a:t>par un comparatif réel.</a:t>
            </a:r>
          </a:p>
        </p:txBody>
      </p:sp>
      <p:sp>
        <p:nvSpPr>
          <p:cNvPr id="10" name="Rectangle 9"/>
          <p:cNvSpPr/>
          <p:nvPr/>
        </p:nvSpPr>
        <p:spPr>
          <a:xfrm>
            <a:off x="426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7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COMMENT MESURER ?</a:t>
            </a:r>
          </a:p>
        </p:txBody>
      </p:sp>
      <p:sp>
        <p:nvSpPr>
          <p:cNvPr id="12" name="TextBox 11"/>
          <p:cNvSpPr txBox="1"/>
          <p:nvPr/>
        </p:nvSpPr>
        <p:spPr>
          <a:xfrm>
            <a:off x="447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Format par schéma ; pertinence</a:t>
            </a:r>
          </a:p>
          <a:p>
            <a:pPr>
              <a:lnSpc>
                <a:spcPts val="2000"/>
              </a:lnSpc>
              <a:spcBef>
                <a:spcPts val="0"/>
              </a:spcBef>
              <a:spcAft>
                <a:spcPts val="0"/>
              </a:spcAft>
              <a:defRPr sz="1600" b="0">
                <a:solidFill>
                  <a:srgbClr val="F4F6FA"/>
                </a:solidFill>
                <a:latin typeface="Arial"/>
              </a:defRPr>
            </a:pPr>
            <a:r>
              <a:t>par cas et revue humaine ;</a:t>
            </a:r>
          </a:p>
          <a:p>
            <a:pPr>
              <a:lnSpc>
                <a:spcPts val="2000"/>
              </a:lnSpc>
              <a:spcBef>
                <a:spcPts val="0"/>
              </a:spcBef>
              <a:spcAft>
                <a:spcPts val="0"/>
              </a:spcAft>
              <a:defRPr sz="1600" b="0">
                <a:solidFill>
                  <a:srgbClr val="F4F6FA"/>
                </a:solidFill>
                <a:latin typeface="Arial"/>
              </a:defRPr>
            </a:pPr>
            <a:r>
              <a:t>disponibilité et délai par métriques.</a:t>
            </a:r>
          </a:p>
        </p:txBody>
      </p:sp>
      <p:sp>
        <p:nvSpPr>
          <p:cNvPr id="13" name="Rectangle 12"/>
          <p:cNvSpPr/>
          <p:nvPr/>
        </p:nvSpPr>
        <p:spPr>
          <a:xfrm>
            <a:off x="8077200" y="2844800"/>
            <a:ext cx="3657600" cy="2603500"/>
          </a:xfrm>
          <a:prstGeom prst="rect">
            <a:avLst/>
          </a:prstGeom>
          <a:solidFill>
            <a:srgbClr val="1C2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80400" y="3048000"/>
            <a:ext cx="3225800" cy="558800"/>
          </a:xfrm>
          <a:prstGeom prst="rect">
            <a:avLst/>
          </a:prstGeom>
          <a:noFill/>
        </p:spPr>
        <p:txBody>
          <a:bodyPr wrap="none" lIns="0" rIns="0" tIns="0" bIns="0">
            <a:spAutoFit/>
          </a:bodyPr>
          <a:lstStyle/>
          <a:p>
            <a:pPr>
              <a:lnSpc>
                <a:spcPts val="2250"/>
              </a:lnSpc>
              <a:spcBef>
                <a:spcPts val="0"/>
              </a:spcBef>
              <a:spcAft>
                <a:spcPts val="0"/>
              </a:spcAft>
              <a:defRPr sz="1800" b="1">
                <a:solidFill>
                  <a:srgbClr val="60DFBD"/>
                </a:solidFill>
                <a:latin typeface="Arial"/>
              </a:defRPr>
            </a:pPr>
            <a:r>
              <a:t>QU’EST-CE QUI MANQUE ?</a:t>
            </a:r>
          </a:p>
        </p:txBody>
      </p:sp>
      <p:sp>
        <p:nvSpPr>
          <p:cNvPr id="15" name="TextBox 14"/>
          <p:cNvSpPr txBox="1"/>
          <p:nvPr/>
        </p:nvSpPr>
        <p:spPr>
          <a:xfrm>
            <a:off x="8280400" y="3683000"/>
            <a:ext cx="3225800" cy="1651000"/>
          </a:xfrm>
          <a:prstGeom prst="rect">
            <a:avLst/>
          </a:prstGeom>
          <a:noFill/>
        </p:spPr>
        <p:txBody>
          <a:bodyPr wrap="none" lIns="0" rIns="0" tIns="0" bIns="0">
            <a:spAutoFit/>
          </a:bodyPr>
          <a:lstStyle/>
          <a:p>
            <a:pPr>
              <a:lnSpc>
                <a:spcPts val="2000"/>
              </a:lnSpc>
              <a:spcBef>
                <a:spcPts val="0"/>
              </a:spcBef>
              <a:spcAft>
                <a:spcPts val="0"/>
              </a:spcAft>
              <a:defRPr sz="1600" b="0">
                <a:solidFill>
                  <a:srgbClr val="F4F6FA"/>
                </a:solidFill>
                <a:latin typeface="Arial"/>
              </a:defRPr>
            </a:pPr>
            <a:r>
              <a:t>Veille jointe, benchmark, notation</a:t>
            </a:r>
          </a:p>
          <a:p>
            <a:pPr>
              <a:lnSpc>
                <a:spcPts val="2000"/>
              </a:lnSpc>
              <a:spcBef>
                <a:spcPts val="0"/>
              </a:spcBef>
              <a:spcAft>
                <a:spcPts val="0"/>
              </a:spcAft>
              <a:defRPr sz="1600" b="0">
                <a:solidFill>
                  <a:srgbClr val="F4F6FA"/>
                </a:solidFill>
                <a:latin typeface="Arial"/>
              </a:defRPr>
            </a:pPr>
            <a:r>
              <a:t>RAG / adversarial, audit</a:t>
            </a:r>
          </a:p>
          <a:p>
            <a:pPr>
              <a:lnSpc>
                <a:spcPts val="2000"/>
              </a:lnSpc>
              <a:spcBef>
                <a:spcPts val="0"/>
              </a:spcBef>
              <a:spcAft>
                <a:spcPts val="0"/>
              </a:spcAft>
              <a:defRPr sz="1600" b="0">
                <a:solidFill>
                  <a:srgbClr val="F4F6FA"/>
                </a:solidFill>
                <a:latin typeface="Arial"/>
              </a:defRPr>
            </a:pPr>
            <a:r>
              <a:t>accessible, alerte reçue et</a:t>
            </a:r>
          </a:p>
          <a:p>
            <a:pPr>
              <a:lnSpc>
                <a:spcPts val="2000"/>
              </a:lnSpc>
              <a:spcBef>
                <a:spcPts val="0"/>
              </a:spcBef>
              <a:spcAft>
                <a:spcPts val="0"/>
              </a:spcAft>
              <a:defRPr sz="1600" b="0">
                <a:solidFill>
                  <a:srgbClr val="F4F6FA"/>
                </a:solidFill>
                <a:latin typeface="Arial"/>
              </a:defRPr>
            </a:pPr>
            <a:r>
              <a:t>déploiement tracé.</a:t>
            </a:r>
          </a:p>
        </p:txBody>
      </p:sp>
      <p:sp>
        <p:nvSpPr>
          <p:cNvPr id="16" name="TextBox 15"/>
          <p:cNvSpPr txBox="1"/>
          <p:nvPr/>
        </p:nvSpPr>
        <p:spPr>
          <a:xfrm>
            <a:off x="457200" y="5715000"/>
            <a:ext cx="11277600" cy="660400"/>
          </a:xfrm>
          <a:prstGeom prst="rect">
            <a:avLst/>
          </a:prstGeom>
          <a:noFill/>
        </p:spPr>
        <p:txBody>
          <a:bodyPr wrap="none" lIns="0" rIns="0" tIns="0" bIns="0">
            <a:spAutoFit/>
          </a:bodyPr>
          <a:lstStyle/>
          <a:p>
            <a:pPr>
              <a:lnSpc>
                <a:spcPts val="2125"/>
              </a:lnSpc>
              <a:spcBef>
                <a:spcPts val="0"/>
              </a:spcBef>
              <a:spcAft>
                <a:spcPts val="0"/>
              </a:spcAft>
              <a:defRPr sz="1700" b="1">
                <a:solidFill>
                  <a:srgbClr val="F2C879"/>
                </a:solidFill>
                <a:latin typeface="Arial"/>
              </a:defRPr>
            </a:pPr>
            <a:r>
              <a:t>Un modèle préentraîné déplace les contrôles vers les données, les prompts et l’intégration.</a:t>
            </a:r>
          </a:p>
        </p:txBody>
      </p:sp>
      <p:sp>
        <p:nvSpPr>
          <p:cNvPr id="17" name="TextBox 16"/>
          <p:cNvSpPr txBox="1"/>
          <p:nvPr/>
        </p:nvSpPr>
        <p:spPr>
          <a:xfrm>
            <a:off x="457200" y="6540500"/>
            <a:ext cx="10795000" cy="228600"/>
          </a:xfrm>
          <a:prstGeom prst="rect">
            <a:avLst/>
          </a:prstGeom>
          <a:noFill/>
        </p:spPr>
        <p:txBody>
          <a:bodyPr wrap="none" lIns="0" rIns="0" tIns="0" bIns="0">
            <a:spAutoFit/>
          </a:bodyPr>
          <a:lstStyle/>
          <a:p>
            <a:pPr>
              <a:lnSpc>
                <a:spcPts val="1125"/>
              </a:lnSpc>
              <a:spcBef>
                <a:spcPts val="0"/>
              </a:spcBef>
              <a:spcAft>
                <a:spcPts val="0"/>
              </a:spcAft>
              <a:defRPr sz="900" b="0">
                <a:solidFill>
                  <a:srgbClr val="B5C2D3"/>
                </a:solidFill>
                <a:latin typeface="Arial"/>
              </a:defRPr>
            </a:pPr>
            <a:r>
              <a:t>docs/block2/evidence-checklist.md ; src/evaluation/runner.py</a:t>
            </a:r>
          </a:p>
        </p:txBody>
      </p:sp>
      <p:sp>
        <p:nvSpPr>
          <p:cNvPr id="18" name="TextBox 17"/>
          <p:cNvSpPr txBox="1"/>
          <p:nvPr/>
        </p:nvSpPr>
        <p:spPr>
          <a:xfrm>
            <a:off x="11480800" y="6477000"/>
            <a:ext cx="533400" cy="304800"/>
          </a:xfrm>
          <a:prstGeom prst="rect">
            <a:avLst/>
          </a:prstGeom>
          <a:noFill/>
        </p:spPr>
        <p:txBody>
          <a:bodyPr wrap="none" lIns="0" rIns="0" tIns="0" bIns="0">
            <a:spAutoFit/>
          </a:bodyPr>
          <a:lstStyle/>
          <a:p>
            <a:pPr>
              <a:lnSpc>
                <a:spcPts val="1750"/>
              </a:lnSpc>
              <a:spcBef>
                <a:spcPts val="0"/>
              </a:spcBef>
              <a:spcAft>
                <a:spcPts val="0"/>
              </a:spcAft>
              <a:defRPr sz="1400" b="1">
                <a:solidFill>
                  <a:srgbClr val="60DFBD"/>
                </a:solidFill>
                <a:latin typeface="Arial"/>
              </a:defRPr>
            </a:pPr>
            <a: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