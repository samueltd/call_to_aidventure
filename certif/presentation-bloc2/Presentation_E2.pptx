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Présenter votre identité, votre rôle exact et le commanditaire. E2 dure 15 minutes ; E3 suit pendant 20 minutes, puis le bloc prévoit 10 minutes de questions. Le rapport professionnel reste distinct de ce support. Le choix du service doit être défendu par des preuves, pas uniquement par son utilisation dans le code.</a:t>
            </a:r>
          </a:p>
          <a:p/>
          <a:p>
            <a:r>
              <a:t>Sources : Référentiel 2023, p. 6–9 ; règlement, p.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Illustrer avec une porte fermée : la narration décrit la situation, le modèle propose trois actions, puis le joueur en choisit une. Le modèle ne doit pas inventer directement les nouvelles statistiques. Les schémas imposent une forme, pas la pertinence narrative ou la langue : celles-ci nécessitent une évaluation distincte.</a:t>
            </a:r>
          </a:p>
          <a:p/>
          <a:p>
            <a:r>
              <a:t>Sources : docs/block2/ai-requirements-and-selection.md ; src/agents/schemas.py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Expliquer p95 : 95 % des observations sont sous cette durée sur une fenêtre définie. Ne pas confondre timeout d’un appel et durée totale d’un tour, qui peut contenir plusieurs appels et reprises. Budget, volume réel et arbitrage final ne sont pas fournis. Le taux de 90 % exige un corpus représentatif et une notation adaptée.</a:t>
            </a:r>
          </a:p>
          <a:p/>
          <a:p>
            <a:r>
              <a:t>Sources : docs/block2/ai-requirements-and-selection.md ; ai-test-strategy.md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référentiel demande au minimum une heure hebdomadaire. Le document de diagnostic renvoie C6 à un dossier séparé : son absence dans ce dépôt ne prouve pas que vous ne l’avez pas réalisé ailleurs. Insérer vos dates, outils, sources identifiées, synthèses et destinataires. Cette slide est une trame, pas une veille effectivement conduite ni un état de l’art actualisé.</a:t>
            </a:r>
          </a:p>
          <a:p/>
          <a:p>
            <a:r>
              <a:t>Sources : Référentiel, C6, p. 6–8 ; certif/block-2-technical-gap-analysis.md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Pour chaque candidat, relever version, date, validité, qualité FR/EN, p50/p95, tokens, coût estimé, région de traitement et rétention. Inclure les informations disponibles sur la démarche écoresponsable. Expliciter les services non étudiés et pourquoi. Ce support ne remplace pas le benchmark exigé par C7 ; aucune invocation payante n’a été réalisée.</a:t>
            </a:r>
          </a:p>
          <a:p/>
          <a:p>
            <a:r>
              <a:t>Sources : docs/block2/ai-requirements-and-selection.md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 justification actuelle vise la génération multilingue et structurée sans héberger un gros modèle, un petit corpus vectoriel local et des transitions explicites. Le lore retrouvé est injecté dans les prompts envoyés au service de génération : rendre ce flux clair. Ne pas présenter cette décision qualitative comme un benchmark déjà conclu.</a:t>
            </a:r>
          </a:p>
          <a:p/>
          <a:p>
            <a:r>
              <a:t>Sources : docs/block2/ai-requirements-and-selection.md ; docs/rag-system.md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Lire les valeurs réellement configurées avant démonstration. Le nom du modèle par défaut est une chaîne du dépôt, pas une vérification de disponibilité commerciale. La commande check_ai_services valide les paramètres ; son option --connect vérifie Ollama, pas une génération réelle du fournisseur. Ne jamais afficher le fichier .env.</a:t>
            </a:r>
          </a:p>
          <a:p/>
          <a:p>
            <a:r>
              <a:t>Sources : src/agents/runtime_config.py ; .env.example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Le dry-run exécuté prépare 36 fragments de personnages et 21 de lieux. La documentation ancienne annonce 39 : la mesure du code courant prime. Aucun serveur Ollama ni Chroma n’a été testé en ligne ici. L’objectif de rappel des sources doit être mesuré séparément ; le runner actuel ne le calcule pas.</a:t>
            </a:r>
          </a:p>
          <a:p/>
          <a:p>
            <a:r>
              <a:t>Sources : src/retrieval/ ; vérification du 14/09/2026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La formule complète utilise des tarifs par million de tokens : diviser la consommation par un million et distinguer entrée/sortie. Aucun tarif actuel n’est avancé. Les coûts estimés ne sont pas une facture. Éviter d’affirmer qu’un modèle local est automatiquement moins cher ou plus sobre ; cela dépend du matériel et des usages.</a:t>
            </a:r>
          </a:p>
          <a:p/>
          <a:p>
            <a:r>
              <a:t>Sources : docs/block2/ai-requirements-and-selection.md ; docs/rag-system.md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90 s.</a:t>
            </a:r>
          </a:p>
          <a:p/>
          <a:p>
            <a:r>
              <a:t>Rappeler ce qui fonctionne dans le code et ce qui reste à montrer en réel. Préparer une démonstration safe de configuration et une sortie structurée issue d’un vrai appel, en conservant modèle, date et contexte d’évaluation. Le bilan ne prétend pas valider toutes les compétences E2.</a:t>
            </a:r>
          </a:p>
          <a:p/>
          <a:p>
            <a:r>
              <a:t>Sources : docs/block2/evidence-checklist.md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C6 À C8</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Choisir et configurer le service d’IA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2 · E2 : 15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BESOIN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 maître du jeu narratif en</a:t>
            </a:r>
          </a:p>
          <a:p>
            <a:pPr>
              <a:lnSpc>
                <a:spcPts val="2000"/>
              </a:lnSpc>
              <a:spcBef>
                <a:spcPts val="0"/>
              </a:spcBef>
              <a:spcAft>
                <a:spcPts val="0"/>
              </a:spcAft>
              <a:defRPr sz="1600" b="0">
                <a:solidFill>
                  <a:srgbClr val="F4F6FA"/>
                </a:solidFill>
                <a:latin typeface="Arial"/>
              </a:defRPr>
            </a:pPr>
            <a:r>
              <a:t>français et en anglais, relié à un</a:t>
            </a:r>
          </a:p>
          <a:p>
            <a:pPr>
              <a:lnSpc>
                <a:spcPts val="2000"/>
              </a:lnSpc>
              <a:spcBef>
                <a:spcPts val="0"/>
              </a:spcBef>
              <a:spcAft>
                <a:spcPts val="0"/>
              </a:spcAft>
              <a:defRPr sz="1600" b="0">
                <a:solidFill>
                  <a:srgbClr val="F4F6FA"/>
                </a:solidFill>
                <a:latin typeface="Arial"/>
              </a:defRPr>
            </a:pPr>
            <a:r>
              <a:t>état de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DÉMARCHE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Veille, critères de sélection,</a:t>
            </a:r>
          </a:p>
          <a:p>
            <a:pPr>
              <a:lnSpc>
                <a:spcPts val="2000"/>
              </a:lnSpc>
              <a:spcBef>
                <a:spcPts val="0"/>
              </a:spcBef>
              <a:spcAft>
                <a:spcPts val="0"/>
              </a:spcAft>
              <a:defRPr sz="1600" b="0">
                <a:solidFill>
                  <a:srgbClr val="F4F6FA"/>
                </a:solidFill>
                <a:latin typeface="Arial"/>
              </a:defRPr>
            </a:pPr>
            <a:r>
              <a:t>architecture et configuration.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POSITIONNEMENT</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Intégration de services</a:t>
            </a:r>
          </a:p>
          <a:p>
            <a:pPr>
              <a:lnSpc>
                <a:spcPts val="2000"/>
              </a:lnSpc>
              <a:spcBef>
                <a:spcPts val="0"/>
              </a:spcBef>
              <a:spcAft>
                <a:spcPts val="0"/>
              </a:spcAft>
              <a:defRPr sz="1600" b="0">
                <a:solidFill>
                  <a:srgbClr val="F4F6FA"/>
                </a:solidFill>
                <a:latin typeface="Arial"/>
              </a:defRPr>
            </a:pPr>
            <a:r>
              <a:t>préexistants. Pas d’entraînement</a:t>
            </a:r>
          </a:p>
          <a:p>
            <a:pPr>
              <a:lnSpc>
                <a:spcPts val="2000"/>
              </a:lnSpc>
              <a:spcBef>
                <a:spcPts val="0"/>
              </a:spcBef>
              <a:spcAft>
                <a:spcPts val="0"/>
              </a:spcAft>
              <a:defRPr sz="1600" b="0">
                <a:solidFill>
                  <a:srgbClr val="F4F6FA"/>
                </a:solidFill>
                <a:latin typeface="Arial"/>
              </a:defRPr>
            </a:pPr>
            <a:r>
              <a:t>d’un modèle de génération dans ce</a:t>
            </a:r>
          </a:p>
          <a:p>
            <a:pPr>
              <a:lnSpc>
                <a:spcPts val="2000"/>
              </a:lnSpc>
              <a:spcBef>
                <a:spcPts val="0"/>
              </a:spcBef>
              <a:spcAft>
                <a:spcPts val="0"/>
              </a:spcAft>
              <a:defRPr sz="1600" b="0">
                <a:solidFill>
                  <a:srgbClr val="F4F6FA"/>
                </a:solidFill>
                <a:latin typeface="Arial"/>
              </a:defRPr>
            </a:pPr>
            <a:r>
              <a:t>projet.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De la demande fonctionnelle à une solution intégrable.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2023, p. 6–9 ; règlement, p. 12</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EXPRESSION DU BESOIN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Raconter, proposer, agir : trois contrats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L’IA intervient dans un moteur dont les règles restent côté serveur.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NARRATION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État + action + contexte</a:t>
            </a:r>
          </a:p>
          <a:p>
            <a:pPr>
              <a:lnSpc>
                <a:spcPts val="2000"/>
              </a:lnSpc>
              <a:spcBef>
                <a:spcPts val="0"/>
              </a:spcBef>
              <a:spcAft>
                <a:spcPts val="0"/>
              </a:spcAft>
              <a:defRPr sz="1600" b="0">
                <a:solidFill>
                  <a:srgbClr val="F4F6FA"/>
                </a:solidFill>
                <a:latin typeface="Arial"/>
              </a:defRPr>
            </a:pPr>
            <a:r>
              <a:t>documentaire → suite de</a:t>
            </a:r>
          </a:p>
          <a:p>
            <a:pPr>
              <a:lnSpc>
                <a:spcPts val="2000"/>
              </a:lnSpc>
              <a:spcBef>
                <a:spcPts val="0"/>
              </a:spcBef>
              <a:spcAft>
                <a:spcPts val="0"/>
              </a:spcAft>
              <a:defRPr sz="1600" b="0">
                <a:solidFill>
                  <a:srgbClr val="F4F6FA"/>
                </a:solidFill>
                <a:latin typeface="Arial"/>
              </a:defRPr>
            </a:pPr>
            <a:r>
              <a:t>l’aventure en FR ou EN.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CHOIX</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Exactement 3 actions distinctes.</a:t>
            </a:r>
          </a:p>
          <a:p>
            <a:pPr>
              <a:lnSpc>
                <a:spcPts val="2000"/>
              </a:lnSpc>
              <a:spcBef>
                <a:spcPts val="0"/>
              </a:spcBef>
              <a:spcAft>
                <a:spcPts val="0"/>
              </a:spcAft>
              <a:defRPr sz="1600" b="0">
                <a:solidFill>
                  <a:srgbClr val="F4F6FA"/>
                </a:solidFill>
                <a:latin typeface="Arial"/>
              </a:defRPr>
            </a:pPr>
            <a:r>
              <a:t>6 mots maximum par action.</a:t>
            </a:r>
          </a:p>
          <a:p>
            <a:pPr>
              <a:lnSpc>
                <a:spcPts val="2000"/>
              </a:lnSpc>
              <a:spcBef>
                <a:spcPts val="0"/>
              </a:spcBef>
              <a:spcAft>
                <a:spcPts val="0"/>
              </a:spcAft>
              <a:defRPr sz="1600" b="0">
                <a:solidFill>
                  <a:srgbClr val="F4F6FA"/>
                </a:solidFill>
                <a:latin typeface="Arial"/>
              </a:defRPr>
            </a:pPr>
            <a:r>
              <a:t>Structure validée par Pydantic.</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DÉCISIONS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Objectifs et salle : sorties typées.</a:t>
            </a:r>
          </a:p>
          <a:p>
            <a:pPr>
              <a:lnSpc>
                <a:spcPts val="2000"/>
              </a:lnSpc>
              <a:spcBef>
                <a:spcPts val="0"/>
              </a:spcBef>
              <a:spcAft>
                <a:spcPts val="0"/>
              </a:spcAft>
              <a:defRPr sz="1600" b="0">
                <a:solidFill>
                  <a:srgbClr val="F4F6FA"/>
                </a:solidFill>
                <a:latin typeface="Arial"/>
              </a:defRPr>
            </a:pPr>
            <a:r>
              <a:t>Combat, soin et dégâts : outils</a:t>
            </a:r>
          </a:p>
          <a:p>
            <a:pPr>
              <a:lnSpc>
                <a:spcPts val="2000"/>
              </a:lnSpc>
              <a:spcBef>
                <a:spcPts val="0"/>
              </a:spcBef>
              <a:spcAft>
                <a:spcPts val="0"/>
              </a:spcAft>
              <a:defRPr sz="1600" b="0">
                <a:solidFill>
                  <a:srgbClr val="F4F6FA"/>
                </a:solidFill>
                <a:latin typeface="Arial"/>
              </a:defRPr>
            </a:pPr>
            <a:r>
              <a:t>autorisés et règles déterministes.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sortie grammaticalement correcte peut rester incorrecte pour le jeu.</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src/agents/schemas.py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CRITÈRES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Définir la réussite avant de comparer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valeurs suivantes sont des objectifs documentés, pas des scores mesurés.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100 % de sorties structurées</a:t>
            </a:r>
          </a:p>
          <a:p>
            <a:pPr>
              <a:lnSpc>
                <a:spcPts val="2000"/>
              </a:lnSpc>
              <a:spcBef>
                <a:spcPts val="0"/>
              </a:spcBef>
              <a:spcAft>
                <a:spcPts val="0"/>
              </a:spcAft>
              <a:defRPr sz="1600" b="0">
                <a:solidFill>
                  <a:srgbClr val="F4F6FA"/>
                </a:solidFill>
                <a:latin typeface="Arial"/>
              </a:defRPr>
            </a:pPr>
            <a:r>
              <a:t>valides.</a:t>
            </a:r>
          </a:p>
          <a:p>
            <a:pPr>
              <a:lnSpc>
                <a:spcPts val="2000"/>
              </a:lnSpc>
              <a:spcBef>
                <a:spcPts val="0"/>
              </a:spcBef>
              <a:spcAft>
                <a:spcPts val="0"/>
              </a:spcAft>
              <a:defRPr sz="1600" b="0">
                <a:solidFill>
                  <a:srgbClr val="F4F6FA"/>
                </a:solidFill>
                <a:latin typeface="Arial"/>
              </a:defRPr>
            </a:pPr>
            <a:r>
              <a:t>Au moins 90 % de réussite sur le</a:t>
            </a:r>
          </a:p>
          <a:p>
            <a:pPr>
              <a:lnSpc>
                <a:spcPts val="2000"/>
              </a:lnSpc>
              <a:spcBef>
                <a:spcPts val="0"/>
              </a:spcBef>
              <a:spcAft>
                <a:spcPts val="0"/>
              </a:spcAft>
              <a:defRPr sz="1600" b="0">
                <a:solidFill>
                  <a:srgbClr val="F4F6FA"/>
                </a:solidFill>
                <a:latin typeface="Arial"/>
              </a:defRPr>
            </a:pPr>
            <a:r>
              <a:t>jeu de cas.</a:t>
            </a:r>
          </a:p>
          <a:p>
            <a:pPr>
              <a:lnSpc>
                <a:spcPts val="2000"/>
              </a:lnSpc>
              <a:spcBef>
                <a:spcPts val="0"/>
              </a:spcBef>
              <a:spcAft>
                <a:spcPts val="0"/>
              </a:spcAft>
              <a:defRPr sz="1600" b="0">
                <a:solidFill>
                  <a:srgbClr val="F4F6FA"/>
                </a:solidFill>
                <a:latin typeface="Arial"/>
              </a:defRPr>
            </a:pPr>
            <a:r>
              <a:t>Relecture humaine FR / EN.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Objectif p95 inférieur à 30 s.</a:t>
            </a:r>
          </a:p>
          <a:p>
            <a:pPr>
              <a:lnSpc>
                <a:spcPts val="2000"/>
              </a:lnSpc>
              <a:spcBef>
                <a:spcPts val="0"/>
              </a:spcBef>
              <a:spcAft>
                <a:spcPts val="0"/>
              </a:spcAft>
              <a:defRPr sz="1600" b="0">
                <a:solidFill>
                  <a:srgbClr val="F4F6FA"/>
                </a:solidFill>
                <a:latin typeface="Arial"/>
              </a:defRPr>
            </a:pPr>
            <a:r>
              <a:t>Disponibilité logique visée : 99 %.</a:t>
            </a:r>
          </a:p>
          <a:p>
            <a:pPr>
              <a:lnSpc>
                <a:spcPts val="2000"/>
              </a:lnSpc>
              <a:spcBef>
                <a:spcPts val="0"/>
              </a:spcBef>
              <a:spcAft>
                <a:spcPts val="0"/>
              </a:spcAft>
              <a:defRPr sz="1600" b="0">
                <a:solidFill>
                  <a:srgbClr val="F4F6FA"/>
                </a:solidFill>
                <a:latin typeface="Arial"/>
              </a:defRPr>
            </a:pPr>
            <a:r>
              <a:t>Échec contrôlé sans perte d’état.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CONTRAINTES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Budget mensuel à renseigner.</a:t>
            </a:r>
          </a:p>
          <a:p>
            <a:pPr>
              <a:lnSpc>
                <a:spcPts val="2000"/>
              </a:lnSpc>
              <a:spcBef>
                <a:spcPts val="0"/>
              </a:spcBef>
              <a:spcAft>
                <a:spcPts val="0"/>
              </a:spcAft>
              <a:defRPr sz="1600" b="0">
                <a:solidFill>
                  <a:srgbClr val="F4F6FA"/>
                </a:solidFill>
                <a:latin typeface="Arial"/>
              </a:defRPr>
            </a:pPr>
            <a:r>
              <a:t>Conditions de traitement à vérifier.</a:t>
            </a:r>
          </a:p>
          <a:p>
            <a:pPr>
              <a:lnSpc>
                <a:spcPts val="2000"/>
              </a:lnSpc>
              <a:spcBef>
                <a:spcPts val="0"/>
              </a:spcBef>
              <a:spcAft>
                <a:spcPts val="0"/>
              </a:spcAft>
              <a:defRPr sz="1600" b="0">
                <a:solidFill>
                  <a:srgbClr val="F4F6FA"/>
                </a:solidFill>
                <a:latin typeface="Arial"/>
              </a:defRPr>
            </a:pPr>
            <a:r>
              <a:t>Matériel local pour les</a:t>
            </a:r>
          </a:p>
          <a:p>
            <a:pPr>
              <a:lnSpc>
                <a:spcPts val="2000"/>
              </a:lnSpc>
              <a:spcBef>
                <a:spcPts val="0"/>
              </a:spcBef>
              <a:spcAft>
                <a:spcPts val="0"/>
              </a:spcAft>
              <a:defRPr sz="1600" b="0">
                <a:solidFill>
                  <a:srgbClr val="F4F6FA"/>
                </a:solidFill>
                <a:latin typeface="Arial"/>
              </a:defRPr>
            </a:pPr>
            <a:r>
              <a:t>embeddings.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Séparer validité du format, qualité de la réponse et disponibilité du service.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ai-test-strategy.md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C6 · VEILLE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veille à rattacher aux décisions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Trame proposée ; les preuves de veille ne figurent pas dans le dépôt consulté.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THÈMES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Sorties structurées et outils.</a:t>
            </a:r>
          </a:p>
          <a:p>
            <a:pPr>
              <a:lnSpc>
                <a:spcPts val="2000"/>
              </a:lnSpc>
              <a:spcBef>
                <a:spcPts val="0"/>
              </a:spcBef>
              <a:spcAft>
                <a:spcPts val="0"/>
              </a:spcAft>
              <a:defRPr sz="1600" b="0">
                <a:solidFill>
                  <a:srgbClr val="F4F6FA"/>
                </a:solidFill>
                <a:latin typeface="Arial"/>
              </a:defRPr>
            </a:pPr>
            <a:r>
              <a:t>RAG et évaluation.</a:t>
            </a:r>
          </a:p>
          <a:p>
            <a:pPr>
              <a:lnSpc>
                <a:spcPts val="2000"/>
              </a:lnSpc>
              <a:spcBef>
                <a:spcPts val="0"/>
              </a:spcBef>
              <a:spcAft>
                <a:spcPts val="0"/>
              </a:spcAft>
              <a:defRPr sz="1600" b="0">
                <a:solidFill>
                  <a:srgbClr val="F4F6FA"/>
                </a:solidFill>
                <a:latin typeface="Arial"/>
              </a:defRPr>
            </a:pPr>
            <a:r>
              <a:t>Sécurité, données personnelles,</a:t>
            </a:r>
          </a:p>
          <a:p>
            <a:pPr>
              <a:lnSpc>
                <a:spcPts val="2000"/>
              </a:lnSpc>
              <a:spcBef>
                <a:spcPts val="0"/>
              </a:spcBef>
              <a:spcAft>
                <a:spcPts val="0"/>
              </a:spcAft>
              <a:defRPr sz="1600" b="0">
                <a:solidFill>
                  <a:srgbClr val="F4F6FA"/>
                </a:solidFill>
                <a:latin typeface="Arial"/>
              </a:defRPr>
            </a:pPr>
            <a:r>
              <a:t>accessibilité et sobriété.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MÉTHODE PROPOSÉE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1 h hebdomadaire.</a:t>
            </a:r>
          </a:p>
          <a:p>
            <a:pPr>
              <a:lnSpc>
                <a:spcPts val="2000"/>
              </a:lnSpc>
              <a:spcBef>
                <a:spcPts val="0"/>
              </a:spcBef>
              <a:spcAft>
                <a:spcPts val="0"/>
              </a:spcAft>
              <a:defRPr sz="1600" b="0">
                <a:solidFill>
                  <a:srgbClr val="F4F6FA"/>
                </a:solidFill>
                <a:latin typeface="Arial"/>
              </a:defRPr>
            </a:pPr>
            <a:r>
              <a:t>Agrégateur RSS + journal daté.</a:t>
            </a:r>
          </a:p>
          <a:p>
            <a:pPr>
              <a:lnSpc>
                <a:spcPts val="2000"/>
              </a:lnSpc>
              <a:spcBef>
                <a:spcPts val="0"/>
              </a:spcBef>
              <a:spcAft>
                <a:spcPts val="0"/>
              </a:spcAft>
              <a:defRPr sz="1600" b="0">
                <a:solidFill>
                  <a:srgbClr val="F4F6FA"/>
                </a:solidFill>
                <a:latin typeface="Arial"/>
              </a:defRPr>
            </a:pPr>
            <a:r>
              <a:t>Auteur, date et fiabilité.</a:t>
            </a:r>
          </a:p>
          <a:p>
            <a:pPr>
              <a:lnSpc>
                <a:spcPts val="2000"/>
              </a:lnSpc>
              <a:spcBef>
                <a:spcPts val="0"/>
              </a:spcBef>
              <a:spcAft>
                <a:spcPts val="0"/>
              </a:spcAft>
              <a:defRPr sz="1600" b="0">
                <a:solidFill>
                  <a:srgbClr val="F4F6FA"/>
                </a:solidFill>
                <a:latin typeface="Arial"/>
              </a:defRPr>
            </a:pPr>
            <a:r>
              <a:t>Recoupement des informations.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PREUVE ATTENDUE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synthèse accessible.</a:t>
            </a:r>
          </a:p>
          <a:p>
            <a:pPr>
              <a:lnSpc>
                <a:spcPts val="2000"/>
              </a:lnSpc>
              <a:spcBef>
                <a:spcPts val="0"/>
              </a:spcBef>
              <a:spcAft>
                <a:spcPts val="0"/>
              </a:spcAft>
              <a:defRPr sz="1600" b="0">
                <a:solidFill>
                  <a:srgbClr val="F4F6FA"/>
                </a:solidFill>
                <a:latin typeface="Arial"/>
              </a:defRPr>
            </a:pPr>
            <a:r>
              <a:t>Une recommandation argumentée.</a:t>
            </a:r>
          </a:p>
          <a:p>
            <a:pPr>
              <a:lnSpc>
                <a:spcPts val="2000"/>
              </a:lnSpc>
              <a:spcBef>
                <a:spcPts val="0"/>
              </a:spcBef>
              <a:spcAft>
                <a:spcPts val="0"/>
              </a:spcAft>
              <a:defRPr sz="1600" b="0">
                <a:solidFill>
                  <a:srgbClr val="F4F6FA"/>
                </a:solidFill>
                <a:latin typeface="Arial"/>
              </a:defRPr>
            </a:pPr>
            <a:r>
              <a:t>Une décision liée au projet.</a:t>
            </a:r>
          </a:p>
          <a:p>
            <a:pPr>
              <a:lnSpc>
                <a:spcPts val="2000"/>
              </a:lnSpc>
              <a:spcBef>
                <a:spcPts val="0"/>
              </a:spcBef>
              <a:spcAft>
                <a:spcPts val="0"/>
              </a:spcAft>
              <a:defRPr sz="1600" b="0">
                <a:solidFill>
                  <a:srgbClr val="F4F6FA"/>
                </a:solidFill>
                <a:latin typeface="Arial"/>
              </a:defRPr>
            </a:pPr>
            <a:r>
              <a:t>Une trace de partage effective.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À compléter avec votre veille réelle ; aucune synthèse diffusée n’est inventée.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C6, p. 6–8 ; certif/block-2-technical-gap-analysis.md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COMPARAISON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Comparer sur un protocole identique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 benchmark réel de plusieurs modèles reste à réaliser.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MODÈLE HÉBERGÉ ACTUEL</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Intégré dans le code.</a:t>
            </a:r>
          </a:p>
          <a:p>
            <a:pPr>
              <a:lnSpc>
                <a:spcPts val="2000"/>
              </a:lnSpc>
              <a:spcBef>
                <a:spcPts val="0"/>
              </a:spcBef>
              <a:spcAft>
                <a:spcPts val="0"/>
              </a:spcAft>
              <a:defRPr sz="1600" b="0">
                <a:solidFill>
                  <a:srgbClr val="F4F6FA"/>
                </a:solidFill>
                <a:latin typeface="Arial"/>
              </a:defRPr>
            </a:pPr>
            <a:r>
              <a:t>Structure, langue, latence et coût à</a:t>
            </a:r>
          </a:p>
          <a:p>
            <a:pPr>
              <a:lnSpc>
                <a:spcPts val="2000"/>
              </a:lnSpc>
              <a:spcBef>
                <a:spcPts val="0"/>
              </a:spcBef>
              <a:spcAft>
                <a:spcPts val="0"/>
              </a:spcAft>
              <a:defRPr sz="1600" b="0">
                <a:solidFill>
                  <a:srgbClr val="F4F6FA"/>
                </a:solidFill>
                <a:latin typeface="Arial"/>
              </a:defRPr>
            </a:pPr>
            <a:r>
              <a:t>mesurer.</a:t>
            </a:r>
          </a:p>
          <a:p>
            <a:pPr>
              <a:lnSpc>
                <a:spcPts val="2000"/>
              </a:lnSpc>
              <a:spcBef>
                <a:spcPts val="0"/>
              </a:spcBef>
              <a:spcAft>
                <a:spcPts val="0"/>
              </a:spcAft>
              <a:defRPr sz="1600" b="0">
                <a:solidFill>
                  <a:srgbClr val="F4F6FA"/>
                </a:solidFill>
                <a:latin typeface="Arial"/>
              </a:defRPr>
            </a:pPr>
            <a:r>
              <a:t>Choix encore provisoire.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SECOND SERVICE</a:t>
            </a:r>
          </a:p>
          <a:p>
            <a:pPr>
              <a:lnSpc>
                <a:spcPts val="2250"/>
              </a:lnSpc>
              <a:spcBef>
                <a:spcPts val="0"/>
              </a:spcBef>
              <a:spcAft>
                <a:spcPts val="0"/>
              </a:spcAft>
              <a:defRPr sz="1800" b="1">
                <a:solidFill>
                  <a:srgbClr val="60DFBD"/>
                </a:solidFill>
                <a:latin typeface="Arial"/>
              </a:defRPr>
            </a:pPr>
            <a:r>
              <a:t>HÉBERGÉ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Candidat exact à nommer.</a:t>
            </a:r>
          </a:p>
          <a:p>
            <a:pPr>
              <a:lnSpc>
                <a:spcPts val="2000"/>
              </a:lnSpc>
              <a:spcBef>
                <a:spcPts val="0"/>
              </a:spcBef>
              <a:spcAft>
                <a:spcPts val="0"/>
              </a:spcAft>
              <a:defRPr sz="1600" b="0">
                <a:solidFill>
                  <a:srgbClr val="F4F6FA"/>
                </a:solidFill>
                <a:latin typeface="Arial"/>
              </a:defRPr>
            </a:pPr>
            <a:r>
              <a:t>Même dataset et même révision.</a:t>
            </a:r>
          </a:p>
          <a:p>
            <a:pPr>
              <a:lnSpc>
                <a:spcPts val="2000"/>
              </a:lnSpc>
              <a:spcBef>
                <a:spcPts val="0"/>
              </a:spcBef>
              <a:spcAft>
                <a:spcPts val="0"/>
              </a:spcAft>
              <a:defRPr sz="1600" b="0">
                <a:solidFill>
                  <a:srgbClr val="F4F6FA"/>
                </a:solidFill>
                <a:latin typeface="Arial"/>
              </a:defRPr>
            </a:pPr>
            <a:r>
              <a:t>Comparer les capacités requises et</a:t>
            </a:r>
          </a:p>
          <a:p>
            <a:pPr>
              <a:lnSpc>
                <a:spcPts val="2000"/>
              </a:lnSpc>
              <a:spcBef>
                <a:spcPts val="0"/>
              </a:spcBef>
              <a:spcAft>
                <a:spcPts val="0"/>
              </a:spcAft>
              <a:defRPr sz="1600" b="0">
                <a:solidFill>
                  <a:srgbClr val="F4F6FA"/>
                </a:solidFill>
                <a:latin typeface="Arial"/>
              </a:defRPr>
            </a:pPr>
            <a:r>
              <a:t>les conditions de traitement.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GÉNÉRATION LOCALE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Option à étudier.</a:t>
            </a:r>
          </a:p>
          <a:p>
            <a:pPr>
              <a:lnSpc>
                <a:spcPts val="2000"/>
              </a:lnSpc>
              <a:spcBef>
                <a:spcPts val="0"/>
              </a:spcBef>
              <a:spcAft>
                <a:spcPts val="0"/>
              </a:spcAft>
              <a:defRPr sz="1600" b="0">
                <a:solidFill>
                  <a:srgbClr val="F4F6FA"/>
                </a:solidFill>
                <a:latin typeface="Arial"/>
              </a:defRPr>
            </a:pPr>
            <a:r>
              <a:t>Matériel et latence à mesurer.</a:t>
            </a:r>
          </a:p>
          <a:p>
            <a:pPr>
              <a:lnSpc>
                <a:spcPts val="2000"/>
              </a:lnSpc>
              <a:spcBef>
                <a:spcPts val="0"/>
              </a:spcBef>
              <a:spcAft>
                <a:spcPts val="0"/>
              </a:spcAft>
              <a:defRPr sz="1600" b="0">
                <a:solidFill>
                  <a:srgbClr val="F4F6FA"/>
                </a:solidFill>
                <a:latin typeface="Arial"/>
              </a:defRPr>
            </a:pPr>
            <a:r>
              <a:t>Données locales ; exploitation à</a:t>
            </a:r>
          </a:p>
          <a:p>
            <a:pPr>
              <a:lnSpc>
                <a:spcPts val="2000"/>
              </a:lnSpc>
              <a:spcBef>
                <a:spcPts val="0"/>
              </a:spcBef>
              <a:spcAft>
                <a:spcPts val="0"/>
              </a:spcAft>
              <a:defRPr sz="1600" b="0">
                <a:solidFill>
                  <a:srgbClr val="F4F6FA"/>
                </a:solidFill>
                <a:latin typeface="Arial"/>
              </a:defRPr>
            </a:pPr>
            <a:r>
              <a:t>assurer.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Aucun service n’est déclaré meilleur sans résultats comparables.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ARCHITECTURE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génération hébergée, un RAG local</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Décision d’architecture déjà documentée dans le projet.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Service OpenAI-compatible</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Narration, choix et décisions</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Modèle piloté par configuration.</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RETROUVER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JSON de lore → fragments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Embeddings Ollama → Chroma</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Contexte filtré par aventure.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ORCHESTRER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LangGraph</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Transitions explicites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Outils et moteur de jeu.</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Localiser les embeddings ne signifie pas que le contexte reste entièrement local.</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docs/rag-system.md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PARAMÉTRAGE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Rendre la configuration explicite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Valeurs par défaut du code ; l’environnement peut les remplacer.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GÉNÉRATION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Modèle : OPENAI_MODEL.</a:t>
            </a:r>
          </a:p>
          <a:p>
            <a:pPr>
              <a:lnSpc>
                <a:spcPts val="2000"/>
              </a:lnSpc>
              <a:spcBef>
                <a:spcPts val="0"/>
              </a:spcBef>
              <a:spcAft>
                <a:spcPts val="0"/>
              </a:spcAft>
              <a:defRPr sz="1600" b="0">
                <a:solidFill>
                  <a:srgbClr val="F4F6FA"/>
                </a:solidFill>
                <a:latin typeface="Arial"/>
              </a:defRPr>
            </a:pPr>
            <a:r>
              <a:t>Clé dans l’environnement.</a:t>
            </a:r>
          </a:p>
          <a:p>
            <a:pPr>
              <a:lnSpc>
                <a:spcPts val="2000"/>
              </a:lnSpc>
              <a:spcBef>
                <a:spcPts val="0"/>
              </a:spcBef>
              <a:spcAft>
                <a:spcPts val="0"/>
              </a:spcAft>
              <a:defRPr sz="1600" b="0">
                <a:solidFill>
                  <a:srgbClr val="F4F6FA"/>
                </a:solidFill>
                <a:latin typeface="Arial"/>
              </a:defRPr>
            </a:pPr>
            <a:r>
              <a:t>Timeout d’appel : 30 s.</a:t>
            </a:r>
          </a:p>
          <a:p>
            <a:pPr>
              <a:lnSpc>
                <a:spcPts val="2000"/>
              </a:lnSpc>
              <a:spcBef>
                <a:spcPts val="0"/>
              </a:spcBef>
              <a:spcAft>
                <a:spcPts val="0"/>
              </a:spcAft>
              <a:defRPr sz="1600" b="0">
                <a:solidFill>
                  <a:srgbClr val="F4F6FA"/>
                </a:solidFill>
                <a:latin typeface="Arial"/>
              </a:defRPr>
            </a:pPr>
            <a:r>
              <a:t>Métadonnées sans clé secrète.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RETRIEVAL</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RAG_ENABLED configurable.</a:t>
            </a:r>
          </a:p>
          <a:p>
            <a:pPr>
              <a:lnSpc>
                <a:spcPts val="2000"/>
              </a:lnSpc>
              <a:spcBef>
                <a:spcPts val="0"/>
              </a:spcBef>
              <a:spcAft>
                <a:spcPts val="0"/>
              </a:spcAft>
              <a:defRPr sz="1600" b="0">
                <a:solidFill>
                  <a:srgbClr val="F4F6FA"/>
                </a:solidFill>
                <a:latin typeface="Arial"/>
              </a:defRPr>
            </a:pPr>
            <a:r>
              <a:t>Ollama : hôte local par défaut.</a:t>
            </a:r>
          </a:p>
          <a:p>
            <a:pPr>
              <a:lnSpc>
                <a:spcPts val="2000"/>
              </a:lnSpc>
              <a:spcBef>
                <a:spcPts val="0"/>
              </a:spcBef>
              <a:spcAft>
                <a:spcPts val="0"/>
              </a:spcAft>
              <a:defRPr sz="1600" b="0">
                <a:solidFill>
                  <a:srgbClr val="F4F6FA"/>
                </a:solidFill>
                <a:latin typeface="Arial"/>
              </a:defRPr>
            </a:pPr>
            <a:r>
              <a:t>Embeddings : mxbai-embed-large.</a:t>
            </a:r>
          </a:p>
          <a:p>
            <a:pPr>
              <a:lnSpc>
                <a:spcPts val="2000"/>
              </a:lnSpc>
              <a:spcBef>
                <a:spcPts val="0"/>
              </a:spcBef>
              <a:spcAft>
                <a:spcPts val="0"/>
              </a:spcAft>
              <a:defRPr sz="1600" b="0">
                <a:solidFill>
                  <a:srgbClr val="F4F6FA"/>
                </a:solidFill>
                <a:latin typeface="Arial"/>
              </a:defRPr>
            </a:pPr>
            <a:r>
              <a:t>Timeout : 10 s ; 3 tentatives.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FRONTIÈRE API</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Choix : 1 000 caractères max.</a:t>
            </a:r>
          </a:p>
          <a:p>
            <a:pPr>
              <a:lnSpc>
                <a:spcPts val="2000"/>
              </a:lnSpc>
              <a:spcBef>
                <a:spcPts val="0"/>
              </a:spcBef>
              <a:spcAft>
                <a:spcPts val="0"/>
              </a:spcAft>
              <a:defRPr sz="1600" b="0">
                <a:solidFill>
                  <a:srgbClr val="F4F6FA"/>
                </a:solidFill>
                <a:latin typeface="Arial"/>
              </a:defRPr>
            </a:pPr>
            <a:r>
              <a:t>Quota par défaut : 20 tours par</a:t>
            </a:r>
          </a:p>
          <a:p>
            <a:pPr>
              <a:lnSpc>
                <a:spcPts val="2000"/>
              </a:lnSpc>
              <a:spcBef>
                <a:spcPts val="0"/>
              </a:spcBef>
              <a:spcAft>
                <a:spcPts val="0"/>
              </a:spcAft>
              <a:defRPr sz="1600" b="0">
                <a:solidFill>
                  <a:srgbClr val="F4F6FA"/>
                </a:solidFill>
                <a:latin typeface="Arial"/>
              </a:defRPr>
            </a:pPr>
            <a:r>
              <a:t>utilisateur et par heure.</a:t>
            </a:r>
          </a:p>
          <a:p>
            <a:pPr>
              <a:lnSpc>
                <a:spcPts val="2000"/>
              </a:lnSpc>
              <a:spcBef>
                <a:spcPts val="0"/>
              </a:spcBef>
              <a:spcAft>
                <a:spcPts val="0"/>
              </a:spcAft>
              <a:defRPr sz="1600" b="0">
                <a:solidFill>
                  <a:srgbClr val="F4F6FA"/>
                </a:solidFill>
                <a:latin typeface="Arial"/>
              </a:defRPr>
            </a:pPr>
            <a:r>
              <a:t>Validation de configuration.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paramètres décrivent le déploiement ; les secrets restent hors des supports.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src/agents/runtime_config.py ; .env.example</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C8 · RAG</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Préparer le contexte avant la génération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 locale du corpus : 57 fragments préparés.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CORPUS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6 fichiers de personnages.</a:t>
            </a:r>
          </a:p>
          <a:p>
            <a:pPr>
              <a:lnSpc>
                <a:spcPts val="2000"/>
              </a:lnSpc>
              <a:spcBef>
                <a:spcPts val="0"/>
              </a:spcBef>
              <a:spcAft>
                <a:spcPts val="0"/>
              </a:spcAft>
              <a:defRPr sz="1600" b="0">
                <a:solidFill>
                  <a:srgbClr val="F4F6FA"/>
                </a:solidFill>
                <a:latin typeface="Arial"/>
              </a:defRPr>
            </a:pPr>
            <a:r>
              <a:t>3 fichiers de lieux.</a:t>
            </a:r>
          </a:p>
          <a:p>
            <a:pPr>
              <a:lnSpc>
                <a:spcPts val="2000"/>
              </a:lnSpc>
              <a:spcBef>
                <a:spcPts val="0"/>
              </a:spcBef>
              <a:spcAft>
                <a:spcPts val="0"/>
              </a:spcAft>
              <a:defRPr sz="1600" b="0">
                <a:solidFill>
                  <a:srgbClr val="F4F6FA"/>
                </a:solidFill>
                <a:latin typeface="Arial"/>
              </a:defRPr>
            </a:pPr>
            <a:r>
              <a:t>57 fragments au dry-run.</a:t>
            </a:r>
          </a:p>
          <a:p>
            <a:pPr>
              <a:lnSpc>
                <a:spcPts val="2000"/>
              </a:lnSpc>
              <a:spcBef>
                <a:spcPts val="0"/>
              </a:spcBef>
              <a:spcAft>
                <a:spcPts val="0"/>
              </a:spcAft>
              <a:defRPr sz="1600" b="0">
                <a:solidFill>
                  <a:srgbClr val="F4F6FA"/>
                </a:solidFill>
                <a:latin typeface="Arial"/>
              </a:defRPr>
            </a:pPr>
            <a:r>
              <a:t>Métadonnées de source.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À L’EXÉCUTION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Requête contextualisée.</a:t>
            </a:r>
          </a:p>
          <a:p>
            <a:pPr>
              <a:lnSpc>
                <a:spcPts val="2000"/>
              </a:lnSpc>
              <a:spcBef>
                <a:spcPts val="0"/>
              </a:spcBef>
              <a:spcAft>
                <a:spcPts val="0"/>
              </a:spcAft>
              <a:defRPr sz="1600" b="0">
                <a:solidFill>
                  <a:srgbClr val="F4F6FA"/>
                </a:solidFill>
                <a:latin typeface="Arial"/>
              </a:defRPr>
            </a:pPr>
            <a:r>
              <a:t>Recherche filtrée par aventure.</a:t>
            </a:r>
          </a:p>
          <a:p>
            <a:pPr>
              <a:lnSpc>
                <a:spcPts val="2000"/>
              </a:lnSpc>
              <a:spcBef>
                <a:spcPts val="0"/>
              </a:spcBef>
              <a:spcAft>
                <a:spcPts val="0"/>
              </a:spcAft>
              <a:defRPr sz="1600" b="0">
                <a:solidFill>
                  <a:srgbClr val="F4F6FA"/>
                </a:solidFill>
                <a:latin typeface="Arial"/>
              </a:defRPr>
            </a:pPr>
            <a:r>
              <a:t>Passages injectés au prompt.</a:t>
            </a:r>
          </a:p>
          <a:p>
            <a:pPr>
              <a:lnSpc>
                <a:spcPts val="2000"/>
              </a:lnSpc>
              <a:spcBef>
                <a:spcPts val="0"/>
              </a:spcBef>
              <a:spcAft>
                <a:spcPts val="0"/>
              </a:spcAft>
              <a:defRPr sz="1600" b="0">
                <a:solidFill>
                  <a:srgbClr val="F4F6FA"/>
                </a:solidFill>
                <a:latin typeface="Arial"/>
              </a:defRPr>
            </a:pPr>
            <a:r>
              <a:t>Cache selon le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 CAS D’ÉCHEC</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Contexte vide et poursuite du jeu.</a:t>
            </a:r>
          </a:p>
          <a:p>
            <a:pPr>
              <a:lnSpc>
                <a:spcPts val="2000"/>
              </a:lnSpc>
              <a:spcBef>
                <a:spcPts val="0"/>
              </a:spcBef>
              <a:spcAft>
                <a:spcPts val="0"/>
              </a:spcAft>
              <a:defRPr sz="1600" b="0">
                <a:solidFill>
                  <a:srgbClr val="F4F6FA"/>
                </a:solidFill>
                <a:latin typeface="Arial"/>
              </a:defRPr>
            </a:pPr>
            <a:r>
              <a:t>Échec visible dans les métriques.</a:t>
            </a:r>
          </a:p>
          <a:p>
            <a:pPr>
              <a:lnSpc>
                <a:spcPts val="2000"/>
              </a:lnSpc>
              <a:spcBef>
                <a:spcPts val="0"/>
              </a:spcBef>
              <a:spcAft>
                <a:spcPts val="0"/>
              </a:spcAft>
              <a:defRPr sz="1600" b="0">
                <a:solidFill>
                  <a:srgbClr val="F4F6FA"/>
                </a:solidFill>
                <a:latin typeface="Arial"/>
              </a:defRPr>
            </a:pPr>
            <a:r>
              <a:t>Qualité narrative à surveiller.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dry-run vérifie la préparation ; il ne mesure ni les embeddings ni le rappel du RAG.</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src/retrieval/ ; vérification du 14/09/2026</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C7 / C8 · ARBITRAGES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Maîtriser coûts, données et dépendances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Des arbitrages à chiffrer avant une sélection définitive.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COÛT</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Tours × appels par tour × tokens</a:t>
            </a:r>
          </a:p>
          <a:p>
            <a:pPr>
              <a:lnSpc>
                <a:spcPts val="2000"/>
              </a:lnSpc>
              <a:spcBef>
                <a:spcPts val="0"/>
              </a:spcBef>
              <a:spcAft>
                <a:spcPts val="0"/>
              </a:spcAft>
              <a:defRPr sz="1600" b="0">
                <a:solidFill>
                  <a:srgbClr val="F4F6FA"/>
                </a:solidFill>
                <a:latin typeface="Arial"/>
              </a:defRPr>
            </a:pPr>
            <a:r>
              <a:t>moyens × tarifs.</a:t>
            </a:r>
          </a:p>
          <a:p>
            <a:pPr>
              <a:lnSpc>
                <a:spcPts val="2000"/>
              </a:lnSpc>
              <a:spcBef>
                <a:spcPts val="0"/>
              </a:spcBef>
              <a:spcAft>
                <a:spcPts val="0"/>
              </a:spcAft>
              <a:defRPr sz="1600" b="0">
                <a:solidFill>
                  <a:srgbClr val="F4F6FA"/>
                </a:solidFill>
                <a:latin typeface="Arial"/>
              </a:defRPr>
            </a:pPr>
            <a:r>
              <a:t>Ajouter hébergement, stockage et</a:t>
            </a:r>
          </a:p>
          <a:p>
            <a:pPr>
              <a:lnSpc>
                <a:spcPts val="2000"/>
              </a:lnSpc>
              <a:spcBef>
                <a:spcPts val="0"/>
              </a:spcBef>
              <a:spcAft>
                <a:spcPts val="0"/>
              </a:spcAft>
              <a:defRPr sz="1600" b="0">
                <a:solidFill>
                  <a:srgbClr val="F4F6FA"/>
                </a:solidFill>
                <a:latin typeface="Arial"/>
              </a:defRPr>
            </a:pPr>
            <a:r>
              <a:t>calcul local.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DONNÉES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Décrire ce qui entre dans les</a:t>
            </a:r>
          </a:p>
          <a:p>
            <a:pPr>
              <a:lnSpc>
                <a:spcPts val="2000"/>
              </a:lnSpc>
              <a:spcBef>
                <a:spcPts val="0"/>
              </a:spcBef>
              <a:spcAft>
                <a:spcPts val="0"/>
              </a:spcAft>
              <a:defRPr sz="1600" b="0">
                <a:solidFill>
                  <a:srgbClr val="F4F6FA"/>
                </a:solidFill>
                <a:latin typeface="Arial"/>
              </a:defRPr>
            </a:pPr>
            <a:r>
              <a:t>prompts. Vérifier les conditions du</a:t>
            </a:r>
          </a:p>
          <a:p>
            <a:pPr>
              <a:lnSpc>
                <a:spcPts val="2000"/>
              </a:lnSpc>
              <a:spcBef>
                <a:spcPts val="0"/>
              </a:spcBef>
              <a:spcAft>
                <a:spcPts val="0"/>
              </a:spcAft>
              <a:defRPr sz="1600" b="0">
                <a:solidFill>
                  <a:srgbClr val="F4F6FA"/>
                </a:solidFill>
                <a:latin typeface="Arial"/>
              </a:defRPr>
            </a:pPr>
            <a:r>
              <a:t>fournisseur et les règles de</a:t>
            </a:r>
          </a:p>
          <a:p>
            <a:pPr>
              <a:lnSpc>
                <a:spcPts val="2000"/>
              </a:lnSpc>
              <a:spcBef>
                <a:spcPts val="0"/>
              </a:spcBef>
              <a:spcAft>
                <a:spcPts val="0"/>
              </a:spcAft>
              <a:defRPr sz="1600" b="0">
                <a:solidFill>
                  <a:srgbClr val="F4F6FA"/>
                </a:solidFill>
                <a:latin typeface="Arial"/>
              </a:defRPr>
            </a:pPr>
            <a:r>
              <a:t>conservation.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SOBRIÉTÉ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Limiter le contexte utile.</a:t>
            </a:r>
          </a:p>
          <a:p>
            <a:pPr>
              <a:lnSpc>
                <a:spcPts val="2000"/>
              </a:lnSpc>
              <a:spcBef>
                <a:spcPts val="0"/>
              </a:spcBef>
              <a:spcAft>
                <a:spcPts val="0"/>
              </a:spcAft>
              <a:defRPr sz="1600" b="0">
                <a:solidFill>
                  <a:srgbClr val="F4F6FA"/>
                </a:solidFill>
                <a:latin typeface="Arial"/>
              </a:defRPr>
            </a:pPr>
            <a:r>
              <a:t>Réutiliser les embeddings.</a:t>
            </a:r>
          </a:p>
          <a:p>
            <a:pPr>
              <a:lnSpc>
                <a:spcPts val="2000"/>
              </a:lnSpc>
              <a:spcBef>
                <a:spcPts val="0"/>
              </a:spcBef>
              <a:spcAft>
                <a:spcPts val="0"/>
              </a:spcAft>
              <a:defRPr sz="1600" b="0">
                <a:solidFill>
                  <a:srgbClr val="F4F6FA"/>
                </a:solidFill>
                <a:latin typeface="Arial"/>
              </a:defRPr>
            </a:pPr>
            <a:r>
              <a:t>Comparer qualité et ressources.</a:t>
            </a:r>
          </a:p>
          <a:p>
            <a:pPr>
              <a:lnSpc>
                <a:spcPts val="2000"/>
              </a:lnSpc>
              <a:spcBef>
                <a:spcPts val="0"/>
              </a:spcBef>
              <a:spcAft>
                <a:spcPts val="0"/>
              </a:spcAft>
              <a:defRPr sz="1600" b="0">
                <a:solidFill>
                  <a:srgbClr val="F4F6FA"/>
                </a:solidFill>
                <a:latin typeface="Arial"/>
              </a:defRPr>
            </a:pPr>
            <a:r>
              <a:t>Bilan environnemental non</a:t>
            </a:r>
          </a:p>
          <a:p>
            <a:pPr>
              <a:lnSpc>
                <a:spcPts val="2000"/>
              </a:lnSpc>
              <a:spcBef>
                <a:spcPts val="0"/>
              </a:spcBef>
              <a:spcAft>
                <a:spcPts val="0"/>
              </a:spcAft>
              <a:defRPr sz="1600" b="0">
                <a:solidFill>
                  <a:srgbClr val="F4F6FA"/>
                </a:solidFill>
                <a:latin typeface="Arial"/>
              </a:defRPr>
            </a:pPr>
            <a:r>
              <a:t>mesuré.</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registre des coûts et l’analyse fournisseur restent à compléter avec des données datées.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docs/block2/ai-requirements-and-selection.md ; docs/rag-system.md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E2 ·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Une solution configurée, une sélection à étayer</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Passer de l’architecture à la preuve de pertinence.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C6</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Relier le dossier de veille.</a:t>
            </a:r>
          </a:p>
          <a:p>
            <a:pPr>
              <a:lnSpc>
                <a:spcPts val="2000"/>
              </a:lnSpc>
              <a:spcBef>
                <a:spcPts val="0"/>
              </a:spcBef>
              <a:spcAft>
                <a:spcPts val="0"/>
              </a:spcAft>
              <a:defRPr sz="1600" b="0">
                <a:solidFill>
                  <a:srgbClr val="F4F6FA"/>
                </a:solidFill>
                <a:latin typeface="Arial"/>
              </a:defRPr>
            </a:pPr>
            <a:r>
              <a:t>Ajouter synthèses datées et</a:t>
            </a:r>
          </a:p>
          <a:p>
            <a:pPr>
              <a:lnSpc>
                <a:spcPts val="2000"/>
              </a:lnSpc>
              <a:spcBef>
                <a:spcPts val="0"/>
              </a:spcBef>
              <a:spcAft>
                <a:spcPts val="0"/>
              </a:spcAft>
              <a:defRPr sz="1600" b="0">
                <a:solidFill>
                  <a:srgbClr val="F4F6FA"/>
                </a:solidFill>
                <a:latin typeface="Arial"/>
              </a:defRPr>
            </a:pPr>
            <a:r>
              <a:t>décisions réellement prises.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C7</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Besoins et protocole présents.</a:t>
            </a:r>
          </a:p>
          <a:p>
            <a:pPr>
              <a:lnSpc>
                <a:spcPts val="2000"/>
              </a:lnSpc>
              <a:spcBef>
                <a:spcPts val="0"/>
              </a:spcBef>
              <a:spcAft>
                <a:spcPts val="0"/>
              </a:spcAft>
              <a:defRPr sz="1600" b="0">
                <a:solidFill>
                  <a:srgbClr val="F4F6FA"/>
                </a:solidFill>
                <a:latin typeface="Arial"/>
              </a:defRPr>
            </a:pPr>
            <a:r>
              <a:t>Comparer au moins deux</a:t>
            </a:r>
          </a:p>
          <a:p>
            <a:pPr>
              <a:lnSpc>
                <a:spcPts val="2000"/>
              </a:lnSpc>
              <a:spcBef>
                <a:spcPts val="0"/>
              </a:spcBef>
              <a:spcAft>
                <a:spcPts val="0"/>
              </a:spcAft>
              <a:defRPr sz="1600" b="0">
                <a:solidFill>
                  <a:srgbClr val="F4F6FA"/>
                </a:solidFill>
                <a:latin typeface="Arial"/>
              </a:defRPr>
            </a:pPr>
            <a:r>
              <a:t>candidats.</a:t>
            </a:r>
          </a:p>
          <a:p>
            <a:pPr>
              <a:lnSpc>
                <a:spcPts val="2000"/>
              </a:lnSpc>
              <a:spcBef>
                <a:spcPts val="0"/>
              </a:spcBef>
              <a:spcAft>
                <a:spcPts val="0"/>
              </a:spcAft>
              <a:defRPr sz="1600" b="0">
                <a:solidFill>
                  <a:srgbClr val="F4F6FA"/>
                </a:solidFill>
                <a:latin typeface="Arial"/>
              </a:defRPr>
            </a:pPr>
            <a:r>
              <a:t>Compléter budget, données et</a:t>
            </a:r>
          </a:p>
          <a:p>
            <a:pPr>
              <a:lnSpc>
                <a:spcPts val="2000"/>
              </a:lnSpc>
              <a:spcBef>
                <a:spcPts val="0"/>
              </a:spcBef>
              <a:spcAft>
                <a:spcPts val="0"/>
              </a:spcAft>
              <a:defRPr sz="1600" b="0">
                <a:solidFill>
                  <a:srgbClr val="F4F6FA"/>
                </a:solidFill>
                <a:latin typeface="Arial"/>
              </a:defRPr>
            </a:pPr>
            <a:r>
              <a:t>critères environnementaux.</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C8</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Configuration et RAG préparés.</a:t>
            </a:r>
          </a:p>
          <a:p>
            <a:pPr>
              <a:lnSpc>
                <a:spcPts val="2000"/>
              </a:lnSpc>
              <a:spcBef>
                <a:spcPts val="0"/>
              </a:spcBef>
              <a:spcAft>
                <a:spcPts val="0"/>
              </a:spcAft>
              <a:defRPr sz="1600" b="0">
                <a:solidFill>
                  <a:srgbClr val="F4F6FA"/>
                </a:solidFill>
                <a:latin typeface="Arial"/>
              </a:defRPr>
            </a:pPr>
            <a:r>
              <a:t>Prouver la connectivité réelle et la</a:t>
            </a:r>
          </a:p>
          <a:p>
            <a:pPr>
              <a:lnSpc>
                <a:spcPts val="2000"/>
              </a:lnSpc>
              <a:spcBef>
                <a:spcPts val="0"/>
              </a:spcBef>
              <a:spcAft>
                <a:spcPts val="0"/>
              </a:spcAft>
              <a:defRPr sz="1600" b="0">
                <a:solidFill>
                  <a:srgbClr val="F4F6FA"/>
                </a:solidFill>
                <a:latin typeface="Arial"/>
              </a:defRPr>
            </a:pPr>
            <a:r>
              <a:t>génération dans un environnement</a:t>
            </a:r>
          </a:p>
          <a:p>
            <a:pPr>
              <a:lnSpc>
                <a:spcPts val="2000"/>
              </a:lnSpc>
              <a:spcBef>
                <a:spcPts val="0"/>
              </a:spcBef>
              <a:spcAft>
                <a:spcPts val="0"/>
              </a:spcAft>
              <a:defRPr sz="1600" b="0">
                <a:solidFill>
                  <a:srgbClr val="F4F6FA"/>
                </a:solidFill>
                <a:latin typeface="Arial"/>
              </a:defRPr>
            </a:pPr>
            <a:r>
              <a:t>de démonstration.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Transition E3 : exposer, intégrer, tester et surveiller le composant.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docs/block2/evidence-checklist.md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