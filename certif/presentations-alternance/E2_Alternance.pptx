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Travaux rapportés par le candidat ; les noms des benchmarks et modèles, résultats et versions restent à joindre. Les composants configurés du jeu restent un complément C8 clairement séparé. Les scores cyber ne sont pas utilisés pour justifier le modèle narratif du jeu.</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Le candidat confirme que l’application exécute les benchmarks et obtient des scores. Aucun modèle nommé, classement, seuil ni recommandation finale n’est encore fourni. La performance mesurée doit préciser le périmètre : requête complète, premier token, décodage ou autre métrique réellement implémentée.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L’absence de LLM/humain comme juge est un critère rapporté de sélection. Elle ne démontre pas automatiquement une évaluation objective ou exhaustive. Expliquer la règle effective : assertion, sortie attendue, exécution, tests ou autre mécanisme, sans en inventer un. Open source et gratuit ne sont pas synonymes. Cette slide décrit l’étude passée, pas un avis juridique sur les licences actuelles.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Ne plus qualifier la veille comme absente : le candidat l’a réalisée. Distinguer contenu de recherche confirmé et modalités non décrites. Le référentiel demande une veille organisée et partagée ; joindre les dates, outils et restitutions effectivement utilisés. N’inventer ni suivi hebdomadaire ni présentation d’équipe.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Le candidat mentionne « Qwen3.8-27B » de mémoire et doit vérifier la référence. Le support évite de figer cet identifiant. Un seul modèle réellement exécuté : ne pas annoncer benchmark multi-modèles ni sélection du meilleur modèle. C7 peut être complétée par une analyse de services candidats et des exclusions documentées, mais la contrainte du modèle disponible ne remplace pas cette analyse.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La justification actuelle vise la génération multilingue et structurée sans héberger un gros modèle, un petit corpus vectoriel local et des transitions explicites. Le lore retrouvé est injecté dans les prompts envoyés au service de génération : rendre ce flux clair. Ne pas présenter cette décision qualitative comme un benchmark déjà conclu. Cette slide concerne exclusivement Call To AIdventure, pas l’application de benchmark ni l’analyste cyber de l’entreprise. Elle fournit une preuve technique complémentaire C8.</a:t>
            </a:r>
          </a:p>
          <a:p/>
          <a:p>
            <a:r>
              <a:t>Sources : docs/block2/ai-requirements-and-selection.md ; docs/rag-system.md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Lire les valeurs réellement configurées avant démonstration. Le nom du modèle par défaut est une chaîne du dépôt, pas une vérification de disponibilité commerciale. La commande check_ai_services valide les paramètres ; son option --connect vérifie Ollama, pas une génération réelle du fournisseur. Ne jamais afficher le fichier .env. Cette slide concerne exclusivement Call To AIdventure, pas l’application de benchmark ni l’analyste cyber de l’entreprise. Elle fournit une preuve technique complémentaire C8.</a:t>
            </a:r>
          </a:p>
          <a:p/>
          <a:p>
            <a:r>
              <a:t>Sources : src/agents/runtime_config.py ; .env.example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Le dry-run exécuté prépare 36 fragments de personnages et 21 de lieux. La documentation ancienne annonce 39 : la mesure du code courant prime. Aucun serveur Ollama ni Chroma n’a été testé en ligne ici. L’objectif de rappel des sources doit être mesuré séparément ; le runner actuel ne le calcule pas. Cette slide concerne exclusivement Call To AIdventure, pas l’application de benchmark ni l’analyste cyber de l’entreprise. Elle fournit une preuve technique complémentaire C8.</a:t>
            </a:r>
          </a:p>
          <a:p/>
          <a:p>
            <a:r>
              <a:t>Sources : src/retrieval/ ; vérification du 14/09/2026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Le candidat peut fournir des preuves de runs mais elles ne sont pas encore jointes. La présence de métadonnées précises en base n’est pas supposée : montrer ce qui est réellement enregistré et compléter la traçabilité si nécessaire. La reproductibilité ne découle pas automatiquement du stockage des métriques.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L’étude de benchmarks n’est pas la sélection d’un service LLM. On peut expliquer pourquoi l’architecture impose un candidat disponible, puis comparer les alternatives documentées sans inventer d’exécutions. Ne pas annoncer que tous les besoins C7 sont satisfaits. Les preuves C8 du jeu restent séparées de la configuration entreprise.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E2 · C6 À C8</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Choisir comment évaluer les LLM en cybersécurité</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Alternance : veille, sélection de benchmarks et application d’évaluation.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BESOIN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Évaluer les modèles selon les</a:t>
            </a:r>
          </a:p>
          <a:p>
            <a:pPr>
              <a:lnSpc>
                <a:spcPts val="2000"/>
              </a:lnSpc>
              <a:spcBef>
                <a:spcPts val="0"/>
              </a:spcBef>
              <a:spcAft>
                <a:spcPts val="0"/>
              </a:spcAft>
              <a:defRPr sz="1600" b="0">
                <a:solidFill>
                  <a:srgbClr val="F4F6FA"/>
                </a:solidFill>
                <a:latin typeface="Arial"/>
              </a:defRPr>
            </a:pPr>
            <a:r>
              <a:t>usages cyber de l’entreprise et</a:t>
            </a:r>
          </a:p>
          <a:p>
            <a:pPr>
              <a:lnSpc>
                <a:spcPts val="2000"/>
              </a:lnSpc>
              <a:spcBef>
                <a:spcPts val="0"/>
              </a:spcBef>
              <a:spcAft>
                <a:spcPts val="0"/>
              </a:spcAft>
              <a:defRPr sz="1600" b="0">
                <a:solidFill>
                  <a:srgbClr val="F4F6FA"/>
                </a:solidFill>
                <a:latin typeface="Arial"/>
              </a:defRPr>
            </a:pPr>
            <a:r>
              <a:t>leurs performances.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VEILLE / SÉLECTION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Environ 10 benchmarks examinés.</a:t>
            </a:r>
          </a:p>
          <a:p>
            <a:pPr>
              <a:lnSpc>
                <a:spcPts val="2000"/>
              </a:lnSpc>
              <a:spcBef>
                <a:spcPts val="0"/>
              </a:spcBef>
              <a:spcAft>
                <a:spcPts val="0"/>
              </a:spcAft>
              <a:defRPr sz="1600" b="0">
                <a:solidFill>
                  <a:srgbClr val="F4F6FA"/>
                </a:solidFill>
                <a:latin typeface="Arial"/>
              </a:defRPr>
            </a:pPr>
            <a:r>
              <a:t>Open source ou utilisables</a:t>
            </a:r>
          </a:p>
          <a:p>
            <a:pPr>
              <a:lnSpc>
                <a:spcPts val="2000"/>
              </a:lnSpc>
              <a:spcBef>
                <a:spcPts val="0"/>
              </a:spcBef>
              <a:spcAft>
                <a:spcPts val="0"/>
              </a:spcAft>
              <a:defRPr sz="1600" b="0">
                <a:solidFill>
                  <a:srgbClr val="F4F6FA"/>
                </a:solidFill>
                <a:latin typeface="Arial"/>
              </a:defRPr>
            </a:pPr>
            <a:r>
              <a:t>gratuitement.</a:t>
            </a:r>
          </a:p>
          <a:p>
            <a:pPr>
              <a:lnSpc>
                <a:spcPts val="2000"/>
              </a:lnSpc>
              <a:spcBef>
                <a:spcPts val="0"/>
              </a:spcBef>
              <a:spcAft>
                <a:spcPts val="0"/>
              </a:spcAft>
              <a:defRPr sz="1600" b="0">
                <a:solidFill>
                  <a:srgbClr val="F4F6FA"/>
                </a:solidFill>
                <a:latin typeface="Arial"/>
              </a:defRPr>
            </a:pPr>
            <a:r>
              <a:t>Critères de scoring, adaptation et</a:t>
            </a:r>
          </a:p>
          <a:p>
            <a:pPr>
              <a:lnSpc>
                <a:spcPts val="2000"/>
              </a:lnSpc>
              <a:spcBef>
                <a:spcPts val="0"/>
              </a:spcBef>
              <a:spcAft>
                <a:spcPts val="0"/>
              </a:spcAft>
              <a:defRPr sz="1600" b="0">
                <a:solidFill>
                  <a:srgbClr val="F4F6FA"/>
                </a:solidFill>
                <a:latin typeface="Arial"/>
              </a:defRPr>
            </a:pPr>
            <a:r>
              <a:t>licence.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MISE EN ŒUVRE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Application de benchmark cyber et</a:t>
            </a:r>
          </a:p>
          <a:p>
            <a:pPr>
              <a:lnSpc>
                <a:spcPts val="2000"/>
              </a:lnSpc>
              <a:spcBef>
                <a:spcPts val="0"/>
              </a:spcBef>
              <a:spcAft>
                <a:spcPts val="0"/>
              </a:spcAft>
              <a:defRPr sz="1600" b="0">
                <a:solidFill>
                  <a:srgbClr val="F4F6FA"/>
                </a:solidFill>
                <a:latin typeface="Arial"/>
              </a:defRPr>
            </a:pPr>
            <a:r>
              <a:t>performance.</a:t>
            </a:r>
          </a:p>
          <a:p>
            <a:pPr>
              <a:lnSpc>
                <a:spcPts val="2000"/>
              </a:lnSpc>
              <a:spcBef>
                <a:spcPts val="0"/>
              </a:spcBef>
              <a:spcAft>
                <a:spcPts val="0"/>
              </a:spcAft>
              <a:defRPr sz="1600" b="0">
                <a:solidFill>
                  <a:srgbClr val="F4F6FA"/>
                </a:solidFill>
                <a:latin typeface="Arial"/>
              </a:defRPr>
            </a:pPr>
            <a:r>
              <a:t>Scores et métriques enregistrés en</a:t>
            </a:r>
          </a:p>
          <a:p>
            <a:pPr>
              <a:lnSpc>
                <a:spcPts val="2000"/>
              </a:lnSpc>
              <a:spcBef>
                <a:spcPts val="0"/>
              </a:spcBef>
              <a:spcAft>
                <a:spcPts val="0"/>
              </a:spcAft>
              <a:defRPr sz="1600" b="0">
                <a:solidFill>
                  <a:srgbClr val="F4F6FA"/>
                </a:solidFill>
                <a:latin typeface="Arial"/>
              </a:defRPr>
            </a:pPr>
            <a:r>
              <a:t>base.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Distinguer sélection du dispositif d’évaluation et sélection du modèle.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BESOIN MÉTIER</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Évaluer la pertinence et les contraintes d’usage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Deux dimensions complémentaires de l’évaluation.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CAPACITÉS CYBER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Mesurer les modèles sur des</a:t>
            </a:r>
          </a:p>
          <a:p>
            <a:pPr>
              <a:lnSpc>
                <a:spcPts val="2000"/>
              </a:lnSpc>
              <a:spcBef>
                <a:spcPts val="0"/>
              </a:spcBef>
              <a:spcAft>
                <a:spcPts val="0"/>
              </a:spcAft>
              <a:defRPr sz="1600" b="0">
                <a:solidFill>
                  <a:srgbClr val="F4F6FA"/>
                </a:solidFill>
                <a:latin typeface="Arial"/>
              </a:defRPr>
            </a:pPr>
            <a:r>
              <a:t>tâches en lien avec les usages</a:t>
            </a:r>
          </a:p>
          <a:p>
            <a:pPr>
              <a:lnSpc>
                <a:spcPts val="2000"/>
              </a:lnSpc>
              <a:spcBef>
                <a:spcPts val="0"/>
              </a:spcBef>
              <a:spcAft>
                <a:spcPts val="0"/>
              </a:spcAft>
              <a:defRPr sz="1600" b="0">
                <a:solidFill>
                  <a:srgbClr val="F4F6FA"/>
                </a:solidFill>
                <a:latin typeface="Arial"/>
              </a:defRPr>
            </a:pPr>
            <a:r>
              <a:t>réels de l’entreprise.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PERFORMANCE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P50, P95, P99.</a:t>
            </a:r>
          </a:p>
          <a:p>
            <a:pPr>
              <a:lnSpc>
                <a:spcPts val="2000"/>
              </a:lnSpc>
              <a:spcBef>
                <a:spcPts val="0"/>
              </a:spcBef>
              <a:spcAft>
                <a:spcPts val="0"/>
              </a:spcAft>
              <a:defRPr sz="1600" b="0">
                <a:solidFill>
                  <a:srgbClr val="F4F6FA"/>
                </a:solidFill>
                <a:latin typeface="Arial"/>
              </a:defRPr>
            </a:pPr>
            <a:r>
              <a:t>Vitesse et concurrence.</a:t>
            </a:r>
          </a:p>
          <a:p>
            <a:pPr>
              <a:lnSpc>
                <a:spcPts val="2000"/>
              </a:lnSpc>
              <a:spcBef>
                <a:spcPts val="0"/>
              </a:spcBef>
              <a:spcAft>
                <a:spcPts val="0"/>
              </a:spcAft>
              <a:defRPr sz="1600" b="0">
                <a:solidFill>
                  <a:srgbClr val="F4F6FA"/>
                </a:solidFill>
                <a:latin typeface="Arial"/>
              </a:defRPr>
            </a:pPr>
            <a:r>
              <a:t>Définir la charge et les conditions</a:t>
            </a:r>
          </a:p>
          <a:p>
            <a:pPr>
              <a:lnSpc>
                <a:spcPts val="2000"/>
              </a:lnSpc>
              <a:spcBef>
                <a:spcPts val="0"/>
              </a:spcBef>
              <a:spcAft>
                <a:spcPts val="0"/>
              </a:spcAft>
              <a:defRPr sz="1600" b="0">
                <a:solidFill>
                  <a:srgbClr val="F4F6FA"/>
                </a:solidFill>
                <a:latin typeface="Arial"/>
              </a:defRPr>
            </a:pPr>
            <a:r>
              <a:t>de mesure.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DÉCISION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Comparer les résultats aux</a:t>
            </a:r>
          </a:p>
          <a:p>
            <a:pPr>
              <a:lnSpc>
                <a:spcPts val="2000"/>
              </a:lnSpc>
              <a:spcBef>
                <a:spcPts val="0"/>
              </a:spcBef>
              <a:spcAft>
                <a:spcPts val="0"/>
              </a:spcAft>
              <a:defRPr sz="1600" b="0">
                <a:solidFill>
                  <a:srgbClr val="F4F6FA"/>
                </a:solidFill>
                <a:latin typeface="Arial"/>
              </a:defRPr>
            </a:pPr>
            <a:r>
              <a:t>contraintes métier.</a:t>
            </a:r>
          </a:p>
          <a:p>
            <a:pPr>
              <a:lnSpc>
                <a:spcPts val="2000"/>
              </a:lnSpc>
              <a:spcBef>
                <a:spcPts val="0"/>
              </a:spcBef>
              <a:spcAft>
                <a:spcPts val="0"/>
              </a:spcAft>
              <a:defRPr sz="1600" b="0">
                <a:solidFill>
                  <a:srgbClr val="F4F6FA"/>
                </a:solidFill>
                <a:latin typeface="Arial"/>
              </a:defRPr>
            </a:pPr>
            <a:r>
              <a:t>Modèles évalués et</a:t>
            </a:r>
          </a:p>
          <a:p>
            <a:pPr>
              <a:lnSpc>
                <a:spcPts val="2000"/>
              </a:lnSpc>
              <a:spcBef>
                <a:spcPts val="0"/>
              </a:spcBef>
              <a:spcAft>
                <a:spcPts val="0"/>
              </a:spcAft>
              <a:defRPr sz="1600" b="0">
                <a:solidFill>
                  <a:srgbClr val="F4F6FA"/>
                </a:solidFill>
                <a:latin typeface="Arial"/>
              </a:defRPr>
            </a:pPr>
            <a:r>
              <a:t>recommandation finale à</a:t>
            </a:r>
          </a:p>
          <a:p>
            <a:pPr>
              <a:lnSpc>
                <a:spcPts val="2000"/>
              </a:lnSpc>
              <a:spcBef>
                <a:spcPts val="0"/>
              </a:spcBef>
              <a:spcAft>
                <a:spcPts val="0"/>
              </a:spcAft>
              <a:defRPr sz="1600" b="0">
                <a:solidFill>
                  <a:srgbClr val="F4F6FA"/>
                </a:solidFill>
                <a:latin typeface="Arial"/>
              </a:defRPr>
            </a:pPr>
            <a:r>
              <a:t>documenter.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score cyber élevé ne suffit pas si le service ne tient pas la charge requise.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C6 / C7 · CRITÈRES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Sélectionner des évaluations adaptées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Critères de sélection explicitement indiqués par le candidat.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SCORING</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Exclure LLM-as-judge.</a:t>
            </a:r>
          </a:p>
          <a:p>
            <a:pPr>
              <a:lnSpc>
                <a:spcPts val="2000"/>
              </a:lnSpc>
              <a:spcBef>
                <a:spcPts val="0"/>
              </a:spcBef>
              <a:spcAft>
                <a:spcPts val="0"/>
              </a:spcAft>
              <a:defRPr sz="1600" b="0">
                <a:solidFill>
                  <a:srgbClr val="F4F6FA"/>
                </a:solidFill>
                <a:latin typeface="Arial"/>
              </a:defRPr>
            </a:pPr>
            <a:r>
              <a:t>Exclure human-as-judge pour le</a:t>
            </a:r>
          </a:p>
          <a:p>
            <a:pPr>
              <a:lnSpc>
                <a:spcPts val="2000"/>
              </a:lnSpc>
              <a:spcBef>
                <a:spcPts val="0"/>
              </a:spcBef>
              <a:spcAft>
                <a:spcPts val="0"/>
              </a:spcAft>
              <a:defRPr sz="1600" b="0">
                <a:solidFill>
                  <a:srgbClr val="F4F6FA"/>
                </a:solidFill>
                <a:latin typeface="Arial"/>
              </a:defRPr>
            </a:pPr>
            <a:r>
              <a:t>calcul des scores.</a:t>
            </a:r>
          </a:p>
          <a:p>
            <a:pPr>
              <a:lnSpc>
                <a:spcPts val="2000"/>
              </a:lnSpc>
              <a:spcBef>
                <a:spcPts val="0"/>
              </a:spcBef>
              <a:spcAft>
                <a:spcPts val="0"/>
              </a:spcAft>
              <a:defRPr sz="1600" b="0">
                <a:solidFill>
                  <a:srgbClr val="F4F6FA"/>
                </a:solidFill>
                <a:latin typeface="Arial"/>
              </a:defRPr>
            </a:pPr>
            <a:r>
              <a:t>Montrer le mécanisme retenu.</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PERTINENCE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Adaptabilité aux usages cyber</a:t>
            </a:r>
          </a:p>
          <a:p>
            <a:pPr>
              <a:lnSpc>
                <a:spcPts val="2000"/>
              </a:lnSpc>
              <a:spcBef>
                <a:spcPts val="0"/>
              </a:spcBef>
              <a:spcAft>
                <a:spcPts val="0"/>
              </a:spcAft>
              <a:defRPr sz="1600" b="0">
                <a:solidFill>
                  <a:srgbClr val="F4F6FA"/>
                </a:solidFill>
                <a:latin typeface="Arial"/>
              </a:defRPr>
            </a:pPr>
            <a:r>
              <a:t>réels de l’entreprise.</a:t>
            </a:r>
          </a:p>
          <a:p>
            <a:pPr>
              <a:lnSpc>
                <a:spcPts val="2000"/>
              </a:lnSpc>
              <a:spcBef>
                <a:spcPts val="0"/>
              </a:spcBef>
              <a:spcAft>
                <a:spcPts val="0"/>
              </a:spcAft>
              <a:defRPr sz="1600" b="0">
                <a:solidFill>
                  <a:srgbClr val="F4F6FA"/>
                </a:solidFill>
                <a:latin typeface="Arial"/>
              </a:defRPr>
            </a:pPr>
            <a:r>
              <a:t>Périmètre et limites des tâches à</a:t>
            </a:r>
          </a:p>
          <a:p>
            <a:pPr>
              <a:lnSpc>
                <a:spcPts val="2000"/>
              </a:lnSpc>
              <a:spcBef>
                <a:spcPts val="0"/>
              </a:spcBef>
              <a:spcAft>
                <a:spcPts val="0"/>
              </a:spcAft>
              <a:defRPr sz="1600" b="0">
                <a:solidFill>
                  <a:srgbClr val="F4F6FA"/>
                </a:solidFill>
                <a:latin typeface="Arial"/>
              </a:defRPr>
            </a:pPr>
            <a:r>
              <a:t>préciser.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ACCÈS / LICENCE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Open source ou usage gratuit.</a:t>
            </a:r>
          </a:p>
          <a:p>
            <a:pPr>
              <a:lnSpc>
                <a:spcPts val="2000"/>
              </a:lnSpc>
              <a:spcBef>
                <a:spcPts val="0"/>
              </a:spcBef>
              <a:spcAft>
                <a:spcPts val="0"/>
              </a:spcAft>
              <a:defRPr sz="1600" b="0">
                <a:solidFill>
                  <a:srgbClr val="F4F6FA"/>
                </a:solidFill>
                <a:latin typeface="Arial"/>
              </a:defRPr>
            </a:pPr>
            <a:r>
              <a:t>Compatibilité de licence étudiée.</a:t>
            </a:r>
          </a:p>
          <a:p>
            <a:pPr>
              <a:lnSpc>
                <a:spcPts val="2000"/>
              </a:lnSpc>
              <a:spcBef>
                <a:spcPts val="0"/>
              </a:spcBef>
              <a:spcAft>
                <a:spcPts val="0"/>
              </a:spcAft>
              <a:defRPr sz="1600" b="0">
                <a:solidFill>
                  <a:srgbClr val="F4F6FA"/>
                </a:solidFill>
                <a:latin typeface="Arial"/>
              </a:defRPr>
            </a:pPr>
            <a:r>
              <a:t>Gratuité et droits de réutilisation</a:t>
            </a:r>
          </a:p>
          <a:p>
            <a:pPr>
              <a:lnSpc>
                <a:spcPts val="2000"/>
              </a:lnSpc>
              <a:spcBef>
                <a:spcPts val="0"/>
              </a:spcBef>
              <a:spcAft>
                <a:spcPts val="0"/>
              </a:spcAft>
              <a:defRPr sz="1600" b="0">
                <a:solidFill>
                  <a:srgbClr val="F4F6FA"/>
                </a:solidFill>
                <a:latin typeface="Arial"/>
              </a:defRPr>
            </a:pPr>
            <a:r>
              <a:t>distingués.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score sans juge reste à examiner pour sa validité et ses biais.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C6 · VEILLE RÉALISÉE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Environ dix benchmarks cyber étudiés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Une recherche comparative orientée vers un besoin d’entreprise.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RECENSER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Identifier les benchmarks ouverts</a:t>
            </a:r>
          </a:p>
          <a:p>
            <a:pPr>
              <a:lnSpc>
                <a:spcPts val="2000"/>
              </a:lnSpc>
              <a:spcBef>
                <a:spcPts val="0"/>
              </a:spcBef>
              <a:spcAft>
                <a:spcPts val="0"/>
              </a:spcAft>
              <a:defRPr sz="1600" b="0">
                <a:solidFill>
                  <a:srgbClr val="F4F6FA"/>
                </a:solidFill>
                <a:latin typeface="Arial"/>
              </a:defRPr>
            </a:pPr>
            <a:r>
              <a:t>ou utilisables gratuitement.</a:t>
            </a:r>
          </a:p>
          <a:p>
            <a:pPr>
              <a:lnSpc>
                <a:spcPts val="2000"/>
              </a:lnSpc>
              <a:spcBef>
                <a:spcPts val="0"/>
              </a:spcBef>
              <a:spcAft>
                <a:spcPts val="0"/>
              </a:spcAft>
              <a:defRPr sz="1600" b="0">
                <a:solidFill>
                  <a:srgbClr val="F4F6FA"/>
                </a:solidFill>
                <a:latin typeface="Arial"/>
              </a:defRPr>
            </a:pPr>
            <a:r>
              <a:t>Conserver les sources et versions</a:t>
            </a:r>
          </a:p>
          <a:p>
            <a:pPr>
              <a:lnSpc>
                <a:spcPts val="2000"/>
              </a:lnSpc>
              <a:spcBef>
                <a:spcPts val="0"/>
              </a:spcBef>
              <a:spcAft>
                <a:spcPts val="0"/>
              </a:spcAft>
              <a:defRPr sz="1600" b="0">
                <a:solidFill>
                  <a:srgbClr val="F4F6FA"/>
                </a:solidFill>
                <a:latin typeface="Arial"/>
              </a:defRPr>
            </a:pPr>
            <a:r>
              <a:t>consultées.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ANALYSER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Comparer scoring, pertinence</a:t>
            </a:r>
          </a:p>
          <a:p>
            <a:pPr>
              <a:lnSpc>
                <a:spcPts val="2000"/>
              </a:lnSpc>
              <a:spcBef>
                <a:spcPts val="0"/>
              </a:spcBef>
              <a:spcAft>
                <a:spcPts val="0"/>
              </a:spcAft>
              <a:defRPr sz="1600" b="0">
                <a:solidFill>
                  <a:srgbClr val="F4F6FA"/>
                </a:solidFill>
                <a:latin typeface="Arial"/>
              </a:defRPr>
            </a:pPr>
            <a:r>
              <a:t>métier, adaptabilité et licence.</a:t>
            </a:r>
          </a:p>
          <a:p>
            <a:pPr>
              <a:lnSpc>
                <a:spcPts val="2000"/>
              </a:lnSpc>
              <a:spcBef>
                <a:spcPts val="0"/>
              </a:spcBef>
              <a:spcAft>
                <a:spcPts val="0"/>
              </a:spcAft>
              <a:defRPr sz="1600" b="0">
                <a:solidFill>
                  <a:srgbClr val="F4F6FA"/>
                </a:solidFill>
                <a:latin typeface="Arial"/>
              </a:defRPr>
            </a:pPr>
            <a:r>
              <a:t>Expliciter les exclusions.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RESTITUER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Joindre la matrice de comparaison</a:t>
            </a:r>
          </a:p>
          <a:p>
            <a:pPr>
              <a:lnSpc>
                <a:spcPts val="2000"/>
              </a:lnSpc>
              <a:spcBef>
                <a:spcPts val="0"/>
              </a:spcBef>
              <a:spcAft>
                <a:spcPts val="0"/>
              </a:spcAft>
              <a:defRPr sz="1600" b="0">
                <a:solidFill>
                  <a:srgbClr val="F4F6FA"/>
                </a:solidFill>
                <a:latin typeface="Arial"/>
              </a:defRPr>
            </a:pPr>
            <a:r>
              <a:t>et la synthèse.</a:t>
            </a:r>
          </a:p>
          <a:p>
            <a:pPr>
              <a:lnSpc>
                <a:spcPts val="2000"/>
              </a:lnSpc>
              <a:spcBef>
                <a:spcPts val="0"/>
              </a:spcBef>
              <a:spcAft>
                <a:spcPts val="0"/>
              </a:spcAft>
              <a:defRPr sz="1600" b="0">
                <a:solidFill>
                  <a:srgbClr val="F4F6FA"/>
                </a:solidFill>
                <a:latin typeface="Arial"/>
              </a:defRPr>
            </a:pPr>
            <a:r>
              <a:t>Préciser dates, rythme de veille et</a:t>
            </a:r>
          </a:p>
          <a:p>
            <a:pPr>
              <a:lnSpc>
                <a:spcPts val="2000"/>
              </a:lnSpc>
              <a:spcBef>
                <a:spcPts val="0"/>
              </a:spcBef>
              <a:spcAft>
                <a:spcPts val="0"/>
              </a:spcAft>
              <a:defRPr sz="1600" b="0">
                <a:solidFill>
                  <a:srgbClr val="F4F6FA"/>
                </a:solidFill>
                <a:latin typeface="Arial"/>
              </a:defRPr>
            </a:pPr>
            <a:r>
              <a:t>partage réel.</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L’étude est réalisée ; son organisation régulière et sa diffusion restent à documenter.</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PÉRIMÈTRE RÉEL</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 modèle exécuté, un runner extensible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Modèle de la famille Qwen ; référence exacte à confirmer.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EXÉCUTION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seul modèle disponible dans</a:t>
            </a:r>
          </a:p>
          <a:p>
            <a:pPr>
              <a:lnSpc>
                <a:spcPts val="2000"/>
              </a:lnSpc>
              <a:spcBef>
                <a:spcPts val="0"/>
              </a:spcBef>
              <a:spcAft>
                <a:spcPts val="0"/>
              </a:spcAft>
              <a:defRPr sz="1600" b="0">
                <a:solidFill>
                  <a:srgbClr val="F4F6FA"/>
                </a:solidFill>
                <a:latin typeface="Arial"/>
              </a:defRPr>
            </a:pPr>
            <a:r>
              <a:t>l’architecture entreprise a été</a:t>
            </a:r>
          </a:p>
          <a:p>
            <a:pPr>
              <a:lnSpc>
                <a:spcPts val="2000"/>
              </a:lnSpc>
              <a:spcBef>
                <a:spcPts val="0"/>
              </a:spcBef>
              <a:spcAft>
                <a:spcPts val="0"/>
              </a:spcAft>
              <a:defRPr sz="1600" b="0">
                <a:solidFill>
                  <a:srgbClr val="F4F6FA"/>
                </a:solidFill>
                <a:latin typeface="Arial"/>
              </a:defRPr>
            </a:pPr>
            <a:r>
              <a:t>exploité à ce stade.</a:t>
            </a:r>
          </a:p>
          <a:p>
            <a:pPr>
              <a:lnSpc>
                <a:spcPts val="2000"/>
              </a:lnSpc>
              <a:spcBef>
                <a:spcPts val="0"/>
              </a:spcBef>
              <a:spcAft>
                <a:spcPts val="0"/>
              </a:spcAft>
              <a:defRPr sz="1600" b="0">
                <a:solidFill>
                  <a:srgbClr val="F4F6FA"/>
                </a:solidFill>
                <a:latin typeface="Arial"/>
              </a:defRPr>
            </a:pPr>
            <a:r>
              <a:t>Preuves de runs disponibles.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CONCEPTION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Script conçu pour être agnostique</a:t>
            </a:r>
          </a:p>
          <a:p>
            <a:pPr>
              <a:lnSpc>
                <a:spcPts val="2000"/>
              </a:lnSpc>
              <a:spcBef>
                <a:spcPts val="0"/>
              </a:spcBef>
              <a:spcAft>
                <a:spcPts val="0"/>
              </a:spcAft>
              <a:defRPr sz="1600" b="0">
                <a:solidFill>
                  <a:srgbClr val="F4F6FA"/>
                </a:solidFill>
                <a:latin typeface="Arial"/>
              </a:defRPr>
            </a:pPr>
            <a:r>
              <a:t>des modèles et des benchmarks</a:t>
            </a:r>
          </a:p>
          <a:p>
            <a:pPr>
              <a:lnSpc>
                <a:spcPts val="2000"/>
              </a:lnSpc>
              <a:spcBef>
                <a:spcPts val="0"/>
              </a:spcBef>
              <a:spcAft>
                <a:spcPts val="0"/>
              </a:spcAft>
              <a:defRPr sz="1600" b="0">
                <a:solidFill>
                  <a:srgbClr val="F4F6FA"/>
                </a:solidFill>
                <a:latin typeface="Arial"/>
              </a:defRPr>
            </a:pPr>
            <a:r>
              <a:t>cyber.</a:t>
            </a:r>
          </a:p>
          <a:p>
            <a:pPr>
              <a:lnSpc>
                <a:spcPts val="2000"/>
              </a:lnSpc>
              <a:spcBef>
                <a:spcPts val="0"/>
              </a:spcBef>
              <a:spcAft>
                <a:spcPts val="0"/>
              </a:spcAft>
              <a:defRPr sz="1600" b="0">
                <a:solidFill>
                  <a:srgbClr val="F4F6FA"/>
                </a:solidFill>
                <a:latin typeface="Arial"/>
              </a:defRPr>
            </a:pPr>
            <a:r>
              <a:t>Interfaces de configuration à</a:t>
            </a:r>
          </a:p>
          <a:p>
            <a:pPr>
              <a:lnSpc>
                <a:spcPts val="2000"/>
              </a:lnSpc>
              <a:spcBef>
                <a:spcPts val="0"/>
              </a:spcBef>
              <a:spcAft>
                <a:spcPts val="0"/>
              </a:spcAft>
              <a:defRPr sz="1600" b="0">
                <a:solidFill>
                  <a:srgbClr val="F4F6FA"/>
                </a:solidFill>
                <a:latin typeface="Arial"/>
              </a:defRPr>
            </a:pPr>
            <a:r>
              <a:t>montrer.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LIMITE C7</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Pas encore de comparaison</a:t>
            </a:r>
          </a:p>
          <a:p>
            <a:pPr>
              <a:lnSpc>
                <a:spcPts val="2000"/>
              </a:lnSpc>
              <a:spcBef>
                <a:spcPts val="0"/>
              </a:spcBef>
              <a:spcAft>
                <a:spcPts val="0"/>
              </a:spcAft>
              <a:defRPr sz="1600" b="0">
                <a:solidFill>
                  <a:srgbClr val="F4F6FA"/>
                </a:solidFill>
                <a:latin typeface="Arial"/>
              </a:defRPr>
            </a:pPr>
            <a:r>
              <a:t>empirique entre plusieurs modèles.</a:t>
            </a:r>
          </a:p>
          <a:p>
            <a:pPr>
              <a:lnSpc>
                <a:spcPts val="2000"/>
              </a:lnSpc>
              <a:spcBef>
                <a:spcPts val="0"/>
              </a:spcBef>
              <a:spcAft>
                <a:spcPts val="0"/>
              </a:spcAft>
              <a:defRPr sz="1600" b="0">
                <a:solidFill>
                  <a:srgbClr val="F4F6FA"/>
                </a:solidFill>
                <a:latin typeface="Arial"/>
              </a:defRPr>
            </a:pPr>
            <a:r>
              <a:t>Distinguer contrainte d’architecture</a:t>
            </a:r>
          </a:p>
          <a:p>
            <a:pPr>
              <a:lnSpc>
                <a:spcPts val="2000"/>
              </a:lnSpc>
              <a:spcBef>
                <a:spcPts val="0"/>
              </a:spcBef>
              <a:spcAft>
                <a:spcPts val="0"/>
              </a:spcAft>
              <a:defRPr sz="1600" b="0">
                <a:solidFill>
                  <a:srgbClr val="F4F6FA"/>
                </a:solidFill>
                <a:latin typeface="Arial"/>
              </a:defRPr>
            </a:pPr>
            <a:r>
              <a:t>et recommandation de service.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L’extensibilité du runner n’est pas une comparaison multi-modèles déjà réalisée.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ARCHITECTURE · COMPLÉMENT JEU</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Une génération hébergée, un RAG local</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Décision d’architecture déjà documentée dans le projet.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GÉNÉRER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Service OpenAI-compatible</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Narration, choix et décisions</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Modèle piloté par configuration.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RETROUVER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JSON de lore → fragments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Embeddings Ollama → Chroma</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Contexte filtré par aventure.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ORCHESTRER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LangGraph</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Transitions explicites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Outils et moteur de jeu.</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Localiser les embeddings ne signifie pas que le contexte reste entièrement local.</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docs/block2/ai-requirements-and-selection.md ; docs/rag-system.md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C8 · PARAMÉTRAGE · COMPLÉMENT JEU</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Rendre la configuration explicite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Valeurs par défaut du code ; l’environnement peut les remplacer.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GÉNÉRATION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Modèle : OPENAI_MODEL.</a:t>
            </a:r>
          </a:p>
          <a:p>
            <a:pPr>
              <a:lnSpc>
                <a:spcPts val="2000"/>
              </a:lnSpc>
              <a:spcBef>
                <a:spcPts val="0"/>
              </a:spcBef>
              <a:spcAft>
                <a:spcPts val="0"/>
              </a:spcAft>
              <a:defRPr sz="1600" b="0">
                <a:solidFill>
                  <a:srgbClr val="F4F6FA"/>
                </a:solidFill>
                <a:latin typeface="Arial"/>
              </a:defRPr>
            </a:pPr>
            <a:r>
              <a:t>Clé dans l’environnement.</a:t>
            </a:r>
          </a:p>
          <a:p>
            <a:pPr>
              <a:lnSpc>
                <a:spcPts val="2000"/>
              </a:lnSpc>
              <a:spcBef>
                <a:spcPts val="0"/>
              </a:spcBef>
              <a:spcAft>
                <a:spcPts val="0"/>
              </a:spcAft>
              <a:defRPr sz="1600" b="0">
                <a:solidFill>
                  <a:srgbClr val="F4F6FA"/>
                </a:solidFill>
                <a:latin typeface="Arial"/>
              </a:defRPr>
            </a:pPr>
            <a:r>
              <a:t>Timeout d’appel : 30 s.</a:t>
            </a:r>
          </a:p>
          <a:p>
            <a:pPr>
              <a:lnSpc>
                <a:spcPts val="2000"/>
              </a:lnSpc>
              <a:spcBef>
                <a:spcPts val="0"/>
              </a:spcBef>
              <a:spcAft>
                <a:spcPts val="0"/>
              </a:spcAft>
              <a:defRPr sz="1600" b="0">
                <a:solidFill>
                  <a:srgbClr val="F4F6FA"/>
                </a:solidFill>
                <a:latin typeface="Arial"/>
              </a:defRPr>
            </a:pPr>
            <a:r>
              <a:t>Métadonnées sans clé secrète.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RETRIEVAL</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RAG_ENABLED configurable.</a:t>
            </a:r>
          </a:p>
          <a:p>
            <a:pPr>
              <a:lnSpc>
                <a:spcPts val="2000"/>
              </a:lnSpc>
              <a:spcBef>
                <a:spcPts val="0"/>
              </a:spcBef>
              <a:spcAft>
                <a:spcPts val="0"/>
              </a:spcAft>
              <a:defRPr sz="1600" b="0">
                <a:solidFill>
                  <a:srgbClr val="F4F6FA"/>
                </a:solidFill>
                <a:latin typeface="Arial"/>
              </a:defRPr>
            </a:pPr>
            <a:r>
              <a:t>Ollama : hôte local par défaut.</a:t>
            </a:r>
          </a:p>
          <a:p>
            <a:pPr>
              <a:lnSpc>
                <a:spcPts val="2000"/>
              </a:lnSpc>
              <a:spcBef>
                <a:spcPts val="0"/>
              </a:spcBef>
              <a:spcAft>
                <a:spcPts val="0"/>
              </a:spcAft>
              <a:defRPr sz="1600" b="0">
                <a:solidFill>
                  <a:srgbClr val="F4F6FA"/>
                </a:solidFill>
                <a:latin typeface="Arial"/>
              </a:defRPr>
            </a:pPr>
            <a:r>
              <a:t>Embeddings : mxbai-embed-large.</a:t>
            </a:r>
          </a:p>
          <a:p>
            <a:pPr>
              <a:lnSpc>
                <a:spcPts val="2000"/>
              </a:lnSpc>
              <a:spcBef>
                <a:spcPts val="0"/>
              </a:spcBef>
              <a:spcAft>
                <a:spcPts val="0"/>
              </a:spcAft>
              <a:defRPr sz="1600" b="0">
                <a:solidFill>
                  <a:srgbClr val="F4F6FA"/>
                </a:solidFill>
                <a:latin typeface="Arial"/>
              </a:defRPr>
            </a:pPr>
            <a:r>
              <a:t>Timeout : 10 s ; 3 tentatives.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FRONTIÈRE API</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Choix : 1 000 caractères max.</a:t>
            </a:r>
          </a:p>
          <a:p>
            <a:pPr>
              <a:lnSpc>
                <a:spcPts val="2000"/>
              </a:lnSpc>
              <a:spcBef>
                <a:spcPts val="0"/>
              </a:spcBef>
              <a:spcAft>
                <a:spcPts val="0"/>
              </a:spcAft>
              <a:defRPr sz="1600" b="0">
                <a:solidFill>
                  <a:srgbClr val="F4F6FA"/>
                </a:solidFill>
                <a:latin typeface="Arial"/>
              </a:defRPr>
            </a:pPr>
            <a:r>
              <a:t>Quota par défaut : 20 tours par</a:t>
            </a:r>
          </a:p>
          <a:p>
            <a:pPr>
              <a:lnSpc>
                <a:spcPts val="2000"/>
              </a:lnSpc>
              <a:spcBef>
                <a:spcPts val="0"/>
              </a:spcBef>
              <a:spcAft>
                <a:spcPts val="0"/>
              </a:spcAft>
              <a:defRPr sz="1600" b="0">
                <a:solidFill>
                  <a:srgbClr val="F4F6FA"/>
                </a:solidFill>
                <a:latin typeface="Arial"/>
              </a:defRPr>
            </a:pPr>
            <a:r>
              <a:t>utilisateur et par heure.</a:t>
            </a:r>
          </a:p>
          <a:p>
            <a:pPr>
              <a:lnSpc>
                <a:spcPts val="2000"/>
              </a:lnSpc>
              <a:spcBef>
                <a:spcPts val="0"/>
              </a:spcBef>
              <a:spcAft>
                <a:spcPts val="0"/>
              </a:spcAft>
              <a:defRPr sz="1600" b="0">
                <a:solidFill>
                  <a:srgbClr val="F4F6FA"/>
                </a:solidFill>
                <a:latin typeface="Arial"/>
              </a:defRPr>
            </a:pPr>
            <a:r>
              <a:t>Validation de configuration.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paramètres décrivent le déploiement ; les secrets restent hors des supports.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src/agents/runtime_config.py ; .env.example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C8 · RAG · COMPLÉMENT JEU</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Préparer le contexte avant la génération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Vérification locale du corpus : 57 fragments préparés.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CORPUS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6 fichiers de personnages.</a:t>
            </a:r>
          </a:p>
          <a:p>
            <a:pPr>
              <a:lnSpc>
                <a:spcPts val="2000"/>
              </a:lnSpc>
              <a:spcBef>
                <a:spcPts val="0"/>
              </a:spcBef>
              <a:spcAft>
                <a:spcPts val="0"/>
              </a:spcAft>
              <a:defRPr sz="1600" b="0">
                <a:solidFill>
                  <a:srgbClr val="F4F6FA"/>
                </a:solidFill>
                <a:latin typeface="Arial"/>
              </a:defRPr>
            </a:pPr>
            <a:r>
              <a:t>3 fichiers de lieux.</a:t>
            </a:r>
          </a:p>
          <a:p>
            <a:pPr>
              <a:lnSpc>
                <a:spcPts val="2000"/>
              </a:lnSpc>
              <a:spcBef>
                <a:spcPts val="0"/>
              </a:spcBef>
              <a:spcAft>
                <a:spcPts val="0"/>
              </a:spcAft>
              <a:defRPr sz="1600" b="0">
                <a:solidFill>
                  <a:srgbClr val="F4F6FA"/>
                </a:solidFill>
                <a:latin typeface="Arial"/>
              </a:defRPr>
            </a:pPr>
            <a:r>
              <a:t>57 fragments au dry-run.</a:t>
            </a:r>
          </a:p>
          <a:p>
            <a:pPr>
              <a:lnSpc>
                <a:spcPts val="2000"/>
              </a:lnSpc>
              <a:spcBef>
                <a:spcPts val="0"/>
              </a:spcBef>
              <a:spcAft>
                <a:spcPts val="0"/>
              </a:spcAft>
              <a:defRPr sz="1600" b="0">
                <a:solidFill>
                  <a:srgbClr val="F4F6FA"/>
                </a:solidFill>
                <a:latin typeface="Arial"/>
              </a:defRPr>
            </a:pPr>
            <a:r>
              <a:t>Métadonnées de source.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À L’EXÉCUTION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Requête contextualisée.</a:t>
            </a:r>
          </a:p>
          <a:p>
            <a:pPr>
              <a:lnSpc>
                <a:spcPts val="2000"/>
              </a:lnSpc>
              <a:spcBef>
                <a:spcPts val="0"/>
              </a:spcBef>
              <a:spcAft>
                <a:spcPts val="0"/>
              </a:spcAft>
              <a:defRPr sz="1600" b="0">
                <a:solidFill>
                  <a:srgbClr val="F4F6FA"/>
                </a:solidFill>
                <a:latin typeface="Arial"/>
              </a:defRPr>
            </a:pPr>
            <a:r>
              <a:t>Recherche filtrée par aventure.</a:t>
            </a:r>
          </a:p>
          <a:p>
            <a:pPr>
              <a:lnSpc>
                <a:spcPts val="2000"/>
              </a:lnSpc>
              <a:spcBef>
                <a:spcPts val="0"/>
              </a:spcBef>
              <a:spcAft>
                <a:spcPts val="0"/>
              </a:spcAft>
              <a:defRPr sz="1600" b="0">
                <a:solidFill>
                  <a:srgbClr val="F4F6FA"/>
                </a:solidFill>
                <a:latin typeface="Arial"/>
              </a:defRPr>
            </a:pPr>
            <a:r>
              <a:t>Passages injectés au prompt.</a:t>
            </a:r>
          </a:p>
          <a:p>
            <a:pPr>
              <a:lnSpc>
                <a:spcPts val="2000"/>
              </a:lnSpc>
              <a:spcBef>
                <a:spcPts val="0"/>
              </a:spcBef>
              <a:spcAft>
                <a:spcPts val="0"/>
              </a:spcAft>
              <a:defRPr sz="1600" b="0">
                <a:solidFill>
                  <a:srgbClr val="F4F6FA"/>
                </a:solidFill>
                <a:latin typeface="Arial"/>
              </a:defRPr>
            </a:pPr>
            <a:r>
              <a:t>Cache selon le service.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EN CAS D’ÉCHEC</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Contexte vide et poursuite du jeu.</a:t>
            </a:r>
          </a:p>
          <a:p>
            <a:pPr>
              <a:lnSpc>
                <a:spcPts val="2000"/>
              </a:lnSpc>
              <a:spcBef>
                <a:spcPts val="0"/>
              </a:spcBef>
              <a:spcAft>
                <a:spcPts val="0"/>
              </a:spcAft>
              <a:defRPr sz="1600" b="0">
                <a:solidFill>
                  <a:srgbClr val="F4F6FA"/>
                </a:solidFill>
                <a:latin typeface="Arial"/>
              </a:defRPr>
            </a:pPr>
            <a:r>
              <a:t>Échec visible dans les métriques.</a:t>
            </a:r>
          </a:p>
          <a:p>
            <a:pPr>
              <a:lnSpc>
                <a:spcPts val="2000"/>
              </a:lnSpc>
              <a:spcBef>
                <a:spcPts val="0"/>
              </a:spcBef>
              <a:spcAft>
                <a:spcPts val="0"/>
              </a:spcAft>
              <a:defRPr sz="1600" b="0">
                <a:solidFill>
                  <a:srgbClr val="F4F6FA"/>
                </a:solidFill>
                <a:latin typeface="Arial"/>
              </a:defRPr>
            </a:pPr>
            <a:r>
              <a:t>Qualité narrative à surveiller.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dry-run vérifie la préparation ; il ne mesure ni les embeddings ni le rappel du RAG.</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src/retrieval/ ; vérification du 14/09/2026</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ÉVALUATION · TRAÇABILITÉ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Conserver et interpréter chaque campagne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Un modèle exécuté ; cyber et performance mesurés par le même outil.</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RÉSULTATS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Scores de benchmarks cyber.</a:t>
            </a:r>
          </a:p>
          <a:p>
            <a:pPr>
              <a:lnSpc>
                <a:spcPts val="2000"/>
              </a:lnSpc>
              <a:spcBef>
                <a:spcPts val="0"/>
              </a:spcBef>
              <a:spcAft>
                <a:spcPts val="0"/>
              </a:spcAft>
              <a:defRPr sz="1600" b="0">
                <a:solidFill>
                  <a:srgbClr val="F4F6FA"/>
                </a:solidFill>
                <a:latin typeface="Arial"/>
              </a:defRPr>
            </a:pPr>
            <a:r>
              <a:t>P50 / P95 / P99.</a:t>
            </a:r>
          </a:p>
          <a:p>
            <a:pPr>
              <a:lnSpc>
                <a:spcPts val="2000"/>
              </a:lnSpc>
              <a:spcBef>
                <a:spcPts val="0"/>
              </a:spcBef>
              <a:spcAft>
                <a:spcPts val="0"/>
              </a:spcAft>
              <a:defRPr sz="1600" b="0">
                <a:solidFill>
                  <a:srgbClr val="F4F6FA"/>
                </a:solidFill>
                <a:latin typeface="Arial"/>
              </a:defRPr>
            </a:pPr>
            <a:r>
              <a:t>Vitesse et concurrence.</a:t>
            </a:r>
          </a:p>
          <a:p>
            <a:pPr>
              <a:lnSpc>
                <a:spcPts val="2000"/>
              </a:lnSpc>
              <a:spcBef>
                <a:spcPts val="0"/>
              </a:spcBef>
              <a:spcAft>
                <a:spcPts val="0"/>
              </a:spcAft>
              <a:defRPr sz="1600" b="0">
                <a:solidFill>
                  <a:srgbClr val="F4F6FA"/>
                </a:solidFill>
                <a:latin typeface="Arial"/>
              </a:defRPr>
            </a:pPr>
            <a:r>
              <a:t>Enregistrement en BDD.</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RUNNER AGNOSTIQUE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Prise en compte de différents</a:t>
            </a:r>
          </a:p>
          <a:p>
            <a:pPr>
              <a:lnSpc>
                <a:spcPts val="2000"/>
              </a:lnSpc>
              <a:spcBef>
                <a:spcPts val="0"/>
              </a:spcBef>
              <a:spcAft>
                <a:spcPts val="0"/>
              </a:spcAft>
              <a:defRPr sz="1600" b="0">
                <a:solidFill>
                  <a:srgbClr val="F4F6FA"/>
                </a:solidFill>
                <a:latin typeface="Arial"/>
              </a:defRPr>
            </a:pPr>
            <a:r>
              <a:t>modèles et benchmarks prévue par</a:t>
            </a:r>
          </a:p>
          <a:p>
            <a:pPr>
              <a:lnSpc>
                <a:spcPts val="2000"/>
              </a:lnSpc>
              <a:spcBef>
                <a:spcPts val="0"/>
              </a:spcBef>
              <a:spcAft>
                <a:spcPts val="0"/>
              </a:spcAft>
              <a:defRPr sz="1600" b="0">
                <a:solidFill>
                  <a:srgbClr val="F4F6FA"/>
                </a:solidFill>
                <a:latin typeface="Arial"/>
              </a:defRPr>
            </a:pPr>
            <a:r>
              <a:t>conception.</a:t>
            </a:r>
          </a:p>
          <a:p>
            <a:pPr>
              <a:lnSpc>
                <a:spcPts val="2000"/>
              </a:lnSpc>
              <a:spcBef>
                <a:spcPts val="0"/>
              </a:spcBef>
              <a:spcAft>
                <a:spcPts val="0"/>
              </a:spcAft>
              <a:defRPr sz="1600" b="0">
                <a:solidFill>
                  <a:srgbClr val="F4F6FA"/>
                </a:solidFill>
                <a:latin typeface="Arial"/>
              </a:defRPr>
            </a:pPr>
            <a:r>
              <a:t>Montrer l’interface de configuration.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PREUVES À JOINDRE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Référence Qwen confirmée.</a:t>
            </a:r>
          </a:p>
          <a:p>
            <a:pPr>
              <a:lnSpc>
                <a:spcPts val="2000"/>
              </a:lnSpc>
              <a:spcBef>
                <a:spcPts val="0"/>
              </a:spcBef>
              <a:spcAft>
                <a:spcPts val="0"/>
              </a:spcAft>
              <a:defRPr sz="1600" b="0">
                <a:solidFill>
                  <a:srgbClr val="F4F6FA"/>
                </a:solidFill>
                <a:latin typeface="Arial"/>
              </a:defRPr>
            </a:pPr>
            <a:r>
              <a:t>Une campagne réelle.</a:t>
            </a:r>
          </a:p>
          <a:p>
            <a:pPr>
              <a:lnSpc>
                <a:spcPts val="2000"/>
              </a:lnSpc>
              <a:spcBef>
                <a:spcPts val="0"/>
              </a:spcBef>
              <a:spcAft>
                <a:spcPts val="0"/>
              </a:spcAft>
              <a:defRPr sz="1600" b="0">
                <a:solidFill>
                  <a:srgbClr val="F4F6FA"/>
                </a:solidFill>
                <a:latin typeface="Arial"/>
              </a:defRPr>
            </a:pPr>
            <a:r>
              <a:t>Conditions, unités et erreurs.</a:t>
            </a:r>
          </a:p>
          <a:p>
            <a:pPr>
              <a:lnSpc>
                <a:spcPts val="2000"/>
              </a:lnSpc>
              <a:spcBef>
                <a:spcPts val="0"/>
              </a:spcBef>
              <a:spcAft>
                <a:spcPts val="0"/>
              </a:spcAft>
              <a:defRPr sz="1600" b="0">
                <a:solidFill>
                  <a:srgbClr val="F4F6FA"/>
                </a:solidFill>
                <a:latin typeface="Arial"/>
              </a:defRPr>
            </a:pPr>
            <a:r>
              <a:t>Schéma des résultats stockés.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Présenter les scores du modèle disponible, sans fabriquer de classement.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E2 · BILAN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Une veille concrète et un outil d’évaluation</a:t>
            </a:r>
          </a:p>
          <a:p>
            <a:pPr>
              <a:lnSpc>
                <a:spcPts val="4250"/>
              </a:lnSpc>
              <a:spcBef>
                <a:spcPts val="0"/>
              </a:spcBef>
              <a:spcAft>
                <a:spcPts val="0"/>
              </a:spcAft>
              <a:defRPr sz="3400" b="1">
                <a:solidFill>
                  <a:srgbClr val="F4F6FA"/>
                </a:solidFill>
                <a:latin typeface="Arial"/>
              </a:defRPr>
            </a:pPr>
            <a:r>
              <a:t>opérationnel</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La comparaison porte aujourd’hui sur les benchmarks, pas encore sur plusieurs modèles.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C6</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Environ dix benchmarks étudiés.</a:t>
            </a:r>
          </a:p>
          <a:p>
            <a:pPr>
              <a:lnSpc>
                <a:spcPts val="2000"/>
              </a:lnSpc>
              <a:spcBef>
                <a:spcPts val="0"/>
              </a:spcBef>
              <a:spcAft>
                <a:spcPts val="0"/>
              </a:spcAft>
              <a:defRPr sz="1600" b="0">
                <a:solidFill>
                  <a:srgbClr val="F4F6FA"/>
                </a:solidFill>
                <a:latin typeface="Arial"/>
              </a:defRPr>
            </a:pPr>
            <a:r>
              <a:t>Scoring, usage et licences</a:t>
            </a:r>
          </a:p>
          <a:p>
            <a:pPr>
              <a:lnSpc>
                <a:spcPts val="2000"/>
              </a:lnSpc>
              <a:spcBef>
                <a:spcPts val="0"/>
              </a:spcBef>
              <a:spcAft>
                <a:spcPts val="0"/>
              </a:spcAft>
              <a:defRPr sz="1600" b="0">
                <a:solidFill>
                  <a:srgbClr val="F4F6FA"/>
                </a:solidFill>
                <a:latin typeface="Arial"/>
              </a:defRPr>
            </a:pPr>
            <a:r>
              <a:t>comparés.</a:t>
            </a:r>
          </a:p>
          <a:p>
            <a:pPr>
              <a:lnSpc>
                <a:spcPts val="2000"/>
              </a:lnSpc>
              <a:spcBef>
                <a:spcPts val="0"/>
              </a:spcBef>
              <a:spcAft>
                <a:spcPts val="0"/>
              </a:spcAft>
              <a:defRPr sz="1600" b="0">
                <a:solidFill>
                  <a:srgbClr val="F4F6FA"/>
                </a:solidFill>
                <a:latin typeface="Arial"/>
              </a:defRPr>
            </a:pPr>
            <a:r>
              <a:t>Matrice et traces de partage à</a:t>
            </a:r>
          </a:p>
          <a:p>
            <a:pPr>
              <a:lnSpc>
                <a:spcPts val="2000"/>
              </a:lnSpc>
              <a:spcBef>
                <a:spcPts val="0"/>
              </a:spcBef>
              <a:spcAft>
                <a:spcPts val="0"/>
              </a:spcAft>
              <a:defRPr sz="1600" b="0">
                <a:solidFill>
                  <a:srgbClr val="F4F6FA"/>
                </a:solidFill>
                <a:latin typeface="Arial"/>
              </a:defRPr>
            </a:pPr>
            <a:r>
              <a:t>joindre.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C7</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modèle imposé par sa</a:t>
            </a:r>
          </a:p>
          <a:p>
            <a:pPr>
              <a:lnSpc>
                <a:spcPts val="2000"/>
              </a:lnSpc>
              <a:spcBef>
                <a:spcPts val="0"/>
              </a:spcBef>
              <a:spcAft>
                <a:spcPts val="0"/>
              </a:spcAft>
              <a:defRPr sz="1600" b="0">
                <a:solidFill>
                  <a:srgbClr val="F4F6FA"/>
                </a:solidFill>
                <a:latin typeface="Arial"/>
              </a:defRPr>
            </a:pPr>
            <a:r>
              <a:t>disponibilité.</a:t>
            </a:r>
          </a:p>
          <a:p>
            <a:pPr>
              <a:lnSpc>
                <a:spcPts val="2000"/>
              </a:lnSpc>
              <a:spcBef>
                <a:spcPts val="0"/>
              </a:spcBef>
              <a:spcAft>
                <a:spcPts val="0"/>
              </a:spcAft>
              <a:defRPr sz="1600" b="0">
                <a:solidFill>
                  <a:srgbClr val="F4F6FA"/>
                </a:solidFill>
                <a:latin typeface="Arial"/>
              </a:defRPr>
            </a:pPr>
            <a:r>
              <a:t>Comparaison et recommandation</a:t>
            </a:r>
          </a:p>
          <a:p>
            <a:pPr>
              <a:lnSpc>
                <a:spcPts val="2000"/>
              </a:lnSpc>
              <a:spcBef>
                <a:spcPts val="0"/>
              </a:spcBef>
              <a:spcAft>
                <a:spcPts val="0"/>
              </a:spcAft>
              <a:defRPr sz="1600" b="0">
                <a:solidFill>
                  <a:srgbClr val="F4F6FA"/>
                </a:solidFill>
                <a:latin typeface="Arial"/>
              </a:defRPr>
            </a:pPr>
            <a:r>
              <a:t>de services encore à étayer.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C8</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Configuration du jeu en</a:t>
            </a:r>
          </a:p>
          <a:p>
            <a:pPr>
              <a:lnSpc>
                <a:spcPts val="2000"/>
              </a:lnSpc>
              <a:spcBef>
                <a:spcPts val="0"/>
              </a:spcBef>
              <a:spcAft>
                <a:spcPts val="0"/>
              </a:spcAft>
              <a:defRPr sz="1600" b="0">
                <a:solidFill>
                  <a:srgbClr val="F4F6FA"/>
                </a:solidFill>
                <a:latin typeface="Arial"/>
              </a:defRPr>
            </a:pPr>
            <a:r>
              <a:t>complément.</a:t>
            </a:r>
          </a:p>
          <a:p>
            <a:pPr>
              <a:lnSpc>
                <a:spcPts val="2000"/>
              </a:lnSpc>
              <a:spcBef>
                <a:spcPts val="0"/>
              </a:spcBef>
              <a:spcAft>
                <a:spcPts val="0"/>
              </a:spcAft>
              <a:defRPr sz="1600" b="0">
                <a:solidFill>
                  <a:srgbClr val="F4F6FA"/>
                </a:solidFill>
                <a:latin typeface="Arial"/>
              </a:defRPr>
            </a:pPr>
            <a:r>
              <a:t>Joindre l’environnement et la</a:t>
            </a:r>
          </a:p>
          <a:p>
            <a:pPr>
              <a:lnSpc>
                <a:spcPts val="2000"/>
              </a:lnSpc>
              <a:spcBef>
                <a:spcPts val="0"/>
              </a:spcBef>
              <a:spcAft>
                <a:spcPts val="0"/>
              </a:spcAft>
              <a:defRPr sz="1600" b="0">
                <a:solidFill>
                  <a:srgbClr val="F4F6FA"/>
                </a:solidFill>
                <a:latin typeface="Arial"/>
              </a:defRPr>
            </a:pPr>
            <a:r>
              <a:t>référence exacte du modèle</a:t>
            </a:r>
          </a:p>
          <a:p>
            <a:pPr>
              <a:lnSpc>
                <a:spcPts val="2000"/>
              </a:lnSpc>
              <a:spcBef>
                <a:spcPts val="0"/>
              </a:spcBef>
              <a:spcAft>
                <a:spcPts val="0"/>
              </a:spcAft>
              <a:defRPr sz="1600" b="0">
                <a:solidFill>
                  <a:srgbClr val="F4F6FA"/>
                </a:solidFill>
                <a:latin typeface="Arial"/>
              </a:defRPr>
            </a:pPr>
            <a:r>
              <a:t>entreprise.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point fort nouveau est C12 ; la limite de comparaison C7 reste explicite.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