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Travaux rapportés par le candidat ; les noms des benchmarks et modèles, résultats et versions restent à joindre. Les composants configurés du jeu restent un complément C8 clairement séparé. Les scores cyber ne sont pas utilisés pour justifier le modèle narratif du jeu.</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candidat confirme que l’application exécute les benchmarks et obtient des scores. Aucun modèle nommé, classement, seuil ni recommandation finale n’est encore fourni. La performance mesurée doit préciser le périmètre : requête complète, premier token, décodage ou autre métrique réellement implémentée.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L’absence de LLM/humain comme juge est un critère rapporté de sélection. Elle ne démontre pas automatiquement une évaluation objective ou exhaustive. Expliquer la règle effective : assertion, sortie attendue, exécution, tests ou autre mécanisme, sans en inventer un. Open source et gratuit ne sont pas synonymes. Cette slide décrit l’étude passée, pas un avis juridique sur les licences actuelles.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Ne plus qualifier la veille comme absente : le candidat l’a réalisée. Distinguer contenu de recherche confirmé et modalités non décrites. Le référentiel demande une veille organisée et partagée ; joindre les dates, outils et restitutions effectivement utilisés. N’inventer ni suivi hebdomadaire ni présentation d’équipe.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candidat mentionne « Qwen3.8-27B » de mémoire et doit vérifier la référence. Le support évite de figer cet identifiant. Un seul modèle réellement exécuté : ne pas annoncer benchmark multi-modèles ni sélection du meilleur modèle. C7 peut être complétée par une analyse de services candidats et des exclusions documentées, mais la contrainte du modèle disponible ne remplace pas cette analyse.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La justification actuelle vise la génération multilingue et structurée sans héberger un gros modèle, un petit corpus vectoriel local et des transitions explicites. Le lore retrouvé est injecté dans les prompts envoyés au service de génération : rendre ce flux clair. Ne pas présenter cette décision qualitative comme un benchmark déjà conclu. Cette slide concerne exclusivement Call To AIdventure, pas l’application de benchmark ni l’analyste cyber de l’entreprise. Elle fournit une preuve technique complémentaire C8.</a:t>
            </a:r>
          </a:p>
          <a:p/>
          <a:p>
            <a:r>
              <a:t>Sources : docs/block2/ai-requirements-and-selection.md ; docs/rag-system.md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Lire les valeurs réellement configurées avant démonstration. Le nom du modèle par défaut est une chaîne du dépôt, pas une vérification de disponibilité commerciale. La commande check_ai_services valide les paramètres ; son option --connect vérifie Ollama, pas une génération réelle du fournisseur. Ne jamais afficher le fichier .env. Cette slide concerne exclusivement Call To AIdventure, pas l’application de benchmark ni l’analyste cyber de l’entreprise. Elle fournit une preuve technique complémentaire C8.</a:t>
            </a:r>
          </a:p>
          <a:p/>
          <a:p>
            <a:r>
              <a:t>Sources : src/agents/runtime_config.py ; .env.example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dry-run exécuté prépare 36 fragments de personnages et 21 de lieux. La documentation ancienne annonce 39 : la mesure du code courant prime. Aucun serveur Ollama ni Chroma n’a été testé en ligne ici. L’objectif de rappel des sources doit être mesuré séparément ; le runner actuel ne le calcule pas. Cette slide concerne exclusivement Call To AIdventure, pas l’application de benchmark ni l’analyste cyber de l’entreprise. Elle fournit une preuve technique complémentaire C8.</a:t>
            </a:r>
          </a:p>
          <a:p/>
          <a:p>
            <a:r>
              <a:t>Sources : src/retrieval/ ; vérification du 14/09/2026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candidat peut fournir des preuves de runs mais elles ne sont pas encore jointes. La présence de métadonnées précises en base n’est pas supposée : montrer ce qui est réellement enregistré et compléter la traçabilité si nécessaire. La reproductibilité ne découle pas automatiquement du stockage des métriques.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L’étude de benchmarks n’est pas la sélection d’un service LLM. On peut expliquer pourquoi l’architecture impose un candidat disponible, puis comparer les alternatives documentées sans inventer d’exécutions. Ne pas annoncer que tous les besoins C7 sont satisfaits. Les preuves C8 du jeu restent séparées de la configuration entreprise.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L’application Django cyber est distincte du jeu. Le candidat n’a pas déclaré avoir créé toute cette application ou son agent ; sa contribution confirmée porte sur Tines. Le runner de benchmarks n’est pas présenté comme connecté à l’agent sans confirmation de ce lien.</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health renvoie des booléens, pas un ping fournisseur. Décrire le body {"choice": "Open the gate"}. L’API réutilise StepGameView pour déclencher le moteur. Le contrat YAML existe, mais quelques écarts contrat/code sont identifiés en annexe et ne doivent pas être présentés comme une conformité OpenAPI parfaite. Contexte de cette preuve conservée : Call To AIdventure. Aucun résultat de cette slide ne doit être attribué aux projets entreprise.</a:t>
            </a:r>
          </a:p>
          <a:p/>
          <a:p>
            <a:r>
              <a:t>Sources : src/django/game/ai_api.py ; docs/block2/openapi.yaml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Résultats vérifiés : utilisateur étranger rejeté, choix arbitraire rejeté avec liste renseignée, CSRF refusé sans jeton et quota exercé. Limite importante : le code ne rejette pas par ce contrôle un choix lorsque current_choices est vide. Ne pas affirmer une prévention générale des injections de prompt. Ne pas montrer d’identifiants de session réels. Contexte de cette preuve conservée : Call To AIdventure. Aucun résultat de cette slide ne doit être attribué aux projets entreprise.</a:t>
            </a:r>
          </a:p>
          <a:p/>
          <a:p>
            <a:r>
              <a:t>Sources : src/django/game/ai_api.py ; src/django/game/test_ai_api.py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C10 : cette réalisation contribue à l’intégration des outils de l’agent, mais il faut délimiter qui a écrit l’adaptateur Django, les appels et la logique de l’agent. C9 reste porté par l’API du jeu, car Tines n’est pas décrit comme un endpoint d’inférence. Préciser les quatre types d’entité sans inventer leurs noms. Authentification, autorisation client, gestion des erreurs et tests restent à joindre.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tests ciblés ont exercé les prompts FR, la reprise narrative, l’échec sans progression, les outils de soin et les objectifs. La classe SaveGamePersistenceTests n’appartient pas au lot de 33 exécuté ici : ne pas attribuer à ce lot la totalité des tests de persistance. Les cas sont simulés ; aucune qualité linguistique en réel n’est mesurée. Contexte de cette preuve conservée : Call To AIdventure. Aucun résultat de cette slide ne doit être attribué aux projets entreprise.</a:t>
            </a:r>
          </a:p>
          <a:p/>
          <a:p>
            <a:r>
              <a:t>Sources : src/agents/schemas.py ; src/django/game/tests.py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Expliquer compteur et histogramme, ainsi que la fenêtre de calcul. Les métriques exposées ont des tests ciblés, mais la chaîne Prometheus/Grafana n’a pas été lancée pour ce support. Les tokens peuvent dépendre des données d’usage fournies par le service ; l’estimation de coût nécessite des tarifs à jour. Les labels bornés évitent données sensibles et cardinalité excessive. Contexte de cette preuve conservée : Call To AIdventure. Aucun résultat de cette slide ne doit être attribué aux projets entreprise.</a:t>
            </a:r>
          </a:p>
          <a:p/>
          <a:p>
            <a:r>
              <a:t>Sources : src/observability/ ; docs/block2/monitoring-slos.md ; monitoring/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seuil précis de RAG documenté est plus de deux échecs en quinze minutes. La latence doit être élevée pendant dix minutes. Préparer un déclenchement contrôlé en bac à sable avec capture horodatée et retour à la règle initiale. Ce projet ajuste l’intégration ; il ne réentraîne pas automatiquement le modèle distant. Contexte de cette preuve conservée : Call To AIdventure. Aucun résultat de cette slide ne doit être attribué aux projets entreprise.</a:t>
            </a:r>
          </a:p>
          <a:p/>
          <a:p>
            <a:r>
              <a:t>Sources : docs/block2/monitoring-slos.md ; monitoring/alertmanager/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L’utilisateur confirme que le runner obtient des scores et métriques. Il n’a pas fourni de logs ni valeurs ; aucun taux de réussite n’est inventé. Montrer aussi la validation du dataset, les dépendances, la gestion d’échecs et les tests du runner s’ils existent. C12 est particulièrement bien servi par ce travail, sans prétendre qu’une étape d’entraînement existe.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le runner comme réalisé et exécuté. Les champs de la slide sont des emplacements pour une preuve existante, pas une simulation. Le seul modèle déclaré est Qwen avec version à confirmer. Mesure de performance du service, qualité cyber et tests du logiciel de benchmark sont trois périmètres différents.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Décrire PR, push main et déclenchement manuel. Le conteneur est construit et chargé localement dans le job : le workflow ne prouve pas la publication d’une image dans un registre. Le smoke test utilise une clé factice et RAG désactivé ; il vérifie le démarrage HTTP, pas le modèle. La couverture 55 % est un seuil configuré, pas une mesure obtenue aujourd’hui. Contexte de cette preuve conservée : Call To AIdventure. Aucun résultat de cette slide ne doit être attribué aux projets entreprise.</a:t>
            </a:r>
          </a:p>
          <a:p/>
          <a:p>
            <a:r>
              <a:t>Sources : .github/workflows/block2-ai.yml ; docs/block2/delivery.md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Garder au moins un artefact connu bon. Le modèle hébergé peut évoluer si son identifiant n’est pas une version figée ; expliciter cette limite. Versionner une collection RAG fait partie de la procédure à organiser, pas d’une preuve d’activation déjà produite ici. Staging, registre et liens de jobs restent à renseigner. Contexte de cette preuve conservée : Call To AIdventure. Aucun résultat de cette slide ne doit être attribué aux projets entreprise.</a:t>
            </a:r>
          </a:p>
          <a:p/>
          <a:p>
            <a:r>
              <a:t>Sources : docs/block2/delivery.md ; src/evaluation/runner.py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slides CI et monitoring conservées concernent le jeu. Ne pas annoncer une CI, un déploiement ou une alerte du runner qui n’ont pas été décrits. Joindre un export réel avant passage. Les preuves locales du jeu restent disponibles dans certif/presentation-bloc2/preuves/.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Ces observations proviennent du code local, sans test d’exploitation. Le lot courant couvre une liste de choix non vide. Ajouter des tests de contrat et corriger les écarts avant de revendiquer une conformité stricte. Ce support ne change pas le périmètre de la demande en tâche de développement. Contexte de cette preuve conservée : Call To AIdventure. Aucun résultat de cette slide ne doit être attribué aux projets entreprise.</a:t>
            </a:r>
          </a:p>
          <a:p/>
          <a:p>
            <a:r>
              <a:t>Sources : docs/block2/openapi.yaml ; src/django/game/ai_api.py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Le dossier préparatoire joint précise les preuves à fournir. Aucune source entreprise n’a été inspectée directement pendant cette révision. Les intitulés et détails reposent sur les explications du candidat.</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Répondre à partir des implémentations et résultats réels. Aucun lien entre le choix du modèle narratif du jeu et les scores cyber n’est établi. La contribution aux endpoints Tines ne signifie pas création de toute l’application analyste.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E2 · C6 À C8</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Choisir comment évaluer les LLM en cybersécurité</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Alternance : veille, sélection de benchmarks et application d’évaluation.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BESOIN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Évaluer les modèles selon les</a:t>
            </a:r>
          </a:p>
          <a:p>
            <a:pPr>
              <a:lnSpc>
                <a:spcPts val="2000"/>
              </a:lnSpc>
              <a:spcBef>
                <a:spcPts val="0"/>
              </a:spcBef>
              <a:spcAft>
                <a:spcPts val="0"/>
              </a:spcAft>
              <a:defRPr sz="1600" b="0">
                <a:solidFill>
                  <a:srgbClr val="F4F6FA"/>
                </a:solidFill>
                <a:latin typeface="Arial"/>
              </a:defRPr>
            </a:pPr>
            <a:r>
              <a:t>usages cyber de l’entreprise et</a:t>
            </a:r>
          </a:p>
          <a:p>
            <a:pPr>
              <a:lnSpc>
                <a:spcPts val="2000"/>
              </a:lnSpc>
              <a:spcBef>
                <a:spcPts val="0"/>
              </a:spcBef>
              <a:spcAft>
                <a:spcPts val="0"/>
              </a:spcAft>
              <a:defRPr sz="1600" b="0">
                <a:solidFill>
                  <a:srgbClr val="F4F6FA"/>
                </a:solidFill>
                <a:latin typeface="Arial"/>
              </a:defRPr>
            </a:pPr>
            <a:r>
              <a:t>leurs performances.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VEILLE / SÉLECTION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Environ 10 benchmarks examinés.</a:t>
            </a:r>
          </a:p>
          <a:p>
            <a:pPr>
              <a:lnSpc>
                <a:spcPts val="2000"/>
              </a:lnSpc>
              <a:spcBef>
                <a:spcPts val="0"/>
              </a:spcBef>
              <a:spcAft>
                <a:spcPts val="0"/>
              </a:spcAft>
              <a:defRPr sz="1600" b="0">
                <a:solidFill>
                  <a:srgbClr val="F4F6FA"/>
                </a:solidFill>
                <a:latin typeface="Arial"/>
              </a:defRPr>
            </a:pPr>
            <a:r>
              <a:t>Open source ou utilisables</a:t>
            </a:r>
          </a:p>
          <a:p>
            <a:pPr>
              <a:lnSpc>
                <a:spcPts val="2000"/>
              </a:lnSpc>
              <a:spcBef>
                <a:spcPts val="0"/>
              </a:spcBef>
              <a:spcAft>
                <a:spcPts val="0"/>
              </a:spcAft>
              <a:defRPr sz="1600" b="0">
                <a:solidFill>
                  <a:srgbClr val="F4F6FA"/>
                </a:solidFill>
                <a:latin typeface="Arial"/>
              </a:defRPr>
            </a:pPr>
            <a:r>
              <a:t>gratuitement.</a:t>
            </a:r>
          </a:p>
          <a:p>
            <a:pPr>
              <a:lnSpc>
                <a:spcPts val="2000"/>
              </a:lnSpc>
              <a:spcBef>
                <a:spcPts val="0"/>
              </a:spcBef>
              <a:spcAft>
                <a:spcPts val="0"/>
              </a:spcAft>
              <a:defRPr sz="1600" b="0">
                <a:solidFill>
                  <a:srgbClr val="F4F6FA"/>
                </a:solidFill>
                <a:latin typeface="Arial"/>
              </a:defRPr>
            </a:pPr>
            <a:r>
              <a:t>Critères de scoring, adaptation et</a:t>
            </a:r>
          </a:p>
          <a:p>
            <a:pPr>
              <a:lnSpc>
                <a:spcPts val="2000"/>
              </a:lnSpc>
              <a:spcBef>
                <a:spcPts val="0"/>
              </a:spcBef>
              <a:spcAft>
                <a:spcPts val="0"/>
              </a:spcAft>
              <a:defRPr sz="1600" b="0">
                <a:solidFill>
                  <a:srgbClr val="F4F6FA"/>
                </a:solidFill>
                <a:latin typeface="Arial"/>
              </a:defRPr>
            </a:pPr>
            <a:r>
              <a:t>licence.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MISE EN ŒUVRE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Application de benchmark cyber et</a:t>
            </a:r>
          </a:p>
          <a:p>
            <a:pPr>
              <a:lnSpc>
                <a:spcPts val="2000"/>
              </a:lnSpc>
              <a:spcBef>
                <a:spcPts val="0"/>
              </a:spcBef>
              <a:spcAft>
                <a:spcPts val="0"/>
              </a:spcAft>
              <a:defRPr sz="1600" b="0">
                <a:solidFill>
                  <a:srgbClr val="F4F6FA"/>
                </a:solidFill>
                <a:latin typeface="Arial"/>
              </a:defRPr>
            </a:pPr>
            <a:r>
              <a:t>performance.</a:t>
            </a:r>
          </a:p>
          <a:p>
            <a:pPr>
              <a:lnSpc>
                <a:spcPts val="2000"/>
              </a:lnSpc>
              <a:spcBef>
                <a:spcPts val="0"/>
              </a:spcBef>
              <a:spcAft>
                <a:spcPts val="0"/>
              </a:spcAft>
              <a:defRPr sz="1600" b="0">
                <a:solidFill>
                  <a:srgbClr val="F4F6FA"/>
                </a:solidFill>
                <a:latin typeface="Arial"/>
              </a:defRPr>
            </a:pPr>
            <a:r>
              <a:t>Scores et métriques enregistrés en</a:t>
            </a:r>
          </a:p>
          <a:p>
            <a:pPr>
              <a:lnSpc>
                <a:spcPts val="2000"/>
              </a:lnSpc>
              <a:spcBef>
                <a:spcPts val="0"/>
              </a:spcBef>
              <a:spcAft>
                <a:spcPts val="0"/>
              </a:spcAft>
              <a:defRPr sz="1600" b="0">
                <a:solidFill>
                  <a:srgbClr val="F4F6FA"/>
                </a:solidFill>
                <a:latin typeface="Arial"/>
              </a:defRPr>
            </a:pPr>
            <a:r>
              <a:t>base.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Distinguer sélection du dispositif d’évaluation et sélection du modèle.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BESOIN MÉTIER</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Évaluer la pertinence et les contraintes d’usage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Deux dimensions complémentaires de l’évaluation.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CAPACITÉS CYBER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Mesurer les modèles sur des</a:t>
            </a:r>
          </a:p>
          <a:p>
            <a:pPr>
              <a:lnSpc>
                <a:spcPts val="2000"/>
              </a:lnSpc>
              <a:spcBef>
                <a:spcPts val="0"/>
              </a:spcBef>
              <a:spcAft>
                <a:spcPts val="0"/>
              </a:spcAft>
              <a:defRPr sz="1600" b="0">
                <a:solidFill>
                  <a:srgbClr val="F4F6FA"/>
                </a:solidFill>
                <a:latin typeface="Arial"/>
              </a:defRPr>
            </a:pPr>
            <a:r>
              <a:t>tâches en lien avec les usages</a:t>
            </a:r>
          </a:p>
          <a:p>
            <a:pPr>
              <a:lnSpc>
                <a:spcPts val="2000"/>
              </a:lnSpc>
              <a:spcBef>
                <a:spcPts val="0"/>
              </a:spcBef>
              <a:spcAft>
                <a:spcPts val="0"/>
              </a:spcAft>
              <a:defRPr sz="1600" b="0">
                <a:solidFill>
                  <a:srgbClr val="F4F6FA"/>
                </a:solidFill>
                <a:latin typeface="Arial"/>
              </a:defRPr>
            </a:pPr>
            <a:r>
              <a:t>réels de l’entreprise.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PERFORMANCE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P50, P95, P99.</a:t>
            </a:r>
          </a:p>
          <a:p>
            <a:pPr>
              <a:lnSpc>
                <a:spcPts val="2000"/>
              </a:lnSpc>
              <a:spcBef>
                <a:spcPts val="0"/>
              </a:spcBef>
              <a:spcAft>
                <a:spcPts val="0"/>
              </a:spcAft>
              <a:defRPr sz="1600" b="0">
                <a:solidFill>
                  <a:srgbClr val="F4F6FA"/>
                </a:solidFill>
                <a:latin typeface="Arial"/>
              </a:defRPr>
            </a:pPr>
            <a:r>
              <a:t>Vitesse et concurrence.</a:t>
            </a:r>
          </a:p>
          <a:p>
            <a:pPr>
              <a:lnSpc>
                <a:spcPts val="2000"/>
              </a:lnSpc>
              <a:spcBef>
                <a:spcPts val="0"/>
              </a:spcBef>
              <a:spcAft>
                <a:spcPts val="0"/>
              </a:spcAft>
              <a:defRPr sz="1600" b="0">
                <a:solidFill>
                  <a:srgbClr val="F4F6FA"/>
                </a:solidFill>
                <a:latin typeface="Arial"/>
              </a:defRPr>
            </a:pPr>
            <a:r>
              <a:t>Définir la charge et les conditions</a:t>
            </a:r>
          </a:p>
          <a:p>
            <a:pPr>
              <a:lnSpc>
                <a:spcPts val="2000"/>
              </a:lnSpc>
              <a:spcBef>
                <a:spcPts val="0"/>
              </a:spcBef>
              <a:spcAft>
                <a:spcPts val="0"/>
              </a:spcAft>
              <a:defRPr sz="1600" b="0">
                <a:solidFill>
                  <a:srgbClr val="F4F6FA"/>
                </a:solidFill>
                <a:latin typeface="Arial"/>
              </a:defRPr>
            </a:pPr>
            <a:r>
              <a:t>de mesure.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DÉCISION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Comparer les résultats aux</a:t>
            </a:r>
          </a:p>
          <a:p>
            <a:pPr>
              <a:lnSpc>
                <a:spcPts val="2000"/>
              </a:lnSpc>
              <a:spcBef>
                <a:spcPts val="0"/>
              </a:spcBef>
              <a:spcAft>
                <a:spcPts val="0"/>
              </a:spcAft>
              <a:defRPr sz="1600" b="0">
                <a:solidFill>
                  <a:srgbClr val="F4F6FA"/>
                </a:solidFill>
                <a:latin typeface="Arial"/>
              </a:defRPr>
            </a:pPr>
            <a:r>
              <a:t>contraintes métier.</a:t>
            </a:r>
          </a:p>
          <a:p>
            <a:pPr>
              <a:lnSpc>
                <a:spcPts val="2000"/>
              </a:lnSpc>
              <a:spcBef>
                <a:spcPts val="0"/>
              </a:spcBef>
              <a:spcAft>
                <a:spcPts val="0"/>
              </a:spcAft>
              <a:defRPr sz="1600" b="0">
                <a:solidFill>
                  <a:srgbClr val="F4F6FA"/>
                </a:solidFill>
                <a:latin typeface="Arial"/>
              </a:defRPr>
            </a:pPr>
            <a:r>
              <a:t>Modèles évalués et</a:t>
            </a:r>
          </a:p>
          <a:p>
            <a:pPr>
              <a:lnSpc>
                <a:spcPts val="2000"/>
              </a:lnSpc>
              <a:spcBef>
                <a:spcPts val="0"/>
              </a:spcBef>
              <a:spcAft>
                <a:spcPts val="0"/>
              </a:spcAft>
              <a:defRPr sz="1600" b="0">
                <a:solidFill>
                  <a:srgbClr val="F4F6FA"/>
                </a:solidFill>
                <a:latin typeface="Arial"/>
              </a:defRPr>
            </a:pPr>
            <a:r>
              <a:t>recommandation finale à</a:t>
            </a:r>
          </a:p>
          <a:p>
            <a:pPr>
              <a:lnSpc>
                <a:spcPts val="2000"/>
              </a:lnSpc>
              <a:spcBef>
                <a:spcPts val="0"/>
              </a:spcBef>
              <a:spcAft>
                <a:spcPts val="0"/>
              </a:spcAft>
              <a:defRPr sz="1600" b="0">
                <a:solidFill>
                  <a:srgbClr val="F4F6FA"/>
                </a:solidFill>
                <a:latin typeface="Arial"/>
              </a:defRPr>
            </a:pPr>
            <a:r>
              <a:t>documenter.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score cyber élevé ne suffit pas si le service ne tient pas la charge requise.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C6 / C7 · CRITÈRES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Sélectionner des évaluations adaptées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Critères de sélection explicitement indiqués par le candidat.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SCORING</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Exclure LLM-as-judge.</a:t>
            </a:r>
          </a:p>
          <a:p>
            <a:pPr>
              <a:lnSpc>
                <a:spcPts val="2000"/>
              </a:lnSpc>
              <a:spcBef>
                <a:spcPts val="0"/>
              </a:spcBef>
              <a:spcAft>
                <a:spcPts val="0"/>
              </a:spcAft>
              <a:defRPr sz="1600" b="0">
                <a:solidFill>
                  <a:srgbClr val="F4F6FA"/>
                </a:solidFill>
                <a:latin typeface="Arial"/>
              </a:defRPr>
            </a:pPr>
            <a:r>
              <a:t>Exclure human-as-judge pour le</a:t>
            </a:r>
          </a:p>
          <a:p>
            <a:pPr>
              <a:lnSpc>
                <a:spcPts val="2000"/>
              </a:lnSpc>
              <a:spcBef>
                <a:spcPts val="0"/>
              </a:spcBef>
              <a:spcAft>
                <a:spcPts val="0"/>
              </a:spcAft>
              <a:defRPr sz="1600" b="0">
                <a:solidFill>
                  <a:srgbClr val="F4F6FA"/>
                </a:solidFill>
                <a:latin typeface="Arial"/>
              </a:defRPr>
            </a:pPr>
            <a:r>
              <a:t>calcul des scores.</a:t>
            </a:r>
          </a:p>
          <a:p>
            <a:pPr>
              <a:lnSpc>
                <a:spcPts val="2000"/>
              </a:lnSpc>
              <a:spcBef>
                <a:spcPts val="0"/>
              </a:spcBef>
              <a:spcAft>
                <a:spcPts val="0"/>
              </a:spcAft>
              <a:defRPr sz="1600" b="0">
                <a:solidFill>
                  <a:srgbClr val="F4F6FA"/>
                </a:solidFill>
                <a:latin typeface="Arial"/>
              </a:defRPr>
            </a:pPr>
            <a:r>
              <a:t>Montrer le mécanisme retenu.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PERTINENCE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Adaptabilité aux usages cyber</a:t>
            </a:r>
          </a:p>
          <a:p>
            <a:pPr>
              <a:lnSpc>
                <a:spcPts val="2000"/>
              </a:lnSpc>
              <a:spcBef>
                <a:spcPts val="0"/>
              </a:spcBef>
              <a:spcAft>
                <a:spcPts val="0"/>
              </a:spcAft>
              <a:defRPr sz="1600" b="0">
                <a:solidFill>
                  <a:srgbClr val="F4F6FA"/>
                </a:solidFill>
                <a:latin typeface="Arial"/>
              </a:defRPr>
            </a:pPr>
            <a:r>
              <a:t>réels de l’entreprise.</a:t>
            </a:r>
          </a:p>
          <a:p>
            <a:pPr>
              <a:lnSpc>
                <a:spcPts val="2000"/>
              </a:lnSpc>
              <a:spcBef>
                <a:spcPts val="0"/>
              </a:spcBef>
              <a:spcAft>
                <a:spcPts val="0"/>
              </a:spcAft>
              <a:defRPr sz="1600" b="0">
                <a:solidFill>
                  <a:srgbClr val="F4F6FA"/>
                </a:solidFill>
                <a:latin typeface="Arial"/>
              </a:defRPr>
            </a:pPr>
            <a:r>
              <a:t>Périmètre et limites des tâches à</a:t>
            </a:r>
          </a:p>
          <a:p>
            <a:pPr>
              <a:lnSpc>
                <a:spcPts val="2000"/>
              </a:lnSpc>
              <a:spcBef>
                <a:spcPts val="0"/>
              </a:spcBef>
              <a:spcAft>
                <a:spcPts val="0"/>
              </a:spcAft>
              <a:defRPr sz="1600" b="0">
                <a:solidFill>
                  <a:srgbClr val="F4F6FA"/>
                </a:solidFill>
                <a:latin typeface="Arial"/>
              </a:defRPr>
            </a:pPr>
            <a:r>
              <a:t>préciser.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ACCÈS / LICENCE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Open source ou usage gratuit.</a:t>
            </a:r>
          </a:p>
          <a:p>
            <a:pPr>
              <a:lnSpc>
                <a:spcPts val="2000"/>
              </a:lnSpc>
              <a:spcBef>
                <a:spcPts val="0"/>
              </a:spcBef>
              <a:spcAft>
                <a:spcPts val="0"/>
              </a:spcAft>
              <a:defRPr sz="1600" b="0">
                <a:solidFill>
                  <a:srgbClr val="F4F6FA"/>
                </a:solidFill>
                <a:latin typeface="Arial"/>
              </a:defRPr>
            </a:pPr>
            <a:r>
              <a:t>Compatibilité de licence étudiée.</a:t>
            </a:r>
          </a:p>
          <a:p>
            <a:pPr>
              <a:lnSpc>
                <a:spcPts val="2000"/>
              </a:lnSpc>
              <a:spcBef>
                <a:spcPts val="0"/>
              </a:spcBef>
              <a:spcAft>
                <a:spcPts val="0"/>
              </a:spcAft>
              <a:defRPr sz="1600" b="0">
                <a:solidFill>
                  <a:srgbClr val="F4F6FA"/>
                </a:solidFill>
                <a:latin typeface="Arial"/>
              </a:defRPr>
            </a:pPr>
            <a:r>
              <a:t>Gratuité et droits de réutilisation</a:t>
            </a:r>
          </a:p>
          <a:p>
            <a:pPr>
              <a:lnSpc>
                <a:spcPts val="2000"/>
              </a:lnSpc>
              <a:spcBef>
                <a:spcPts val="0"/>
              </a:spcBef>
              <a:spcAft>
                <a:spcPts val="0"/>
              </a:spcAft>
              <a:defRPr sz="1600" b="0">
                <a:solidFill>
                  <a:srgbClr val="F4F6FA"/>
                </a:solidFill>
                <a:latin typeface="Arial"/>
              </a:defRPr>
            </a:pPr>
            <a:r>
              <a:t>distingués.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score sans juge reste à examiner pour sa validité et ses biais.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C6 · VEILLE RÉALISÉE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Environ dix benchmarks cyber étudiés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Une recherche comparative orientée vers un besoin d’entreprise.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RECENSER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Identifier les benchmarks ouverts</a:t>
            </a:r>
          </a:p>
          <a:p>
            <a:pPr>
              <a:lnSpc>
                <a:spcPts val="2000"/>
              </a:lnSpc>
              <a:spcBef>
                <a:spcPts val="0"/>
              </a:spcBef>
              <a:spcAft>
                <a:spcPts val="0"/>
              </a:spcAft>
              <a:defRPr sz="1600" b="0">
                <a:solidFill>
                  <a:srgbClr val="F4F6FA"/>
                </a:solidFill>
                <a:latin typeface="Arial"/>
              </a:defRPr>
            </a:pPr>
            <a:r>
              <a:t>ou utilisables gratuitement.</a:t>
            </a:r>
          </a:p>
          <a:p>
            <a:pPr>
              <a:lnSpc>
                <a:spcPts val="2000"/>
              </a:lnSpc>
              <a:spcBef>
                <a:spcPts val="0"/>
              </a:spcBef>
              <a:spcAft>
                <a:spcPts val="0"/>
              </a:spcAft>
              <a:defRPr sz="1600" b="0">
                <a:solidFill>
                  <a:srgbClr val="F4F6FA"/>
                </a:solidFill>
                <a:latin typeface="Arial"/>
              </a:defRPr>
            </a:pPr>
            <a:r>
              <a:t>Conserver les sources et versions</a:t>
            </a:r>
          </a:p>
          <a:p>
            <a:pPr>
              <a:lnSpc>
                <a:spcPts val="2000"/>
              </a:lnSpc>
              <a:spcBef>
                <a:spcPts val="0"/>
              </a:spcBef>
              <a:spcAft>
                <a:spcPts val="0"/>
              </a:spcAft>
              <a:defRPr sz="1600" b="0">
                <a:solidFill>
                  <a:srgbClr val="F4F6FA"/>
                </a:solidFill>
                <a:latin typeface="Arial"/>
              </a:defRPr>
            </a:pPr>
            <a:r>
              <a:t>consultées.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ANALYSER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Comparer scoring, pertinence</a:t>
            </a:r>
          </a:p>
          <a:p>
            <a:pPr>
              <a:lnSpc>
                <a:spcPts val="2000"/>
              </a:lnSpc>
              <a:spcBef>
                <a:spcPts val="0"/>
              </a:spcBef>
              <a:spcAft>
                <a:spcPts val="0"/>
              </a:spcAft>
              <a:defRPr sz="1600" b="0">
                <a:solidFill>
                  <a:srgbClr val="F4F6FA"/>
                </a:solidFill>
                <a:latin typeface="Arial"/>
              </a:defRPr>
            </a:pPr>
            <a:r>
              <a:t>métier, adaptabilité et licence.</a:t>
            </a:r>
          </a:p>
          <a:p>
            <a:pPr>
              <a:lnSpc>
                <a:spcPts val="2000"/>
              </a:lnSpc>
              <a:spcBef>
                <a:spcPts val="0"/>
              </a:spcBef>
              <a:spcAft>
                <a:spcPts val="0"/>
              </a:spcAft>
              <a:defRPr sz="1600" b="0">
                <a:solidFill>
                  <a:srgbClr val="F4F6FA"/>
                </a:solidFill>
                <a:latin typeface="Arial"/>
              </a:defRPr>
            </a:pPr>
            <a:r>
              <a:t>Expliciter les exclusions.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RESTITUER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Joindre la matrice de comparaison</a:t>
            </a:r>
          </a:p>
          <a:p>
            <a:pPr>
              <a:lnSpc>
                <a:spcPts val="2000"/>
              </a:lnSpc>
              <a:spcBef>
                <a:spcPts val="0"/>
              </a:spcBef>
              <a:spcAft>
                <a:spcPts val="0"/>
              </a:spcAft>
              <a:defRPr sz="1600" b="0">
                <a:solidFill>
                  <a:srgbClr val="F4F6FA"/>
                </a:solidFill>
                <a:latin typeface="Arial"/>
              </a:defRPr>
            </a:pPr>
            <a:r>
              <a:t>et la synthèse.</a:t>
            </a:r>
          </a:p>
          <a:p>
            <a:pPr>
              <a:lnSpc>
                <a:spcPts val="2000"/>
              </a:lnSpc>
              <a:spcBef>
                <a:spcPts val="0"/>
              </a:spcBef>
              <a:spcAft>
                <a:spcPts val="0"/>
              </a:spcAft>
              <a:defRPr sz="1600" b="0">
                <a:solidFill>
                  <a:srgbClr val="F4F6FA"/>
                </a:solidFill>
                <a:latin typeface="Arial"/>
              </a:defRPr>
            </a:pPr>
            <a:r>
              <a:t>Préciser dates, rythme de veille et</a:t>
            </a:r>
          </a:p>
          <a:p>
            <a:pPr>
              <a:lnSpc>
                <a:spcPts val="2000"/>
              </a:lnSpc>
              <a:spcBef>
                <a:spcPts val="0"/>
              </a:spcBef>
              <a:spcAft>
                <a:spcPts val="0"/>
              </a:spcAft>
              <a:defRPr sz="1600" b="0">
                <a:solidFill>
                  <a:srgbClr val="F4F6FA"/>
                </a:solidFill>
                <a:latin typeface="Arial"/>
              </a:defRPr>
            </a:pPr>
            <a:r>
              <a:t>partage réel.</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L’étude est réalisée ; son organisation régulière et sa diffusion restent à documenter.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PÉRIMÈTRE RÉEL</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 modèle exécuté, un runner extensible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Modèle de la famille Qwen ; référence exacte à confirmer.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EXÉCUTION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seul modèle disponible dans</a:t>
            </a:r>
          </a:p>
          <a:p>
            <a:pPr>
              <a:lnSpc>
                <a:spcPts val="2000"/>
              </a:lnSpc>
              <a:spcBef>
                <a:spcPts val="0"/>
              </a:spcBef>
              <a:spcAft>
                <a:spcPts val="0"/>
              </a:spcAft>
              <a:defRPr sz="1600" b="0">
                <a:solidFill>
                  <a:srgbClr val="F4F6FA"/>
                </a:solidFill>
                <a:latin typeface="Arial"/>
              </a:defRPr>
            </a:pPr>
            <a:r>
              <a:t>l’architecture entreprise a été</a:t>
            </a:r>
          </a:p>
          <a:p>
            <a:pPr>
              <a:lnSpc>
                <a:spcPts val="2000"/>
              </a:lnSpc>
              <a:spcBef>
                <a:spcPts val="0"/>
              </a:spcBef>
              <a:spcAft>
                <a:spcPts val="0"/>
              </a:spcAft>
              <a:defRPr sz="1600" b="0">
                <a:solidFill>
                  <a:srgbClr val="F4F6FA"/>
                </a:solidFill>
                <a:latin typeface="Arial"/>
              </a:defRPr>
            </a:pPr>
            <a:r>
              <a:t>exploité à ce stade.</a:t>
            </a:r>
          </a:p>
          <a:p>
            <a:pPr>
              <a:lnSpc>
                <a:spcPts val="2000"/>
              </a:lnSpc>
              <a:spcBef>
                <a:spcPts val="0"/>
              </a:spcBef>
              <a:spcAft>
                <a:spcPts val="0"/>
              </a:spcAft>
              <a:defRPr sz="1600" b="0">
                <a:solidFill>
                  <a:srgbClr val="F4F6FA"/>
                </a:solidFill>
                <a:latin typeface="Arial"/>
              </a:defRPr>
            </a:pPr>
            <a:r>
              <a:t>Preuves de runs disponibles.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CONCEPTION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Script conçu pour être agnostique</a:t>
            </a:r>
          </a:p>
          <a:p>
            <a:pPr>
              <a:lnSpc>
                <a:spcPts val="2000"/>
              </a:lnSpc>
              <a:spcBef>
                <a:spcPts val="0"/>
              </a:spcBef>
              <a:spcAft>
                <a:spcPts val="0"/>
              </a:spcAft>
              <a:defRPr sz="1600" b="0">
                <a:solidFill>
                  <a:srgbClr val="F4F6FA"/>
                </a:solidFill>
                <a:latin typeface="Arial"/>
              </a:defRPr>
            </a:pPr>
            <a:r>
              <a:t>des modèles et des benchmarks</a:t>
            </a:r>
          </a:p>
          <a:p>
            <a:pPr>
              <a:lnSpc>
                <a:spcPts val="2000"/>
              </a:lnSpc>
              <a:spcBef>
                <a:spcPts val="0"/>
              </a:spcBef>
              <a:spcAft>
                <a:spcPts val="0"/>
              </a:spcAft>
              <a:defRPr sz="1600" b="0">
                <a:solidFill>
                  <a:srgbClr val="F4F6FA"/>
                </a:solidFill>
                <a:latin typeface="Arial"/>
              </a:defRPr>
            </a:pPr>
            <a:r>
              <a:t>cyber.</a:t>
            </a:r>
          </a:p>
          <a:p>
            <a:pPr>
              <a:lnSpc>
                <a:spcPts val="2000"/>
              </a:lnSpc>
              <a:spcBef>
                <a:spcPts val="0"/>
              </a:spcBef>
              <a:spcAft>
                <a:spcPts val="0"/>
              </a:spcAft>
              <a:defRPr sz="1600" b="0">
                <a:solidFill>
                  <a:srgbClr val="F4F6FA"/>
                </a:solidFill>
                <a:latin typeface="Arial"/>
              </a:defRPr>
            </a:pPr>
            <a:r>
              <a:t>Interfaces de configuration à</a:t>
            </a:r>
          </a:p>
          <a:p>
            <a:pPr>
              <a:lnSpc>
                <a:spcPts val="2000"/>
              </a:lnSpc>
              <a:spcBef>
                <a:spcPts val="0"/>
              </a:spcBef>
              <a:spcAft>
                <a:spcPts val="0"/>
              </a:spcAft>
              <a:defRPr sz="1600" b="0">
                <a:solidFill>
                  <a:srgbClr val="F4F6FA"/>
                </a:solidFill>
                <a:latin typeface="Arial"/>
              </a:defRPr>
            </a:pPr>
            <a:r>
              <a:t>montrer.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LIMITE C7</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Pas encore de comparaison</a:t>
            </a:r>
          </a:p>
          <a:p>
            <a:pPr>
              <a:lnSpc>
                <a:spcPts val="2000"/>
              </a:lnSpc>
              <a:spcBef>
                <a:spcPts val="0"/>
              </a:spcBef>
              <a:spcAft>
                <a:spcPts val="0"/>
              </a:spcAft>
              <a:defRPr sz="1600" b="0">
                <a:solidFill>
                  <a:srgbClr val="F4F6FA"/>
                </a:solidFill>
                <a:latin typeface="Arial"/>
              </a:defRPr>
            </a:pPr>
            <a:r>
              <a:t>empirique entre plusieurs modèles.</a:t>
            </a:r>
          </a:p>
          <a:p>
            <a:pPr>
              <a:lnSpc>
                <a:spcPts val="2000"/>
              </a:lnSpc>
              <a:spcBef>
                <a:spcPts val="0"/>
              </a:spcBef>
              <a:spcAft>
                <a:spcPts val="0"/>
              </a:spcAft>
              <a:defRPr sz="1600" b="0">
                <a:solidFill>
                  <a:srgbClr val="F4F6FA"/>
                </a:solidFill>
                <a:latin typeface="Arial"/>
              </a:defRPr>
            </a:pPr>
            <a:r>
              <a:t>Distinguer contrainte d’architecture</a:t>
            </a:r>
          </a:p>
          <a:p>
            <a:pPr>
              <a:lnSpc>
                <a:spcPts val="2000"/>
              </a:lnSpc>
              <a:spcBef>
                <a:spcPts val="0"/>
              </a:spcBef>
              <a:spcAft>
                <a:spcPts val="0"/>
              </a:spcAft>
              <a:defRPr sz="1600" b="0">
                <a:solidFill>
                  <a:srgbClr val="F4F6FA"/>
                </a:solidFill>
                <a:latin typeface="Arial"/>
              </a:defRPr>
            </a:pPr>
            <a:r>
              <a:t>et recommandation de service.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L’extensibilité du runner n’est pas une comparaison multi-modèles déjà réalisée.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ARCHITECTURE · COMPLÉMENT JEU</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génération hébergée, un RAG local</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Décision d’architecture déjà documentée dans le projet.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Service OpenAI-compatible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Narration, choix et décisions</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Modèle piloté par configuration.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RETROUVER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JSON de lore → fragments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Embeddings Ollama → Chroma</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Contexte filtré par aventure.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ORCHESTRER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LangGraph</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Transitions explicites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Outils et moteur de jeu.</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Localiser les embeddings ne signifie pas que le contexte reste entièrement local.</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docs/rag-system.md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C8 · PARAMÉTRAGE · COMPLÉMENT JEU</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la configuration explicite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Valeurs par défaut du code ; l’environnement peut les remplacer.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Modèle : OPENAI_MODEL.</a:t>
            </a:r>
          </a:p>
          <a:p>
            <a:pPr>
              <a:lnSpc>
                <a:spcPts val="2000"/>
              </a:lnSpc>
              <a:spcBef>
                <a:spcPts val="0"/>
              </a:spcBef>
              <a:spcAft>
                <a:spcPts val="0"/>
              </a:spcAft>
              <a:defRPr sz="1600" b="0">
                <a:solidFill>
                  <a:srgbClr val="F4F6FA"/>
                </a:solidFill>
                <a:latin typeface="Arial"/>
              </a:defRPr>
            </a:pPr>
            <a:r>
              <a:t>Clé dans l’environnement.</a:t>
            </a:r>
          </a:p>
          <a:p>
            <a:pPr>
              <a:lnSpc>
                <a:spcPts val="2000"/>
              </a:lnSpc>
              <a:spcBef>
                <a:spcPts val="0"/>
              </a:spcBef>
              <a:spcAft>
                <a:spcPts val="0"/>
              </a:spcAft>
              <a:defRPr sz="1600" b="0">
                <a:solidFill>
                  <a:srgbClr val="F4F6FA"/>
                </a:solidFill>
                <a:latin typeface="Arial"/>
              </a:defRPr>
            </a:pPr>
            <a:r>
              <a:t>Timeout d’appel : 30 s.</a:t>
            </a:r>
          </a:p>
          <a:p>
            <a:pPr>
              <a:lnSpc>
                <a:spcPts val="2000"/>
              </a:lnSpc>
              <a:spcBef>
                <a:spcPts val="0"/>
              </a:spcBef>
              <a:spcAft>
                <a:spcPts val="0"/>
              </a:spcAft>
              <a:defRPr sz="1600" b="0">
                <a:solidFill>
                  <a:srgbClr val="F4F6FA"/>
                </a:solidFill>
                <a:latin typeface="Arial"/>
              </a:defRPr>
            </a:pPr>
            <a:r>
              <a:t>Métadonnées sans clé secrète.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RETRIEVAL</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RAG_ENABLED configurable.</a:t>
            </a:r>
          </a:p>
          <a:p>
            <a:pPr>
              <a:lnSpc>
                <a:spcPts val="2000"/>
              </a:lnSpc>
              <a:spcBef>
                <a:spcPts val="0"/>
              </a:spcBef>
              <a:spcAft>
                <a:spcPts val="0"/>
              </a:spcAft>
              <a:defRPr sz="1600" b="0">
                <a:solidFill>
                  <a:srgbClr val="F4F6FA"/>
                </a:solidFill>
                <a:latin typeface="Arial"/>
              </a:defRPr>
            </a:pPr>
            <a:r>
              <a:t>Ollama : hôte local par défaut.</a:t>
            </a:r>
          </a:p>
          <a:p>
            <a:pPr>
              <a:lnSpc>
                <a:spcPts val="2000"/>
              </a:lnSpc>
              <a:spcBef>
                <a:spcPts val="0"/>
              </a:spcBef>
              <a:spcAft>
                <a:spcPts val="0"/>
              </a:spcAft>
              <a:defRPr sz="1600" b="0">
                <a:solidFill>
                  <a:srgbClr val="F4F6FA"/>
                </a:solidFill>
                <a:latin typeface="Arial"/>
              </a:defRPr>
            </a:pPr>
            <a:r>
              <a:t>Embeddings : mxbai-embed-large.</a:t>
            </a:r>
          </a:p>
          <a:p>
            <a:pPr>
              <a:lnSpc>
                <a:spcPts val="2000"/>
              </a:lnSpc>
              <a:spcBef>
                <a:spcPts val="0"/>
              </a:spcBef>
              <a:spcAft>
                <a:spcPts val="0"/>
              </a:spcAft>
              <a:defRPr sz="1600" b="0">
                <a:solidFill>
                  <a:srgbClr val="F4F6FA"/>
                </a:solidFill>
                <a:latin typeface="Arial"/>
              </a:defRPr>
            </a:pPr>
            <a:r>
              <a:t>Timeout : 10 s ; 3 tentatives.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FRONTIÈRE API</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Choix : 1 000 caractères max.</a:t>
            </a:r>
          </a:p>
          <a:p>
            <a:pPr>
              <a:lnSpc>
                <a:spcPts val="2000"/>
              </a:lnSpc>
              <a:spcBef>
                <a:spcPts val="0"/>
              </a:spcBef>
              <a:spcAft>
                <a:spcPts val="0"/>
              </a:spcAft>
              <a:defRPr sz="1600" b="0">
                <a:solidFill>
                  <a:srgbClr val="F4F6FA"/>
                </a:solidFill>
                <a:latin typeface="Arial"/>
              </a:defRPr>
            </a:pPr>
            <a:r>
              <a:t>Quota par défaut : 20 tours par</a:t>
            </a:r>
          </a:p>
          <a:p>
            <a:pPr>
              <a:lnSpc>
                <a:spcPts val="2000"/>
              </a:lnSpc>
              <a:spcBef>
                <a:spcPts val="0"/>
              </a:spcBef>
              <a:spcAft>
                <a:spcPts val="0"/>
              </a:spcAft>
              <a:defRPr sz="1600" b="0">
                <a:solidFill>
                  <a:srgbClr val="F4F6FA"/>
                </a:solidFill>
                <a:latin typeface="Arial"/>
              </a:defRPr>
            </a:pPr>
            <a:r>
              <a:t>utilisateur et par heure.</a:t>
            </a:r>
          </a:p>
          <a:p>
            <a:pPr>
              <a:lnSpc>
                <a:spcPts val="2000"/>
              </a:lnSpc>
              <a:spcBef>
                <a:spcPts val="0"/>
              </a:spcBef>
              <a:spcAft>
                <a:spcPts val="0"/>
              </a:spcAft>
              <a:defRPr sz="1600" b="0">
                <a:solidFill>
                  <a:srgbClr val="F4F6FA"/>
                </a:solidFill>
                <a:latin typeface="Arial"/>
              </a:defRPr>
            </a:pPr>
            <a:r>
              <a:t>Validation de configuration.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paramètres décrivent le déploiement ; les secrets restent hors des supports.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src/agents/runtime_config.py ; .env.example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C8 · RAG · COMPLÉMENT JEU</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Préparer le contexte avant la génération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 locale du corpus : 57 fragments préparés.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CORPUS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6 fichiers de personnages.</a:t>
            </a:r>
          </a:p>
          <a:p>
            <a:pPr>
              <a:lnSpc>
                <a:spcPts val="2000"/>
              </a:lnSpc>
              <a:spcBef>
                <a:spcPts val="0"/>
              </a:spcBef>
              <a:spcAft>
                <a:spcPts val="0"/>
              </a:spcAft>
              <a:defRPr sz="1600" b="0">
                <a:solidFill>
                  <a:srgbClr val="F4F6FA"/>
                </a:solidFill>
                <a:latin typeface="Arial"/>
              </a:defRPr>
            </a:pPr>
            <a:r>
              <a:t>3 fichiers de lieux.</a:t>
            </a:r>
          </a:p>
          <a:p>
            <a:pPr>
              <a:lnSpc>
                <a:spcPts val="2000"/>
              </a:lnSpc>
              <a:spcBef>
                <a:spcPts val="0"/>
              </a:spcBef>
              <a:spcAft>
                <a:spcPts val="0"/>
              </a:spcAft>
              <a:defRPr sz="1600" b="0">
                <a:solidFill>
                  <a:srgbClr val="F4F6FA"/>
                </a:solidFill>
                <a:latin typeface="Arial"/>
              </a:defRPr>
            </a:pPr>
            <a:r>
              <a:t>57 fragments au dry-run.</a:t>
            </a:r>
          </a:p>
          <a:p>
            <a:pPr>
              <a:lnSpc>
                <a:spcPts val="2000"/>
              </a:lnSpc>
              <a:spcBef>
                <a:spcPts val="0"/>
              </a:spcBef>
              <a:spcAft>
                <a:spcPts val="0"/>
              </a:spcAft>
              <a:defRPr sz="1600" b="0">
                <a:solidFill>
                  <a:srgbClr val="F4F6FA"/>
                </a:solidFill>
                <a:latin typeface="Arial"/>
              </a:defRPr>
            </a:pPr>
            <a:r>
              <a:t>Métadonnées de source.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L’EXÉCUTION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Requête contextualisée.</a:t>
            </a:r>
          </a:p>
          <a:p>
            <a:pPr>
              <a:lnSpc>
                <a:spcPts val="2000"/>
              </a:lnSpc>
              <a:spcBef>
                <a:spcPts val="0"/>
              </a:spcBef>
              <a:spcAft>
                <a:spcPts val="0"/>
              </a:spcAft>
              <a:defRPr sz="1600" b="0">
                <a:solidFill>
                  <a:srgbClr val="F4F6FA"/>
                </a:solidFill>
                <a:latin typeface="Arial"/>
              </a:defRPr>
            </a:pPr>
            <a:r>
              <a:t>Recherche filtrée par aventure.</a:t>
            </a:r>
          </a:p>
          <a:p>
            <a:pPr>
              <a:lnSpc>
                <a:spcPts val="2000"/>
              </a:lnSpc>
              <a:spcBef>
                <a:spcPts val="0"/>
              </a:spcBef>
              <a:spcAft>
                <a:spcPts val="0"/>
              </a:spcAft>
              <a:defRPr sz="1600" b="0">
                <a:solidFill>
                  <a:srgbClr val="F4F6FA"/>
                </a:solidFill>
                <a:latin typeface="Arial"/>
              </a:defRPr>
            </a:pPr>
            <a:r>
              <a:t>Passages injectés au prompt.</a:t>
            </a:r>
          </a:p>
          <a:p>
            <a:pPr>
              <a:lnSpc>
                <a:spcPts val="2000"/>
              </a:lnSpc>
              <a:spcBef>
                <a:spcPts val="0"/>
              </a:spcBef>
              <a:spcAft>
                <a:spcPts val="0"/>
              </a:spcAft>
              <a:defRPr sz="1600" b="0">
                <a:solidFill>
                  <a:srgbClr val="F4F6FA"/>
                </a:solidFill>
                <a:latin typeface="Arial"/>
              </a:defRPr>
            </a:pPr>
            <a:r>
              <a:t>Cache selon le service.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 CAS D’ÉCHEC</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Contexte vide et poursuite du jeu.</a:t>
            </a:r>
          </a:p>
          <a:p>
            <a:pPr>
              <a:lnSpc>
                <a:spcPts val="2000"/>
              </a:lnSpc>
              <a:spcBef>
                <a:spcPts val="0"/>
              </a:spcBef>
              <a:spcAft>
                <a:spcPts val="0"/>
              </a:spcAft>
              <a:defRPr sz="1600" b="0">
                <a:solidFill>
                  <a:srgbClr val="F4F6FA"/>
                </a:solidFill>
                <a:latin typeface="Arial"/>
              </a:defRPr>
            </a:pPr>
            <a:r>
              <a:t>Échec visible dans les métriques.</a:t>
            </a:r>
          </a:p>
          <a:p>
            <a:pPr>
              <a:lnSpc>
                <a:spcPts val="2000"/>
              </a:lnSpc>
              <a:spcBef>
                <a:spcPts val="0"/>
              </a:spcBef>
              <a:spcAft>
                <a:spcPts val="0"/>
              </a:spcAft>
              <a:defRPr sz="1600" b="0">
                <a:solidFill>
                  <a:srgbClr val="F4F6FA"/>
                </a:solidFill>
                <a:latin typeface="Arial"/>
              </a:defRPr>
            </a:pPr>
            <a:r>
              <a:t>Qualité narrative à surveiller.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dry-run vérifie la préparation ; il ne mesure ni les embeddings ni le rappel du RAG.</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src/retrieval/ ; vérification du 14/09/2026</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ÉVALUATION · TRAÇABILITÉ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Conserver et interpréter chaque campagne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 modèle exécuté ; cyber et performance mesurés par le même outil.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RÉSULTATS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Scores de benchmarks cyber.</a:t>
            </a:r>
          </a:p>
          <a:p>
            <a:pPr>
              <a:lnSpc>
                <a:spcPts val="2000"/>
              </a:lnSpc>
              <a:spcBef>
                <a:spcPts val="0"/>
              </a:spcBef>
              <a:spcAft>
                <a:spcPts val="0"/>
              </a:spcAft>
              <a:defRPr sz="1600" b="0">
                <a:solidFill>
                  <a:srgbClr val="F4F6FA"/>
                </a:solidFill>
                <a:latin typeface="Arial"/>
              </a:defRPr>
            </a:pPr>
            <a:r>
              <a:t>P50 / P95 / P99.</a:t>
            </a:r>
          </a:p>
          <a:p>
            <a:pPr>
              <a:lnSpc>
                <a:spcPts val="2000"/>
              </a:lnSpc>
              <a:spcBef>
                <a:spcPts val="0"/>
              </a:spcBef>
              <a:spcAft>
                <a:spcPts val="0"/>
              </a:spcAft>
              <a:defRPr sz="1600" b="0">
                <a:solidFill>
                  <a:srgbClr val="F4F6FA"/>
                </a:solidFill>
                <a:latin typeface="Arial"/>
              </a:defRPr>
            </a:pPr>
            <a:r>
              <a:t>Vitesse et concurrence.</a:t>
            </a:r>
          </a:p>
          <a:p>
            <a:pPr>
              <a:lnSpc>
                <a:spcPts val="2000"/>
              </a:lnSpc>
              <a:spcBef>
                <a:spcPts val="0"/>
              </a:spcBef>
              <a:spcAft>
                <a:spcPts val="0"/>
              </a:spcAft>
              <a:defRPr sz="1600" b="0">
                <a:solidFill>
                  <a:srgbClr val="F4F6FA"/>
                </a:solidFill>
                <a:latin typeface="Arial"/>
              </a:defRPr>
            </a:pPr>
            <a:r>
              <a:t>Enregistrement en BDD.</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RUNNER AGNOSTIQUE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Prise en compte de différents</a:t>
            </a:r>
          </a:p>
          <a:p>
            <a:pPr>
              <a:lnSpc>
                <a:spcPts val="2000"/>
              </a:lnSpc>
              <a:spcBef>
                <a:spcPts val="0"/>
              </a:spcBef>
              <a:spcAft>
                <a:spcPts val="0"/>
              </a:spcAft>
              <a:defRPr sz="1600" b="0">
                <a:solidFill>
                  <a:srgbClr val="F4F6FA"/>
                </a:solidFill>
                <a:latin typeface="Arial"/>
              </a:defRPr>
            </a:pPr>
            <a:r>
              <a:t>modèles et benchmarks prévue par</a:t>
            </a:r>
          </a:p>
          <a:p>
            <a:pPr>
              <a:lnSpc>
                <a:spcPts val="2000"/>
              </a:lnSpc>
              <a:spcBef>
                <a:spcPts val="0"/>
              </a:spcBef>
              <a:spcAft>
                <a:spcPts val="0"/>
              </a:spcAft>
              <a:defRPr sz="1600" b="0">
                <a:solidFill>
                  <a:srgbClr val="F4F6FA"/>
                </a:solidFill>
                <a:latin typeface="Arial"/>
              </a:defRPr>
            </a:pPr>
            <a:r>
              <a:t>conception.</a:t>
            </a:r>
          </a:p>
          <a:p>
            <a:pPr>
              <a:lnSpc>
                <a:spcPts val="2000"/>
              </a:lnSpc>
              <a:spcBef>
                <a:spcPts val="0"/>
              </a:spcBef>
              <a:spcAft>
                <a:spcPts val="0"/>
              </a:spcAft>
              <a:defRPr sz="1600" b="0">
                <a:solidFill>
                  <a:srgbClr val="F4F6FA"/>
                </a:solidFill>
                <a:latin typeface="Arial"/>
              </a:defRPr>
            </a:pPr>
            <a:r>
              <a:t>Montrer l’interface de configuration.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PREUVES À JOINDRE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Référence Qwen confirmée.</a:t>
            </a:r>
          </a:p>
          <a:p>
            <a:pPr>
              <a:lnSpc>
                <a:spcPts val="2000"/>
              </a:lnSpc>
              <a:spcBef>
                <a:spcPts val="0"/>
              </a:spcBef>
              <a:spcAft>
                <a:spcPts val="0"/>
              </a:spcAft>
              <a:defRPr sz="1600" b="0">
                <a:solidFill>
                  <a:srgbClr val="F4F6FA"/>
                </a:solidFill>
                <a:latin typeface="Arial"/>
              </a:defRPr>
            </a:pPr>
            <a:r>
              <a:t>Une campagne réelle.</a:t>
            </a:r>
          </a:p>
          <a:p>
            <a:pPr>
              <a:lnSpc>
                <a:spcPts val="2000"/>
              </a:lnSpc>
              <a:spcBef>
                <a:spcPts val="0"/>
              </a:spcBef>
              <a:spcAft>
                <a:spcPts val="0"/>
              </a:spcAft>
              <a:defRPr sz="1600" b="0">
                <a:solidFill>
                  <a:srgbClr val="F4F6FA"/>
                </a:solidFill>
                <a:latin typeface="Arial"/>
              </a:defRPr>
            </a:pPr>
            <a:r>
              <a:t>Conditions, unités et erreurs.</a:t>
            </a:r>
          </a:p>
          <a:p>
            <a:pPr>
              <a:lnSpc>
                <a:spcPts val="2000"/>
              </a:lnSpc>
              <a:spcBef>
                <a:spcPts val="0"/>
              </a:spcBef>
              <a:spcAft>
                <a:spcPts val="0"/>
              </a:spcAft>
              <a:defRPr sz="1600" b="0">
                <a:solidFill>
                  <a:srgbClr val="F4F6FA"/>
                </a:solidFill>
                <a:latin typeface="Arial"/>
              </a:defRPr>
            </a:pPr>
            <a:r>
              <a:t>Schéma des résultats stockés.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Présenter les scores du modèle disponible, sans fabriquer de classement.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E2 · BILAN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veille concrète et un outil d’évaluation</a:t>
            </a:r>
          </a:p>
          <a:p>
            <a:pPr>
              <a:lnSpc>
                <a:spcPts val="4250"/>
              </a:lnSpc>
              <a:spcBef>
                <a:spcPts val="0"/>
              </a:spcBef>
              <a:spcAft>
                <a:spcPts val="0"/>
              </a:spcAft>
              <a:defRPr sz="3400" b="1">
                <a:solidFill>
                  <a:srgbClr val="F4F6FA"/>
                </a:solidFill>
                <a:latin typeface="Arial"/>
              </a:defRPr>
            </a:pPr>
            <a:r>
              <a:t>opérationnel</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comparaison porte aujourd’hui sur les benchmarks, pas encore sur plusieurs modèles.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C6</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Environ dix benchmarks étudiés.</a:t>
            </a:r>
          </a:p>
          <a:p>
            <a:pPr>
              <a:lnSpc>
                <a:spcPts val="2000"/>
              </a:lnSpc>
              <a:spcBef>
                <a:spcPts val="0"/>
              </a:spcBef>
              <a:spcAft>
                <a:spcPts val="0"/>
              </a:spcAft>
              <a:defRPr sz="1600" b="0">
                <a:solidFill>
                  <a:srgbClr val="F4F6FA"/>
                </a:solidFill>
                <a:latin typeface="Arial"/>
              </a:defRPr>
            </a:pPr>
            <a:r>
              <a:t>Scoring, usage et licences</a:t>
            </a:r>
          </a:p>
          <a:p>
            <a:pPr>
              <a:lnSpc>
                <a:spcPts val="2000"/>
              </a:lnSpc>
              <a:spcBef>
                <a:spcPts val="0"/>
              </a:spcBef>
              <a:spcAft>
                <a:spcPts val="0"/>
              </a:spcAft>
              <a:defRPr sz="1600" b="0">
                <a:solidFill>
                  <a:srgbClr val="F4F6FA"/>
                </a:solidFill>
                <a:latin typeface="Arial"/>
              </a:defRPr>
            </a:pPr>
            <a:r>
              <a:t>comparés.</a:t>
            </a:r>
          </a:p>
          <a:p>
            <a:pPr>
              <a:lnSpc>
                <a:spcPts val="2000"/>
              </a:lnSpc>
              <a:spcBef>
                <a:spcPts val="0"/>
              </a:spcBef>
              <a:spcAft>
                <a:spcPts val="0"/>
              </a:spcAft>
              <a:defRPr sz="1600" b="0">
                <a:solidFill>
                  <a:srgbClr val="F4F6FA"/>
                </a:solidFill>
                <a:latin typeface="Arial"/>
              </a:defRPr>
            </a:pPr>
            <a:r>
              <a:t>Matrice et traces de partage à</a:t>
            </a:r>
          </a:p>
          <a:p>
            <a:pPr>
              <a:lnSpc>
                <a:spcPts val="2000"/>
              </a:lnSpc>
              <a:spcBef>
                <a:spcPts val="0"/>
              </a:spcBef>
              <a:spcAft>
                <a:spcPts val="0"/>
              </a:spcAft>
              <a:defRPr sz="1600" b="0">
                <a:solidFill>
                  <a:srgbClr val="F4F6FA"/>
                </a:solidFill>
                <a:latin typeface="Arial"/>
              </a:defRPr>
            </a:pPr>
            <a:r>
              <a:t>joindre.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C7</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modèle imposé par sa</a:t>
            </a:r>
          </a:p>
          <a:p>
            <a:pPr>
              <a:lnSpc>
                <a:spcPts val="2000"/>
              </a:lnSpc>
              <a:spcBef>
                <a:spcPts val="0"/>
              </a:spcBef>
              <a:spcAft>
                <a:spcPts val="0"/>
              </a:spcAft>
              <a:defRPr sz="1600" b="0">
                <a:solidFill>
                  <a:srgbClr val="F4F6FA"/>
                </a:solidFill>
                <a:latin typeface="Arial"/>
              </a:defRPr>
            </a:pPr>
            <a:r>
              <a:t>disponibilité.</a:t>
            </a:r>
          </a:p>
          <a:p>
            <a:pPr>
              <a:lnSpc>
                <a:spcPts val="2000"/>
              </a:lnSpc>
              <a:spcBef>
                <a:spcPts val="0"/>
              </a:spcBef>
              <a:spcAft>
                <a:spcPts val="0"/>
              </a:spcAft>
              <a:defRPr sz="1600" b="0">
                <a:solidFill>
                  <a:srgbClr val="F4F6FA"/>
                </a:solidFill>
                <a:latin typeface="Arial"/>
              </a:defRPr>
            </a:pPr>
            <a:r>
              <a:t>Comparaison et recommandation</a:t>
            </a:r>
          </a:p>
          <a:p>
            <a:pPr>
              <a:lnSpc>
                <a:spcPts val="2000"/>
              </a:lnSpc>
              <a:spcBef>
                <a:spcPts val="0"/>
              </a:spcBef>
              <a:spcAft>
                <a:spcPts val="0"/>
              </a:spcAft>
              <a:defRPr sz="1600" b="0">
                <a:solidFill>
                  <a:srgbClr val="F4F6FA"/>
                </a:solidFill>
                <a:latin typeface="Arial"/>
              </a:defRPr>
            </a:pPr>
            <a:r>
              <a:t>de services encore à étayer.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C8</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Configuration du jeu en</a:t>
            </a:r>
          </a:p>
          <a:p>
            <a:pPr>
              <a:lnSpc>
                <a:spcPts val="2000"/>
              </a:lnSpc>
              <a:spcBef>
                <a:spcPts val="0"/>
              </a:spcBef>
              <a:spcAft>
                <a:spcPts val="0"/>
              </a:spcAft>
              <a:defRPr sz="1600" b="0">
                <a:solidFill>
                  <a:srgbClr val="F4F6FA"/>
                </a:solidFill>
                <a:latin typeface="Arial"/>
              </a:defRPr>
            </a:pPr>
            <a:r>
              <a:t>complément.</a:t>
            </a:r>
          </a:p>
          <a:p>
            <a:pPr>
              <a:lnSpc>
                <a:spcPts val="2000"/>
              </a:lnSpc>
              <a:spcBef>
                <a:spcPts val="0"/>
              </a:spcBef>
              <a:spcAft>
                <a:spcPts val="0"/>
              </a:spcAft>
              <a:defRPr sz="1600" b="0">
                <a:solidFill>
                  <a:srgbClr val="F4F6FA"/>
                </a:solidFill>
                <a:latin typeface="Arial"/>
              </a:defRPr>
            </a:pPr>
            <a:r>
              <a:t>Joindre l’environnement et la</a:t>
            </a:r>
          </a:p>
          <a:p>
            <a:pPr>
              <a:lnSpc>
                <a:spcPts val="2000"/>
              </a:lnSpc>
              <a:spcBef>
                <a:spcPts val="0"/>
              </a:spcBef>
              <a:spcAft>
                <a:spcPts val="0"/>
              </a:spcAft>
              <a:defRPr sz="1600" b="0">
                <a:solidFill>
                  <a:srgbClr val="F4F6FA"/>
                </a:solidFill>
                <a:latin typeface="Arial"/>
              </a:defRPr>
            </a:pPr>
            <a:r>
              <a:t>référence exacte du modèle</a:t>
            </a:r>
          </a:p>
          <a:p>
            <a:pPr>
              <a:lnSpc>
                <a:spcPts val="2000"/>
              </a:lnSpc>
              <a:spcBef>
                <a:spcPts val="0"/>
              </a:spcBef>
              <a:spcAft>
                <a:spcPts val="0"/>
              </a:spcAft>
              <a:defRPr sz="1600" b="0">
                <a:solidFill>
                  <a:srgbClr val="F4F6FA"/>
                </a:solidFill>
                <a:latin typeface="Arial"/>
              </a:defRPr>
            </a:pPr>
            <a:r>
              <a:t>entreprise.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point fort nouveau est C12 ; la limite de comparaison C7 reste explicite.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E3 · C9 À C13</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Intégration et évaluation : des preuves</a:t>
            </a:r>
          </a:p>
          <a:p>
            <a:pPr>
              <a:lnSpc>
                <a:spcPts val="4250"/>
              </a:lnSpc>
              <a:spcBef>
                <a:spcPts val="0"/>
              </a:spcBef>
              <a:spcAft>
                <a:spcPts val="0"/>
              </a:spcAft>
              <a:defRPr sz="3400" b="1">
                <a:solidFill>
                  <a:srgbClr val="F4F6FA"/>
                </a:solidFill>
                <a:latin typeface="Arial"/>
              </a:defRPr>
            </a:pPr>
            <a:r>
              <a:t>complémentaires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Trois contextes identifiés, sans fusion artificielle de leurs architectures.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CALL TO AIDVENTURE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 du jeu et intégration IA.</a:t>
            </a:r>
          </a:p>
          <a:p>
            <a:pPr>
              <a:lnSpc>
                <a:spcPts val="2000"/>
              </a:lnSpc>
              <a:spcBef>
                <a:spcPts val="0"/>
              </a:spcBef>
              <a:spcAft>
                <a:spcPts val="0"/>
              </a:spcAft>
              <a:defRPr sz="1600" b="0">
                <a:solidFill>
                  <a:srgbClr val="F4F6FA"/>
                </a:solidFill>
                <a:latin typeface="Arial"/>
              </a:defRPr>
            </a:pPr>
            <a:r>
              <a:t>Contrôles d’accès, métriques et</a:t>
            </a:r>
          </a:p>
          <a:p>
            <a:pPr>
              <a:lnSpc>
                <a:spcPts val="2000"/>
              </a:lnSpc>
              <a:spcBef>
                <a:spcPts val="0"/>
              </a:spcBef>
              <a:spcAft>
                <a:spcPts val="0"/>
              </a:spcAft>
              <a:defRPr sz="1600" b="0">
                <a:solidFill>
                  <a:srgbClr val="F4F6FA"/>
                </a:solidFill>
                <a:latin typeface="Arial"/>
              </a:defRPr>
            </a:pPr>
            <a:r>
              <a:t>workflow existants.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ANALYSTE CYBER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Application Django et agent LLM.</a:t>
            </a:r>
          </a:p>
          <a:p>
            <a:pPr>
              <a:lnSpc>
                <a:spcPts val="2000"/>
              </a:lnSpc>
              <a:spcBef>
                <a:spcPts val="0"/>
              </a:spcBef>
              <a:spcAft>
                <a:spcPts val="0"/>
              </a:spcAft>
              <a:defRPr sz="1600" b="0">
                <a:solidFill>
                  <a:srgbClr val="F4F6FA"/>
                </a:solidFill>
                <a:latin typeface="Arial"/>
              </a:defRPr>
            </a:pPr>
            <a:r>
              <a:t>Contribution personnelle : quatre</a:t>
            </a:r>
          </a:p>
          <a:p>
            <a:pPr>
              <a:lnSpc>
                <a:spcPts val="2000"/>
              </a:lnSpc>
              <a:spcBef>
                <a:spcPts val="0"/>
              </a:spcBef>
              <a:spcAft>
                <a:spcPts val="0"/>
              </a:spcAft>
              <a:defRPr sz="1600" b="0">
                <a:solidFill>
                  <a:srgbClr val="F4F6FA"/>
                </a:solidFill>
                <a:latin typeface="Arial"/>
              </a:defRPr>
            </a:pPr>
            <a:r>
              <a:t>stories Tines fournissant des</a:t>
            </a:r>
          </a:p>
          <a:p>
            <a:pPr>
              <a:lnSpc>
                <a:spcPts val="2000"/>
              </a:lnSpc>
              <a:spcBef>
                <a:spcPts val="0"/>
              </a:spcBef>
              <a:spcAft>
                <a:spcPts val="0"/>
              </a:spcAft>
              <a:defRPr sz="1600" b="0">
                <a:solidFill>
                  <a:srgbClr val="F4F6FA"/>
                </a:solidFill>
                <a:latin typeface="Arial"/>
              </a:defRPr>
            </a:pPr>
            <a:r>
              <a:t>données EDR.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ÉVALUATION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Application de benchmarks cyber</a:t>
            </a:r>
          </a:p>
          <a:p>
            <a:pPr>
              <a:lnSpc>
                <a:spcPts val="2000"/>
              </a:lnSpc>
              <a:spcBef>
                <a:spcPts val="0"/>
              </a:spcBef>
              <a:spcAft>
                <a:spcPts val="0"/>
              </a:spcAft>
              <a:defRPr sz="1600" b="0">
                <a:solidFill>
                  <a:srgbClr val="F4F6FA"/>
                </a:solidFill>
                <a:latin typeface="Arial"/>
              </a:defRPr>
            </a:pPr>
            <a:r>
              <a:t>et performance.</a:t>
            </a:r>
          </a:p>
          <a:p>
            <a:pPr>
              <a:lnSpc>
                <a:spcPts val="2000"/>
              </a:lnSpc>
              <a:spcBef>
                <a:spcPts val="0"/>
              </a:spcBef>
              <a:spcAft>
                <a:spcPts val="0"/>
              </a:spcAft>
              <a:defRPr sz="1600" b="0">
                <a:solidFill>
                  <a:srgbClr val="F4F6FA"/>
                </a:solidFill>
                <a:latin typeface="Arial"/>
              </a:defRPr>
            </a:pPr>
            <a:r>
              <a:t>Scores et métriques enregistrés en</a:t>
            </a:r>
          </a:p>
          <a:p>
            <a:pPr>
              <a:lnSpc>
                <a:spcPts val="2000"/>
              </a:lnSpc>
              <a:spcBef>
                <a:spcPts val="0"/>
              </a:spcBef>
              <a:spcAft>
                <a:spcPts val="0"/>
              </a:spcAft>
              <a:defRPr sz="1600" b="0">
                <a:solidFill>
                  <a:srgbClr val="F4F6FA"/>
                </a:solidFill>
                <a:latin typeface="Arial"/>
              </a:defRPr>
            </a:pPr>
            <a:r>
              <a:t>base.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Attribuer chaque résultat et chaque responsabilité au bon projet.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C9 · API REST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Exposer trois points d’entrée documentés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Contrat versionné dans docs/block2/openapi.yaml.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 DE CONFIGURATION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/api/v1/ai/health/</a:t>
            </a:r>
          </a:p>
          <a:p>
            <a:pPr>
              <a:lnSpc>
                <a:spcPts val="2000"/>
              </a:lnSpc>
              <a:spcBef>
                <a:spcPts val="0"/>
              </a:spcBef>
              <a:spcAft>
                <a:spcPts val="0"/>
              </a:spcAft>
              <a:defRPr sz="1600" b="0">
                <a:solidFill>
                  <a:srgbClr val="F4F6FA"/>
                </a:solidFill>
                <a:latin typeface="Arial"/>
              </a:defRPr>
            </a:pPr>
            <a:r>
              <a:t>Public.</a:t>
            </a:r>
          </a:p>
          <a:p>
            <a:pPr>
              <a:lnSpc>
                <a:spcPts val="2000"/>
              </a:lnSpc>
              <a:spcBef>
                <a:spcPts val="0"/>
              </a:spcBef>
              <a:spcAft>
                <a:spcPts val="0"/>
              </a:spcAft>
              <a:defRPr sz="1600" b="0">
                <a:solidFill>
                  <a:srgbClr val="F4F6FA"/>
                </a:solidFill>
                <a:latin typeface="Arial"/>
              </a:defRPr>
            </a:pPr>
            <a:r>
              <a:t>Indique la configuration.</a:t>
            </a:r>
          </a:p>
          <a:p>
            <a:pPr>
              <a:lnSpc>
                <a:spcPts val="2000"/>
              </a:lnSpc>
              <a:spcBef>
                <a:spcPts val="0"/>
              </a:spcBef>
              <a:spcAft>
                <a:spcPts val="0"/>
              </a:spcAft>
              <a:defRPr sz="1600" b="0">
                <a:solidFill>
                  <a:srgbClr val="F4F6FA"/>
                </a:solidFill>
                <a:latin typeface="Arial"/>
              </a:defRPr>
            </a:pPr>
            <a:r>
              <a:t>Ne prouve pas un appel réussi au</a:t>
            </a:r>
          </a:p>
          <a:p>
            <a:pPr>
              <a:lnSpc>
                <a:spcPts val="2000"/>
              </a:lnSpc>
              <a:spcBef>
                <a:spcPts val="0"/>
              </a:spcBef>
              <a:spcAft>
                <a:spcPts val="0"/>
              </a:spcAft>
              <a:defRPr sz="1600" b="0">
                <a:solidFill>
                  <a:srgbClr val="F4F6FA"/>
                </a:solidFill>
                <a:latin typeface="Arial"/>
              </a:defRPr>
            </a:pPr>
            <a:r>
              <a:t>fournisseur.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MÉTADONNÉES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/api/v1/ai/configuration/</a:t>
            </a:r>
          </a:p>
          <a:p>
            <a:pPr>
              <a:lnSpc>
                <a:spcPts val="2000"/>
              </a:lnSpc>
              <a:spcBef>
                <a:spcPts val="0"/>
              </a:spcBef>
              <a:spcAft>
                <a:spcPts val="0"/>
              </a:spcAft>
              <a:defRPr sz="1600" b="0">
                <a:solidFill>
                  <a:srgbClr val="F4F6FA"/>
                </a:solidFill>
                <a:latin typeface="Arial"/>
              </a:defRPr>
            </a:pPr>
            <a:r>
              <a:t>Authentifié.</a:t>
            </a:r>
          </a:p>
          <a:p>
            <a:pPr>
              <a:lnSpc>
                <a:spcPts val="2000"/>
              </a:lnSpc>
              <a:spcBef>
                <a:spcPts val="0"/>
              </a:spcBef>
              <a:spcAft>
                <a:spcPts val="0"/>
              </a:spcAft>
              <a:defRPr sz="1600" b="0">
                <a:solidFill>
                  <a:srgbClr val="F4F6FA"/>
                </a:solidFill>
                <a:latin typeface="Arial"/>
              </a:defRPr>
            </a:pPr>
            <a:r>
              <a:t>Modèles et limites utiles.</a:t>
            </a:r>
          </a:p>
          <a:p>
            <a:pPr>
              <a:lnSpc>
                <a:spcPts val="2000"/>
              </a:lnSpc>
              <a:spcBef>
                <a:spcPts val="0"/>
              </a:spcBef>
              <a:spcAft>
                <a:spcPts val="0"/>
              </a:spcAft>
              <a:defRPr sz="1600" b="0">
                <a:solidFill>
                  <a:srgbClr val="F4F6FA"/>
                </a:solidFill>
                <a:latin typeface="Arial"/>
              </a:defRPr>
            </a:pPr>
            <a:r>
              <a:t>Aucune clé ni prompt.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TOUR DE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POST /api/v1/games/</a:t>
            </a:r>
          </a:p>
          <a:p>
            <a:pPr>
              <a:lnSpc>
                <a:spcPts val="2000"/>
              </a:lnSpc>
              <a:spcBef>
                <a:spcPts val="0"/>
              </a:spcBef>
              <a:spcAft>
                <a:spcPts val="0"/>
              </a:spcAft>
              <a:defRPr sz="1600" b="0">
                <a:solidFill>
                  <a:srgbClr val="F4F6FA"/>
                </a:solidFill>
                <a:latin typeface="Arial"/>
              </a:defRPr>
            </a:pPr>
            <a:r>
              <a:t>{game_id}/turns/</a:t>
            </a:r>
          </a:p>
          <a:p>
            <a:pPr>
              <a:lnSpc>
                <a:spcPts val="2000"/>
              </a:lnSpc>
              <a:spcBef>
                <a:spcPts val="0"/>
              </a:spcBef>
              <a:spcAft>
                <a:spcPts val="0"/>
              </a:spcAft>
              <a:defRPr sz="1600" b="0">
                <a:solidFill>
                  <a:srgbClr val="F4F6FA"/>
                </a:solidFill>
                <a:latin typeface="Arial"/>
              </a:defRPr>
            </a:pPr>
            <a:r>
              <a:t>Session + CSRF.</a:t>
            </a:r>
          </a:p>
          <a:p>
            <a:pPr>
              <a:lnSpc>
                <a:spcPts val="2000"/>
              </a:lnSpc>
              <a:spcBef>
                <a:spcPts val="0"/>
              </a:spcBef>
              <a:spcAft>
                <a:spcPts val="0"/>
              </a:spcAft>
              <a:defRPr sz="1600" b="0">
                <a:solidFill>
                  <a:srgbClr val="F4F6FA"/>
                </a:solidFill>
                <a:latin typeface="Arial"/>
              </a:defRPr>
            </a:pPr>
            <a:r>
              <a:t>Avance une sauvegarde possédée.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configuration valide ne constitue pas une mesure de disponibilité du modèle.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src/django/game/ai_api.py ; docs/block2/openapi.yaml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C9 · CONTRÔLES D’ACCÈS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Contrôler avant de solliciter le modèle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frontière v1 associe identité, propriété et limites.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IDENTITÉ / PROPRIÉTÉ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Session Django.</a:t>
            </a:r>
          </a:p>
          <a:p>
            <a:pPr>
              <a:lnSpc>
                <a:spcPts val="2000"/>
              </a:lnSpc>
              <a:spcBef>
                <a:spcPts val="0"/>
              </a:spcBef>
              <a:spcAft>
                <a:spcPts val="0"/>
              </a:spcAft>
              <a:defRPr sz="1600" b="0">
                <a:solidFill>
                  <a:srgbClr val="F4F6FA"/>
                </a:solidFill>
                <a:latin typeface="Arial"/>
              </a:defRPr>
            </a:pPr>
            <a:r>
              <a:t>Recherche par ID + utilisateur.</a:t>
            </a:r>
          </a:p>
          <a:p>
            <a:pPr>
              <a:lnSpc>
                <a:spcPts val="2000"/>
              </a:lnSpc>
              <a:spcBef>
                <a:spcPts val="0"/>
              </a:spcBef>
              <a:spcAft>
                <a:spcPts val="0"/>
              </a:spcAft>
              <a:defRPr sz="1600" b="0">
                <a:solidFill>
                  <a:srgbClr val="F4F6FA"/>
                </a:solidFill>
                <a:latin typeface="Arial"/>
              </a:defRPr>
            </a:pPr>
            <a:r>
              <a:t>Partie étrangère ou absente :</a:t>
            </a:r>
          </a:p>
          <a:p>
            <a:pPr>
              <a:lnSpc>
                <a:spcPts val="2000"/>
              </a:lnSpc>
              <a:spcBef>
                <a:spcPts val="0"/>
              </a:spcBef>
              <a:spcAft>
                <a:spcPts val="0"/>
              </a:spcAft>
              <a:defRPr sz="1600" b="0">
                <a:solidFill>
                  <a:srgbClr val="F4F6FA"/>
                </a:solidFill>
                <a:latin typeface="Arial"/>
              </a:defRPr>
            </a:pPr>
            <a:r>
              <a:t>même réponse 404.</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REQUÊTE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CSRF requis pour le POST.</a:t>
            </a:r>
          </a:p>
          <a:p>
            <a:pPr>
              <a:lnSpc>
                <a:spcPts val="2000"/>
              </a:lnSpc>
              <a:spcBef>
                <a:spcPts val="0"/>
              </a:spcBef>
              <a:spcAft>
                <a:spcPts val="0"/>
              </a:spcAft>
              <a:defRPr sz="1600" b="0">
                <a:solidFill>
                  <a:srgbClr val="F4F6FA"/>
                </a:solidFill>
                <a:latin typeface="Arial"/>
              </a:defRPr>
            </a:pPr>
            <a:r>
              <a:t>Taille et longueur bornées.</a:t>
            </a:r>
          </a:p>
          <a:p>
            <a:pPr>
              <a:lnSpc>
                <a:spcPts val="2000"/>
              </a:lnSpc>
              <a:spcBef>
                <a:spcPts val="0"/>
              </a:spcBef>
              <a:spcAft>
                <a:spcPts val="0"/>
              </a:spcAft>
              <a:defRPr sz="1600" b="0">
                <a:solidFill>
                  <a:srgbClr val="F4F6FA"/>
                </a:solidFill>
                <a:latin typeface="Arial"/>
              </a:defRPr>
            </a:pPr>
            <a:r>
              <a:t>Choix comparé à la liste serveur</a:t>
            </a:r>
          </a:p>
          <a:p>
            <a:pPr>
              <a:lnSpc>
                <a:spcPts val="2000"/>
              </a:lnSpc>
              <a:spcBef>
                <a:spcPts val="0"/>
              </a:spcBef>
              <a:spcAft>
                <a:spcPts val="0"/>
              </a:spcAft>
              <a:defRPr sz="1600" b="0">
                <a:solidFill>
                  <a:srgbClr val="F4F6FA"/>
                </a:solidFill>
                <a:latin typeface="Arial"/>
              </a:defRPr>
            </a:pPr>
            <a:r>
              <a:t>lorsqu’elle est non vide.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QUOTA</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Compteur utilisateur en cache.</a:t>
            </a:r>
          </a:p>
          <a:p>
            <a:pPr>
              <a:lnSpc>
                <a:spcPts val="2000"/>
              </a:lnSpc>
              <a:spcBef>
                <a:spcPts val="0"/>
              </a:spcBef>
              <a:spcAft>
                <a:spcPts val="0"/>
              </a:spcAft>
              <a:defRPr sz="1600" b="0">
                <a:solidFill>
                  <a:srgbClr val="F4F6FA"/>
                </a:solidFill>
                <a:latin typeface="Arial"/>
              </a:defRPr>
            </a:pPr>
            <a:r>
              <a:t>Dépassement : HTTP 429.</a:t>
            </a:r>
          </a:p>
          <a:p>
            <a:pPr>
              <a:lnSpc>
                <a:spcPts val="2000"/>
              </a:lnSpc>
              <a:spcBef>
                <a:spcPts val="0"/>
              </a:spcBef>
              <a:spcAft>
                <a:spcPts val="0"/>
              </a:spcAft>
              <a:defRPr sz="1600" b="0">
                <a:solidFill>
                  <a:srgbClr val="F4F6FA"/>
                </a:solidFill>
                <a:latin typeface="Arial"/>
              </a:defRPr>
            </a:pPr>
            <a:r>
              <a:t>Un cache partagé et sa</a:t>
            </a:r>
          </a:p>
          <a:p>
            <a:pPr>
              <a:lnSpc>
                <a:spcPts val="2000"/>
              </a:lnSpc>
              <a:spcBef>
                <a:spcPts val="0"/>
              </a:spcBef>
              <a:spcAft>
                <a:spcPts val="0"/>
              </a:spcAft>
              <a:defRPr sz="1600" b="0">
                <a:solidFill>
                  <a:srgbClr val="F4F6FA"/>
                </a:solidFill>
                <a:latin typeface="Arial"/>
              </a:defRPr>
            </a:pPr>
            <a:r>
              <a:t>concurrence sont à revoir pour</a:t>
            </a:r>
          </a:p>
          <a:p>
            <a:pPr>
              <a:lnSpc>
                <a:spcPts val="2000"/>
              </a:lnSpc>
              <a:spcBef>
                <a:spcPts val="0"/>
              </a:spcBef>
              <a:spcAft>
                <a:spcPts val="0"/>
              </a:spcAft>
              <a:defRPr sz="1600" b="0">
                <a:solidFill>
                  <a:srgbClr val="F4F6FA"/>
                </a:solidFill>
                <a:latin typeface="Arial"/>
              </a:defRPr>
            </a:pPr>
            <a:r>
              <a:t>plusieurs instances.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prouvent des contrôles précis ; ils ne constituent pas un audit complet de sécurité.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src/django/game/ai_api.py ; src/django/game/test_ai_api.py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C10 · INTÉGRATION PAR OUTILS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L’agent demande des données aux stories Tines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Contribution confirmée : quatre stories avec un contrat d’API précis.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APPLICATION DJANGO</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L’analyste LLM dispose d’outils</a:t>
            </a:r>
          </a:p>
          <a:p>
            <a:pPr>
              <a:lnSpc>
                <a:spcPts val="2000"/>
              </a:lnSpc>
              <a:spcBef>
                <a:spcPts val="0"/>
              </a:spcBef>
              <a:spcAft>
                <a:spcPts val="0"/>
              </a:spcAft>
              <a:defRPr sz="1600" b="0">
                <a:solidFill>
                  <a:srgbClr val="F4F6FA"/>
                </a:solidFill>
                <a:latin typeface="Arial"/>
              </a:defRPr>
            </a:pPr>
            <a:r>
              <a:t>permettant d’appeler les endpoints</a:t>
            </a:r>
          </a:p>
          <a:p>
            <a:pPr>
              <a:lnSpc>
                <a:spcPts val="2000"/>
              </a:lnSpc>
              <a:spcBef>
                <a:spcPts val="0"/>
              </a:spcBef>
              <a:spcAft>
                <a:spcPts val="0"/>
              </a:spcAft>
              <a:defRPr sz="1600" b="0">
                <a:solidFill>
                  <a:srgbClr val="F4F6FA"/>
                </a:solidFill>
                <a:latin typeface="Arial"/>
              </a:defRPr>
            </a:pPr>
            <a:r>
              <a:t>selon l’entité cyber à examiner.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TINES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Webhook d’entrée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Story dédiée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Interrogation des consoles EDR</a:t>
            </a:r>
          </a:p>
          <a:p>
            <a:pPr>
              <a:lnSpc>
                <a:spcPts val="2000"/>
              </a:lnSpc>
              <a:spcBef>
                <a:spcPts val="0"/>
              </a:spcBef>
              <a:spcAft>
                <a:spcPts val="0"/>
              </a:spcAft>
              <a:defRPr sz="1600" b="0">
                <a:solidFill>
                  <a:srgbClr val="F4F6FA"/>
                </a:solidFill>
                <a:latin typeface="Arial"/>
              </a:defRPr>
            </a:pPr>
            <a:r>
              <a:t>nécessaires.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RETOUR À L’AGENT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Les données récupérées sont</a:t>
            </a:r>
          </a:p>
          <a:p>
            <a:pPr>
              <a:lnSpc>
                <a:spcPts val="2000"/>
              </a:lnSpc>
              <a:spcBef>
                <a:spcPts val="0"/>
              </a:spcBef>
              <a:spcAft>
                <a:spcPts val="0"/>
              </a:spcAft>
              <a:defRPr sz="1600" b="0">
                <a:solidFill>
                  <a:srgbClr val="F4F6FA"/>
                </a:solidFill>
                <a:latin typeface="Arial"/>
              </a:defRPr>
            </a:pPr>
            <a:r>
              <a:t>renvoyées à l’appelant.</a:t>
            </a:r>
          </a:p>
          <a:p>
            <a:pPr>
              <a:lnSpc>
                <a:spcPts val="2000"/>
              </a:lnSpc>
              <a:spcBef>
                <a:spcPts val="0"/>
              </a:spcBef>
              <a:spcAft>
                <a:spcPts val="0"/>
              </a:spcAft>
              <a:defRPr sz="1600" b="0">
                <a:solidFill>
                  <a:srgbClr val="F4F6FA"/>
                </a:solidFill>
                <a:latin typeface="Arial"/>
              </a:defRPr>
            </a:pPr>
            <a:r>
              <a:t>Contrat et exemple d’échange à</a:t>
            </a:r>
          </a:p>
          <a:p>
            <a:pPr>
              <a:lnSpc>
                <a:spcPts val="2000"/>
              </a:lnSpc>
              <a:spcBef>
                <a:spcPts val="0"/>
              </a:spcBef>
              <a:spcAft>
                <a:spcPts val="0"/>
              </a:spcAft>
              <a:defRPr sz="1600" b="0">
                <a:solidFill>
                  <a:srgbClr val="F4F6FA"/>
                </a:solidFill>
                <a:latin typeface="Arial"/>
              </a:defRPr>
            </a:pPr>
            <a:r>
              <a:t>joindre.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Ces endpoints exposent des données et des outils ; ils n’exposent pas le modèle lui-même.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C10 · SORTIES ET ERREURS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Valider la forme et protéger la progression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appels au modèle peuvent échouer ou produire une réponse inutilisable.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SORTIES TYPÉES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ChoiceOutput : 3 choix distincts,</a:t>
            </a:r>
          </a:p>
          <a:p>
            <a:pPr>
              <a:lnSpc>
                <a:spcPts val="2000"/>
              </a:lnSpc>
              <a:spcBef>
                <a:spcPts val="0"/>
              </a:spcBef>
              <a:spcAft>
                <a:spcPts val="0"/>
              </a:spcAft>
              <a:defRPr sz="1600" b="0">
                <a:solidFill>
                  <a:srgbClr val="F4F6FA"/>
                </a:solidFill>
                <a:latin typeface="Arial"/>
              </a:defRPr>
            </a:pPr>
            <a:r>
              <a:t>chacun ≤ 6 mots.</a:t>
            </a:r>
          </a:p>
          <a:p>
            <a:pPr>
              <a:lnSpc>
                <a:spcPts val="2000"/>
              </a:lnSpc>
              <a:spcBef>
                <a:spcPts val="0"/>
              </a:spcBef>
              <a:spcAft>
                <a:spcPts val="0"/>
              </a:spcAft>
              <a:defRPr sz="1600" b="0">
                <a:solidFill>
                  <a:srgbClr val="F4F6FA"/>
                </a:solidFill>
                <a:latin typeface="Arial"/>
              </a:defRPr>
            </a:pPr>
            <a:r>
              <a:t>Objectifs et progression : schémas</a:t>
            </a:r>
          </a:p>
          <a:p>
            <a:pPr>
              <a:lnSpc>
                <a:spcPts val="2000"/>
              </a:lnSpc>
              <a:spcBef>
                <a:spcPts val="0"/>
              </a:spcBef>
              <a:spcAft>
                <a:spcPts val="0"/>
              </a:spcAft>
              <a:defRPr sz="1600" b="0">
                <a:solidFill>
                  <a:srgbClr val="F4F6FA"/>
                </a:solidFill>
                <a:latin typeface="Arial"/>
              </a:defRPr>
            </a:pPr>
            <a:r>
              <a:t>dédiés.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REPRISES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Retry sur erreurs transitoires.</a:t>
            </a:r>
          </a:p>
          <a:p>
            <a:pPr>
              <a:lnSpc>
                <a:spcPts val="2000"/>
              </a:lnSpc>
              <a:spcBef>
                <a:spcPts val="0"/>
              </a:spcBef>
              <a:spcAft>
                <a:spcPts val="0"/>
              </a:spcAft>
              <a:defRPr sz="1600" b="0">
                <a:solidFill>
                  <a:srgbClr val="F4F6FA"/>
                </a:solidFill>
                <a:latin typeface="Arial"/>
              </a:defRPr>
            </a:pPr>
            <a:r>
              <a:t>Délais et tentatives bornés.</a:t>
            </a:r>
          </a:p>
          <a:p>
            <a:pPr>
              <a:lnSpc>
                <a:spcPts val="2000"/>
              </a:lnSpc>
              <a:spcBef>
                <a:spcPts val="0"/>
              </a:spcBef>
              <a:spcAft>
                <a:spcPts val="0"/>
              </a:spcAft>
              <a:defRPr sz="1600" b="0">
                <a:solidFill>
                  <a:srgbClr val="F4F6FA"/>
                </a:solidFill>
                <a:latin typeface="Arial"/>
              </a:defRPr>
            </a:pPr>
            <a:r>
              <a:t>Après épuisement : erreur</a:t>
            </a:r>
          </a:p>
          <a:p>
            <a:pPr>
              <a:lnSpc>
                <a:spcPts val="2000"/>
              </a:lnSpc>
              <a:spcBef>
                <a:spcPts val="0"/>
              </a:spcBef>
              <a:spcAft>
                <a:spcPts val="0"/>
              </a:spcAft>
              <a:defRPr sz="1600" b="0">
                <a:solidFill>
                  <a:srgbClr val="F4F6FA"/>
                </a:solidFill>
                <a:latin typeface="Arial"/>
              </a:defRPr>
            </a:pPr>
            <a:r>
              <a:t>contrôlée du service.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 DU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génération échouée ne doit</a:t>
            </a:r>
          </a:p>
          <a:p>
            <a:pPr>
              <a:lnSpc>
                <a:spcPts val="2000"/>
              </a:lnSpc>
              <a:spcBef>
                <a:spcPts val="0"/>
              </a:spcBef>
              <a:spcAft>
                <a:spcPts val="0"/>
              </a:spcAft>
              <a:defRPr sz="1600" b="0">
                <a:solidFill>
                  <a:srgbClr val="F4F6FA"/>
                </a:solidFill>
                <a:latin typeface="Arial"/>
              </a:defRPr>
            </a:pPr>
            <a:r>
              <a:t>pas avancer l’état.</a:t>
            </a:r>
          </a:p>
          <a:p>
            <a:pPr>
              <a:lnSpc>
                <a:spcPts val="2000"/>
              </a:lnSpc>
              <a:spcBef>
                <a:spcPts val="0"/>
              </a:spcBef>
              <a:spcAft>
                <a:spcPts val="0"/>
              </a:spcAft>
              <a:defRPr sz="1600" b="0">
                <a:solidFill>
                  <a:srgbClr val="F4F6FA"/>
                </a:solidFill>
                <a:latin typeface="Arial"/>
              </a:defRPr>
            </a:pPr>
            <a:r>
              <a:t>Les règles de soin, dégâts et</a:t>
            </a:r>
          </a:p>
          <a:p>
            <a:pPr>
              <a:lnSpc>
                <a:spcPts val="2000"/>
              </a:lnSpc>
              <a:spcBef>
                <a:spcPts val="0"/>
              </a:spcBef>
              <a:spcAft>
                <a:spcPts val="0"/>
              </a:spcAft>
              <a:defRPr sz="1600" b="0">
                <a:solidFill>
                  <a:srgbClr val="F4F6FA"/>
                </a:solidFill>
                <a:latin typeface="Arial"/>
              </a:defRPr>
            </a:pPr>
            <a:r>
              <a:t>progression restent côté serveur.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Réussite HTTP, validité du schéma et pertinence narrative sont trois vérifications différentes.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src/agents/schemas.py ; src/django/game/tests.py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C11 · OBSERVABILITÉ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Observer disponibilité, qualité et coût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Collecteurs → Prometheus → Grafana ; règles vers Alertmanager.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Nombre d’appels et erreurs.</a:t>
            </a:r>
          </a:p>
          <a:p>
            <a:pPr>
              <a:lnSpc>
                <a:spcPts val="2000"/>
              </a:lnSpc>
              <a:spcBef>
                <a:spcPts val="0"/>
              </a:spcBef>
              <a:spcAft>
                <a:spcPts val="0"/>
              </a:spcAft>
              <a:defRPr sz="1600" b="0">
                <a:solidFill>
                  <a:srgbClr val="F4F6FA"/>
                </a:solidFill>
                <a:latin typeface="Arial"/>
              </a:defRPr>
            </a:pPr>
            <a:r>
              <a:t>Histogramme des durées.</a:t>
            </a:r>
          </a:p>
          <a:p>
            <a:pPr>
              <a:lnSpc>
                <a:spcPts val="2000"/>
              </a:lnSpc>
              <a:spcBef>
                <a:spcPts val="0"/>
              </a:spcBef>
              <a:spcAft>
                <a:spcPts val="0"/>
              </a:spcAft>
              <a:defRPr sz="1600" b="0">
                <a:solidFill>
                  <a:srgbClr val="F4F6FA"/>
                </a:solidFill>
                <a:latin typeface="Arial"/>
              </a:defRPr>
            </a:pPr>
            <a:r>
              <a:t>Objectifs : 99 % de succès et p95</a:t>
            </a:r>
          </a:p>
          <a:p>
            <a:pPr>
              <a:lnSpc>
                <a:spcPts val="2000"/>
              </a:lnSpc>
              <a:spcBef>
                <a:spcPts val="0"/>
              </a:spcBef>
              <a:spcAft>
                <a:spcPts val="0"/>
              </a:spcAft>
              <a:defRPr sz="1600" b="0">
                <a:solidFill>
                  <a:srgbClr val="F4F6FA"/>
                </a:solidFill>
                <a:latin typeface="Arial"/>
              </a:defRPr>
            </a:pPr>
            <a:r>
              <a:t>&lt; 30 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RAG</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Sorties structurées valides ou</a:t>
            </a:r>
          </a:p>
          <a:p>
            <a:pPr>
              <a:lnSpc>
                <a:spcPts val="2000"/>
              </a:lnSpc>
              <a:spcBef>
                <a:spcPts val="0"/>
              </a:spcBef>
              <a:spcAft>
                <a:spcPts val="0"/>
              </a:spcAft>
              <a:defRPr sz="1600" b="0">
                <a:solidFill>
                  <a:srgbClr val="F4F6FA"/>
                </a:solidFill>
                <a:latin typeface="Arial"/>
              </a:defRPr>
            </a:pPr>
            <a:r>
              <a:t>invalides.</a:t>
            </a:r>
          </a:p>
          <a:p>
            <a:pPr>
              <a:lnSpc>
                <a:spcPts val="2000"/>
              </a:lnSpc>
              <a:spcBef>
                <a:spcPts val="0"/>
              </a:spcBef>
              <a:spcAft>
                <a:spcPts val="0"/>
              </a:spcAft>
              <a:defRPr sz="1600" b="0">
                <a:solidFill>
                  <a:srgbClr val="F4F6FA"/>
                </a:solidFill>
                <a:latin typeface="Arial"/>
              </a:defRPr>
            </a:pPr>
            <a:r>
              <a:t>RAG : résultats, vides, erreurs et</a:t>
            </a:r>
          </a:p>
          <a:p>
            <a:pPr>
              <a:lnSpc>
                <a:spcPts val="2000"/>
              </a:lnSpc>
              <a:spcBef>
                <a:spcPts val="0"/>
              </a:spcBef>
              <a:spcAft>
                <a:spcPts val="0"/>
              </a:spcAft>
              <a:defRPr sz="1600" b="0">
                <a:solidFill>
                  <a:srgbClr val="F4F6FA"/>
                </a:solidFill>
                <a:latin typeface="Arial"/>
              </a:defRPr>
            </a:pPr>
            <a:r>
              <a:t>durées de récupération.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CONSOMMATION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Tokens d’entrée / sortie.</a:t>
            </a:r>
          </a:p>
          <a:p>
            <a:pPr>
              <a:lnSpc>
                <a:spcPts val="2000"/>
              </a:lnSpc>
              <a:spcBef>
                <a:spcPts val="0"/>
              </a:spcBef>
              <a:spcAft>
                <a:spcPts val="0"/>
              </a:spcAft>
              <a:defRPr sz="1600" b="0">
                <a:solidFill>
                  <a:srgbClr val="F4F6FA"/>
                </a:solidFill>
                <a:latin typeface="Arial"/>
              </a:defRPr>
            </a:pPr>
            <a:r>
              <a:t>Coût estimé avec tarifs configurés.</a:t>
            </a:r>
          </a:p>
          <a:p>
            <a:pPr>
              <a:lnSpc>
                <a:spcPts val="2000"/>
              </a:lnSpc>
              <a:spcBef>
                <a:spcPts val="0"/>
              </a:spcBef>
              <a:spcAft>
                <a:spcPts val="0"/>
              </a:spcAft>
              <a:defRPr sz="1600" b="0">
                <a:solidFill>
                  <a:srgbClr val="F4F6FA"/>
                </a:solidFill>
                <a:latin typeface="Arial"/>
              </a:defRPr>
            </a:pPr>
            <a:r>
              <a:t>Labels sans prompts, identités ni</a:t>
            </a:r>
          </a:p>
          <a:p>
            <a:pPr>
              <a:lnSpc>
                <a:spcPts val="2000"/>
              </a:lnSpc>
              <a:spcBef>
                <a:spcPts val="0"/>
              </a:spcBef>
              <a:spcAft>
                <a:spcPts val="0"/>
              </a:spcAft>
              <a:defRPr sz="1600" b="0">
                <a:solidFill>
                  <a:srgbClr val="F4F6FA"/>
                </a:solidFill>
                <a:latin typeface="Arial"/>
              </a:defRPr>
            </a:pPr>
            <a:r>
              <a:t>sessions.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SLO sont des objectifs ; aucun historique de production n’est présenté ici.</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src/observability/ ; docs/block2/monitoring-slos.md ; monitoring/</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C11 · ALERTES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Transformer un signal en action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Règles présentes ; livraison d’une notification externe à démontrer.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DÉTECTER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3 indisponibilités en 10 min.</a:t>
            </a:r>
          </a:p>
          <a:p>
            <a:pPr>
              <a:lnSpc>
                <a:spcPts val="2000"/>
              </a:lnSpc>
              <a:spcBef>
                <a:spcPts val="0"/>
              </a:spcBef>
              <a:spcAft>
                <a:spcPts val="0"/>
              </a:spcAft>
              <a:defRPr sz="1600" b="0">
                <a:solidFill>
                  <a:srgbClr val="F4F6FA"/>
                </a:solidFill>
                <a:latin typeface="Arial"/>
              </a:defRPr>
            </a:pPr>
            <a:r>
              <a:t>Latence élevée persistante.</a:t>
            </a:r>
          </a:p>
          <a:p>
            <a:pPr>
              <a:lnSpc>
                <a:spcPts val="2000"/>
              </a:lnSpc>
              <a:spcBef>
                <a:spcPts val="0"/>
              </a:spcBef>
              <a:spcAft>
                <a:spcPts val="0"/>
              </a:spcAft>
              <a:defRPr sz="1600" b="0">
                <a:solidFill>
                  <a:srgbClr val="F4F6FA"/>
                </a:solidFill>
                <a:latin typeface="Arial"/>
              </a:defRPr>
            </a:pPr>
            <a:r>
              <a:t>Sortie structurée invalide.</a:t>
            </a:r>
          </a:p>
          <a:p>
            <a:pPr>
              <a:lnSpc>
                <a:spcPts val="2000"/>
              </a:lnSpc>
              <a:spcBef>
                <a:spcPts val="0"/>
              </a:spcBef>
              <a:spcAft>
                <a:spcPts val="0"/>
              </a:spcAft>
              <a:defRPr sz="1600" b="0">
                <a:solidFill>
                  <a:srgbClr val="F4F6FA"/>
                </a:solidFill>
                <a:latin typeface="Arial"/>
              </a:defRPr>
            </a:pPr>
            <a:r>
              <a:t>Erreurs de retrieval.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DIAGNOSTIQUER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Identifier modèle et révision.</a:t>
            </a:r>
          </a:p>
          <a:p>
            <a:pPr>
              <a:lnSpc>
                <a:spcPts val="2000"/>
              </a:lnSpc>
              <a:spcBef>
                <a:spcPts val="0"/>
              </a:spcBef>
              <a:spcAft>
                <a:spcPts val="0"/>
              </a:spcAft>
              <a:defRPr sz="1600" b="0">
                <a:solidFill>
                  <a:srgbClr val="F4F6FA"/>
                </a:solidFill>
                <a:latin typeface="Arial"/>
              </a:defRPr>
            </a:pPr>
            <a:r>
              <a:t>Comparer erreurs, durée et RAG.</a:t>
            </a:r>
          </a:p>
          <a:p>
            <a:pPr>
              <a:lnSpc>
                <a:spcPts val="2000"/>
              </a:lnSpc>
              <a:spcBef>
                <a:spcPts val="0"/>
              </a:spcBef>
              <a:spcAft>
                <a:spcPts val="0"/>
              </a:spcAft>
              <a:defRPr sz="1600" b="0">
                <a:solidFill>
                  <a:srgbClr val="F4F6FA"/>
                </a:solidFill>
                <a:latin typeface="Arial"/>
              </a:defRPr>
            </a:pPr>
            <a:r>
              <a:t>Reproduire avec un cas minimal</a:t>
            </a:r>
          </a:p>
          <a:p>
            <a:pPr>
              <a:lnSpc>
                <a:spcPts val="2000"/>
              </a:lnSpc>
              <a:spcBef>
                <a:spcPts val="0"/>
              </a:spcBef>
              <a:spcAft>
                <a:spcPts val="0"/>
              </a:spcAft>
              <a:defRPr sz="1600" b="0">
                <a:solidFill>
                  <a:srgbClr val="F4F6FA"/>
                </a:solidFill>
                <a:latin typeface="Arial"/>
              </a:defRPr>
            </a:pPr>
            <a:r>
              <a:t>sans donnée personnelle.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AMÉLIORER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Corriger prompt ou configuration.</a:t>
            </a:r>
          </a:p>
          <a:p>
            <a:pPr>
              <a:lnSpc>
                <a:spcPts val="2000"/>
              </a:lnSpc>
              <a:spcBef>
                <a:spcPts val="0"/>
              </a:spcBef>
              <a:spcAft>
                <a:spcPts val="0"/>
              </a:spcAft>
              <a:defRPr sz="1600" b="0">
                <a:solidFill>
                  <a:srgbClr val="F4F6FA"/>
                </a:solidFill>
                <a:latin typeface="Arial"/>
              </a:defRPr>
            </a:pPr>
            <a:r>
              <a:t>Rejouer les cas de référence.</a:t>
            </a:r>
          </a:p>
          <a:p>
            <a:pPr>
              <a:lnSpc>
                <a:spcPts val="2000"/>
              </a:lnSpc>
              <a:spcBef>
                <a:spcPts val="0"/>
              </a:spcBef>
              <a:spcAft>
                <a:spcPts val="0"/>
              </a:spcAft>
              <a:defRPr sz="1600" b="0">
                <a:solidFill>
                  <a:srgbClr val="F4F6FA"/>
                </a:solidFill>
                <a:latin typeface="Arial"/>
              </a:defRPr>
            </a:pPr>
            <a:r>
              <a:t>Comparer avant / après.</a:t>
            </a:r>
          </a:p>
          <a:p>
            <a:pPr>
              <a:lnSpc>
                <a:spcPts val="2000"/>
              </a:lnSpc>
              <a:spcBef>
                <a:spcPts val="0"/>
              </a:spcBef>
              <a:spcAft>
                <a:spcPts val="0"/>
              </a:spcAft>
              <a:defRPr sz="1600" b="0">
                <a:solidFill>
                  <a:srgbClr val="F4F6FA"/>
                </a:solidFill>
                <a:latin typeface="Arial"/>
              </a:defRPr>
            </a:pPr>
            <a:r>
              <a:t>Garder un retour arrière.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Alertmanager utilise un récepteur local : aucune notification externe n’a été prouvée.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docs/block2/monitoring-slos.md ; monitoring/alertmanager/</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C12 · ÉVALUATION AUTOMATISÉE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Exécuter des benchmarks cyber et de performance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Réalisation d’alternance : une application de lancement et de stockage des résultats.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CYBERSÉCURITÉ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Exécution des benchmarks</a:t>
            </a:r>
          </a:p>
          <a:p>
            <a:pPr>
              <a:lnSpc>
                <a:spcPts val="2000"/>
              </a:lnSpc>
              <a:spcBef>
                <a:spcPts val="0"/>
              </a:spcBef>
              <a:spcAft>
                <a:spcPts val="0"/>
              </a:spcAft>
              <a:defRPr sz="1600" b="0">
                <a:solidFill>
                  <a:srgbClr val="F4F6FA"/>
                </a:solidFill>
                <a:latin typeface="Arial"/>
              </a:defRPr>
            </a:pPr>
            <a:r>
              <a:t>retenus.</a:t>
            </a:r>
          </a:p>
          <a:p>
            <a:pPr>
              <a:lnSpc>
                <a:spcPts val="2000"/>
              </a:lnSpc>
              <a:spcBef>
                <a:spcPts val="0"/>
              </a:spcBef>
              <a:spcAft>
                <a:spcPts val="0"/>
              </a:spcAft>
              <a:defRPr sz="1600" b="0">
                <a:solidFill>
                  <a:srgbClr val="F4F6FA"/>
                </a:solidFill>
                <a:latin typeface="Arial"/>
              </a:defRPr>
            </a:pPr>
            <a:r>
              <a:t>Production de scores.</a:t>
            </a:r>
          </a:p>
          <a:p>
            <a:pPr>
              <a:lnSpc>
                <a:spcPts val="2000"/>
              </a:lnSpc>
              <a:spcBef>
                <a:spcPts val="0"/>
              </a:spcBef>
              <a:spcAft>
                <a:spcPts val="0"/>
              </a:spcAft>
              <a:defRPr sz="1600" b="0">
                <a:solidFill>
                  <a:srgbClr val="F4F6FA"/>
                </a:solidFill>
                <a:latin typeface="Arial"/>
              </a:defRPr>
            </a:pPr>
            <a:r>
              <a:t>Règles de scoring sans juge</a:t>
            </a:r>
          </a:p>
          <a:p>
            <a:pPr>
              <a:lnSpc>
                <a:spcPts val="2000"/>
              </a:lnSpc>
              <a:spcBef>
                <a:spcPts val="0"/>
              </a:spcBef>
              <a:spcAft>
                <a:spcPts val="0"/>
              </a:spcAft>
              <a:defRPr sz="1600" b="0">
                <a:solidFill>
                  <a:srgbClr val="F4F6FA"/>
                </a:solidFill>
                <a:latin typeface="Arial"/>
              </a:defRPr>
            </a:pPr>
            <a:r>
              <a:t>humain ni LLM recherchées à la</a:t>
            </a:r>
          </a:p>
          <a:p>
            <a:pPr>
              <a:lnSpc>
                <a:spcPts val="2000"/>
              </a:lnSpc>
              <a:spcBef>
                <a:spcPts val="0"/>
              </a:spcBef>
              <a:spcAft>
                <a:spcPts val="0"/>
              </a:spcAft>
              <a:defRPr sz="1600" b="0">
                <a:solidFill>
                  <a:srgbClr val="F4F6FA"/>
                </a:solidFill>
                <a:latin typeface="Arial"/>
              </a:defRPr>
            </a:pPr>
            <a:r>
              <a:t>sélection.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PERFORMANCE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Mesures P50, P95, P99.</a:t>
            </a:r>
          </a:p>
          <a:p>
            <a:pPr>
              <a:lnSpc>
                <a:spcPts val="2000"/>
              </a:lnSpc>
              <a:spcBef>
                <a:spcPts val="0"/>
              </a:spcBef>
              <a:spcAft>
                <a:spcPts val="0"/>
              </a:spcAft>
              <a:defRPr sz="1600" b="0">
                <a:solidFill>
                  <a:srgbClr val="F4F6FA"/>
                </a:solidFill>
                <a:latin typeface="Arial"/>
              </a:defRPr>
            </a:pPr>
            <a:r>
              <a:t>Vitesse et concurrence.</a:t>
            </a:r>
          </a:p>
          <a:p>
            <a:pPr>
              <a:lnSpc>
                <a:spcPts val="2000"/>
              </a:lnSpc>
              <a:spcBef>
                <a:spcPts val="0"/>
              </a:spcBef>
              <a:spcAft>
                <a:spcPts val="0"/>
              </a:spcAft>
              <a:defRPr sz="1600" b="0">
                <a:solidFill>
                  <a:srgbClr val="F4F6FA"/>
                </a:solidFill>
                <a:latin typeface="Arial"/>
              </a:defRPr>
            </a:pPr>
            <a:r>
              <a:t>Définir les unités, le scénario et le</a:t>
            </a:r>
          </a:p>
          <a:p>
            <a:pPr>
              <a:lnSpc>
                <a:spcPts val="2000"/>
              </a:lnSpc>
              <a:spcBef>
                <a:spcPts val="0"/>
              </a:spcBef>
              <a:spcAft>
                <a:spcPts val="0"/>
              </a:spcAft>
              <a:defRPr sz="1600" b="0">
                <a:solidFill>
                  <a:srgbClr val="F4F6FA"/>
                </a:solidFill>
                <a:latin typeface="Arial"/>
              </a:defRPr>
            </a:pPr>
            <a:r>
              <a:t>nombre de requêtes.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PERSISTANCE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Métriques et résultats en BDD.</a:t>
            </a:r>
          </a:p>
          <a:p>
            <a:pPr>
              <a:lnSpc>
                <a:spcPts val="2000"/>
              </a:lnSpc>
              <a:spcBef>
                <a:spcPts val="0"/>
              </a:spcBef>
              <a:spcAft>
                <a:spcPts val="0"/>
              </a:spcAft>
              <a:defRPr sz="1600" b="0">
                <a:solidFill>
                  <a:srgbClr val="F4F6FA"/>
                </a:solidFill>
                <a:latin typeface="Arial"/>
              </a:defRPr>
            </a:pPr>
            <a:r>
              <a:t>Joindre une exécution réelle, son</a:t>
            </a:r>
          </a:p>
          <a:p>
            <a:pPr>
              <a:lnSpc>
                <a:spcPts val="2000"/>
              </a:lnSpc>
              <a:spcBef>
                <a:spcPts val="0"/>
              </a:spcBef>
              <a:spcAft>
                <a:spcPts val="0"/>
              </a:spcAft>
              <a:defRPr sz="1600" b="0">
                <a:solidFill>
                  <a:srgbClr val="F4F6FA"/>
                </a:solidFill>
                <a:latin typeface="Arial"/>
              </a:defRPr>
            </a:pPr>
            <a:r>
              <a:t>contexte et les résultats</a:t>
            </a:r>
          </a:p>
          <a:p>
            <a:pPr>
              <a:lnSpc>
                <a:spcPts val="2000"/>
              </a:lnSpc>
              <a:spcBef>
                <a:spcPts val="0"/>
              </a:spcBef>
              <a:spcAft>
                <a:spcPts val="0"/>
              </a:spcAft>
              <a:defRPr sz="1600" b="0">
                <a:solidFill>
                  <a:srgbClr val="F4F6FA"/>
                </a:solidFill>
                <a:latin typeface="Arial"/>
              </a:defRPr>
            </a:pPr>
            <a:r>
              <a:t>correspondants.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du logiciel et les évaluations des modèles restent deux preuves distinctes.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C12 · RUN À PRÉSENTER</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Présenter un run du modèle disponible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Famille Qwen ; référence exacte et résultats à insérer depuis les preuves.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CYBER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Benchmark et version.</a:t>
            </a:r>
          </a:p>
          <a:p>
            <a:pPr>
              <a:lnSpc>
                <a:spcPts val="2000"/>
              </a:lnSpc>
              <a:spcBef>
                <a:spcPts val="0"/>
              </a:spcBef>
              <a:spcAft>
                <a:spcPts val="0"/>
              </a:spcAft>
              <a:defRPr sz="1600" b="0">
                <a:solidFill>
                  <a:srgbClr val="F4F6FA"/>
                </a:solidFill>
                <a:latin typeface="Arial"/>
              </a:defRPr>
            </a:pPr>
            <a:r>
              <a:t>Score obtenu et unité.</a:t>
            </a:r>
          </a:p>
          <a:p>
            <a:pPr>
              <a:lnSpc>
                <a:spcPts val="2000"/>
              </a:lnSpc>
              <a:spcBef>
                <a:spcPts val="0"/>
              </a:spcBef>
              <a:spcAft>
                <a:spcPts val="0"/>
              </a:spcAft>
              <a:defRPr sz="1600" b="0">
                <a:solidFill>
                  <a:srgbClr val="F4F6FA"/>
                </a:solidFill>
                <a:latin typeface="Arial"/>
              </a:defRPr>
            </a:pPr>
            <a:r>
              <a:t>Nombre de cas.</a:t>
            </a:r>
          </a:p>
          <a:p>
            <a:pPr>
              <a:lnSpc>
                <a:spcPts val="2000"/>
              </a:lnSpc>
              <a:spcBef>
                <a:spcPts val="0"/>
              </a:spcBef>
              <a:spcAft>
                <a:spcPts val="0"/>
              </a:spcAft>
              <a:defRPr sz="1600" b="0">
                <a:solidFill>
                  <a:srgbClr val="F4F6FA"/>
                </a:solidFill>
                <a:latin typeface="Arial"/>
              </a:defRPr>
            </a:pPr>
            <a:r>
              <a:t>Mécanisme de scoring retenu.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PERFORMANCE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P50 / P95 / P99.</a:t>
            </a:r>
          </a:p>
          <a:p>
            <a:pPr>
              <a:lnSpc>
                <a:spcPts val="2000"/>
              </a:lnSpc>
              <a:spcBef>
                <a:spcPts val="0"/>
              </a:spcBef>
              <a:spcAft>
                <a:spcPts val="0"/>
              </a:spcAft>
              <a:defRPr sz="1600" b="0">
                <a:solidFill>
                  <a:srgbClr val="F4F6FA"/>
                </a:solidFill>
                <a:latin typeface="Arial"/>
              </a:defRPr>
            </a:pPr>
            <a:r>
              <a:t>Vitesse et unité.</a:t>
            </a:r>
          </a:p>
          <a:p>
            <a:pPr>
              <a:lnSpc>
                <a:spcPts val="2000"/>
              </a:lnSpc>
              <a:spcBef>
                <a:spcPts val="0"/>
              </a:spcBef>
              <a:spcAft>
                <a:spcPts val="0"/>
              </a:spcAft>
              <a:defRPr sz="1600" b="0">
                <a:solidFill>
                  <a:srgbClr val="F4F6FA"/>
                </a:solidFill>
                <a:latin typeface="Arial"/>
              </a:defRPr>
            </a:pPr>
            <a:r>
              <a:t>Concurrence exercée.</a:t>
            </a:r>
          </a:p>
          <a:p>
            <a:pPr>
              <a:lnSpc>
                <a:spcPts val="2000"/>
              </a:lnSpc>
              <a:spcBef>
                <a:spcPts val="0"/>
              </a:spcBef>
              <a:spcAft>
                <a:spcPts val="0"/>
              </a:spcAft>
              <a:defRPr sz="1600" b="0">
                <a:solidFill>
                  <a:srgbClr val="F4F6FA"/>
                </a:solidFill>
                <a:latin typeface="Arial"/>
              </a:defRPr>
            </a:pPr>
            <a:r>
              <a:t>Charge, erreurs et durée du test.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INTERPRÉTATION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Ce que le run démontre.</a:t>
            </a:r>
          </a:p>
          <a:p>
            <a:pPr>
              <a:lnSpc>
                <a:spcPts val="2000"/>
              </a:lnSpc>
              <a:spcBef>
                <a:spcPts val="0"/>
              </a:spcBef>
              <a:spcAft>
                <a:spcPts val="0"/>
              </a:spcAft>
              <a:defRPr sz="1600" b="0">
                <a:solidFill>
                  <a:srgbClr val="F4F6FA"/>
                </a:solidFill>
                <a:latin typeface="Arial"/>
              </a:defRPr>
            </a:pPr>
            <a:r>
              <a:t>Ses limites.</a:t>
            </a:r>
          </a:p>
          <a:p>
            <a:pPr>
              <a:lnSpc>
                <a:spcPts val="2000"/>
              </a:lnSpc>
              <a:spcBef>
                <a:spcPts val="0"/>
              </a:spcBef>
              <a:spcAft>
                <a:spcPts val="0"/>
              </a:spcAft>
              <a:defRPr sz="1600" b="0">
                <a:solidFill>
                  <a:srgbClr val="F4F6FA"/>
                </a:solidFill>
                <a:latin typeface="Arial"/>
              </a:defRPr>
            </a:pPr>
            <a:r>
              <a:t>Décisions possibles pour l’usage.</a:t>
            </a:r>
          </a:p>
          <a:p>
            <a:pPr>
              <a:lnSpc>
                <a:spcPts val="2000"/>
              </a:lnSpc>
              <a:spcBef>
                <a:spcPts val="0"/>
              </a:spcBef>
              <a:spcAft>
                <a:spcPts val="0"/>
              </a:spcAft>
              <a:defRPr sz="1600" b="0">
                <a:solidFill>
                  <a:srgbClr val="F4F6FA"/>
                </a:solidFill>
                <a:latin typeface="Arial"/>
              </a:defRPr>
            </a:pPr>
            <a:r>
              <a:t>Aucun classement multi-modèles.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runs existent selon le candidat ; aucune valeur n’est recopiée avant réception des pièces.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C13 · INTÉGRATION CONTINUE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Automatiser les contrôles avant livraison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Workflow Block 2 AI component versionné dans GitHub Actions.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Dépendances verrouillées.</a:t>
            </a:r>
          </a:p>
          <a:p>
            <a:pPr>
              <a:lnSpc>
                <a:spcPts val="2000"/>
              </a:lnSpc>
              <a:spcBef>
                <a:spcPts val="0"/>
              </a:spcBef>
              <a:spcAft>
                <a:spcPts val="0"/>
              </a:spcAft>
              <a:defRPr sz="1600" b="0">
                <a:solidFill>
                  <a:srgbClr val="F4F6FA"/>
                </a:solidFill>
                <a:latin typeface="Arial"/>
              </a:defRPr>
            </a:pPr>
            <a:r>
              <a:t>Lint et checks Django.</a:t>
            </a:r>
          </a:p>
          <a:p>
            <a:pPr>
              <a:lnSpc>
                <a:spcPts val="2000"/>
              </a:lnSpc>
              <a:spcBef>
                <a:spcPts val="0"/>
              </a:spcBef>
              <a:spcAft>
                <a:spcPts val="0"/>
              </a:spcAft>
              <a:defRPr sz="1600" b="0">
                <a:solidFill>
                  <a:srgbClr val="F4F6FA"/>
                </a:solidFill>
                <a:latin typeface="Arial"/>
              </a:defRPr>
            </a:pPr>
            <a:r>
              <a:t>Tests + seuil de couverture 55 %.</a:t>
            </a:r>
          </a:p>
          <a:p>
            <a:pPr>
              <a:lnSpc>
                <a:spcPts val="2000"/>
              </a:lnSpc>
              <a:spcBef>
                <a:spcPts val="0"/>
              </a:spcBef>
              <a:spcAft>
                <a:spcPts val="0"/>
              </a:spcAft>
              <a:defRPr sz="1600" b="0">
                <a:solidFill>
                  <a:srgbClr val="F4F6FA"/>
                </a:solidFill>
                <a:latin typeface="Arial"/>
              </a:defRPr>
            </a:pPr>
            <a:r>
              <a:t>RAG dry-run + dataset offline.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ARTEFACT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Validation des configurations de</a:t>
            </a:r>
          </a:p>
          <a:p>
            <a:pPr>
              <a:lnSpc>
                <a:spcPts val="2000"/>
              </a:lnSpc>
              <a:spcBef>
                <a:spcPts val="0"/>
              </a:spcBef>
              <a:spcAft>
                <a:spcPts val="0"/>
              </a:spcAft>
              <a:defRPr sz="1600" b="0">
                <a:solidFill>
                  <a:srgbClr val="F4F6FA"/>
                </a:solidFill>
                <a:latin typeface="Arial"/>
              </a:defRPr>
            </a:pPr>
            <a:r>
              <a:t>monitoring.</a:t>
            </a:r>
          </a:p>
          <a:p>
            <a:pPr>
              <a:lnSpc>
                <a:spcPts val="2000"/>
              </a:lnSpc>
              <a:spcBef>
                <a:spcPts val="0"/>
              </a:spcBef>
              <a:spcAft>
                <a:spcPts val="0"/>
              </a:spcAft>
              <a:defRPr sz="1600" b="0">
                <a:solidFill>
                  <a:srgbClr val="F4F6FA"/>
                </a:solidFill>
                <a:latin typeface="Arial"/>
              </a:defRPr>
            </a:pPr>
            <a:r>
              <a:t>Build Docker tagué SHA Git.</a:t>
            </a:r>
          </a:p>
          <a:p>
            <a:pPr>
              <a:lnSpc>
                <a:spcPts val="2000"/>
              </a:lnSpc>
              <a:spcBef>
                <a:spcPts val="0"/>
              </a:spcBef>
              <a:spcAft>
                <a:spcPts val="0"/>
              </a:spcAft>
              <a:defRPr sz="1600" b="0">
                <a:solidFill>
                  <a:srgbClr val="F4F6FA"/>
                </a:solidFill>
                <a:latin typeface="Arial"/>
              </a:defRPr>
            </a:pPr>
            <a:r>
              <a:t>Smoke test HTTP /health.</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ÉVALUATION LIVE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Déclenchement manuel.</a:t>
            </a:r>
          </a:p>
          <a:p>
            <a:pPr>
              <a:lnSpc>
                <a:spcPts val="2000"/>
              </a:lnSpc>
              <a:spcBef>
                <a:spcPts val="0"/>
              </a:spcBef>
              <a:spcAft>
                <a:spcPts val="0"/>
              </a:spcAft>
              <a:defRPr sz="1600" b="0">
                <a:solidFill>
                  <a:srgbClr val="F4F6FA"/>
                </a:solidFill>
                <a:latin typeface="Arial"/>
              </a:defRPr>
            </a:pPr>
            <a:r>
              <a:t>Environnement ai-evaluation.</a:t>
            </a:r>
          </a:p>
          <a:p>
            <a:pPr>
              <a:lnSpc>
                <a:spcPts val="2000"/>
              </a:lnSpc>
              <a:spcBef>
                <a:spcPts val="0"/>
              </a:spcBef>
              <a:spcAft>
                <a:spcPts val="0"/>
              </a:spcAft>
              <a:defRPr sz="1600" b="0">
                <a:solidFill>
                  <a:srgbClr val="F4F6FA"/>
                </a:solidFill>
                <a:latin typeface="Arial"/>
              </a:defRPr>
            </a:pPr>
            <a:r>
              <a:t>Clé protégée.</a:t>
            </a:r>
          </a:p>
          <a:p>
            <a:pPr>
              <a:lnSpc>
                <a:spcPts val="2000"/>
              </a:lnSpc>
              <a:spcBef>
                <a:spcPts val="0"/>
              </a:spcBef>
              <a:spcAft>
                <a:spcPts val="0"/>
              </a:spcAft>
              <a:defRPr sz="1600" b="0">
                <a:solidFill>
                  <a:srgbClr val="F4F6FA"/>
                </a:solidFill>
                <a:latin typeface="Arial"/>
              </a:defRPr>
            </a:pPr>
            <a:r>
              <a:t>Rapport conservé comme artefact.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workflow est présent ; aucun succès GitHub distant n’a été vérifié pour ces slides.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.github/workflows/block2-ai.yml ; docs/block2/delivery.md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C13 · LIVRAISON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Promouvoir un artefact, prévoir le retour arrière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Procédure documentée ; déploiement réel encore à prouver.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PROMOTION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Revoir les tests et le rapport IA.</a:t>
            </a:r>
          </a:p>
          <a:p>
            <a:pPr>
              <a:lnSpc>
                <a:spcPts val="2000"/>
              </a:lnSpc>
              <a:spcBef>
                <a:spcPts val="0"/>
              </a:spcBef>
              <a:spcAft>
                <a:spcPts val="0"/>
              </a:spcAft>
              <a:defRPr sz="1600" b="0">
                <a:solidFill>
                  <a:srgbClr val="F4F6FA"/>
                </a:solidFill>
                <a:latin typeface="Arial"/>
              </a:defRPr>
            </a:pPr>
            <a:r>
              <a:t>Publier l’image exacte.</a:t>
            </a:r>
          </a:p>
          <a:p>
            <a:pPr>
              <a:lnSpc>
                <a:spcPts val="2000"/>
              </a:lnSpc>
              <a:spcBef>
                <a:spcPts val="0"/>
              </a:spcBef>
              <a:spcAft>
                <a:spcPts val="0"/>
              </a:spcAft>
              <a:defRPr sz="1600" b="0">
                <a:solidFill>
                  <a:srgbClr val="F4F6FA"/>
                </a:solidFill>
                <a:latin typeface="Arial"/>
              </a:defRPr>
            </a:pPr>
            <a:r>
              <a:t>Déployer son digest en staging.</a:t>
            </a:r>
          </a:p>
          <a:p>
            <a:pPr>
              <a:lnSpc>
                <a:spcPts val="2000"/>
              </a:lnSpc>
              <a:spcBef>
                <a:spcPts val="0"/>
              </a:spcBef>
              <a:spcAft>
                <a:spcPts val="0"/>
              </a:spcAft>
              <a:defRPr sz="1600" b="0">
                <a:solidFill>
                  <a:srgbClr val="F4F6FA"/>
                </a:solidFill>
                <a:latin typeface="Arial"/>
              </a:defRPr>
            </a:pPr>
            <a:r>
              <a:t>Vérifier santé et parcours.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TRAÇABILITÉ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Révision Git et dataset.</a:t>
            </a:r>
          </a:p>
          <a:p>
            <a:pPr>
              <a:lnSpc>
                <a:spcPts val="2000"/>
              </a:lnSpc>
              <a:spcBef>
                <a:spcPts val="0"/>
              </a:spcBef>
              <a:spcAft>
                <a:spcPts val="0"/>
              </a:spcAft>
              <a:defRPr sz="1600" b="0">
                <a:solidFill>
                  <a:srgbClr val="F4F6FA"/>
                </a:solidFill>
                <a:latin typeface="Arial"/>
              </a:defRPr>
            </a:pPr>
            <a:r>
              <a:t>Modèle et paramètres.</a:t>
            </a:r>
          </a:p>
          <a:p>
            <a:pPr>
              <a:lnSpc>
                <a:spcPts val="2000"/>
              </a:lnSpc>
              <a:spcBef>
                <a:spcPts val="0"/>
              </a:spcBef>
              <a:spcAft>
                <a:spcPts val="0"/>
              </a:spcAft>
              <a:defRPr sz="1600" b="0">
                <a:solidFill>
                  <a:srgbClr val="F4F6FA"/>
                </a:solidFill>
                <a:latin typeface="Arial"/>
              </a:defRPr>
            </a:pPr>
            <a:r>
              <a:t>Prompts versionnés.</a:t>
            </a:r>
          </a:p>
          <a:p>
            <a:pPr>
              <a:lnSpc>
                <a:spcPts val="2000"/>
              </a:lnSpc>
              <a:spcBef>
                <a:spcPts val="0"/>
              </a:spcBef>
              <a:spcAft>
                <a:spcPts val="0"/>
              </a:spcAft>
              <a:defRPr sz="1600" b="0">
                <a:solidFill>
                  <a:srgbClr val="F4F6FA"/>
                </a:solidFill>
                <a:latin typeface="Arial"/>
              </a:defRPr>
            </a:pPr>
            <a:r>
              <a:t>Collection RAG identifiée.</a:t>
            </a:r>
          </a:p>
          <a:p>
            <a:pPr>
              <a:lnSpc>
                <a:spcPts val="2000"/>
              </a:lnSpc>
              <a:spcBef>
                <a:spcPts val="0"/>
              </a:spcBef>
              <a:spcAft>
                <a:spcPts val="0"/>
              </a:spcAft>
              <a:defRPr sz="1600" b="0">
                <a:solidFill>
                  <a:srgbClr val="F4F6FA"/>
                </a:solidFill>
                <a:latin typeface="Arial"/>
              </a:defRPr>
            </a:pPr>
            <a:r>
              <a:t>Conserver les rapports.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RETOUR ARRIÈRE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Redéployer le digest précédent.</a:t>
            </a:r>
          </a:p>
          <a:p>
            <a:pPr>
              <a:lnSpc>
                <a:spcPts val="2000"/>
              </a:lnSpc>
              <a:spcBef>
                <a:spcPts val="0"/>
              </a:spcBef>
              <a:spcAft>
                <a:spcPts val="0"/>
              </a:spcAft>
              <a:defRPr sz="1600" b="0">
                <a:solidFill>
                  <a:srgbClr val="F4F6FA"/>
                </a:solidFill>
                <a:latin typeface="Arial"/>
              </a:defRPr>
            </a:pPr>
            <a:r>
              <a:t>Restaurer sa configuration.</a:t>
            </a:r>
          </a:p>
          <a:p>
            <a:pPr>
              <a:lnSpc>
                <a:spcPts val="2000"/>
              </a:lnSpc>
              <a:spcBef>
                <a:spcPts val="0"/>
              </a:spcBef>
              <a:spcAft>
                <a:spcPts val="0"/>
              </a:spcAft>
              <a:defRPr sz="1600" b="0">
                <a:solidFill>
                  <a:srgbClr val="F4F6FA"/>
                </a:solidFill>
                <a:latin typeface="Arial"/>
              </a:defRPr>
            </a:pPr>
            <a:r>
              <a:t>Revenir à la collection RAG</a:t>
            </a:r>
          </a:p>
          <a:p>
            <a:pPr>
              <a:lnSpc>
                <a:spcPts val="2000"/>
              </a:lnSpc>
              <a:spcBef>
                <a:spcPts val="0"/>
              </a:spcBef>
              <a:spcAft>
                <a:spcPts val="0"/>
              </a:spcAft>
              <a:defRPr sz="1600" b="0">
                <a:solidFill>
                  <a:srgbClr val="F4F6FA"/>
                </a:solidFill>
                <a:latin typeface="Arial"/>
              </a:defRPr>
            </a:pPr>
            <a:r>
              <a:t>prévue.</a:t>
            </a:r>
          </a:p>
          <a:p>
            <a:pPr>
              <a:lnSpc>
                <a:spcPts val="2000"/>
              </a:lnSpc>
              <a:spcBef>
                <a:spcPts val="0"/>
              </a:spcBef>
              <a:spcAft>
                <a:spcPts val="0"/>
              </a:spcAft>
              <a:defRPr sz="1600" b="0">
                <a:solidFill>
                  <a:srgbClr val="F4F6FA"/>
                </a:solidFill>
                <a:latin typeface="Arial"/>
              </a:defRPr>
            </a:pPr>
            <a:r>
              <a:t>Rejouer santé et smoke tests.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digest fixe le conteneur ; il ne fige pas à lui seul le comportement d’un fournisseur distant.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docs/block2/delivery.md ; src/evaluation/runner.py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E3 · DÉMONSTRATION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une preuve par réalisation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Préparer les contrats, les résultats et la traçabilité.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API DU JEU</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la frontière authentifiée et</a:t>
            </a:r>
          </a:p>
          <a:p>
            <a:pPr>
              <a:lnSpc>
                <a:spcPts val="2000"/>
              </a:lnSpc>
              <a:spcBef>
                <a:spcPts val="0"/>
              </a:spcBef>
              <a:spcAft>
                <a:spcPts val="0"/>
              </a:spcAft>
              <a:defRPr sz="1600" b="0">
                <a:solidFill>
                  <a:srgbClr val="F4F6FA"/>
                </a:solidFill>
                <a:latin typeface="Arial"/>
              </a:defRPr>
            </a:pPr>
            <a:r>
              <a:t>un contrôle d’accès.</a:t>
            </a:r>
          </a:p>
          <a:p>
            <a:pPr>
              <a:lnSpc>
                <a:spcPts val="2000"/>
              </a:lnSpc>
              <a:spcBef>
                <a:spcPts val="0"/>
              </a:spcBef>
              <a:spcAft>
                <a:spcPts val="0"/>
              </a:spcAft>
              <a:defRPr sz="1600" b="0">
                <a:solidFill>
                  <a:srgbClr val="F4F6FA"/>
                </a:solidFill>
                <a:latin typeface="Arial"/>
              </a:defRPr>
            </a:pPr>
            <a:r>
              <a:t>Tests locaux disponibles dans le</a:t>
            </a:r>
          </a:p>
          <a:p>
            <a:pPr>
              <a:lnSpc>
                <a:spcPts val="2000"/>
              </a:lnSpc>
              <a:spcBef>
                <a:spcPts val="0"/>
              </a:spcBef>
              <a:spcAft>
                <a:spcPts val="0"/>
              </a:spcAft>
              <a:defRPr sz="1600" b="0">
                <a:solidFill>
                  <a:srgbClr val="F4F6FA"/>
                </a:solidFill>
                <a:latin typeface="Arial"/>
              </a:defRPr>
            </a:pPr>
            <a:r>
              <a:t>dossier initial.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OUTILS TINES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contrat réel.</a:t>
            </a:r>
          </a:p>
          <a:p>
            <a:pPr>
              <a:lnSpc>
                <a:spcPts val="2000"/>
              </a:lnSpc>
              <a:spcBef>
                <a:spcPts val="0"/>
              </a:spcBef>
              <a:spcAft>
                <a:spcPts val="0"/>
              </a:spcAft>
              <a:defRPr sz="1600" b="0">
                <a:solidFill>
                  <a:srgbClr val="F4F6FA"/>
                </a:solidFill>
                <a:latin typeface="Arial"/>
              </a:defRPr>
            </a:pPr>
            <a:r>
              <a:t>Une story et son parcours EDR.</a:t>
            </a:r>
          </a:p>
          <a:p>
            <a:pPr>
              <a:lnSpc>
                <a:spcPts val="2000"/>
              </a:lnSpc>
              <a:spcBef>
                <a:spcPts val="0"/>
              </a:spcBef>
              <a:spcAft>
                <a:spcPts val="0"/>
              </a:spcAft>
              <a:defRPr sz="1600" b="0">
                <a:solidFill>
                  <a:srgbClr val="F4F6FA"/>
                </a:solidFill>
                <a:latin typeface="Arial"/>
              </a:defRPr>
            </a:pPr>
            <a:r>
              <a:t>Une requête / réponse</a:t>
            </a:r>
          </a:p>
          <a:p>
            <a:pPr>
              <a:lnSpc>
                <a:spcPts val="2000"/>
              </a:lnSpc>
              <a:spcBef>
                <a:spcPts val="0"/>
              </a:spcBef>
              <a:spcAft>
                <a:spcPts val="0"/>
              </a:spcAft>
              <a:defRPr sz="1600" b="0">
                <a:solidFill>
                  <a:srgbClr val="F4F6FA"/>
                </a:solidFill>
                <a:latin typeface="Arial"/>
              </a:defRPr>
            </a:pPr>
            <a:r>
              <a:t>anonymisée.</a:t>
            </a:r>
          </a:p>
          <a:p>
            <a:pPr>
              <a:lnSpc>
                <a:spcPts val="2000"/>
              </a:lnSpc>
              <a:spcBef>
                <a:spcPts val="0"/>
              </a:spcBef>
              <a:spcAft>
                <a:spcPts val="0"/>
              </a:spcAft>
              <a:defRPr sz="1600" b="0">
                <a:solidFill>
                  <a:srgbClr val="F4F6FA"/>
                </a:solidFill>
                <a:latin typeface="Arial"/>
              </a:defRPr>
            </a:pPr>
            <a:r>
              <a:t>Contribution personnelle délimitée.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BENCHMARKS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campagne d’évaluation.</a:t>
            </a:r>
          </a:p>
          <a:p>
            <a:pPr>
              <a:lnSpc>
                <a:spcPts val="2000"/>
              </a:lnSpc>
              <a:spcBef>
                <a:spcPts val="0"/>
              </a:spcBef>
              <a:spcAft>
                <a:spcPts val="0"/>
              </a:spcAft>
              <a:defRPr sz="1600" b="0">
                <a:solidFill>
                  <a:srgbClr val="F4F6FA"/>
                </a:solidFill>
                <a:latin typeface="Arial"/>
              </a:defRPr>
            </a:pPr>
            <a:r>
              <a:t>Résultats cyber et performance.</a:t>
            </a:r>
          </a:p>
          <a:p>
            <a:pPr>
              <a:lnSpc>
                <a:spcPts val="2000"/>
              </a:lnSpc>
              <a:spcBef>
                <a:spcPts val="0"/>
              </a:spcBef>
              <a:spcAft>
                <a:spcPts val="0"/>
              </a:spcAft>
              <a:defRPr sz="1600" b="0">
                <a:solidFill>
                  <a:srgbClr val="F4F6FA"/>
                </a:solidFill>
                <a:latin typeface="Arial"/>
              </a:defRPr>
            </a:pPr>
            <a:r>
              <a:t>Enregistrement en base.</a:t>
            </a:r>
          </a:p>
          <a:p>
            <a:pPr>
              <a:lnSpc>
                <a:spcPts val="2000"/>
              </a:lnSpc>
              <a:spcBef>
                <a:spcPts val="0"/>
              </a:spcBef>
              <a:spcAft>
                <a:spcPts val="0"/>
              </a:spcAft>
              <a:defRPr sz="1600" b="0">
                <a:solidFill>
                  <a:srgbClr val="F4F6FA"/>
                </a:solidFill>
                <a:latin typeface="Arial"/>
              </a:defRPr>
            </a:pPr>
            <a:r>
              <a:t>Interprétation des écarts.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livraison continue et l’alerte restent des sujets distincts des campagnes de benchmarks.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C9</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Écarts repérés entre contrat et code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Points identifiés à la lecture ; aucune modification applicative dans cette livraison.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OPENAPI</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 liste security encode session</a:t>
            </a:r>
          </a:p>
          <a:p>
            <a:pPr>
              <a:lnSpc>
                <a:spcPts val="2000"/>
              </a:lnSpc>
              <a:spcBef>
                <a:spcPts val="0"/>
              </a:spcBef>
              <a:spcAft>
                <a:spcPts val="0"/>
              </a:spcAft>
              <a:defRPr sz="1600" b="0">
                <a:solidFill>
                  <a:srgbClr val="F4F6FA"/>
                </a:solidFill>
                <a:latin typeface="Arial"/>
              </a:defRPr>
            </a:pPr>
            <a:r>
              <a:t>OU CSRF, alors que la vue exige</a:t>
            </a:r>
          </a:p>
          <a:p>
            <a:pPr>
              <a:lnSpc>
                <a:spcPts val="2000"/>
              </a:lnSpc>
              <a:spcBef>
                <a:spcPts val="0"/>
              </a:spcBef>
              <a:spcAft>
                <a:spcPts val="0"/>
              </a:spcAft>
              <a:defRPr sz="1600" b="0">
                <a:solidFill>
                  <a:srgbClr val="F4F6FA"/>
                </a:solidFill>
                <a:latin typeface="Arial"/>
              </a:defRPr>
            </a:pPr>
            <a:r>
              <a:t>les deux.</a:t>
            </a:r>
          </a:p>
          <a:p>
            <a:pPr>
              <a:lnSpc>
                <a:spcPts val="2000"/>
              </a:lnSpc>
              <a:spcBef>
                <a:spcPts val="0"/>
              </a:spcBef>
              <a:spcAft>
                <a:spcPts val="0"/>
              </a:spcAft>
              <a:defRPr sz="1600" b="0">
                <a:solidFill>
                  <a:srgbClr val="F4F6FA"/>
                </a:solidFill>
                <a:latin typeface="Arial"/>
              </a:defRPr>
            </a:pPr>
            <a:r>
              <a:t>Réunir les exigences dans le</a:t>
            </a:r>
          </a:p>
          <a:p>
            <a:pPr>
              <a:lnSpc>
                <a:spcPts val="2000"/>
              </a:lnSpc>
              <a:spcBef>
                <a:spcPts val="0"/>
              </a:spcBef>
              <a:spcAft>
                <a:spcPts val="0"/>
              </a:spcAft>
              <a:defRPr sz="1600" b="0">
                <a:solidFill>
                  <a:srgbClr val="F4F6FA"/>
                </a:solidFill>
                <a:latin typeface="Arial"/>
              </a:defRPr>
            </a:pPr>
            <a:r>
              <a:t>contrat.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contrat interdit les champs</a:t>
            </a:r>
          </a:p>
          <a:p>
            <a:pPr>
              <a:lnSpc>
                <a:spcPts val="2000"/>
              </a:lnSpc>
              <a:spcBef>
                <a:spcPts val="0"/>
              </a:spcBef>
              <a:spcAft>
                <a:spcPts val="0"/>
              </a:spcAft>
              <a:defRPr sz="1600" b="0">
                <a:solidFill>
                  <a:srgbClr val="F4F6FA"/>
                </a:solidFill>
                <a:latin typeface="Arial"/>
              </a:defRPr>
            </a:pPr>
            <a:r>
              <a:t>supplémentaires ; la vue ne les</a:t>
            </a:r>
          </a:p>
          <a:p>
            <a:pPr>
              <a:lnSpc>
                <a:spcPts val="2000"/>
              </a:lnSpc>
              <a:spcBef>
                <a:spcPts val="0"/>
              </a:spcBef>
              <a:spcAft>
                <a:spcPts val="0"/>
              </a:spcAft>
              <a:defRPr sz="1600" b="0">
                <a:solidFill>
                  <a:srgbClr val="F4F6FA"/>
                </a:solidFill>
                <a:latin typeface="Arial"/>
              </a:defRPr>
            </a:pPr>
            <a:r>
              <a:t>rejette pas explicitement.</a:t>
            </a:r>
          </a:p>
          <a:p>
            <a:pPr>
              <a:lnSpc>
                <a:spcPts val="2000"/>
              </a:lnSpc>
              <a:spcBef>
                <a:spcPts val="0"/>
              </a:spcBef>
              <a:spcAft>
                <a:spcPts val="0"/>
              </a:spcAft>
              <a:defRPr sz="1600" b="0">
                <a:solidFill>
                  <a:srgbClr val="F4F6FA"/>
                </a:solidFill>
                <a:latin typeface="Arial"/>
              </a:defRPr>
            </a:pPr>
            <a:r>
              <a:t>Un JSON non objet reste à tester.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CHOIX</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 comparaison est conditionnée à</a:t>
            </a:r>
          </a:p>
          <a:p>
            <a:pPr>
              <a:lnSpc>
                <a:spcPts val="2000"/>
              </a:lnSpc>
              <a:spcBef>
                <a:spcPts val="0"/>
              </a:spcBef>
              <a:spcAft>
                <a:spcPts val="0"/>
              </a:spcAft>
              <a:defRPr sz="1600" b="0">
                <a:solidFill>
                  <a:srgbClr val="F4F6FA"/>
                </a:solidFill>
                <a:latin typeface="Arial"/>
              </a:defRPr>
            </a:pPr>
            <a:r>
              <a:t>une liste serveur non vide.</a:t>
            </a:r>
          </a:p>
          <a:p>
            <a:pPr>
              <a:lnSpc>
                <a:spcPts val="2000"/>
              </a:lnSpc>
              <a:spcBef>
                <a:spcPts val="0"/>
              </a:spcBef>
              <a:spcAft>
                <a:spcPts val="0"/>
              </a:spcAft>
              <a:defRPr sz="1600" b="0">
                <a:solidFill>
                  <a:srgbClr val="F4F6FA"/>
                </a:solidFill>
                <a:latin typeface="Arial"/>
              </a:defRPr>
            </a:pPr>
            <a:r>
              <a:t>Définir et tester le comportement</a:t>
            </a:r>
          </a:p>
          <a:p>
            <a:pPr>
              <a:lnSpc>
                <a:spcPts val="2000"/>
              </a:lnSpc>
              <a:spcBef>
                <a:spcPts val="0"/>
              </a:spcBef>
              <a:spcAft>
                <a:spcPts val="0"/>
              </a:spcAft>
              <a:defRPr sz="1600" b="0">
                <a:solidFill>
                  <a:srgbClr val="F4F6FA"/>
                </a:solidFill>
                <a:latin typeface="Arial"/>
              </a:defRPr>
            </a:pPr>
            <a:r>
              <a:t>quand elle est vide.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Conserver ces réserves dans l’argumentaire de sécurité.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docs/block2/openapi.yaml ; src/django/game/ai_api.py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PREUVES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Assembler les pièces sans mélanger les projets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Sources d’alternance à joindre ; code du jeu déjà disponible.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E2</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Matrice des benchmarks.</a:t>
            </a:r>
          </a:p>
          <a:p>
            <a:pPr>
              <a:lnSpc>
                <a:spcPts val="2000"/>
              </a:lnSpc>
              <a:spcBef>
                <a:spcPts val="0"/>
              </a:spcBef>
              <a:spcAft>
                <a:spcPts val="0"/>
              </a:spcAft>
              <a:defRPr sz="1600" b="0">
                <a:solidFill>
                  <a:srgbClr val="F4F6FA"/>
                </a:solidFill>
                <a:latin typeface="Arial"/>
              </a:defRPr>
            </a:pPr>
            <a:r>
              <a:t>Critères et exclusions.</a:t>
            </a:r>
          </a:p>
          <a:p>
            <a:pPr>
              <a:lnSpc>
                <a:spcPts val="2000"/>
              </a:lnSpc>
              <a:spcBef>
                <a:spcPts val="0"/>
              </a:spcBef>
              <a:spcAft>
                <a:spcPts val="0"/>
              </a:spcAft>
              <a:defRPr sz="1600" b="0">
                <a:solidFill>
                  <a:srgbClr val="F4F6FA"/>
                </a:solidFill>
                <a:latin typeface="Arial"/>
              </a:defRPr>
            </a:pPr>
            <a:r>
              <a:t>Restitution de veille.</a:t>
            </a:r>
          </a:p>
          <a:p>
            <a:pPr>
              <a:lnSpc>
                <a:spcPts val="2000"/>
              </a:lnSpc>
              <a:spcBef>
                <a:spcPts val="0"/>
              </a:spcBef>
              <a:spcAft>
                <a:spcPts val="0"/>
              </a:spcAft>
              <a:defRPr sz="1600" b="0">
                <a:solidFill>
                  <a:srgbClr val="F4F6FA"/>
                </a:solidFill>
                <a:latin typeface="Arial"/>
              </a:defRPr>
            </a:pPr>
            <a:r>
              <a:t>Modèles et recommandation.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E3 · ENTREPRISE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Code et commande du runner.</a:t>
            </a:r>
          </a:p>
          <a:p>
            <a:pPr>
              <a:lnSpc>
                <a:spcPts val="2000"/>
              </a:lnSpc>
              <a:spcBef>
                <a:spcPts val="0"/>
              </a:spcBef>
              <a:spcAft>
                <a:spcPts val="0"/>
              </a:spcAft>
              <a:defRPr sz="1600" b="0">
                <a:solidFill>
                  <a:srgbClr val="F4F6FA"/>
                </a:solidFill>
                <a:latin typeface="Arial"/>
              </a:defRPr>
            </a:pPr>
            <a:r>
              <a:t>Schéma BDD et résultats.</a:t>
            </a:r>
          </a:p>
          <a:p>
            <a:pPr>
              <a:lnSpc>
                <a:spcPts val="2000"/>
              </a:lnSpc>
              <a:spcBef>
                <a:spcPts val="0"/>
              </a:spcBef>
              <a:spcAft>
                <a:spcPts val="0"/>
              </a:spcAft>
              <a:defRPr sz="1600" b="0">
                <a:solidFill>
                  <a:srgbClr val="F4F6FA"/>
                </a:solidFill>
                <a:latin typeface="Arial"/>
              </a:defRPr>
            </a:pPr>
            <a:r>
              <a:t>Contrat Tines et story.</a:t>
            </a:r>
          </a:p>
          <a:p>
            <a:pPr>
              <a:lnSpc>
                <a:spcPts val="2000"/>
              </a:lnSpc>
              <a:spcBef>
                <a:spcPts val="0"/>
              </a:spcBef>
              <a:spcAft>
                <a:spcPts val="0"/>
              </a:spcAft>
              <a:defRPr sz="1600" b="0">
                <a:solidFill>
                  <a:srgbClr val="F4F6FA"/>
                </a:solidFill>
                <a:latin typeface="Arial"/>
              </a:defRPr>
            </a:pPr>
            <a:r>
              <a:t>Tests d’intégration disponibles.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E3 ·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 et tests.</a:t>
            </a:r>
          </a:p>
          <a:p>
            <a:pPr>
              <a:lnSpc>
                <a:spcPts val="2000"/>
              </a:lnSpc>
              <a:spcBef>
                <a:spcPts val="0"/>
              </a:spcBef>
              <a:spcAft>
                <a:spcPts val="0"/>
              </a:spcAft>
              <a:defRPr sz="1600" b="0">
                <a:solidFill>
                  <a:srgbClr val="F4F6FA"/>
                </a:solidFill>
                <a:latin typeface="Arial"/>
              </a:defRPr>
            </a:pPr>
            <a:r>
              <a:t>Configuration / RAG.</a:t>
            </a:r>
          </a:p>
          <a:p>
            <a:pPr>
              <a:lnSpc>
                <a:spcPts val="2000"/>
              </a:lnSpc>
              <a:spcBef>
                <a:spcPts val="0"/>
              </a:spcBef>
              <a:spcAft>
                <a:spcPts val="0"/>
              </a:spcAft>
              <a:defRPr sz="1600" b="0">
                <a:solidFill>
                  <a:srgbClr val="F4F6FA"/>
                </a:solidFill>
                <a:latin typeface="Arial"/>
              </a:defRPr>
            </a:pPr>
            <a:r>
              <a:t>Métriques et workflow.</a:t>
            </a:r>
          </a:p>
          <a:p>
            <a:pPr>
              <a:lnSpc>
                <a:spcPts val="2000"/>
              </a:lnSpc>
              <a:spcBef>
                <a:spcPts val="0"/>
              </a:spcBef>
              <a:spcAft>
                <a:spcPts val="0"/>
              </a:spcAft>
              <a:defRPr sz="1600" b="0">
                <a:solidFill>
                  <a:srgbClr val="F4F6FA"/>
                </a:solidFill>
                <a:latin typeface="Arial"/>
              </a:defRPr>
            </a:pPr>
            <a:r>
              <a:t>Limites du dossier initial</a:t>
            </a:r>
          </a:p>
          <a:p>
            <a:pPr>
              <a:lnSpc>
                <a:spcPts val="2000"/>
              </a:lnSpc>
              <a:spcBef>
                <a:spcPts val="0"/>
              </a:spcBef>
              <a:spcAft>
                <a:spcPts val="0"/>
              </a:spcAft>
              <a:defRPr sz="1600" b="0">
                <a:solidFill>
                  <a:srgbClr val="F4F6FA"/>
                </a:solidFill>
                <a:latin typeface="Arial"/>
              </a:defRPr>
            </a:pPr>
            <a:r>
              <a:t>conservées.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campagne de test n’est pas une surveillance continue ni une livraison.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QUESTIONS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Défendre le protocole et les interfaces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Questions probables sur les nouveaux travaux.</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SANS JUGE ?</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Quel mécanisme donne le score ?</a:t>
            </a:r>
          </a:p>
          <a:p>
            <a:pPr>
              <a:lnSpc>
                <a:spcPts val="2000"/>
              </a:lnSpc>
              <a:spcBef>
                <a:spcPts val="0"/>
              </a:spcBef>
              <a:spcAft>
                <a:spcPts val="0"/>
              </a:spcAft>
              <a:defRPr sz="1600" b="0">
                <a:solidFill>
                  <a:srgbClr val="F4F6FA"/>
                </a:solidFill>
                <a:latin typeface="Arial"/>
              </a:defRPr>
            </a:pPr>
            <a:r>
              <a:t>Que mesure-t-il vraiment ?</a:t>
            </a:r>
          </a:p>
          <a:p>
            <a:pPr>
              <a:lnSpc>
                <a:spcPts val="2000"/>
              </a:lnSpc>
              <a:spcBef>
                <a:spcPts val="0"/>
              </a:spcBef>
              <a:spcAft>
                <a:spcPts val="0"/>
              </a:spcAft>
              <a:defRPr sz="1600" b="0">
                <a:solidFill>
                  <a:srgbClr val="F4F6FA"/>
                </a:solidFill>
                <a:latin typeface="Arial"/>
              </a:defRPr>
            </a:pPr>
            <a:r>
              <a:t>Quels biais et quels cas non</a:t>
            </a:r>
          </a:p>
          <a:p>
            <a:pPr>
              <a:lnSpc>
                <a:spcPts val="2000"/>
              </a:lnSpc>
              <a:spcBef>
                <a:spcPts val="0"/>
              </a:spcBef>
              <a:spcAft>
                <a:spcPts val="0"/>
              </a:spcAft>
              <a:defRPr sz="1600" b="0">
                <a:solidFill>
                  <a:srgbClr val="F4F6FA"/>
                </a:solidFill>
                <a:latin typeface="Arial"/>
              </a:defRPr>
            </a:pPr>
            <a:r>
              <a:t>couverts ?</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COMPARAISON ÉQUITABLE</a:t>
            </a:r>
          </a:p>
          <a:p>
            <a:pPr>
              <a:lnSpc>
                <a:spcPts val="2250"/>
              </a:lnSpc>
              <a:spcBef>
                <a:spcPts val="0"/>
              </a:spcBef>
              <a:spcAft>
                <a:spcPts val="0"/>
              </a:spcAft>
              <a:defRPr sz="1800" b="1">
                <a:solidFill>
                  <a:srgbClr val="60DFBD"/>
                </a:solidFill>
                <a:latin typeface="Arial"/>
              </a:defRPr>
            </a:pPr>
            <a:r>
              <a: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Versions, charge et paramètres</a:t>
            </a:r>
          </a:p>
          <a:p>
            <a:pPr>
              <a:lnSpc>
                <a:spcPts val="2000"/>
              </a:lnSpc>
              <a:spcBef>
                <a:spcPts val="0"/>
              </a:spcBef>
              <a:spcAft>
                <a:spcPts val="0"/>
              </a:spcAft>
              <a:defRPr sz="1600" b="0">
                <a:solidFill>
                  <a:srgbClr val="F4F6FA"/>
                </a:solidFill>
                <a:latin typeface="Arial"/>
              </a:defRPr>
            </a:pPr>
            <a:r>
              <a:t>identiques ?</a:t>
            </a:r>
          </a:p>
          <a:p>
            <a:pPr>
              <a:lnSpc>
                <a:spcPts val="2000"/>
              </a:lnSpc>
              <a:spcBef>
                <a:spcPts val="0"/>
              </a:spcBef>
              <a:spcAft>
                <a:spcPts val="0"/>
              </a:spcAft>
              <a:defRPr sz="1600" b="0">
                <a:solidFill>
                  <a:srgbClr val="F4F6FA"/>
                </a:solidFill>
                <a:latin typeface="Arial"/>
              </a:defRPr>
            </a:pPr>
            <a:r>
              <a:t>Combien de cas / répétitions ?</a:t>
            </a:r>
          </a:p>
          <a:p>
            <a:pPr>
              <a:lnSpc>
                <a:spcPts val="2000"/>
              </a:lnSpc>
              <a:spcBef>
                <a:spcPts val="0"/>
              </a:spcBef>
              <a:spcAft>
                <a:spcPts val="0"/>
              </a:spcAft>
              <a:defRPr sz="1600" b="0">
                <a:solidFill>
                  <a:srgbClr val="F4F6FA"/>
                </a:solidFill>
                <a:latin typeface="Arial"/>
              </a:defRPr>
            </a:pPr>
            <a:r>
              <a:t>Quel traitement des erreurs ?</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TINES ET L’AGENT ?</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Quel contrat ?</a:t>
            </a:r>
          </a:p>
          <a:p>
            <a:pPr>
              <a:lnSpc>
                <a:spcPts val="2000"/>
              </a:lnSpc>
              <a:spcBef>
                <a:spcPts val="0"/>
              </a:spcBef>
              <a:spcAft>
                <a:spcPts val="0"/>
              </a:spcAft>
              <a:defRPr sz="1600" b="0">
                <a:solidFill>
                  <a:srgbClr val="F4F6FA"/>
                </a:solidFill>
                <a:latin typeface="Arial"/>
              </a:defRPr>
            </a:pPr>
            <a:r>
              <a:t>Qui peut appeler quoi ?</a:t>
            </a:r>
          </a:p>
          <a:p>
            <a:pPr>
              <a:lnSpc>
                <a:spcPts val="2000"/>
              </a:lnSpc>
              <a:spcBef>
                <a:spcPts val="0"/>
              </a:spcBef>
              <a:spcAft>
                <a:spcPts val="0"/>
              </a:spcAft>
              <a:defRPr sz="1600" b="0">
                <a:solidFill>
                  <a:srgbClr val="F4F6FA"/>
                </a:solidFill>
                <a:latin typeface="Arial"/>
              </a:defRPr>
            </a:pPr>
            <a:r>
              <a:t>Comment isoler les clients ?</a:t>
            </a:r>
          </a:p>
          <a:p>
            <a:pPr>
              <a:lnSpc>
                <a:spcPts val="2000"/>
              </a:lnSpc>
              <a:spcBef>
                <a:spcPts val="0"/>
              </a:spcBef>
              <a:spcAft>
                <a:spcPts val="0"/>
              </a:spcAft>
              <a:defRPr sz="1600" b="0">
                <a:solidFill>
                  <a:srgbClr val="F4F6FA"/>
                </a:solidFill>
                <a:latin typeface="Arial"/>
              </a:defRPr>
            </a:pPr>
            <a:r>
              <a:t>Quelle part as-tu développée ?</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automatisation du scoring ne garantit pas à elle seule la validité de l’évaluation.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