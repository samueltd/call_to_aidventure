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référentiel E5 vise la surveillance et la résolution d’un incident d’application dans le bloc IA. Le lien de cette plateforme à une application IA n’a pas été indiqué : ne pas le créer artificiellement. Ce scénario entreprise est une proposition à rattacher au périmètre accepté de l’épreuve. Le cas du jeu, dans son dossier d’origine, reste disponible comme alternative directement liée à l’application IA. Aucun run de reproduction entreprise n’a été inspecté ici.</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Les moyens de détection et de journalisation n’ont pas été décrits. Les cartes sont une trame de preuve, pas une configuration attestée. Les metrics et logs du jeu ne sont pas ceux de l’entreprise et ne doivent pas être attribués à ce cas. Si la surveillance professionnelle manque, conserver les slides C20 du support E5 initial et expliquer le changement de contexte.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C20 reste à prouver. Demander les métriques, seuils et notifications réellement utilisés. Ne pas réutiliser les alertes IA du jeu comme preuve du défaut de typage de la plateforme. Vérifier la confidentialité des lignes XML et des logs avant présentation ; ne pas afficher de données clients identifiantes.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inventer un message ClickHouse, une date, un type concret ou une capture. Le candidat a décrit l’incident et son diagnostic mais pas l’exemple minimal. Conserver l’entrée, le schéma et les paramètres nécessaires à une reproduction hors données de production.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affirmer que toutes les données internes ServiceNow sont stockées en XML. Ce fait concerne le flux rencontré. Distinguer parsing XML, normalisation de valeur et validation de type. Le détail des champs, valeurs nulles et formats temporels n’est pas fourni ; ne pas inventer leurs règles.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candidat a développé la validation et les conversions ; les règles et le comportement des rejets restent à montrer. La dernière phrase exprime un principe à défendre, pas une affirmation que le code fait ou ne fait pas cette substitution. Joindre commit/MR, tests et documentation lorsqu’ils sont disponibles. Aucun correctif entreprise n’a été apporté par cet assistant.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attribuer les 44 tests du jeu à cette correction. Aucun test du convertisseur n’a été fourni ou exécuté ici. Une preuve de run réussi sur le même cas et un test de non-régression permettraient d’étayer fortement C21. L’évolution dynamique de colonnes relève d’une autre contrainte à distinguer du défaut de typage.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Une correction de pipeline peut démontrer une méthode de résolution mais ne doit pas être présentée comme incident d’un service IA si aucun lien n’existe. Le référentiel et les consignes du centre déterminent le périmètre de l’épreuve. Le dossier initial du combat est conservé avec sa reproduction vérifiée ; la version entreprise est préparatoire.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Pour revenir au cas démontré, utiliser Presentation_E5.pptx dans le dossier certif/presentation-bloc3. Le dossier Dossier_incident_E5.md et le script reproduce_incident.py contiennent les révisions et limites exactes. Ne pas mélanger les deux causes ni les chronologies.</a:t>
            </a:r>
          </a:p>
          <a:p/>
          <a:p>
            <a:r>
              <a:t>Sources : certif/presentation-bloc3/Dossier_incident_E5.md ; preuves/incident-combat.json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Ne pas confondre le modèle de diagramme C4 avec la compétence C4 du bloc 1. Les références au référentiel concernent les PDF locaux fournis. Compléter aussi l’identité, les dates, le budget, l’hébergement et l’audit manuel demandés par le dossier de certification.</a:t>
            </a:r>
          </a:p>
          <a:p/>
          <a:p>
            <a:r>
              <a:t>Sources : docs/block3/ ; docs/monitoring.md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La compétence C7 reste moins étayée qu’un vrai comparatif de services. C20 et le lien applicatif IA du cas d’incident doivent être précisés. La contribution C16 mérite des traces de coordination, pas seulement une responsabilité technique. Les schémas et contrôles d’accès Tines ne sont pas déduits du seul contrat.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CAS D’ALTERNANCE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Fiabiliser l’ingestion ServiceNow vers ClickHouse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Incident décrit par le candidat ; pièces techniques de résolution à joindre.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SYMPTÔME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Erreurs répétées de validation de</a:t>
            </a:r>
          </a:p>
          <a:p>
            <a:pPr>
              <a:lnSpc>
                <a:spcPts val="2000"/>
              </a:lnSpc>
              <a:spcBef>
                <a:spcPts val="0"/>
              </a:spcBef>
              <a:spcAft>
                <a:spcPts val="0"/>
              </a:spcAft>
              <a:defRPr sz="1600" b="0">
                <a:solidFill>
                  <a:srgbClr val="F4F6FA"/>
                </a:solidFill>
                <a:latin typeface="Arial"/>
              </a:defRPr>
            </a:pPr>
            <a:r>
              <a:t>types pendant l’ingestion des</a:t>
            </a:r>
          </a:p>
          <a:p>
            <a:pPr>
              <a:lnSpc>
                <a:spcPts val="2000"/>
              </a:lnSpc>
              <a:spcBef>
                <a:spcPts val="0"/>
              </a:spcBef>
              <a:spcAft>
                <a:spcPts val="0"/>
              </a:spcAft>
              <a:defRPr sz="1600" b="0">
                <a:solidFill>
                  <a:srgbClr val="F4F6FA"/>
                </a:solidFill>
                <a:latin typeface="Arial"/>
              </a:defRPr>
            </a:pPr>
            <a:r>
              <a:t>données ServiceNow.</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CAUSE IDENTIFIÉE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Dans ce flux, les lignes issues de</a:t>
            </a:r>
          </a:p>
          <a:p>
            <a:pPr>
              <a:lnSpc>
                <a:spcPts val="2000"/>
              </a:lnSpc>
              <a:spcBef>
                <a:spcPts val="0"/>
              </a:spcBef>
              <a:spcAft>
                <a:spcPts val="0"/>
              </a:spcAft>
              <a:defRPr sz="1600" b="0">
                <a:solidFill>
                  <a:srgbClr val="F4F6FA"/>
                </a:solidFill>
                <a:latin typeface="Arial"/>
              </a:defRPr>
            </a:pPr>
            <a:r>
              <a:t>XML apportent des chaînes brutes</a:t>
            </a:r>
          </a:p>
          <a:p>
            <a:pPr>
              <a:lnSpc>
                <a:spcPts val="2000"/>
              </a:lnSpc>
              <a:spcBef>
                <a:spcPts val="0"/>
              </a:spcBef>
              <a:spcAft>
                <a:spcPts val="0"/>
              </a:spcAft>
              <a:defRPr sz="1600" b="0">
                <a:solidFill>
                  <a:srgbClr val="F4F6FA"/>
                </a:solidFill>
                <a:latin typeface="Arial"/>
              </a:defRPr>
            </a:pPr>
            <a:r>
              <a:t>non adaptées aux types attendus.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CORRECTION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Développement d’un système de</a:t>
            </a:r>
          </a:p>
          <a:p>
            <a:pPr>
              <a:lnSpc>
                <a:spcPts val="2000"/>
              </a:lnSpc>
              <a:spcBef>
                <a:spcPts val="0"/>
              </a:spcBef>
              <a:spcAft>
                <a:spcPts val="0"/>
              </a:spcAft>
              <a:defRPr sz="1600" b="0">
                <a:solidFill>
                  <a:srgbClr val="F4F6FA"/>
                </a:solidFill>
                <a:latin typeface="Arial"/>
              </a:defRPr>
            </a:pPr>
            <a:r>
              <a:t>validation et de conversion vers les</a:t>
            </a:r>
          </a:p>
          <a:p>
            <a:pPr>
              <a:lnSpc>
                <a:spcPts val="2000"/>
              </a:lnSpc>
              <a:spcBef>
                <a:spcPts val="0"/>
              </a:spcBef>
              <a:spcAft>
                <a:spcPts val="0"/>
              </a:spcAft>
              <a:defRPr sz="1600" b="0">
                <a:solidFill>
                  <a:srgbClr val="F4F6FA"/>
                </a:solidFill>
                <a:latin typeface="Arial"/>
              </a:defRPr>
            </a:pPr>
            <a:r>
              <a:t>types de données attendus.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Cas data professionnel : son adéquation au contexte applicatif IA d’E5 reste à établir.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SURVEILLANCE À DOCUMENTER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Identifier le signal qui révèle l’échec d’ingestion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dispositif réel de détection de l’entreprise reste à préciser.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OBSERVATION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Bugs de validation de types</a:t>
            </a:r>
          </a:p>
          <a:p>
            <a:pPr>
              <a:lnSpc>
                <a:spcPts val="2000"/>
              </a:lnSpc>
              <a:spcBef>
                <a:spcPts val="0"/>
              </a:spcBef>
              <a:spcAft>
                <a:spcPts val="0"/>
              </a:spcAft>
              <a:defRPr sz="1600" b="0">
                <a:solidFill>
                  <a:srgbClr val="F4F6FA"/>
                </a:solidFill>
                <a:latin typeface="Arial"/>
              </a:defRPr>
            </a:pPr>
            <a:r>
              <a:t>constatés pendant l’ingestion.</a:t>
            </a:r>
          </a:p>
          <a:p>
            <a:pPr>
              <a:lnSpc>
                <a:spcPts val="2000"/>
              </a:lnSpc>
              <a:spcBef>
                <a:spcPts val="0"/>
              </a:spcBef>
              <a:spcAft>
                <a:spcPts val="0"/>
              </a:spcAft>
              <a:defRPr sz="1600" b="0">
                <a:solidFill>
                  <a:srgbClr val="F4F6FA"/>
                </a:solidFill>
                <a:latin typeface="Arial"/>
              </a:defRPr>
            </a:pPr>
            <a:r>
              <a:t>Joindre un message d’erreur réel</a:t>
            </a:r>
          </a:p>
          <a:p>
            <a:pPr>
              <a:lnSpc>
                <a:spcPts val="2000"/>
              </a:lnSpc>
              <a:spcBef>
                <a:spcPts val="0"/>
              </a:spcBef>
              <a:spcAft>
                <a:spcPts val="0"/>
              </a:spcAft>
              <a:defRPr sz="1600" b="0">
                <a:solidFill>
                  <a:srgbClr val="F4F6FA"/>
                </a:solidFill>
                <a:latin typeface="Arial"/>
              </a:defRPr>
            </a:pPr>
            <a:r>
              <a:t>et anonymisé.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CONTEXTE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Table concernée.</a:t>
            </a:r>
          </a:p>
          <a:p>
            <a:pPr>
              <a:lnSpc>
                <a:spcPts val="2000"/>
              </a:lnSpc>
              <a:spcBef>
                <a:spcPts val="0"/>
              </a:spcBef>
              <a:spcAft>
                <a:spcPts val="0"/>
              </a:spcAft>
              <a:defRPr sz="1600" b="0">
                <a:solidFill>
                  <a:srgbClr val="F4F6FA"/>
                </a:solidFill>
                <a:latin typeface="Arial"/>
              </a:defRPr>
            </a:pPr>
            <a:r>
              <a:t>Étape du DAG.</a:t>
            </a:r>
          </a:p>
          <a:p>
            <a:pPr>
              <a:lnSpc>
                <a:spcPts val="2000"/>
              </a:lnSpc>
              <a:spcBef>
                <a:spcPts val="0"/>
              </a:spcBef>
              <a:spcAft>
                <a:spcPts val="0"/>
              </a:spcAft>
              <a:defRPr sz="1600" b="0">
                <a:solidFill>
                  <a:srgbClr val="F4F6FA"/>
                </a:solidFill>
                <a:latin typeface="Arial"/>
              </a:defRPr>
            </a:pPr>
            <a:r>
              <a:t>Champ et type attendus.</a:t>
            </a:r>
          </a:p>
          <a:p>
            <a:pPr>
              <a:lnSpc>
                <a:spcPts val="2000"/>
              </a:lnSpc>
              <a:spcBef>
                <a:spcPts val="0"/>
              </a:spcBef>
              <a:spcAft>
                <a:spcPts val="0"/>
              </a:spcAft>
              <a:defRPr sz="1600" b="0">
                <a:solidFill>
                  <a:srgbClr val="F4F6FA"/>
                </a:solidFill>
                <a:latin typeface="Arial"/>
              </a:defRPr>
            </a:pPr>
            <a:r>
              <a:t>Valeur ou forme d’entrée</a:t>
            </a:r>
          </a:p>
          <a:p>
            <a:pPr>
              <a:lnSpc>
                <a:spcPts val="2000"/>
              </a:lnSpc>
              <a:spcBef>
                <a:spcPts val="0"/>
              </a:spcBef>
              <a:spcAft>
                <a:spcPts val="0"/>
              </a:spcAft>
              <a:defRPr sz="1600" b="0">
                <a:solidFill>
                  <a:srgbClr val="F4F6FA"/>
                </a:solidFill>
                <a:latin typeface="Arial"/>
              </a:defRPr>
            </a:pPr>
            <a:r>
              <a:t>impliquée.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Préciser comment le défaut a été</a:t>
            </a:r>
          </a:p>
          <a:p>
            <a:pPr>
              <a:lnSpc>
                <a:spcPts val="2000"/>
              </a:lnSpc>
              <a:spcBef>
                <a:spcPts val="0"/>
              </a:spcBef>
              <a:spcAft>
                <a:spcPts val="0"/>
              </a:spcAft>
              <a:defRPr sz="1600" b="0">
                <a:solidFill>
                  <a:srgbClr val="F4F6FA"/>
                </a:solidFill>
                <a:latin typeface="Arial"/>
              </a:defRPr>
            </a:pPr>
            <a:r>
              <a:t>détecté : run, logs, alerte ou</a:t>
            </a:r>
          </a:p>
          <a:p>
            <a:pPr>
              <a:lnSpc>
                <a:spcPts val="2000"/>
              </a:lnSpc>
              <a:spcBef>
                <a:spcPts val="0"/>
              </a:spcBef>
              <a:spcAft>
                <a:spcPts val="0"/>
              </a:spcAft>
              <a:defRPr sz="1600" b="0">
                <a:solidFill>
                  <a:srgbClr val="F4F6FA"/>
                </a:solidFill>
                <a:latin typeface="Arial"/>
              </a:defRPr>
            </a:pPr>
            <a:r>
              <a:t>signalement.</a:t>
            </a:r>
          </a:p>
          <a:p>
            <a:pPr>
              <a:lnSpc>
                <a:spcPts val="2000"/>
              </a:lnSpc>
              <a:spcBef>
                <a:spcPts val="0"/>
              </a:spcBef>
              <a:spcAft>
                <a:spcPts val="0"/>
              </a:spcAft>
              <a:defRPr sz="1600" b="0">
                <a:solidFill>
                  <a:srgbClr val="F4F6FA"/>
                </a:solidFill>
                <a:latin typeface="Arial"/>
              </a:defRPr>
            </a:pPr>
            <a:r>
              <a:t>Ne pas inventer d’alerte.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d’Airflow ne prouve pas une chaîne d’alerting opérationnelle.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CONTRÔLES PROPOSÉS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Suivre le succès et la qualité de l’alimentation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Signaux à documenter ou à ajouter ; pas de seuils entreprise fournis.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EXÉCUTION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État et durée du DAG.</a:t>
            </a:r>
          </a:p>
          <a:p>
            <a:pPr>
              <a:lnSpc>
                <a:spcPts val="2000"/>
              </a:lnSpc>
              <a:spcBef>
                <a:spcPts val="0"/>
              </a:spcBef>
              <a:spcAft>
                <a:spcPts val="0"/>
              </a:spcAft>
              <a:defRPr sz="1600" b="0">
                <a:solidFill>
                  <a:srgbClr val="F4F6FA"/>
                </a:solidFill>
                <a:latin typeface="Arial"/>
              </a:defRPr>
            </a:pPr>
            <a:r>
              <a:t>Retard de la donnée.</a:t>
            </a:r>
          </a:p>
          <a:p>
            <a:pPr>
              <a:lnSpc>
                <a:spcPts val="2000"/>
              </a:lnSpc>
              <a:spcBef>
                <a:spcPts val="0"/>
              </a:spcBef>
              <a:spcAft>
                <a:spcPts val="0"/>
              </a:spcAft>
              <a:defRPr sz="1600" b="0">
                <a:solidFill>
                  <a:srgbClr val="F4F6FA"/>
                </a:solidFill>
                <a:latin typeface="Arial"/>
              </a:defRPr>
            </a:pPr>
            <a:r>
              <a:t>Fenêtre réellement traitée.</a:t>
            </a:r>
          </a:p>
          <a:p>
            <a:pPr>
              <a:lnSpc>
                <a:spcPts val="2000"/>
              </a:lnSpc>
              <a:spcBef>
                <a:spcPts val="0"/>
              </a:spcBef>
              <a:spcAft>
                <a:spcPts val="0"/>
              </a:spcAft>
              <a:defRPr sz="1600" b="0">
                <a:solidFill>
                  <a:srgbClr val="F4F6FA"/>
                </a:solidFill>
                <a:latin typeface="Arial"/>
              </a:defRPr>
            </a:pPr>
            <a:r>
              <a:t>Reprises éventuelles.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Échecs de conversion.</a:t>
            </a:r>
          </a:p>
          <a:p>
            <a:pPr>
              <a:lnSpc>
                <a:spcPts val="2000"/>
              </a:lnSpc>
              <a:spcBef>
                <a:spcPts val="0"/>
              </a:spcBef>
              <a:spcAft>
                <a:spcPts val="0"/>
              </a:spcAft>
              <a:defRPr sz="1600" b="0">
                <a:solidFill>
                  <a:srgbClr val="F4F6FA"/>
                </a:solidFill>
                <a:latin typeface="Arial"/>
              </a:defRPr>
            </a:pPr>
            <a:r>
              <a:t>Lignes acceptées / invalides.</a:t>
            </a:r>
          </a:p>
          <a:p>
            <a:pPr>
              <a:lnSpc>
                <a:spcPts val="2000"/>
              </a:lnSpc>
              <a:spcBef>
                <a:spcPts val="0"/>
              </a:spcBef>
              <a:spcAft>
                <a:spcPts val="0"/>
              </a:spcAft>
              <a:defRPr sz="1600" b="0">
                <a:solidFill>
                  <a:srgbClr val="F4F6FA"/>
                </a:solidFill>
                <a:latin typeface="Arial"/>
              </a:defRPr>
            </a:pPr>
            <a:r>
              <a:t>Champs et colonnes nouveaux.</a:t>
            </a:r>
          </a:p>
          <a:p>
            <a:pPr>
              <a:lnSpc>
                <a:spcPts val="2000"/>
              </a:lnSpc>
              <a:spcBef>
                <a:spcPts val="0"/>
              </a:spcBef>
              <a:spcAft>
                <a:spcPts val="0"/>
              </a:spcAft>
              <a:defRPr sz="1600" b="0">
                <a:solidFill>
                  <a:srgbClr val="F4F6FA"/>
                </a:solidFill>
                <a:latin typeface="Arial"/>
              </a:defRPr>
            </a:pPr>
            <a:r>
              <a:t>Écarts de schéma.</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Seuils et destinataire réels.</a:t>
            </a:r>
          </a:p>
          <a:p>
            <a:pPr>
              <a:lnSpc>
                <a:spcPts val="2000"/>
              </a:lnSpc>
              <a:spcBef>
                <a:spcPts val="0"/>
              </a:spcBef>
              <a:spcAft>
                <a:spcPts val="0"/>
              </a:spcAft>
              <a:defRPr sz="1600" b="0">
                <a:solidFill>
                  <a:srgbClr val="F4F6FA"/>
                </a:solidFill>
                <a:latin typeface="Arial"/>
              </a:defRPr>
            </a:pPr>
            <a:r>
              <a:t>Procédure de diagnostic.</a:t>
            </a:r>
          </a:p>
          <a:p>
            <a:pPr>
              <a:lnSpc>
                <a:spcPts val="2000"/>
              </a:lnSpc>
              <a:spcBef>
                <a:spcPts val="0"/>
              </a:spcBef>
              <a:spcAft>
                <a:spcPts val="0"/>
              </a:spcAft>
              <a:defRPr sz="1600" b="0">
                <a:solidFill>
                  <a:srgbClr val="F4F6FA"/>
                </a:solidFill>
                <a:latin typeface="Arial"/>
              </a:defRPr>
            </a:pPr>
            <a:r>
              <a:t>Preuve d’une détection puis d’une</a:t>
            </a:r>
          </a:p>
          <a:p>
            <a:pPr>
              <a:lnSpc>
                <a:spcPts val="2000"/>
              </a:lnSpc>
              <a:spcBef>
                <a:spcPts val="0"/>
              </a:spcBef>
              <a:spcAft>
                <a:spcPts val="0"/>
              </a:spcAft>
              <a:defRPr sz="1600" b="0">
                <a:solidFill>
                  <a:srgbClr val="F4F6FA"/>
                </a:solidFill>
                <a:latin typeface="Arial"/>
              </a:defRPr>
            </a:pPr>
            <a:r>
              <a:t>résolution.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contrôles sont proposés ; leur présence et leurs valeurs ne sont pas affirmées.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REPRODUCTION À JOINDRE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Isoler une ligne qui déclenche l’erreur de type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Construire la preuve à partir du cas réel rencontré.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 RÉELLE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extrait XML anonymisé.</a:t>
            </a:r>
          </a:p>
          <a:p>
            <a:pPr>
              <a:lnSpc>
                <a:spcPts val="2000"/>
              </a:lnSpc>
              <a:spcBef>
                <a:spcPts val="0"/>
              </a:spcBef>
              <a:spcAft>
                <a:spcPts val="0"/>
              </a:spcAft>
              <a:defRPr sz="1600" b="0">
                <a:solidFill>
                  <a:srgbClr val="F4F6FA"/>
                </a:solidFill>
                <a:latin typeface="Arial"/>
              </a:defRPr>
            </a:pPr>
            <a:r>
              <a:t>Une valeur brute problématique.</a:t>
            </a:r>
          </a:p>
          <a:p>
            <a:pPr>
              <a:lnSpc>
                <a:spcPts val="2000"/>
              </a:lnSpc>
              <a:spcBef>
                <a:spcPts val="0"/>
              </a:spcBef>
              <a:spcAft>
                <a:spcPts val="0"/>
              </a:spcAft>
              <a:defRPr sz="1600" b="0">
                <a:solidFill>
                  <a:srgbClr val="F4F6FA"/>
                </a:solidFill>
                <a:latin typeface="Arial"/>
              </a:defRPr>
            </a:pPr>
            <a:r>
              <a:t>Le champ concerné.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ATTENDU</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type prévu dans ClickHouse.</a:t>
            </a:r>
          </a:p>
          <a:p>
            <a:pPr>
              <a:lnSpc>
                <a:spcPts val="2000"/>
              </a:lnSpc>
              <a:spcBef>
                <a:spcPts val="0"/>
              </a:spcBef>
              <a:spcAft>
                <a:spcPts val="0"/>
              </a:spcAft>
              <a:defRPr sz="1600" b="0">
                <a:solidFill>
                  <a:srgbClr val="F4F6FA"/>
                </a:solidFill>
                <a:latin typeface="Arial"/>
              </a:defRPr>
            </a:pPr>
            <a:r>
              <a:t>La règle de conversion.</a:t>
            </a:r>
          </a:p>
          <a:p>
            <a:pPr>
              <a:lnSpc>
                <a:spcPts val="2000"/>
              </a:lnSpc>
              <a:spcBef>
                <a:spcPts val="0"/>
              </a:spcBef>
              <a:spcAft>
                <a:spcPts val="0"/>
              </a:spcAft>
              <a:defRPr sz="1600" b="0">
                <a:solidFill>
                  <a:srgbClr val="F4F6FA"/>
                </a:solidFill>
                <a:latin typeface="Arial"/>
              </a:defRPr>
            </a:pPr>
            <a:r>
              <a:t>La politique pour une valeur</a:t>
            </a:r>
          </a:p>
          <a:p>
            <a:pPr>
              <a:lnSpc>
                <a:spcPts val="2000"/>
              </a:lnSpc>
              <a:spcBef>
                <a:spcPts val="0"/>
              </a:spcBef>
              <a:spcAft>
                <a:spcPts val="0"/>
              </a:spcAft>
              <a:defRPr sz="1600" b="0">
                <a:solidFill>
                  <a:srgbClr val="F4F6FA"/>
                </a:solidFill>
                <a:latin typeface="Arial"/>
              </a:defRPr>
            </a:pPr>
            <a:r>
              <a:t>invalide.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OBSERVÉ AVANT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Message d’erreur de type.</a:t>
            </a:r>
          </a:p>
          <a:p>
            <a:pPr>
              <a:lnSpc>
                <a:spcPts val="2000"/>
              </a:lnSpc>
              <a:spcBef>
                <a:spcPts val="0"/>
              </a:spcBef>
              <a:spcAft>
                <a:spcPts val="0"/>
              </a:spcAft>
              <a:defRPr sz="1600" b="0">
                <a:solidFill>
                  <a:srgbClr val="F4F6FA"/>
                </a:solidFill>
                <a:latin typeface="Arial"/>
              </a:defRPr>
            </a:pPr>
            <a:r>
              <a:t>Étape et commande d’ingestion.</a:t>
            </a:r>
          </a:p>
          <a:p>
            <a:pPr>
              <a:lnSpc>
                <a:spcPts val="2000"/>
              </a:lnSpc>
              <a:spcBef>
                <a:spcPts val="0"/>
              </a:spcBef>
              <a:spcAft>
                <a:spcPts val="0"/>
              </a:spcAft>
              <a:defRPr sz="1600" b="0">
                <a:solidFill>
                  <a:srgbClr val="F4F6FA"/>
                </a:solidFill>
                <a:latin typeface="Arial"/>
              </a:defRPr>
            </a:pPr>
            <a:r>
              <a:t>Échantillon minimal reproductible.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reproduction n’a pas encore été exécutée dans ce dossier : la pièce réelle reste à joindre.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CAUSE RACINE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format de transport ne porte pas les bons types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flux ServiceNow fournissait des chaînes issues de XML.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Dans l’intégration concernée :</a:t>
            </a:r>
          </a:p>
          <a:p>
            <a:pPr>
              <a:lnSpc>
                <a:spcPts val="2000"/>
              </a:lnSpc>
              <a:spcBef>
                <a:spcPts val="0"/>
              </a:spcBef>
              <a:spcAft>
                <a:spcPts val="0"/>
              </a:spcAft>
              <a:defRPr sz="1600" b="0">
                <a:solidFill>
                  <a:srgbClr val="F4F6FA"/>
                </a:solidFill>
                <a:latin typeface="Arial"/>
              </a:defRPr>
            </a:pPr>
            <a:r>
              <a:t>données représentées en XML,</a:t>
            </a:r>
          </a:p>
          <a:p>
            <a:pPr>
              <a:lnSpc>
                <a:spcPts val="2000"/>
              </a:lnSpc>
              <a:spcBef>
                <a:spcPts val="0"/>
              </a:spcBef>
              <a:spcAft>
                <a:spcPts val="0"/>
              </a:spcAft>
              <a:defRPr sz="1600" b="0">
                <a:solidFill>
                  <a:srgbClr val="F4F6FA"/>
                </a:solidFill>
                <a:latin typeface="Arial"/>
              </a:defRPr>
            </a:pPr>
            <a:r>
              <a:t>lues comme chaînes brutes.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ÉCART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Les valeurs transmises ne</a:t>
            </a:r>
          </a:p>
          <a:p>
            <a:pPr>
              <a:lnSpc>
                <a:spcPts val="2000"/>
              </a:lnSpc>
              <a:spcBef>
                <a:spcPts val="0"/>
              </a:spcBef>
              <a:spcAft>
                <a:spcPts val="0"/>
              </a:spcAft>
              <a:defRPr sz="1600" b="0">
                <a:solidFill>
                  <a:srgbClr val="F4F6FA"/>
                </a:solidFill>
                <a:latin typeface="Arial"/>
              </a:defRPr>
            </a:pPr>
            <a:r>
              <a:t>correspondaient pas aux types</a:t>
            </a:r>
          </a:p>
          <a:p>
            <a:pPr>
              <a:lnSpc>
                <a:spcPts val="2000"/>
              </a:lnSpc>
              <a:spcBef>
                <a:spcPts val="0"/>
              </a:spcBef>
              <a:spcAft>
                <a:spcPts val="0"/>
              </a:spcAft>
              <a:defRPr sz="1600" b="0">
                <a:solidFill>
                  <a:srgbClr val="F4F6FA"/>
                </a:solidFill>
                <a:latin typeface="Arial"/>
              </a:defRPr>
            </a:pPr>
            <a:r>
              <a:t>exigés par le schéma ClickHouse.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EFFET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L’ingestion rencontrait des erreurs</a:t>
            </a:r>
          </a:p>
          <a:p>
            <a:pPr>
              <a:lnSpc>
                <a:spcPts val="2000"/>
              </a:lnSpc>
              <a:spcBef>
                <a:spcPts val="0"/>
              </a:spcBef>
              <a:spcAft>
                <a:spcPts val="0"/>
              </a:spcAft>
              <a:defRPr sz="1600" b="0">
                <a:solidFill>
                  <a:srgbClr val="F4F6FA"/>
                </a:solidFill>
                <a:latin typeface="Arial"/>
              </a:defRPr>
            </a:pPr>
            <a:r>
              <a:t>de validation.</a:t>
            </a:r>
          </a:p>
          <a:p>
            <a:pPr>
              <a:lnSpc>
                <a:spcPts val="2000"/>
              </a:lnSpc>
              <a:spcBef>
                <a:spcPts val="0"/>
              </a:spcBef>
              <a:spcAft>
                <a:spcPts val="0"/>
              </a:spcAft>
              <a:defRPr sz="1600" b="0">
                <a:solidFill>
                  <a:srgbClr val="F4F6FA"/>
                </a:solidFill>
                <a:latin typeface="Arial"/>
              </a:defRPr>
            </a:pPr>
            <a:r>
              <a:t>Le contrôle devait intervenir avant</a:t>
            </a:r>
          </a:p>
          <a:p>
            <a:pPr>
              <a:lnSpc>
                <a:spcPts val="2000"/>
              </a:lnSpc>
              <a:spcBef>
                <a:spcPts val="0"/>
              </a:spcBef>
              <a:spcAft>
                <a:spcPts val="0"/>
              </a:spcAft>
              <a:defRPr sz="1600" b="0">
                <a:solidFill>
                  <a:srgbClr val="F4F6FA"/>
                </a:solidFill>
                <a:latin typeface="Arial"/>
              </a:defRPr>
            </a:pPr>
            <a:r>
              <a:t>l’écriture typée.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Cette cause est rapportée par le candidat ; un exemple de valeur doit l’illustrer.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SOLUTION RÉALISÉE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et convertir avant de charger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Système de conversion des chaînes développé par le candidat.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Lire les valeurs brutes du flux</a:t>
            </a:r>
          </a:p>
          <a:p>
            <a:pPr>
              <a:lnSpc>
                <a:spcPts val="2000"/>
              </a:lnSpc>
              <a:spcBef>
                <a:spcPts val="0"/>
              </a:spcBef>
              <a:spcAft>
                <a:spcPts val="0"/>
              </a:spcAft>
              <a:defRPr sz="1600" b="0">
                <a:solidFill>
                  <a:srgbClr val="F4F6FA"/>
                </a:solidFill>
                <a:latin typeface="Arial"/>
              </a:defRPr>
            </a:pPr>
            <a:r>
              <a:t>ServiceNow.</a:t>
            </a:r>
          </a:p>
          <a:p>
            <a:pPr>
              <a:lnSpc>
                <a:spcPts val="2000"/>
              </a:lnSpc>
              <a:spcBef>
                <a:spcPts val="0"/>
              </a:spcBef>
              <a:spcAft>
                <a:spcPts val="0"/>
              </a:spcAft>
              <a:defRPr sz="1600" b="0">
                <a:solidFill>
                  <a:srgbClr val="F4F6FA"/>
                </a:solidFill>
                <a:latin typeface="Arial"/>
              </a:defRPr>
            </a:pPr>
            <a:r>
              <a:t>Identifier les types attendus selon</a:t>
            </a:r>
          </a:p>
          <a:p>
            <a:pPr>
              <a:lnSpc>
                <a:spcPts val="2000"/>
              </a:lnSpc>
              <a:spcBef>
                <a:spcPts val="0"/>
              </a:spcBef>
              <a:spcAft>
                <a:spcPts val="0"/>
              </a:spcAft>
              <a:defRPr sz="1600" b="0">
                <a:solidFill>
                  <a:srgbClr val="F4F6FA"/>
                </a:solidFill>
                <a:latin typeface="Arial"/>
              </a:defRPr>
            </a:pPr>
            <a:r>
              <a:t>le contrat réel.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CONVERSION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Appliquer les règles développées</a:t>
            </a:r>
          </a:p>
          <a:p>
            <a:pPr>
              <a:lnSpc>
                <a:spcPts val="2000"/>
              </a:lnSpc>
              <a:spcBef>
                <a:spcPts val="0"/>
              </a:spcBef>
              <a:spcAft>
                <a:spcPts val="0"/>
              </a:spcAft>
              <a:defRPr sz="1600" b="0">
                <a:solidFill>
                  <a:srgbClr val="F4F6FA"/>
                </a:solidFill>
                <a:latin typeface="Arial"/>
              </a:defRPr>
            </a:pPr>
            <a:r>
              <a:t>pour obtenir les valeurs typées</a:t>
            </a:r>
          </a:p>
          <a:p>
            <a:pPr>
              <a:lnSpc>
                <a:spcPts val="2000"/>
              </a:lnSpc>
              <a:spcBef>
                <a:spcPts val="0"/>
              </a:spcBef>
              <a:spcAft>
                <a:spcPts val="0"/>
              </a:spcAft>
              <a:defRPr sz="1600" b="0">
                <a:solidFill>
                  <a:srgbClr val="F4F6FA"/>
                </a:solidFill>
                <a:latin typeface="Arial"/>
              </a:defRPr>
            </a:pPr>
            <a:r>
              <a:t>attendues.</a:t>
            </a:r>
          </a:p>
          <a:p>
            <a:pPr>
              <a:lnSpc>
                <a:spcPts val="2000"/>
              </a:lnSpc>
              <a:spcBef>
                <a:spcPts val="0"/>
              </a:spcBef>
              <a:spcAft>
                <a:spcPts val="0"/>
              </a:spcAft>
              <a:defRPr sz="1600" b="0">
                <a:solidFill>
                  <a:srgbClr val="F4F6FA"/>
                </a:solidFill>
                <a:latin typeface="Arial"/>
              </a:defRPr>
            </a:pPr>
            <a:r>
              <a:t>Code à joindre.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VALIDATION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Contrôler avant l’insertion.</a:t>
            </a:r>
          </a:p>
          <a:p>
            <a:pPr>
              <a:lnSpc>
                <a:spcPts val="2000"/>
              </a:lnSpc>
              <a:spcBef>
                <a:spcPts val="0"/>
              </a:spcBef>
              <a:spcAft>
                <a:spcPts val="0"/>
              </a:spcAft>
              <a:defRPr sz="1600" b="0">
                <a:solidFill>
                  <a:srgbClr val="F4F6FA"/>
                </a:solidFill>
                <a:latin typeface="Arial"/>
              </a:defRPr>
            </a:pPr>
            <a:r>
              <a:t>Documenter les cas invalides et le</a:t>
            </a:r>
          </a:p>
          <a:p>
            <a:pPr>
              <a:lnSpc>
                <a:spcPts val="2000"/>
              </a:lnSpc>
              <a:spcBef>
                <a:spcPts val="0"/>
              </a:spcBef>
              <a:spcAft>
                <a:spcPts val="0"/>
              </a:spcAft>
              <a:defRPr sz="1600" b="0">
                <a:solidFill>
                  <a:srgbClr val="F4F6FA"/>
                </a:solidFill>
                <a:latin typeface="Arial"/>
              </a:defRPr>
            </a:pPr>
            <a:r>
              <a:t>comportement effectivement</a:t>
            </a:r>
          </a:p>
          <a:p>
            <a:pPr>
              <a:lnSpc>
                <a:spcPts val="2000"/>
              </a:lnSpc>
              <a:spcBef>
                <a:spcPts val="0"/>
              </a:spcBef>
              <a:spcAft>
                <a:spcPts val="0"/>
              </a:spcAft>
              <a:defRPr sz="1600" b="0">
                <a:solidFill>
                  <a:srgbClr val="F4F6FA"/>
                </a:solidFill>
                <a:latin typeface="Arial"/>
              </a:defRPr>
            </a:pPr>
            <a:r>
              <a:t>choisi.</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Ne pas remplacer silencieusement une donnée invalide par une valeur arbitraire.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VALIDATION À MONTRER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Comparer le même échantillon avant et après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L’incident et sa correction sont décrits ; les résultats de validation restent à joindre.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Erreur de type sur le cas identifié.</a:t>
            </a:r>
          </a:p>
          <a:p>
            <a:pPr>
              <a:lnSpc>
                <a:spcPts val="2000"/>
              </a:lnSpc>
              <a:spcBef>
                <a:spcPts val="0"/>
              </a:spcBef>
              <a:spcAft>
                <a:spcPts val="0"/>
              </a:spcAft>
              <a:defRPr sz="1600" b="0">
                <a:solidFill>
                  <a:srgbClr val="F4F6FA"/>
                </a:solidFill>
                <a:latin typeface="Arial"/>
              </a:defRPr>
            </a:pPr>
            <a:r>
              <a:t>Entrée et schéma connus.</a:t>
            </a:r>
          </a:p>
          <a:p>
            <a:pPr>
              <a:lnSpc>
                <a:spcPts val="2000"/>
              </a:lnSpc>
              <a:spcBef>
                <a:spcPts val="0"/>
              </a:spcBef>
              <a:spcAft>
                <a:spcPts val="0"/>
              </a:spcAft>
              <a:defRPr sz="1600" b="0">
                <a:solidFill>
                  <a:srgbClr val="F4F6FA"/>
                </a:solidFill>
                <a:latin typeface="Arial"/>
              </a:defRPr>
            </a:pPr>
            <a:r>
              <a:t>Trace du défaut.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APRÈS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Même entrée convertie.</a:t>
            </a:r>
          </a:p>
          <a:p>
            <a:pPr>
              <a:lnSpc>
                <a:spcPts val="2000"/>
              </a:lnSpc>
              <a:spcBef>
                <a:spcPts val="0"/>
              </a:spcBef>
              <a:spcAft>
                <a:spcPts val="0"/>
              </a:spcAft>
              <a:defRPr sz="1600" b="0">
                <a:solidFill>
                  <a:srgbClr val="F4F6FA"/>
                </a:solidFill>
                <a:latin typeface="Arial"/>
              </a:defRPr>
            </a:pPr>
            <a:r>
              <a:t>Valeur typée obtenue.</a:t>
            </a:r>
          </a:p>
          <a:p>
            <a:pPr>
              <a:lnSpc>
                <a:spcPts val="2000"/>
              </a:lnSpc>
              <a:spcBef>
                <a:spcPts val="0"/>
              </a:spcBef>
              <a:spcAft>
                <a:spcPts val="0"/>
              </a:spcAft>
              <a:defRPr sz="1600" b="0">
                <a:solidFill>
                  <a:srgbClr val="F4F6FA"/>
                </a:solidFill>
                <a:latin typeface="Arial"/>
              </a:defRPr>
            </a:pPr>
            <a:r>
              <a:t>Résultat ClickHouse à montrer.</a:t>
            </a:r>
          </a:p>
          <a:p>
            <a:pPr>
              <a:lnSpc>
                <a:spcPts val="2000"/>
              </a:lnSpc>
              <a:spcBef>
                <a:spcPts val="0"/>
              </a:spcBef>
              <a:spcAft>
                <a:spcPts val="0"/>
              </a:spcAft>
              <a:defRPr sz="1600" b="0">
                <a:solidFill>
                  <a:srgbClr val="F4F6FA"/>
                </a:solidFill>
                <a:latin typeface="Arial"/>
              </a:defRPr>
            </a:pPr>
            <a:r>
              <a:t>Absence de perte à vérifier.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NON-RÉGRESSION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Cas valides et invalides.</a:t>
            </a:r>
          </a:p>
          <a:p>
            <a:pPr>
              <a:lnSpc>
                <a:spcPts val="2000"/>
              </a:lnSpc>
              <a:spcBef>
                <a:spcPts val="0"/>
              </a:spcBef>
              <a:spcAft>
                <a:spcPts val="0"/>
              </a:spcAft>
              <a:defRPr sz="1600" b="0">
                <a:solidFill>
                  <a:srgbClr val="F4F6FA"/>
                </a:solidFill>
                <a:latin typeface="Arial"/>
              </a:defRPr>
            </a:pPr>
            <a:r>
              <a:t>Formats limites réellement</a:t>
            </a:r>
          </a:p>
          <a:p>
            <a:pPr>
              <a:lnSpc>
                <a:spcPts val="2000"/>
              </a:lnSpc>
              <a:spcBef>
                <a:spcPts val="0"/>
              </a:spcBef>
              <a:spcAft>
                <a:spcPts val="0"/>
              </a:spcAft>
              <a:defRPr sz="1600" b="0">
                <a:solidFill>
                  <a:srgbClr val="F4F6FA"/>
                </a:solidFill>
                <a:latin typeface="Arial"/>
              </a:defRPr>
            </a:pPr>
            <a:r>
              <a:t>rencontrés.</a:t>
            </a:r>
          </a:p>
          <a:p>
            <a:pPr>
              <a:lnSpc>
                <a:spcPts val="2000"/>
              </a:lnSpc>
              <a:spcBef>
                <a:spcPts val="0"/>
              </a:spcBef>
              <a:spcAft>
                <a:spcPts val="0"/>
              </a:spcAft>
              <a:defRPr sz="1600" b="0">
                <a:solidFill>
                  <a:srgbClr val="F4F6FA"/>
                </a:solidFill>
                <a:latin typeface="Arial"/>
              </a:defRPr>
            </a:pPr>
            <a:r>
              <a:t>Test automatisé ou contrôle de</a:t>
            </a:r>
          </a:p>
          <a:p>
            <a:pPr>
              <a:lnSpc>
                <a:spcPts val="2000"/>
              </a:lnSpc>
              <a:spcBef>
                <a:spcPts val="0"/>
              </a:spcBef>
              <a:spcAft>
                <a:spcPts val="0"/>
              </a:spcAft>
              <a:defRPr sz="1600" b="0">
                <a:solidFill>
                  <a:srgbClr val="F4F6FA"/>
                </a:solidFill>
                <a:latin typeface="Arial"/>
              </a:defRPr>
            </a:pPr>
            <a:r>
              <a:t>reprise disponible.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Aucun taux de réussite ni compteur de lignes corrigées n’est inventé.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BILAN ET PÉRIMÈTRE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résolution métier à soutenir par ses pièces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contribution est claire ; le dossier de preuve reste à compléter.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CONFIRMÉ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Incident de typage ServiceNow.</a:t>
            </a:r>
          </a:p>
          <a:p>
            <a:pPr>
              <a:lnSpc>
                <a:spcPts val="2000"/>
              </a:lnSpc>
              <a:spcBef>
                <a:spcPts val="0"/>
              </a:spcBef>
              <a:spcAft>
                <a:spcPts val="0"/>
              </a:spcAft>
              <a:defRPr sz="1600" b="0">
                <a:solidFill>
                  <a:srgbClr val="F4F6FA"/>
                </a:solidFill>
                <a:latin typeface="Arial"/>
              </a:defRPr>
            </a:pPr>
            <a:r>
              <a:t>Investigation et cause.</a:t>
            </a:r>
          </a:p>
          <a:p>
            <a:pPr>
              <a:lnSpc>
                <a:spcPts val="2000"/>
              </a:lnSpc>
              <a:spcBef>
                <a:spcPts val="0"/>
              </a:spcBef>
              <a:spcAft>
                <a:spcPts val="0"/>
              </a:spcAft>
              <a:defRPr sz="1600" b="0">
                <a:solidFill>
                  <a:srgbClr val="F4F6FA"/>
                </a:solidFill>
                <a:latin typeface="Arial"/>
              </a:defRPr>
            </a:pPr>
            <a:r>
              <a:t>Validation / conversion</a:t>
            </a:r>
          </a:p>
          <a:p>
            <a:pPr>
              <a:lnSpc>
                <a:spcPts val="2000"/>
              </a:lnSpc>
              <a:spcBef>
                <a:spcPts val="0"/>
              </a:spcBef>
              <a:spcAft>
                <a:spcPts val="0"/>
              </a:spcAft>
              <a:defRPr sz="1600" b="0">
                <a:solidFill>
                  <a:srgbClr val="F4F6FA"/>
                </a:solidFill>
                <a:latin typeface="Arial"/>
              </a:defRPr>
            </a:pPr>
            <a:r>
              <a:t>développées.</a:t>
            </a:r>
          </a:p>
          <a:p>
            <a:pPr>
              <a:lnSpc>
                <a:spcPts val="2000"/>
              </a:lnSpc>
              <a:spcBef>
                <a:spcPts val="0"/>
              </a:spcBef>
              <a:spcAft>
                <a:spcPts val="0"/>
              </a:spcAft>
              <a:defRPr sz="1600" b="0">
                <a:solidFill>
                  <a:srgbClr val="F4F6FA"/>
                </a:solidFill>
                <a:latin typeface="Arial"/>
              </a:defRPr>
            </a:pPr>
            <a:r>
              <a:t>Responsabilité de maintenance.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JOINDRE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Message et échantillon</a:t>
            </a:r>
          </a:p>
          <a:p>
            <a:pPr>
              <a:lnSpc>
                <a:spcPts val="2000"/>
              </a:lnSpc>
              <a:spcBef>
                <a:spcPts val="0"/>
              </a:spcBef>
              <a:spcAft>
                <a:spcPts val="0"/>
              </a:spcAft>
              <a:defRPr sz="1600" b="0">
                <a:solidFill>
                  <a:srgbClr val="F4F6FA"/>
                </a:solidFill>
                <a:latin typeface="Arial"/>
              </a:defRPr>
            </a:pPr>
            <a:r>
              <a:t>anonymisés.</a:t>
            </a:r>
          </a:p>
          <a:p>
            <a:pPr>
              <a:lnSpc>
                <a:spcPts val="2000"/>
              </a:lnSpc>
              <a:spcBef>
                <a:spcPts val="0"/>
              </a:spcBef>
              <a:spcAft>
                <a:spcPts val="0"/>
              </a:spcAft>
              <a:defRPr sz="1600" b="0">
                <a:solidFill>
                  <a:srgbClr val="F4F6FA"/>
                </a:solidFill>
                <a:latin typeface="Arial"/>
              </a:defRPr>
            </a:pPr>
            <a:r>
              <a:t>Code / commit.</a:t>
            </a:r>
          </a:p>
          <a:p>
            <a:pPr>
              <a:lnSpc>
                <a:spcPts val="2000"/>
              </a:lnSpc>
              <a:spcBef>
                <a:spcPts val="0"/>
              </a:spcBef>
              <a:spcAft>
                <a:spcPts val="0"/>
              </a:spcAft>
              <a:defRPr sz="1600" b="0">
                <a:solidFill>
                  <a:srgbClr val="F4F6FA"/>
                </a:solidFill>
                <a:latin typeface="Arial"/>
              </a:defRPr>
            </a:pPr>
            <a:r>
              <a:t>Avant / après.</a:t>
            </a:r>
          </a:p>
          <a:p>
            <a:pPr>
              <a:lnSpc>
                <a:spcPts val="2000"/>
              </a:lnSpc>
              <a:spcBef>
                <a:spcPts val="0"/>
              </a:spcBef>
              <a:spcAft>
                <a:spcPts val="0"/>
              </a:spcAft>
              <a:defRPr sz="1600" b="0">
                <a:solidFill>
                  <a:srgbClr val="F4F6FA"/>
                </a:solidFill>
                <a:latin typeface="Arial"/>
              </a:defRPr>
            </a:pPr>
            <a:r>
              <a:t>Non-régression et trace de</a:t>
            </a:r>
          </a:p>
          <a:p>
            <a:pPr>
              <a:lnSpc>
                <a:spcPts val="2000"/>
              </a:lnSpc>
              <a:spcBef>
                <a:spcPts val="0"/>
              </a:spcBef>
              <a:spcAft>
                <a:spcPts val="0"/>
              </a:spcAft>
              <a:defRPr sz="1600" b="0">
                <a:solidFill>
                  <a:srgbClr val="F4F6FA"/>
                </a:solidFill>
                <a:latin typeface="Arial"/>
              </a:defRPr>
            </a:pPr>
            <a:r>
              <a:t>livraison.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PÉRIMÈTRE E5</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Relier le cas au contexte exigé.</a:t>
            </a:r>
          </a:p>
          <a:p>
            <a:pPr>
              <a:lnSpc>
                <a:spcPts val="2000"/>
              </a:lnSpc>
              <a:spcBef>
                <a:spcPts val="0"/>
              </a:spcBef>
              <a:spcAft>
                <a:spcPts val="0"/>
              </a:spcAft>
              <a:defRPr sz="1600" b="0">
                <a:solidFill>
                  <a:srgbClr val="F4F6FA"/>
                </a:solidFill>
                <a:latin typeface="Arial"/>
              </a:defRPr>
            </a:pPr>
            <a:r>
              <a:t>Documenter la surveillance réelle.</a:t>
            </a:r>
          </a:p>
          <a:p>
            <a:pPr>
              <a:lnSpc>
                <a:spcPts val="2000"/>
              </a:lnSpc>
              <a:spcBef>
                <a:spcPts val="0"/>
              </a:spcBef>
              <a:spcAft>
                <a:spcPts val="0"/>
              </a:spcAft>
              <a:defRPr sz="1600" b="0">
                <a:solidFill>
                  <a:srgbClr val="F4F6FA"/>
                </a:solidFill>
                <a:latin typeface="Arial"/>
              </a:defRPr>
            </a:pPr>
            <a:r>
              <a:t>Alternative disponible : incident de</a:t>
            </a:r>
          </a:p>
          <a:p>
            <a:pPr>
              <a:lnSpc>
                <a:spcPts val="2000"/>
              </a:lnSpc>
              <a:spcBef>
                <a:spcPts val="0"/>
              </a:spcBef>
              <a:spcAft>
                <a:spcPts val="0"/>
              </a:spcAft>
              <a:defRPr sz="1600" b="0">
                <a:solidFill>
                  <a:srgbClr val="F4F6FA"/>
                </a:solidFill>
                <a:latin typeface="Arial"/>
              </a:defRPr>
            </a:pPr>
            <a:r>
              <a:t>combat du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cas entreprise ne remplace définitivement le cas du jeu qu’avec un périmètre et des preuves adaptés.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ALTERNATIVE VÉRIFIÉE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cas du combat reste disponible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défaut historique reproduit et correction vérifiée.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DÉFAUT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Deux combats peuvent partager</a:t>
            </a:r>
          </a:p>
          <a:p>
            <a:pPr>
              <a:lnSpc>
                <a:spcPts val="2000"/>
              </a:lnSpc>
              <a:spcBef>
                <a:spcPts val="0"/>
              </a:spcBef>
              <a:spcAft>
                <a:spcPts val="0"/>
              </a:spcAft>
              <a:defRPr sz="1600" b="0">
                <a:solidFill>
                  <a:srgbClr val="F4F6FA"/>
                </a:solidFill>
                <a:latin typeface="Arial"/>
              </a:defRPr>
            </a:pPr>
            <a:r>
              <a:t>les références globales dans</a:t>
            </a:r>
          </a:p>
          <a:p>
            <a:pPr>
              <a:lnSpc>
                <a:spcPts val="2000"/>
              </a:lnSpc>
              <a:spcBef>
                <a:spcPts val="0"/>
              </a:spcBef>
              <a:spcAft>
                <a:spcPts val="0"/>
              </a:spcAft>
              <a:defRPr sz="1600" b="0">
                <a:solidFill>
                  <a:srgbClr val="F4F6FA"/>
                </a:solidFill>
                <a:latin typeface="Arial"/>
              </a:defRPr>
            </a:pPr>
            <a:r>
              <a:t>l’ancien cœur de combat.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CORRECTION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de combat passée</a:t>
            </a:r>
          </a:p>
          <a:p>
            <a:pPr>
              <a:lnSpc>
                <a:spcPts val="2000"/>
              </a:lnSpc>
              <a:spcBef>
                <a:spcPts val="0"/>
              </a:spcBef>
              <a:spcAft>
                <a:spcPts val="0"/>
              </a:spcAft>
              <a:defRPr sz="1600" b="0">
                <a:solidFill>
                  <a:srgbClr val="F4F6FA"/>
                </a:solidFill>
                <a:latin typeface="Arial"/>
              </a:defRPr>
            </a:pPr>
            <a:r>
              <a:t>explicitement aux fonctions.</a:t>
            </a:r>
          </a:p>
          <a:p>
            <a:pPr>
              <a:lnSpc>
                <a:spcPts val="2000"/>
              </a:lnSpc>
              <a:spcBef>
                <a:spcPts val="0"/>
              </a:spcBef>
              <a:spcAft>
                <a:spcPts val="0"/>
              </a:spcAft>
              <a:defRPr sz="1600" b="0">
                <a:solidFill>
                  <a:srgbClr val="F4F6FA"/>
                </a:solidFill>
                <a:latin typeface="Arial"/>
              </a:defRPr>
            </a:pPr>
            <a:r>
              <a:t>Commit historique identifié.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Script et JSON avant / après.</a:t>
            </a:r>
          </a:p>
          <a:p>
            <a:pPr>
              <a:lnSpc>
                <a:spcPts val="2000"/>
              </a:lnSpc>
              <a:spcBef>
                <a:spcPts val="0"/>
              </a:spcBef>
              <a:spcAft>
                <a:spcPts val="0"/>
              </a:spcAft>
              <a:defRPr sz="1600" b="0">
                <a:solidFill>
                  <a:srgbClr val="F4F6FA"/>
                </a:solidFill>
                <a:latin typeface="Arial"/>
              </a:defRPr>
            </a:pPr>
            <a:r>
              <a:t>Test d’isolation.</a:t>
            </a:r>
          </a:p>
          <a:p>
            <a:pPr>
              <a:lnSpc>
                <a:spcPts val="2000"/>
              </a:lnSpc>
              <a:spcBef>
                <a:spcPts val="0"/>
              </a:spcBef>
              <a:spcAft>
                <a:spcPts val="0"/>
              </a:spcAft>
              <a:defRPr sz="1600" b="0">
                <a:solidFill>
                  <a:srgbClr val="F4F6FA"/>
                </a:solidFill>
                <a:latin typeface="Arial"/>
              </a:defRPr>
            </a:pPr>
            <a:r>
              <a:t>Dossier E5 initial conservé dans</a:t>
            </a:r>
          </a:p>
          <a:p>
            <a:pPr>
              <a:lnSpc>
                <a:spcPts val="2000"/>
              </a:lnSpc>
              <a:spcBef>
                <a:spcPts val="0"/>
              </a:spcBef>
              <a:spcAft>
                <a:spcPts val="0"/>
              </a:spcAft>
              <a:defRPr sz="1600" b="0">
                <a:solidFill>
                  <a:srgbClr val="F4F6FA"/>
                </a:solidFill>
                <a:latin typeface="Arial"/>
              </a:defRPr>
            </a:pPr>
            <a:r>
              <a:t>presentation-bloc3/.</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résultats concernent le jeu ; ils ne valident pas le convertisseur ServiceNow.</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certif/presentation-bloc3/Dossier_incident_E5.md ; preuves/incident-combat.json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C14 À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pièces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Documentation applicative sous docs/block3/.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CADRAGE / RÉALISATION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C14 : besoins et traçabilité.</a:t>
            </a:r>
          </a:p>
          <a:p>
            <a:pPr>
              <a:lnSpc>
                <a:spcPts val="2000"/>
              </a:lnSpc>
              <a:spcBef>
                <a:spcPts val="0"/>
              </a:spcBef>
              <a:spcAft>
                <a:spcPts val="0"/>
              </a:spcAft>
              <a:defRPr sz="1600" b="0">
                <a:solidFill>
                  <a:srgbClr val="F4F6FA"/>
                </a:solidFill>
                <a:latin typeface="Arial"/>
              </a:defRPr>
            </a:pPr>
            <a:r>
              <a:t>C15 : modèles et décisions.</a:t>
            </a:r>
          </a:p>
          <a:p>
            <a:pPr>
              <a:lnSpc>
                <a:spcPts val="2000"/>
              </a:lnSpc>
              <a:spcBef>
                <a:spcPts val="0"/>
              </a:spcBef>
              <a:spcAft>
                <a:spcPts val="0"/>
              </a:spcAft>
              <a:defRPr sz="1600" b="0">
                <a:solidFill>
                  <a:srgbClr val="F4F6FA"/>
                </a:solidFill>
                <a:latin typeface="Arial"/>
              </a:defRPr>
            </a:pPr>
            <a:r>
              <a:t>C16 : backlog et revues.</a:t>
            </a:r>
          </a:p>
          <a:p>
            <a:pPr>
              <a:lnSpc>
                <a:spcPts val="2000"/>
              </a:lnSpc>
              <a:spcBef>
                <a:spcPts val="0"/>
              </a:spcBef>
              <a:spcAft>
                <a:spcPts val="0"/>
              </a:spcAft>
              <a:defRPr sz="1600" b="0">
                <a:solidFill>
                  <a:srgbClr val="F4F6FA"/>
                </a:solidFill>
                <a:latin typeface="Arial"/>
              </a:defRPr>
            </a:pPr>
            <a:r>
              <a:t>C17 : code, qualité et sécurité.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C18 : tests et workflow CI.</a:t>
            </a:r>
          </a:p>
          <a:p>
            <a:pPr>
              <a:lnSpc>
                <a:spcPts val="2000"/>
              </a:lnSpc>
              <a:spcBef>
                <a:spcPts val="0"/>
              </a:spcBef>
              <a:spcAft>
                <a:spcPts val="0"/>
              </a:spcAft>
              <a:defRPr sz="1600" b="0">
                <a:solidFill>
                  <a:srgbClr val="F4F6FA"/>
                </a:solidFill>
                <a:latin typeface="Arial"/>
              </a:defRPr>
            </a:pPr>
            <a:r>
              <a:t>C19 : Dockerfile, artefact et</a:t>
            </a:r>
          </a:p>
          <a:p>
            <a:pPr>
              <a:lnSpc>
                <a:spcPts val="2000"/>
              </a:lnSpc>
              <a:spcBef>
                <a:spcPts val="0"/>
              </a:spcBef>
              <a:spcAft>
                <a:spcPts val="0"/>
              </a:spcAft>
              <a:defRPr sz="1600" b="0">
                <a:solidFill>
                  <a:srgbClr val="F4F6FA"/>
                </a:solidFill>
                <a:latin typeface="Arial"/>
              </a:defRPr>
            </a:pPr>
            <a:r>
              <a:t>procédure de promotion.</a:t>
            </a:r>
          </a:p>
          <a:p>
            <a:pPr>
              <a:lnSpc>
                <a:spcPts val="2000"/>
              </a:lnSpc>
              <a:spcBef>
                <a:spcPts val="0"/>
              </a:spcBef>
              <a:spcAft>
                <a:spcPts val="0"/>
              </a:spcAft>
              <a:defRPr sz="1600" b="0">
                <a:solidFill>
                  <a:srgbClr val="F4F6FA"/>
                </a:solidFill>
                <a:latin typeface="Arial"/>
              </a:defRPr>
            </a:pPr>
            <a:r>
              <a:t>Preuves distantes à ajouter.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C20 : monitoring, règles et logs.</a:t>
            </a:r>
          </a:p>
          <a:p>
            <a:pPr>
              <a:lnSpc>
                <a:spcPts val="2000"/>
              </a:lnSpc>
              <a:spcBef>
                <a:spcPts val="0"/>
              </a:spcBef>
              <a:spcAft>
                <a:spcPts val="0"/>
              </a:spcAft>
              <a:defRPr sz="1600" b="0">
                <a:solidFill>
                  <a:srgbClr val="F4F6FA"/>
                </a:solidFill>
                <a:latin typeface="Arial"/>
              </a:defRPr>
            </a:pPr>
            <a:r>
              <a:t>C21 : dossier d’incident, correctif</a:t>
            </a:r>
          </a:p>
          <a:p>
            <a:pPr>
              <a:lnSpc>
                <a:spcPts val="2000"/>
              </a:lnSpc>
              <a:spcBef>
                <a:spcPts val="0"/>
              </a:spcBef>
              <a:spcAft>
                <a:spcPts val="0"/>
              </a:spcAft>
              <a:defRPr sz="1600" b="0">
                <a:solidFill>
                  <a:srgbClr val="F4F6FA"/>
                </a:solidFill>
                <a:latin typeface="Arial"/>
              </a:defRPr>
            </a:pPr>
            <a:r>
              <a:t>Git et reproduction.</a:t>
            </a:r>
          </a:p>
          <a:p>
            <a:pPr>
              <a:lnSpc>
                <a:spcPts val="2000"/>
              </a:lnSpc>
              <a:spcBef>
                <a:spcPts val="0"/>
              </a:spcBef>
              <a:spcAft>
                <a:spcPts val="0"/>
              </a:spcAft>
              <a:defRPr sz="1600" b="0">
                <a:solidFill>
                  <a:srgbClr val="F4F6FA"/>
                </a:solidFill>
                <a:latin typeface="Arial"/>
              </a:defRPr>
            </a:pPr>
            <a:r>
              <a:t>Ticket et déploiement à ajouter.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statuts des anciennes notes peuvent être en retard sur le code : dater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 ; docs/monitoring.md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PREUVES ENTREPRISE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Les points qui changent la solidité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Faire porter chaque réalisation sur son apport réel.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DATAPLATEFORME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Volumes importants par table.</a:t>
            </a:r>
          </a:p>
          <a:p>
            <a:pPr>
              <a:lnSpc>
                <a:spcPts val="2000"/>
              </a:lnSpc>
              <a:spcBef>
                <a:spcPts val="0"/>
              </a:spcBef>
              <a:spcAft>
                <a:spcPts val="0"/>
              </a:spcAft>
              <a:defRPr sz="1600" b="0">
                <a:solidFill>
                  <a:srgbClr val="F4F6FA"/>
                </a:solidFill>
                <a:latin typeface="Arial"/>
              </a:defRPr>
            </a:pPr>
            <a:r>
              <a:t>Fenêtres dynamiques.</a:t>
            </a:r>
          </a:p>
          <a:p>
            <a:pPr>
              <a:lnSpc>
                <a:spcPts val="2000"/>
              </a:lnSpc>
              <a:spcBef>
                <a:spcPts val="0"/>
              </a:spcBef>
              <a:spcAft>
                <a:spcPts val="0"/>
              </a:spcAft>
              <a:defRPr sz="1600" b="0">
                <a:solidFill>
                  <a:srgbClr val="F4F6FA"/>
                </a:solidFill>
                <a:latin typeface="Arial"/>
              </a:defRPr>
            </a:pPr>
            <a:r>
              <a:t>Colonnes ajoutées à la volée.</a:t>
            </a:r>
          </a:p>
          <a:p>
            <a:pPr>
              <a:lnSpc>
                <a:spcPts val="2000"/>
              </a:lnSpc>
              <a:spcBef>
                <a:spcPts val="0"/>
              </a:spcBef>
              <a:spcAft>
                <a:spcPts val="0"/>
              </a:spcAft>
              <a:defRPr sz="1600" b="0">
                <a:solidFill>
                  <a:srgbClr val="F4F6FA"/>
                </a:solidFill>
                <a:latin typeface="Arial"/>
              </a:defRPr>
            </a:pPr>
            <a:r>
              <a:t>Conversion du XML ServiceNow.</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BENCHMARKS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seul modèle exécuté.</a:t>
            </a:r>
          </a:p>
          <a:p>
            <a:pPr>
              <a:lnSpc>
                <a:spcPts val="2000"/>
              </a:lnSpc>
              <a:spcBef>
                <a:spcPts val="0"/>
              </a:spcBef>
              <a:spcAft>
                <a:spcPts val="0"/>
              </a:spcAft>
              <a:defRPr sz="1600" b="0">
                <a:solidFill>
                  <a:srgbClr val="F4F6FA"/>
                </a:solidFill>
                <a:latin typeface="Arial"/>
              </a:defRPr>
            </a:pPr>
            <a:r>
              <a:t>Runner agnostique.</a:t>
            </a:r>
          </a:p>
          <a:p>
            <a:pPr>
              <a:lnSpc>
                <a:spcPts val="2000"/>
              </a:lnSpc>
              <a:spcBef>
                <a:spcPts val="0"/>
              </a:spcBef>
              <a:spcAft>
                <a:spcPts val="0"/>
              </a:spcAft>
              <a:defRPr sz="1600" b="0">
                <a:solidFill>
                  <a:srgbClr val="F4F6FA"/>
                </a:solidFill>
                <a:latin typeface="Arial"/>
              </a:defRPr>
            </a:pPr>
            <a:r>
              <a:t>Scores et charge mesurés.</a:t>
            </a:r>
          </a:p>
          <a:p>
            <a:pPr>
              <a:lnSpc>
                <a:spcPts val="2000"/>
              </a:lnSpc>
              <a:spcBef>
                <a:spcPts val="0"/>
              </a:spcBef>
              <a:spcAft>
                <a:spcPts val="0"/>
              </a:spcAft>
              <a:defRPr sz="1600" b="0">
                <a:solidFill>
                  <a:srgbClr val="F4F6FA"/>
                </a:solidFill>
                <a:latin typeface="Arial"/>
              </a:defRPr>
            </a:pPr>
            <a:r>
              <a:t>Référence Qwen à confirmer.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Quatre endpoints par webhook.</a:t>
            </a:r>
          </a:p>
          <a:p>
            <a:pPr>
              <a:lnSpc>
                <a:spcPts val="2000"/>
              </a:lnSpc>
              <a:spcBef>
                <a:spcPts val="0"/>
              </a:spcBef>
              <a:spcAft>
                <a:spcPts val="0"/>
              </a:spcAft>
              <a:defRPr sz="1600" b="0">
                <a:solidFill>
                  <a:srgbClr val="F4F6FA"/>
                </a:solidFill>
                <a:latin typeface="Arial"/>
              </a:defRPr>
            </a:pPr>
            <a:r>
              <a:t>Contrat et appels EDR.</a:t>
            </a:r>
          </a:p>
          <a:p>
            <a:pPr>
              <a:lnSpc>
                <a:spcPts val="2000"/>
              </a:lnSpc>
              <a:spcBef>
                <a:spcPts val="0"/>
              </a:spcBef>
              <a:spcAft>
                <a:spcPts val="0"/>
              </a:spcAft>
              <a:defRPr sz="1600" b="0">
                <a:solidFill>
                  <a:srgbClr val="F4F6FA"/>
                </a:solidFill>
                <a:latin typeface="Arial"/>
              </a:defRPr>
            </a:pPr>
            <a:r>
              <a:t>Intégration comme outils de l’agent</a:t>
            </a:r>
          </a:p>
          <a:p>
            <a:pPr>
              <a:lnSpc>
                <a:spcPts val="2000"/>
              </a:lnSpc>
              <a:spcBef>
                <a:spcPts val="0"/>
              </a:spcBef>
              <a:spcAft>
                <a:spcPts val="0"/>
              </a:spcAft>
              <a:defRPr sz="1600" b="0">
                <a:solidFill>
                  <a:srgbClr val="F4F6FA"/>
                </a:solidFill>
                <a:latin typeface="Arial"/>
              </a:defRPr>
            </a:pPr>
            <a:r>
              <a:t>Django.</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Documents et runs à joindre ; contexte et responsabilité explicités pour chaque preuve.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