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30 s.</a:t>
            </a:r>
          </a:p>
          <a:p/>
          <a:p>
            <a:r>
              <a:t>Présenter l’entreprise de manière autorisée, votre rôle, les dates et le besoin. Vous déclarez avoir réalisé l’ensemble de la chaîne, sa montée en charge, ses corrections et évolutions. Tines est un second projet, pas une API des marts ClickHouse. Le jeu reste une preuve complémentaire explicitement identifiée pour certains critères.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45 s.</a:t>
            </a:r>
          </a:p>
          <a:p/>
          <a:p>
            <a:r>
              <a:t>Le candidat a confirmé l’exploitation par des équipes, sans préciser les métiers, les métriques de valeur ni un exemple de mart. Compléter avec un cas réel : besoin, champs nécessaires, résultat utilisé et bénéfice constaté. Ne pas inventer de gain de temps ou de fréquence supérieure au quotidien.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45 s.</a:t>
            </a:r>
          </a:p>
          <a:p/>
          <a:p>
            <a:r>
              <a:t>Ne pas reprendre les chiffres du pipeline de monstres : ils n’appartiennent pas à ce projet. Préciser les arbitrages de scalabilité réellement réalisés et leurs mesures avant/après. L’outil de ticket, les revues ou la méthode agile n’ont pas encore été décrits.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60 s.</a:t>
            </a:r>
          </a:p>
          <a:p/>
          <a:p>
            <a:r>
              <a:t>Le flux global est rapporté par le candidat ; les protocoles ServiceNow, les dépendances exactes du DAG et le lancement de dbt doivent être précisés avec le schéma réel. Ne pas supposer que dbt est déclenché dans le même DAG si ce n’est pas le cas. Ne pas relier Tines à ClickHouse sans preuve de ce lien.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70 s.</a:t>
            </a:r>
          </a:p>
          <a:p/>
          <a:p>
            <a:r>
              <a:t>Parler de collections MongoDB plutôt que de tables si c’est le format réel. L’utilisateur parle de BDD ServiceNow : ne pas convertir cette description automatiquement en accès SQL ou REST. Les requêtes Elasticsearch renforcent la preuve d’extraction, sans suffire seules à qualifier tout le projet de big data.</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65 s.</a:t>
            </a:r>
          </a:p>
          <a:p/>
          <a:p>
            <a:r>
              <a:t>Ne pas généraliser : il s’agit du format rencontré dans cette intégration ServiceNow, pas d’une affirmation sur le stockage interne de tous les produits ServiceNow. Le candidat confirme le diagnostic et la conversion des strings. Aucun exemple de type, code d’erreur ni comportement de rejet n’a encore été fourni. Joindre une ligne XML anonymisée, les conversions et le résultat d’ingestion correspondant.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60 s.</a:t>
            </a:r>
          </a:p>
          <a:p/>
          <a:p>
            <a:r>
              <a:t>Slide de démonstration à compléter avec un modèle réel. La séparation staging/intermediate/marts n’est pas déduite du seul usage de dbt. Un lignage dbt peut faciliter l’explication s’il existe. Décrire seulement les tests ou validations effectivement utilisés.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55 s.</a:t>
            </a:r>
          </a:p>
          <a:p/>
          <a:p>
            <a:r>
              <a:t>Ordres de grandeur et mécanismes confirmés par le candidat. Ce sont des tailles de tables, pas des volumes ingérés chaque jour. Ne pas inventer partitionnement, sharding, cluster ou réduction de durée. Expliquer la règle de fenêtre, la prévention des trous/doublons et la gestion des nouvelles colonnes uniquement selon l’implémentation réelle. Les métriques avant/après restent à joindre.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70 s.</a:t>
            </a:r>
          </a:p>
          <a:p/>
          <a:p>
            <a:r>
              <a:t>C2 demande des requêtes fonctionnelles et une documentation des sélections, conditions, jointures et optimisations. Choisir une requête que le candidat a écrite et peut expliquer. ClickHouse et Elasticsearch sont pertinents pour parler de systèmes analytiques distribués si l’architecture et le volume réels le justifient ; les seuls noms ne prouvent pas le volet big data.</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70 s.</a:t>
            </a:r>
          </a:p>
          <a:p/>
          <a:p>
            <a:r>
              <a:t>Les modèles exacts, moteurs, clés de tri, partitions et stratégies d’upsert n’ont pas été fournis. Ne pas les déduire. Le référentiel C4 demande le formalisme Merise ; produire ou joindre le modèle fidèle à l’existant si le dossier ne le contient pas encore.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55 s.</a:t>
            </a:r>
          </a:p>
          <a:p/>
          <a:p>
            <a:r>
              <a:t>Ces rubriques organisent les preuves à sélectionner ; le candidat a confirmé l’importance de la documentation, pas la présence exhaustive de chaque rubrique. Présenter le format réel, la version, les destinataires et un exemple d’usage. Une documentation générée peut être complétée par les raisons métier des transformations.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60 s.</a:t>
            </a:r>
          </a:p>
          <a:p/>
          <a:p>
            <a:r>
              <a:t>Restituer le registre interne, sans présenter les durées proposées comme des obligations légales ou une conformité acquise. Montrer la différence entre données de référence et données liées aux comptes. La purge se prévisualise sans --apply. Ne jamais afficher un véritable export utilisateur devant le jury. Dans cette version multi-projets, cette preuve concerne exclusivement le jeu. Les données clients EDR et les données internes nécessitent une analyse propre au contexte professionnel, non fournie ici. Ne pas leur appliquer les durées proposées pour le jeu.</a:t>
            </a:r>
          </a:p>
          <a:p/>
          <a:p>
            <a:r>
              <a:t>Sources : docs/block1/gdpr-register.md ; docs/block1/backup-restore.md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70 s.</a:t>
            </a:r>
          </a:p>
          <a:p/>
          <a:p>
            <a:r>
              <a:t>Le candidat a créé les quatre stories. Le système appelant est décrit, sans attribution de toute l’application Django au candidat. Un webhook HTTP peut contribuer à C5, mais sa présence seule ne prouve pas une API REST complète ni sa sécurisation. Documenter méthodes, schémas, authentification/autorisation, isolation client, erreurs et tests réellement présents. La connexion aux EDR renforce C1 pour la collecte web.</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105 s.</a:t>
            </a:r>
          </a:p>
          <a:p/>
          <a:p>
            <a:r>
              <a:t>Cette séquence dure 1 min 45 selon le minutage conservé. Utiliser des captures ou jeux de données autorisés et anonymisés. Les captures d’exécution Airflow, SQL et story n’ont pas encore été fournies. Si la démo Tines est rejouée, préparer un environnement de test et ne pas afficher les secrets des webhooks.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40 s.</a:t>
            </a:r>
          </a:p>
          <a:p/>
          <a:p>
            <a:r>
              <a:t>Cette synthèse ne prononce pas une validation de compétence. Les fichiers/scraping du jeu restent des preuves complémentaires pour la diversité d’extraction. Ne pas affirmer que ServiceNow est une API tant que le mode d’accès n’est pas clarifié. Les rapports écrits doivent reprendre la même répartition et expliciter le lien entre chaque réalisation et la compétence.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Afficher cette annexe pour expliquer une jointure, la liaison du paramètre et le tri de la source sélectionnée. Ne pas remplacer le paramètre par une concaténation de texte.</a:t>
            </a:r>
          </a:p>
          <a:p/>
          <a:p>
            <a:r>
              <a:t>Sources : db/sqlite/queries/monster_dataset.sql, Q2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 support distingue trois contextes : plateforme interne, intégration Tines et Call To AIdventure. Ne pas fusionner leurs politiques d’accès, leurs bases ou leurs résultats. Les chemins et commandes des supports initiaux restent disponibles dans leurs dossiers d’origine.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Préparer une réponse fondée sur un artefact pour chaque question. Rester précis sur les formes d’accès ServiceNow et le formalisme de l’API Tines. Les bénéfices de la documentation peuvent être démontrés par un usage réel sans inventer de métrique.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E1 · C1 À C5</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Industrialiser les données de l’entreprise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Alternance : dataplateforme quotidienne et interfaces de collecte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COLLECTER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MongoDB, ServiceNow et requêtes</a:t>
            </a:r>
          </a:p>
          <a:p>
            <a:pPr>
              <a:lnSpc>
                <a:spcPts val="2000"/>
              </a:lnSpc>
              <a:spcBef>
                <a:spcPts val="0"/>
              </a:spcBef>
              <a:spcAft>
                <a:spcPts val="0"/>
              </a:spcAft>
              <a:defRPr sz="1600" b="0">
                <a:solidFill>
                  <a:srgbClr val="F4F6FA"/>
                </a:solidFill>
                <a:latin typeface="Arial"/>
              </a:defRPr>
            </a:pPr>
            <a:r>
              <a:t>Elasticsearch.</a:t>
            </a:r>
          </a:p>
          <a:p>
            <a:pPr>
              <a:lnSpc>
                <a:spcPts val="2000"/>
              </a:lnSpc>
              <a:spcBef>
                <a:spcPts val="0"/>
              </a:spcBef>
              <a:spcAft>
                <a:spcPts val="0"/>
              </a:spcAft>
              <a:defRPr sz="1600" b="0">
                <a:solidFill>
                  <a:srgbClr val="F4F6FA"/>
                </a:solidFill>
                <a:latin typeface="Arial"/>
              </a:defRPr>
            </a:pPr>
            <a:r>
              <a:t>Orchestration quotidienne avec</a:t>
            </a:r>
          </a:p>
          <a:p>
            <a:pPr>
              <a:lnSpc>
                <a:spcPts val="2000"/>
              </a:lnSpc>
              <a:spcBef>
                <a:spcPts val="0"/>
              </a:spcBef>
              <a:spcAft>
                <a:spcPts val="0"/>
              </a:spcAft>
              <a:defRPr sz="1600" b="0">
                <a:solidFill>
                  <a:srgbClr val="F4F6FA"/>
                </a:solidFill>
                <a:latin typeface="Arial"/>
              </a:defRPr>
            </a:pPr>
            <a:r>
              <a:t>Airflow.</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TRANSFORMER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Chargement dans ClickHouse.</a:t>
            </a:r>
          </a:p>
          <a:p>
            <a:pPr>
              <a:lnSpc>
                <a:spcPts val="2000"/>
              </a:lnSpc>
              <a:spcBef>
                <a:spcPts val="0"/>
              </a:spcBef>
              <a:spcAft>
                <a:spcPts val="0"/>
              </a:spcAft>
              <a:defRPr sz="1600" b="0">
                <a:solidFill>
                  <a:srgbClr val="F4F6FA"/>
                </a:solidFill>
                <a:latin typeface="Arial"/>
              </a:defRPr>
            </a:pPr>
            <a:r>
              <a:t>Transformations dbt.</a:t>
            </a:r>
          </a:p>
          <a:p>
            <a:pPr>
              <a:lnSpc>
                <a:spcPts val="2000"/>
              </a:lnSpc>
              <a:spcBef>
                <a:spcPts val="0"/>
              </a:spcBef>
              <a:spcAft>
                <a:spcPts val="0"/>
              </a:spcAft>
              <a:defRPr sz="1600" b="0">
                <a:solidFill>
                  <a:srgbClr val="F4F6FA"/>
                </a:solidFill>
                <a:latin typeface="Arial"/>
              </a:defRPr>
            </a:pPr>
            <a:r>
              <a:t>Marts pour des usages métier</a:t>
            </a:r>
          </a:p>
          <a:p>
            <a:pPr>
              <a:lnSpc>
                <a:spcPts val="2000"/>
              </a:lnSpc>
              <a:spcBef>
                <a:spcPts val="0"/>
              </a:spcBef>
              <a:spcAft>
                <a:spcPts val="0"/>
              </a:spcAft>
              <a:defRPr sz="1600" b="0">
                <a:solidFill>
                  <a:srgbClr val="F4F6FA"/>
                </a:solidFill>
                <a:latin typeface="Arial"/>
              </a:defRPr>
            </a:pPr>
            <a:r>
              <a:t>réels.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PARTAGER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Documentation de la plateforme.</a:t>
            </a:r>
          </a:p>
          <a:p>
            <a:pPr>
              <a:lnSpc>
                <a:spcPts val="2000"/>
              </a:lnSpc>
              <a:spcBef>
                <a:spcPts val="0"/>
              </a:spcBef>
              <a:spcAft>
                <a:spcPts val="0"/>
              </a:spcAft>
              <a:defRPr sz="1600" b="0">
                <a:solidFill>
                  <a:srgbClr val="F4F6FA"/>
                </a:solidFill>
                <a:latin typeface="Arial"/>
              </a:defRPr>
            </a:pPr>
            <a:r>
              <a:t>Complément distinct : endpoints</a:t>
            </a:r>
          </a:p>
          <a:p>
            <a:pPr>
              <a:lnSpc>
                <a:spcPts val="2000"/>
              </a:lnSpc>
              <a:spcBef>
                <a:spcPts val="0"/>
              </a:spcBef>
              <a:spcAft>
                <a:spcPts val="0"/>
              </a:spcAft>
              <a:defRPr sz="1600" b="0">
                <a:solidFill>
                  <a:srgbClr val="F4F6FA"/>
                </a:solidFill>
                <a:latin typeface="Arial"/>
              </a:defRPr>
            </a:pPr>
            <a:r>
              <a:t>Tines au service d’un agent cyber.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chaîne réalisée et maintenue de bout en bout pendant l’alternance.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CONTEXTE · ENTREPRISE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les données internes en usages métier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sources opérationnelles aux tables exploitées par les équipes.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BESOIN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Rendre les données internes</a:t>
            </a:r>
          </a:p>
          <a:p>
            <a:pPr>
              <a:lnSpc>
                <a:spcPts val="2000"/>
              </a:lnSpc>
              <a:spcBef>
                <a:spcPts val="0"/>
              </a:spcBef>
              <a:spcAft>
                <a:spcPts val="0"/>
              </a:spcAft>
              <a:defRPr sz="1600" b="0">
                <a:solidFill>
                  <a:srgbClr val="F4F6FA"/>
                </a:solidFill>
                <a:latin typeface="Arial"/>
              </a:defRPr>
            </a:pPr>
            <a:r>
              <a:t>disponibles sous une forme</a:t>
            </a:r>
          </a:p>
          <a:p>
            <a:pPr>
              <a:lnSpc>
                <a:spcPts val="2000"/>
              </a:lnSpc>
              <a:spcBef>
                <a:spcPts val="0"/>
              </a:spcBef>
              <a:spcAft>
                <a:spcPts val="0"/>
              </a:spcAft>
              <a:defRPr sz="1600" b="0">
                <a:solidFill>
                  <a:srgbClr val="F4F6FA"/>
                </a:solidFill>
                <a:latin typeface="Arial"/>
              </a:defRPr>
            </a:pPr>
            <a:r>
              <a:t>adaptée aux cas d’usage des</a:t>
            </a:r>
          </a:p>
          <a:p>
            <a:pPr>
              <a:lnSpc>
                <a:spcPts val="2000"/>
              </a:lnSpc>
              <a:spcBef>
                <a:spcPts val="0"/>
              </a:spcBef>
              <a:spcAft>
                <a:spcPts val="0"/>
              </a:spcAft>
              <a:defRPr sz="1600" b="0">
                <a:solidFill>
                  <a:srgbClr val="F4F6FA"/>
                </a:solidFill>
                <a:latin typeface="Arial"/>
              </a:defRPr>
            </a:pPr>
            <a:r>
              <a:t>équipes.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RÉPONSE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alimentation quotidienne.</a:t>
            </a:r>
          </a:p>
          <a:p>
            <a:pPr>
              <a:lnSpc>
                <a:spcPts val="2000"/>
              </a:lnSpc>
              <a:spcBef>
                <a:spcPts val="0"/>
              </a:spcBef>
              <a:spcAft>
                <a:spcPts val="0"/>
              </a:spcAft>
              <a:defRPr sz="1600" b="0">
                <a:solidFill>
                  <a:srgbClr val="F4F6FA"/>
                </a:solidFill>
                <a:latin typeface="Arial"/>
              </a:defRPr>
            </a:pPr>
            <a:r>
              <a:t>Des transformations centralisées.</a:t>
            </a:r>
          </a:p>
          <a:p>
            <a:pPr>
              <a:lnSpc>
                <a:spcPts val="2000"/>
              </a:lnSpc>
              <a:spcBef>
                <a:spcPts val="0"/>
              </a:spcBef>
              <a:spcAft>
                <a:spcPts val="0"/>
              </a:spcAft>
              <a:defRPr sz="1600" b="0">
                <a:solidFill>
                  <a:srgbClr val="F4F6FA"/>
                </a:solidFill>
                <a:latin typeface="Arial"/>
              </a:defRPr>
            </a:pPr>
            <a:r>
              <a:t>Des marts destinés à la</a:t>
            </a:r>
          </a:p>
          <a:p>
            <a:pPr>
              <a:lnSpc>
                <a:spcPts val="2000"/>
              </a:lnSpc>
              <a:spcBef>
                <a:spcPts val="0"/>
              </a:spcBef>
              <a:spcAft>
                <a:spcPts val="0"/>
              </a:spcAft>
              <a:defRPr sz="1600" b="0">
                <a:solidFill>
                  <a:srgbClr val="F4F6FA"/>
                </a:solidFill>
                <a:latin typeface="Arial"/>
              </a:defRPr>
            </a:pPr>
            <a:r>
              <a:t>consommation métier.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CONTRIBUTION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Conception et réalisation</a:t>
            </a:r>
          </a:p>
          <a:p>
            <a:pPr>
              <a:lnSpc>
                <a:spcPts val="2000"/>
              </a:lnSpc>
              <a:spcBef>
                <a:spcPts val="0"/>
              </a:spcBef>
              <a:spcAft>
                <a:spcPts val="0"/>
              </a:spcAft>
              <a:defRPr sz="1600" b="0">
                <a:solidFill>
                  <a:srgbClr val="F4F6FA"/>
                </a:solidFill>
                <a:latin typeface="Arial"/>
              </a:defRPr>
            </a:pPr>
            <a:r>
              <a:t>complètes.</a:t>
            </a:r>
          </a:p>
          <a:p>
            <a:pPr>
              <a:lnSpc>
                <a:spcPts val="2000"/>
              </a:lnSpc>
              <a:spcBef>
                <a:spcPts val="0"/>
              </a:spcBef>
              <a:spcAft>
                <a:spcPts val="0"/>
              </a:spcAft>
              <a:defRPr sz="1600" b="0">
                <a:solidFill>
                  <a:srgbClr val="F4F6FA"/>
                </a:solidFill>
                <a:latin typeface="Arial"/>
              </a:defRPr>
            </a:pPr>
            <a:r>
              <a:t>Scalabilité, correction des bugs et</a:t>
            </a:r>
          </a:p>
          <a:p>
            <a:pPr>
              <a:lnSpc>
                <a:spcPts val="2000"/>
              </a:lnSpc>
              <a:spcBef>
                <a:spcPts val="0"/>
              </a:spcBef>
              <a:spcAft>
                <a:spcPts val="0"/>
              </a:spcAft>
              <a:defRPr sz="1600" b="0">
                <a:solidFill>
                  <a:srgbClr val="F4F6FA"/>
                </a:solidFill>
                <a:latin typeface="Arial"/>
              </a:defRPr>
            </a:pPr>
            <a:r>
              <a:t>demandes d’évolution.</a:t>
            </a:r>
          </a:p>
          <a:p>
            <a:pPr>
              <a:lnSpc>
                <a:spcPts val="2000"/>
              </a:lnSpc>
              <a:spcBef>
                <a:spcPts val="0"/>
              </a:spcBef>
              <a:spcAft>
                <a:spcPts val="0"/>
              </a:spcAft>
              <a:defRPr sz="1600" b="0">
                <a:solidFill>
                  <a:srgbClr val="F4F6FA"/>
                </a:solidFill>
                <a:latin typeface="Arial"/>
              </a:defRPr>
            </a:pPr>
            <a:r>
              <a:t>Documentation.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Ajouter un exemple réel de mart et la décision métier qu’il permet.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CADRAGE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Concevoir, exploiter et faire évoluer la chaîne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Périmètre personnel confirmé : l’ensemble de la dataplateforme.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Connexion aux sources.</a:t>
            </a:r>
          </a:p>
          <a:p>
            <a:pPr>
              <a:lnSpc>
                <a:spcPts val="2000"/>
              </a:lnSpc>
              <a:spcBef>
                <a:spcPts val="0"/>
              </a:spcBef>
              <a:spcAft>
                <a:spcPts val="0"/>
              </a:spcAft>
              <a:defRPr sz="1600" b="0">
                <a:solidFill>
                  <a:srgbClr val="F4F6FA"/>
                </a:solidFill>
                <a:latin typeface="Arial"/>
              </a:defRPr>
            </a:pPr>
            <a:r>
              <a:t>Orchestration et chargement.</a:t>
            </a:r>
          </a:p>
          <a:p>
            <a:pPr>
              <a:lnSpc>
                <a:spcPts val="2000"/>
              </a:lnSpc>
              <a:spcBef>
                <a:spcPts val="0"/>
              </a:spcBef>
              <a:spcAft>
                <a:spcPts val="0"/>
              </a:spcAft>
              <a:defRPr sz="1600" b="0">
                <a:solidFill>
                  <a:srgbClr val="F4F6FA"/>
                </a:solidFill>
                <a:latin typeface="Arial"/>
              </a:defRPr>
            </a:pPr>
            <a:r>
              <a:t>Transformations dbt.</a:t>
            </a:r>
          </a:p>
          <a:p>
            <a:pPr>
              <a:lnSpc>
                <a:spcPts val="2000"/>
              </a:lnSpc>
              <a:spcBef>
                <a:spcPts val="0"/>
              </a:spcBef>
              <a:spcAft>
                <a:spcPts val="0"/>
              </a:spcAft>
              <a:defRPr sz="1600" b="0">
                <a:solidFill>
                  <a:srgbClr val="F4F6FA"/>
                </a:solidFill>
                <a:latin typeface="Arial"/>
              </a:defRPr>
            </a:pPr>
            <a:r>
              <a:t>Mise à disposition des marts.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MAINTENANCE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Résolution des bugs.</a:t>
            </a:r>
          </a:p>
          <a:p>
            <a:pPr>
              <a:lnSpc>
                <a:spcPts val="2000"/>
              </a:lnSpc>
              <a:spcBef>
                <a:spcPts val="0"/>
              </a:spcBef>
              <a:spcAft>
                <a:spcPts val="0"/>
              </a:spcAft>
              <a:defRPr sz="1600" b="0">
                <a:solidFill>
                  <a:srgbClr val="F4F6FA"/>
                </a:solidFill>
                <a:latin typeface="Arial"/>
              </a:defRPr>
            </a:pPr>
            <a:r>
              <a:t>Adaptation à la charge.</a:t>
            </a:r>
          </a:p>
          <a:p>
            <a:pPr>
              <a:lnSpc>
                <a:spcPts val="2000"/>
              </a:lnSpc>
              <a:spcBef>
                <a:spcPts val="0"/>
              </a:spcBef>
              <a:spcAft>
                <a:spcPts val="0"/>
              </a:spcAft>
              <a:defRPr sz="1600" b="0">
                <a:solidFill>
                  <a:srgbClr val="F4F6FA"/>
                </a:solidFill>
                <a:latin typeface="Arial"/>
              </a:defRPr>
            </a:pPr>
            <a:r>
              <a:t>Prise en compte des demandes de</a:t>
            </a:r>
          </a:p>
          <a:p>
            <a:pPr>
              <a:lnSpc>
                <a:spcPts val="2000"/>
              </a:lnSpc>
              <a:spcBef>
                <a:spcPts val="0"/>
              </a:spcBef>
              <a:spcAft>
                <a:spcPts val="0"/>
              </a:spcAft>
              <a:defRPr sz="1600" b="0">
                <a:solidFill>
                  <a:srgbClr val="F4F6FA"/>
                </a:solidFill>
                <a:latin typeface="Arial"/>
              </a:defRPr>
            </a:pPr>
            <a:r>
              <a:t>fonctionnalités.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CHIFFRER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Volumes et croissance.</a:t>
            </a:r>
          </a:p>
          <a:p>
            <a:pPr>
              <a:lnSpc>
                <a:spcPts val="2000"/>
              </a:lnSpc>
              <a:spcBef>
                <a:spcPts val="0"/>
              </a:spcBef>
              <a:spcAft>
                <a:spcPts val="0"/>
              </a:spcAft>
              <a:defRPr sz="1600" b="0">
                <a:solidFill>
                  <a:srgbClr val="F4F6FA"/>
                </a:solidFill>
                <a:latin typeface="Arial"/>
              </a:defRPr>
            </a:pPr>
            <a:r>
              <a:t>Durée du DAG et fraîcheur.</a:t>
            </a:r>
          </a:p>
          <a:p>
            <a:pPr>
              <a:lnSpc>
                <a:spcPts val="2000"/>
              </a:lnSpc>
              <a:spcBef>
                <a:spcPts val="0"/>
              </a:spcBef>
              <a:spcAft>
                <a:spcPts val="0"/>
              </a:spcAft>
              <a:defRPr sz="1600" b="0">
                <a:solidFill>
                  <a:srgbClr val="F4F6FA"/>
                </a:solidFill>
                <a:latin typeface="Arial"/>
              </a:defRPr>
            </a:pPr>
            <a:r>
              <a:t>Calendrier et budget.</a:t>
            </a:r>
          </a:p>
          <a:p>
            <a:pPr>
              <a:lnSpc>
                <a:spcPts val="2000"/>
              </a:lnSpc>
              <a:spcBef>
                <a:spcPts val="0"/>
              </a:spcBef>
              <a:spcAft>
                <a:spcPts val="0"/>
              </a:spcAft>
              <a:defRPr sz="1600" b="0">
                <a:solidFill>
                  <a:srgbClr val="F4F6FA"/>
                </a:solidFill>
                <a:latin typeface="Arial"/>
              </a:defRPr>
            </a:pPr>
            <a:r>
              <a:t>Bénéfices pour les équipes.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Distinguer la responsabilité exercée des résultats chiffrés encore à ajouter.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 → C4 · FLUX</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De trois sources aux marts métier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Schéma fonctionnel de la réalisation décrite.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MongoDB</a:t>
            </a:r>
          </a:p>
          <a:p>
            <a:pPr>
              <a:lnSpc>
                <a:spcPts val="2000"/>
              </a:lnSpc>
              <a:spcBef>
                <a:spcPts val="0"/>
              </a:spcBef>
              <a:spcAft>
                <a:spcPts val="0"/>
              </a:spcAft>
              <a:defRPr sz="1600" b="0">
                <a:solidFill>
                  <a:srgbClr val="F4F6FA"/>
                </a:solidFill>
                <a:latin typeface="Arial"/>
              </a:defRPr>
            </a:pPr>
            <a:r>
              <a:t>ServiceNow</a:t>
            </a:r>
          </a:p>
          <a:p>
            <a:pPr>
              <a:lnSpc>
                <a:spcPts val="2000"/>
              </a:lnSpc>
              <a:spcBef>
                <a:spcPts val="0"/>
              </a:spcBef>
              <a:spcAft>
                <a:spcPts val="0"/>
              </a:spcAft>
              <a:defRPr sz="1600" b="0">
                <a:solidFill>
                  <a:srgbClr val="F4F6FA"/>
                </a:solidFill>
                <a:latin typeface="Arial"/>
              </a:defRPr>
            </a:pPr>
            <a:r>
              <a:t>Elasticsearch</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Données internes hétérogènes.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ORCHESTRATION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DAG Airflow quotidien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Chargement ClickHouse</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Modalités par source à détailler.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TRANSFORMATIONS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Projet dbt</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Données traitées et améliorées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Marts consommés par les équipes.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documentation explique le trajet de la donnée et les choix de transformation.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 · EXTRACTION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Trois sources avec des contraintes différentes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connecteurs et les règles de récupération constituent la preuve.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MONGODB</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Collections et champs utiles.</a:t>
            </a:r>
          </a:p>
          <a:p>
            <a:pPr>
              <a:lnSpc>
                <a:spcPts val="2000"/>
              </a:lnSpc>
              <a:spcBef>
                <a:spcPts val="0"/>
              </a:spcBef>
              <a:spcAft>
                <a:spcPts val="0"/>
              </a:spcAft>
              <a:defRPr sz="1600" b="0">
                <a:solidFill>
                  <a:srgbClr val="F4F6FA"/>
                </a:solidFill>
                <a:latin typeface="Arial"/>
              </a:defRPr>
            </a:pPr>
            <a:r>
              <a:t>Filtres et identifiants.</a:t>
            </a:r>
          </a:p>
          <a:p>
            <a:pPr>
              <a:lnSpc>
                <a:spcPts val="2000"/>
              </a:lnSpc>
              <a:spcBef>
                <a:spcPts val="0"/>
              </a:spcBef>
              <a:spcAft>
                <a:spcPts val="0"/>
              </a:spcAft>
              <a:defRPr sz="1600" b="0">
                <a:solidFill>
                  <a:srgbClr val="F4F6FA"/>
                </a:solidFill>
                <a:latin typeface="Arial"/>
              </a:defRPr>
            </a:pPr>
            <a:r>
              <a:t>Mode complet ou incrémental à</a:t>
            </a:r>
          </a:p>
          <a:p>
            <a:pPr>
              <a:lnSpc>
                <a:spcPts val="2000"/>
              </a:lnSpc>
              <a:spcBef>
                <a:spcPts val="0"/>
              </a:spcBef>
              <a:spcAft>
                <a:spcPts val="0"/>
              </a:spcAft>
              <a:defRPr sz="1600" b="0">
                <a:solidFill>
                  <a:srgbClr val="F4F6FA"/>
                </a:solidFill>
                <a:latin typeface="Arial"/>
              </a:defRPr>
            </a:pPr>
            <a:r>
              <a:t>expliciter.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SERVICENOW</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Source confirmée.</a:t>
            </a:r>
          </a:p>
          <a:p>
            <a:pPr>
              <a:lnSpc>
                <a:spcPts val="2000"/>
              </a:lnSpc>
              <a:spcBef>
                <a:spcPts val="0"/>
              </a:spcBef>
              <a:spcAft>
                <a:spcPts val="0"/>
              </a:spcAft>
              <a:defRPr sz="1600" b="0">
                <a:solidFill>
                  <a:srgbClr val="F4F6FA"/>
                </a:solidFill>
                <a:latin typeface="Arial"/>
              </a:defRPr>
            </a:pPr>
            <a:r>
              <a:t>Préciser le mode d’accès réel :</a:t>
            </a:r>
          </a:p>
          <a:p>
            <a:pPr>
              <a:lnSpc>
                <a:spcPts val="2000"/>
              </a:lnSpc>
              <a:spcBef>
                <a:spcPts val="0"/>
              </a:spcBef>
              <a:spcAft>
                <a:spcPts val="0"/>
              </a:spcAft>
              <a:defRPr sz="1600" b="0">
                <a:solidFill>
                  <a:srgbClr val="F4F6FA"/>
                </a:solidFill>
                <a:latin typeface="Arial"/>
              </a:defRPr>
            </a:pPr>
            <a:r>
              <a:t>API, connecteur ou autre accès à</a:t>
            </a:r>
          </a:p>
          <a:p>
            <a:pPr>
              <a:lnSpc>
                <a:spcPts val="2000"/>
              </a:lnSpc>
              <a:spcBef>
                <a:spcPts val="0"/>
              </a:spcBef>
              <a:spcAft>
                <a:spcPts val="0"/>
              </a:spcAft>
              <a:defRPr sz="1600" b="0">
                <a:solidFill>
                  <a:srgbClr val="F4F6FA"/>
                </a:solidFill>
                <a:latin typeface="Arial"/>
              </a:defRPr>
            </a:pPr>
            <a:r>
              <a:t>la donnée.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ELASTICSEARCH</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Requêtes d’extraction.</a:t>
            </a:r>
          </a:p>
          <a:p>
            <a:pPr>
              <a:lnSpc>
                <a:spcPts val="2000"/>
              </a:lnSpc>
              <a:spcBef>
                <a:spcPts val="0"/>
              </a:spcBef>
              <a:spcAft>
                <a:spcPts val="0"/>
              </a:spcAft>
              <a:defRPr sz="1600" b="0">
                <a:solidFill>
                  <a:srgbClr val="F4F6FA"/>
                </a:solidFill>
                <a:latin typeface="Arial"/>
              </a:defRPr>
            </a:pPr>
            <a:r>
              <a:t>Périmètre et filtres.</a:t>
            </a:r>
          </a:p>
          <a:p>
            <a:pPr>
              <a:lnSpc>
                <a:spcPts val="2000"/>
              </a:lnSpc>
              <a:spcBef>
                <a:spcPts val="0"/>
              </a:spcBef>
              <a:spcAft>
                <a:spcPts val="0"/>
              </a:spcAft>
              <a:defRPr sz="1600" b="0">
                <a:solidFill>
                  <a:srgbClr val="F4F6FA"/>
                </a:solidFill>
                <a:latin typeface="Arial"/>
              </a:defRPr>
            </a:pPr>
            <a:r>
              <a:t>Pagination, volume et erreurs à</a:t>
            </a:r>
          </a:p>
          <a:p>
            <a:pPr>
              <a:lnSpc>
                <a:spcPts val="2000"/>
              </a:lnSpc>
              <a:spcBef>
                <a:spcPts val="0"/>
              </a:spcBef>
              <a:spcAft>
                <a:spcPts val="0"/>
              </a:spcAft>
              <a:defRPr sz="1600" b="0">
                <a:solidFill>
                  <a:srgbClr val="F4F6FA"/>
                </a:solidFill>
                <a:latin typeface="Arial"/>
              </a:defRPr>
            </a:pPr>
            <a:r>
              <a:t>documenter selon le code.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diversité est réelle ; chaque mécanisme doit être montré tel qu’il est implémenté.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C3 · NORMALISATION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Convertir les données ServiceNow avant ingestion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chaînes issues du XML provoquaient des erreurs de type dans ClickHouse.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Dans cette intégration, les lignes</a:t>
            </a:r>
          </a:p>
          <a:p>
            <a:pPr>
              <a:lnSpc>
                <a:spcPts val="2000"/>
              </a:lnSpc>
              <a:spcBef>
                <a:spcPts val="0"/>
              </a:spcBef>
              <a:spcAft>
                <a:spcPts val="0"/>
              </a:spcAft>
              <a:defRPr sz="1600" b="0">
                <a:solidFill>
                  <a:srgbClr val="F4F6FA"/>
                </a:solidFill>
                <a:latin typeface="Arial"/>
              </a:defRPr>
            </a:pPr>
            <a:r>
              <a:t>ServiceNow sont représentées en</a:t>
            </a:r>
          </a:p>
          <a:p>
            <a:pPr>
              <a:lnSpc>
                <a:spcPts val="2000"/>
              </a:lnSpc>
              <a:spcBef>
                <a:spcPts val="0"/>
              </a:spcBef>
              <a:spcAft>
                <a:spcPts val="0"/>
              </a:spcAft>
              <a:defRPr sz="1600" b="0">
                <a:solidFill>
                  <a:srgbClr val="F4F6FA"/>
                </a:solidFill>
                <a:latin typeface="Arial"/>
              </a:defRPr>
            </a:pPr>
            <a:r>
              <a:t>XML.</a:t>
            </a:r>
          </a:p>
          <a:p>
            <a:pPr>
              <a:lnSpc>
                <a:spcPts val="2000"/>
              </a:lnSpc>
              <a:spcBef>
                <a:spcPts val="0"/>
              </a:spcBef>
              <a:spcAft>
                <a:spcPts val="0"/>
              </a:spcAft>
              <a:defRPr sz="1600" b="0">
                <a:solidFill>
                  <a:srgbClr val="F4F6FA"/>
                </a:solidFill>
                <a:latin typeface="Arial"/>
              </a:defRPr>
            </a:pPr>
            <a:r>
              <a:t>Les valeurs arrivent comme</a:t>
            </a:r>
          </a:p>
          <a:p>
            <a:pPr>
              <a:lnSpc>
                <a:spcPts val="2000"/>
              </a:lnSpc>
              <a:spcBef>
                <a:spcPts val="0"/>
              </a:spcBef>
              <a:spcAft>
                <a:spcPts val="0"/>
              </a:spcAft>
              <a:defRPr sz="1600" b="0">
                <a:solidFill>
                  <a:srgbClr val="F4F6FA"/>
                </a:solidFill>
                <a:latin typeface="Arial"/>
              </a:defRPr>
            </a:pPr>
            <a:r>
              <a:t>chaînes brutes.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TRANSFORMATION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Système de validation développé.</a:t>
            </a:r>
          </a:p>
          <a:p>
            <a:pPr>
              <a:lnSpc>
                <a:spcPts val="2000"/>
              </a:lnSpc>
              <a:spcBef>
                <a:spcPts val="0"/>
              </a:spcBef>
              <a:spcAft>
                <a:spcPts val="0"/>
              </a:spcAft>
              <a:defRPr sz="1600" b="0">
                <a:solidFill>
                  <a:srgbClr val="F4F6FA"/>
                </a:solidFill>
                <a:latin typeface="Arial"/>
              </a:defRPr>
            </a:pPr>
            <a:r>
              <a:t>Conversion des chaînes vers les</a:t>
            </a:r>
          </a:p>
          <a:p>
            <a:pPr>
              <a:lnSpc>
                <a:spcPts val="2000"/>
              </a:lnSpc>
              <a:spcBef>
                <a:spcPts val="0"/>
              </a:spcBef>
              <a:spcAft>
                <a:spcPts val="0"/>
              </a:spcAft>
              <a:defRPr sz="1600" b="0">
                <a:solidFill>
                  <a:srgbClr val="F4F6FA"/>
                </a:solidFill>
                <a:latin typeface="Arial"/>
              </a:defRPr>
            </a:pPr>
            <a:r>
              <a:t>types de données attendus.</a:t>
            </a:r>
          </a:p>
          <a:p>
            <a:pPr>
              <a:lnSpc>
                <a:spcPts val="2000"/>
              </a:lnSpc>
              <a:spcBef>
                <a:spcPts val="0"/>
              </a:spcBef>
              <a:spcAft>
                <a:spcPts val="0"/>
              </a:spcAft>
              <a:defRPr sz="1600" b="0">
                <a:solidFill>
                  <a:srgbClr val="F4F6FA"/>
                </a:solidFill>
                <a:latin typeface="Arial"/>
              </a:defRPr>
            </a:pPr>
            <a:r>
              <a:t>Règles exactes à illustrer.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CIBLE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Valeurs adaptées au schéma</a:t>
            </a:r>
          </a:p>
          <a:p>
            <a:pPr>
              <a:lnSpc>
                <a:spcPts val="2000"/>
              </a:lnSpc>
              <a:spcBef>
                <a:spcPts val="0"/>
              </a:spcBef>
              <a:spcAft>
                <a:spcPts val="0"/>
              </a:spcAft>
              <a:defRPr sz="1600" b="0">
                <a:solidFill>
                  <a:srgbClr val="F4F6FA"/>
                </a:solidFill>
                <a:latin typeface="Arial"/>
              </a:defRPr>
            </a:pPr>
            <a:r>
              <a:t>ClickHouse.</a:t>
            </a:r>
          </a:p>
          <a:p>
            <a:pPr>
              <a:lnSpc>
                <a:spcPts val="2000"/>
              </a:lnSpc>
              <a:spcBef>
                <a:spcPts val="0"/>
              </a:spcBef>
              <a:spcAft>
                <a:spcPts val="0"/>
              </a:spcAft>
              <a:defRPr sz="1600" b="0">
                <a:solidFill>
                  <a:srgbClr val="F4F6FA"/>
                </a:solidFill>
                <a:latin typeface="Arial"/>
              </a:defRPr>
            </a:pPr>
            <a:r>
              <a:t>Traitement des données invalides</a:t>
            </a:r>
          </a:p>
          <a:p>
            <a:pPr>
              <a:lnSpc>
                <a:spcPts val="2000"/>
              </a:lnSpc>
              <a:spcBef>
                <a:spcPts val="0"/>
              </a:spcBef>
              <a:spcAft>
                <a:spcPts val="0"/>
              </a:spcAft>
              <a:defRPr sz="1600" b="0">
                <a:solidFill>
                  <a:srgbClr val="F4F6FA"/>
                </a:solidFill>
                <a:latin typeface="Arial"/>
              </a:defRPr>
            </a:pPr>
            <a:r>
              <a:t>et validation du résultat à</a:t>
            </a:r>
          </a:p>
          <a:p>
            <a:pPr>
              <a:lnSpc>
                <a:spcPts val="2000"/>
              </a:lnSpc>
              <a:spcBef>
                <a:spcPts val="0"/>
              </a:spcBef>
              <a:spcAft>
                <a:spcPts val="0"/>
              </a:spcAft>
              <a:defRPr sz="1600" b="0">
                <a:solidFill>
                  <a:srgbClr val="F4F6FA"/>
                </a:solidFill>
                <a:latin typeface="Arial"/>
              </a:defRPr>
            </a:pPr>
            <a:r>
              <a:t>documenter.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cas métier réel pour démontrer nettoyage, typage et fiabilisation de la collecte.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C3 · AGRÉGATION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Expliquer comment un mart est construit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Relier la requête, la granularité et l’usage final.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ORIGINES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Sélectionner un mart réel.</a:t>
            </a:r>
          </a:p>
          <a:p>
            <a:pPr>
              <a:lnSpc>
                <a:spcPts val="2000"/>
              </a:lnSpc>
              <a:spcBef>
                <a:spcPts val="0"/>
              </a:spcBef>
              <a:spcAft>
                <a:spcPts val="0"/>
              </a:spcAft>
              <a:defRPr sz="1600" b="0">
                <a:solidFill>
                  <a:srgbClr val="F4F6FA"/>
                </a:solidFill>
                <a:latin typeface="Arial"/>
              </a:defRPr>
            </a:pPr>
            <a:r>
              <a:t>Identifier ses sources et les objets</a:t>
            </a:r>
          </a:p>
          <a:p>
            <a:pPr>
              <a:lnSpc>
                <a:spcPts val="2000"/>
              </a:lnSpc>
              <a:spcBef>
                <a:spcPts val="0"/>
              </a:spcBef>
              <a:spcAft>
                <a:spcPts val="0"/>
              </a:spcAft>
              <a:defRPr sz="1600" b="0">
                <a:solidFill>
                  <a:srgbClr val="F4F6FA"/>
                </a:solidFill>
                <a:latin typeface="Arial"/>
              </a:defRPr>
            </a:pPr>
            <a:r>
              <a:t>intermédiaires nécessaires.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LOGIQUE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Présenter les jointures, filtres ou</a:t>
            </a:r>
          </a:p>
          <a:p>
            <a:pPr>
              <a:lnSpc>
                <a:spcPts val="2000"/>
              </a:lnSpc>
              <a:spcBef>
                <a:spcPts val="0"/>
              </a:spcBef>
              <a:spcAft>
                <a:spcPts val="0"/>
              </a:spcAft>
              <a:defRPr sz="1600" b="0">
                <a:solidFill>
                  <a:srgbClr val="F4F6FA"/>
                </a:solidFill>
                <a:latin typeface="Arial"/>
              </a:defRPr>
            </a:pPr>
            <a:r>
              <a:t>calculs réellement utilisés.</a:t>
            </a:r>
          </a:p>
          <a:p>
            <a:pPr>
              <a:lnSpc>
                <a:spcPts val="2000"/>
              </a:lnSpc>
              <a:spcBef>
                <a:spcPts val="0"/>
              </a:spcBef>
              <a:spcAft>
                <a:spcPts val="0"/>
              </a:spcAft>
              <a:defRPr sz="1600" b="0">
                <a:solidFill>
                  <a:srgbClr val="F4F6FA"/>
                </a:solidFill>
                <a:latin typeface="Arial"/>
              </a:defRPr>
            </a:pPr>
            <a:r>
              <a:t>Justifier la clé de rapprochement et</a:t>
            </a:r>
          </a:p>
          <a:p>
            <a:pPr>
              <a:lnSpc>
                <a:spcPts val="2000"/>
              </a:lnSpc>
              <a:spcBef>
                <a:spcPts val="0"/>
              </a:spcBef>
              <a:spcAft>
                <a:spcPts val="0"/>
              </a:spcAft>
              <a:defRPr sz="1600" b="0">
                <a:solidFill>
                  <a:srgbClr val="F4F6FA"/>
                </a:solidFill>
                <a:latin typeface="Arial"/>
              </a:defRPr>
            </a:pPr>
            <a:r>
              <a:t>la granularité.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VALIDATION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 résultat attendu.</a:t>
            </a:r>
          </a:p>
          <a:p>
            <a:pPr>
              <a:lnSpc>
                <a:spcPts val="2000"/>
              </a:lnSpc>
              <a:spcBef>
                <a:spcPts val="0"/>
              </a:spcBef>
              <a:spcAft>
                <a:spcPts val="0"/>
              </a:spcAft>
              <a:defRPr sz="1600" b="0">
                <a:solidFill>
                  <a:srgbClr val="F4F6FA"/>
                </a:solidFill>
                <a:latin typeface="Arial"/>
              </a:defRPr>
            </a:pPr>
            <a:r>
              <a:t>Expliquer le traitement des</a:t>
            </a:r>
          </a:p>
          <a:p>
            <a:pPr>
              <a:lnSpc>
                <a:spcPts val="2000"/>
              </a:lnSpc>
              <a:spcBef>
                <a:spcPts val="0"/>
              </a:spcBef>
              <a:spcAft>
                <a:spcPts val="0"/>
              </a:spcAft>
              <a:defRPr sz="1600" b="0">
                <a:solidFill>
                  <a:srgbClr val="F4F6FA"/>
                </a:solidFill>
                <a:latin typeface="Arial"/>
              </a:defRPr>
            </a:pPr>
            <a:r>
              <a:t>anomalies observées.</a:t>
            </a:r>
          </a:p>
          <a:p>
            <a:pPr>
              <a:lnSpc>
                <a:spcPts val="2000"/>
              </a:lnSpc>
              <a:spcBef>
                <a:spcPts val="0"/>
              </a:spcBef>
              <a:spcAft>
                <a:spcPts val="0"/>
              </a:spcAft>
              <a:defRPr sz="1600" b="0">
                <a:solidFill>
                  <a:srgbClr val="F4F6FA"/>
                </a:solidFill>
                <a:latin typeface="Arial"/>
              </a:defRPr>
            </a:pPr>
            <a:r>
              <a:t>Joindre les contrôles existants.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simple présence de plusieurs sources ne prouve pas leur agrégation.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EXPLOITATION · SCALABILITÉ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Adapter la collecte au volume et aux schémas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Selon les tables : quelques dizaines de milliers à plusieurs dizaines de millions de lignes.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VOLUME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Des tailles de tables très</a:t>
            </a:r>
          </a:p>
          <a:p>
            <a:pPr>
              <a:lnSpc>
                <a:spcPts val="2000"/>
              </a:lnSpc>
              <a:spcBef>
                <a:spcPts val="0"/>
              </a:spcBef>
              <a:spcAft>
                <a:spcPts val="0"/>
              </a:spcAft>
              <a:defRPr sz="1600" b="0">
                <a:solidFill>
                  <a:srgbClr val="F4F6FA"/>
                </a:solidFill>
                <a:latin typeface="Arial"/>
              </a:defRPr>
            </a:pPr>
            <a:r>
              <a:t>différentes.</a:t>
            </a:r>
          </a:p>
          <a:p>
            <a:pPr>
              <a:lnSpc>
                <a:spcPts val="2000"/>
              </a:lnSpc>
              <a:spcBef>
                <a:spcPts val="0"/>
              </a:spcBef>
              <a:spcAft>
                <a:spcPts val="0"/>
              </a:spcAft>
              <a:defRPr sz="1600" b="0">
                <a:solidFill>
                  <a:srgbClr val="F4F6FA"/>
                </a:solidFill>
                <a:latin typeface="Arial"/>
              </a:defRPr>
            </a:pPr>
            <a:r>
              <a:t>Adapter le traitement à chaque</a:t>
            </a:r>
          </a:p>
          <a:p>
            <a:pPr>
              <a:lnSpc>
                <a:spcPts val="2000"/>
              </a:lnSpc>
              <a:spcBef>
                <a:spcPts val="0"/>
              </a:spcBef>
              <a:spcAft>
                <a:spcPts val="0"/>
              </a:spcAft>
              <a:defRPr sz="1600" b="0">
                <a:solidFill>
                  <a:srgbClr val="F4F6FA"/>
                </a:solidFill>
                <a:latin typeface="Arial"/>
              </a:defRPr>
            </a:pPr>
            <a:r>
              <a:t>source et table.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FENÊTRES DYNAMIQUES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Plages de récupération</a:t>
            </a:r>
          </a:p>
          <a:p>
            <a:pPr>
              <a:lnSpc>
                <a:spcPts val="2000"/>
              </a:lnSpc>
              <a:spcBef>
                <a:spcPts val="0"/>
              </a:spcBef>
              <a:spcAft>
                <a:spcPts val="0"/>
              </a:spcAft>
              <a:defRPr sz="1600" b="0">
                <a:solidFill>
                  <a:srgbClr val="F4F6FA"/>
                </a:solidFill>
                <a:latin typeface="Arial"/>
              </a:defRPr>
            </a:pPr>
            <a:r>
              <a:t>quotidienne ajustées selon les</a:t>
            </a:r>
          </a:p>
          <a:p>
            <a:pPr>
              <a:lnSpc>
                <a:spcPts val="2000"/>
              </a:lnSpc>
              <a:spcBef>
                <a:spcPts val="0"/>
              </a:spcBef>
              <a:spcAft>
                <a:spcPts val="0"/>
              </a:spcAft>
              <a:defRPr sz="1600" b="0">
                <a:solidFill>
                  <a:srgbClr val="F4F6FA"/>
                </a:solidFill>
                <a:latin typeface="Arial"/>
              </a:defRPr>
            </a:pPr>
            <a:r>
              <a:t>tables.</a:t>
            </a:r>
          </a:p>
          <a:p>
            <a:pPr>
              <a:lnSpc>
                <a:spcPts val="2000"/>
              </a:lnSpc>
              <a:spcBef>
                <a:spcPts val="0"/>
              </a:spcBef>
              <a:spcAft>
                <a:spcPts val="0"/>
              </a:spcAft>
              <a:defRPr sz="1600" b="0">
                <a:solidFill>
                  <a:srgbClr val="F4F6FA"/>
                </a:solidFill>
                <a:latin typeface="Arial"/>
              </a:defRPr>
            </a:pPr>
            <a:r>
              <a:t>Règle de calcul réelle à montrer.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SCHÉMA ÉVOLUTIF</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Ajout à la volée de colonnes</a:t>
            </a:r>
          </a:p>
          <a:p>
            <a:pPr>
              <a:lnSpc>
                <a:spcPts val="2000"/>
              </a:lnSpc>
              <a:spcBef>
                <a:spcPts val="0"/>
              </a:spcBef>
              <a:spcAft>
                <a:spcPts val="0"/>
              </a:spcAft>
              <a:defRPr sz="1600" b="0">
                <a:solidFill>
                  <a:srgbClr val="F4F6FA"/>
                </a:solidFill>
                <a:latin typeface="Arial"/>
              </a:defRPr>
            </a:pPr>
            <a:r>
              <a:t>absentes des schémas</a:t>
            </a:r>
          </a:p>
          <a:p>
            <a:pPr>
              <a:lnSpc>
                <a:spcPts val="2000"/>
              </a:lnSpc>
              <a:spcBef>
                <a:spcPts val="0"/>
              </a:spcBef>
              <a:spcAft>
                <a:spcPts val="0"/>
              </a:spcAft>
              <a:defRPr sz="1600" b="0">
                <a:solidFill>
                  <a:srgbClr val="F4F6FA"/>
                </a:solidFill>
                <a:latin typeface="Arial"/>
              </a:defRPr>
            </a:pPr>
            <a:r>
              <a:t>ClickHouse.</a:t>
            </a:r>
          </a:p>
          <a:p>
            <a:pPr>
              <a:lnSpc>
                <a:spcPts val="2000"/>
              </a:lnSpc>
              <a:spcBef>
                <a:spcPts val="0"/>
              </a:spcBef>
              <a:spcAft>
                <a:spcPts val="0"/>
              </a:spcAft>
              <a:defRPr sz="1600" b="0">
                <a:solidFill>
                  <a:srgbClr val="F4F6FA"/>
                </a:solidFill>
                <a:latin typeface="Arial"/>
              </a:defRPr>
            </a:pPr>
            <a:r>
              <a:t>Types et contrôles à expliciter.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scalabilité est illustrée par des mécanismes concrets ; les gains restent à mesurer.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 · SQL</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les requêtes par leur usage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projet dbt fournit une base de preuves SQL professionnelle.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SÉLECTION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Champs utiles et filtres.</a:t>
            </a:r>
          </a:p>
          <a:p>
            <a:pPr>
              <a:lnSpc>
                <a:spcPts val="2000"/>
              </a:lnSpc>
              <a:spcBef>
                <a:spcPts val="0"/>
              </a:spcBef>
              <a:spcAft>
                <a:spcPts val="0"/>
              </a:spcAft>
              <a:defRPr sz="1600" b="0">
                <a:solidFill>
                  <a:srgbClr val="F4F6FA"/>
                </a:solidFill>
                <a:latin typeface="Arial"/>
              </a:defRPr>
            </a:pPr>
            <a:r>
              <a:t>Conditions liées au besoin métier.</a:t>
            </a:r>
          </a:p>
          <a:p>
            <a:pPr>
              <a:lnSpc>
                <a:spcPts val="2000"/>
              </a:lnSpc>
              <a:spcBef>
                <a:spcPts val="0"/>
              </a:spcBef>
              <a:spcAft>
                <a:spcPts val="0"/>
              </a:spcAft>
              <a:defRPr sz="1600" b="0">
                <a:solidFill>
                  <a:srgbClr val="F4F6FA"/>
                </a:solidFill>
                <a:latin typeface="Arial"/>
              </a:defRPr>
            </a:pPr>
            <a:r>
              <a:t>Limiter les données inutiles.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TRANSFORMATION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Jointures et agrégations réelles.</a:t>
            </a:r>
          </a:p>
          <a:p>
            <a:pPr>
              <a:lnSpc>
                <a:spcPts val="2000"/>
              </a:lnSpc>
              <a:spcBef>
                <a:spcPts val="0"/>
              </a:spcBef>
              <a:spcAft>
                <a:spcPts val="0"/>
              </a:spcAft>
              <a:defRPr sz="1600" b="0">
                <a:solidFill>
                  <a:srgbClr val="F4F6FA"/>
                </a:solidFill>
                <a:latin typeface="Arial"/>
              </a:defRPr>
            </a:pPr>
            <a:r>
              <a:t>Calculs et granularité.</a:t>
            </a:r>
          </a:p>
          <a:p>
            <a:pPr>
              <a:lnSpc>
                <a:spcPts val="2000"/>
              </a:lnSpc>
              <a:spcBef>
                <a:spcPts val="0"/>
              </a:spcBef>
              <a:spcAft>
                <a:spcPts val="0"/>
              </a:spcAft>
              <a:defRPr sz="1600" b="0">
                <a:solidFill>
                  <a:srgbClr val="F4F6FA"/>
                </a:solidFill>
                <a:latin typeface="Arial"/>
              </a:defRPr>
            </a:pPr>
            <a:r>
              <a:t>Résultat attendu du mart.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OPTIMISATION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Choix ClickHouse et SQL à</a:t>
            </a:r>
          </a:p>
          <a:p>
            <a:pPr>
              <a:lnSpc>
                <a:spcPts val="2000"/>
              </a:lnSpc>
              <a:spcBef>
                <a:spcPts val="0"/>
              </a:spcBef>
              <a:spcAft>
                <a:spcPts val="0"/>
              </a:spcAft>
              <a:defRPr sz="1600" b="0">
                <a:solidFill>
                  <a:srgbClr val="F4F6FA"/>
                </a:solidFill>
                <a:latin typeface="Arial"/>
              </a:defRPr>
            </a:pPr>
            <a:r>
              <a:t>expliquer.</a:t>
            </a:r>
          </a:p>
          <a:p>
            <a:pPr>
              <a:lnSpc>
                <a:spcPts val="2000"/>
              </a:lnSpc>
              <a:spcBef>
                <a:spcPts val="0"/>
              </a:spcBef>
              <a:spcAft>
                <a:spcPts val="0"/>
              </a:spcAft>
              <a:defRPr sz="1600" b="0">
                <a:solidFill>
                  <a:srgbClr val="F4F6FA"/>
                </a:solidFill>
                <a:latin typeface="Arial"/>
              </a:defRPr>
            </a:pPr>
            <a:r>
              <a:t>Mesures avant / après à joindre.</a:t>
            </a:r>
          </a:p>
          <a:p>
            <a:pPr>
              <a:lnSpc>
                <a:spcPts val="2000"/>
              </a:lnSpc>
              <a:spcBef>
                <a:spcPts val="0"/>
              </a:spcBef>
              <a:spcAft>
                <a:spcPts val="0"/>
              </a:spcAft>
              <a:defRPr sz="1600" b="0">
                <a:solidFill>
                  <a:srgbClr val="F4F6FA"/>
                </a:solidFill>
                <a:latin typeface="Arial"/>
              </a:defRPr>
            </a:pPr>
            <a:r>
              <a:t>Ne pas inventer moteur ou</a:t>
            </a:r>
          </a:p>
          <a:p>
            <a:pPr>
              <a:lnSpc>
                <a:spcPts val="2000"/>
              </a:lnSpc>
              <a:spcBef>
                <a:spcPts val="0"/>
              </a:spcBef>
              <a:spcAft>
                <a:spcPts val="0"/>
              </a:spcAft>
              <a:defRPr sz="1600" b="0">
                <a:solidFill>
                  <a:srgbClr val="F4F6FA"/>
                </a:solidFill>
                <a:latin typeface="Arial"/>
              </a:defRPr>
            </a:pPr>
            <a:r>
              <a:t>partitionnement.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extrait SQL commenté vaut mieux qu’une liste de technologies.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C4 · STOCKAGE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Justifier ClickHouse et le modèle des données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création, l’import et la documentation relèvent du périmètre réalisé.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MODÈLE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Décrire les entités, identifiants et</a:t>
            </a:r>
          </a:p>
          <a:p>
            <a:pPr>
              <a:lnSpc>
                <a:spcPts val="2000"/>
              </a:lnSpc>
              <a:spcBef>
                <a:spcPts val="0"/>
              </a:spcBef>
              <a:spcAft>
                <a:spcPts val="0"/>
              </a:spcAft>
              <a:defRPr sz="1600" b="0">
                <a:solidFill>
                  <a:srgbClr val="F4F6FA"/>
                </a:solidFill>
                <a:latin typeface="Arial"/>
              </a:defRPr>
            </a:pPr>
            <a:r>
              <a:t>relations du cas retenu.</a:t>
            </a:r>
          </a:p>
          <a:p>
            <a:pPr>
              <a:lnSpc>
                <a:spcPts val="2000"/>
              </a:lnSpc>
              <a:spcBef>
                <a:spcPts val="0"/>
              </a:spcBef>
              <a:spcAft>
                <a:spcPts val="0"/>
              </a:spcAft>
              <a:defRPr sz="1600" b="0">
                <a:solidFill>
                  <a:srgbClr val="F4F6FA"/>
                </a:solidFill>
                <a:latin typeface="Arial"/>
              </a:defRPr>
            </a:pPr>
            <a:r>
              <a:t>Joindre les modèles conceptuel et</a:t>
            </a:r>
          </a:p>
          <a:p>
            <a:pPr>
              <a:lnSpc>
                <a:spcPts val="2000"/>
              </a:lnSpc>
              <a:spcBef>
                <a:spcPts val="0"/>
              </a:spcBef>
              <a:spcAft>
                <a:spcPts val="0"/>
              </a:spcAft>
              <a:defRPr sz="1600" b="0">
                <a:solidFill>
                  <a:srgbClr val="F4F6FA"/>
                </a:solidFill>
                <a:latin typeface="Arial"/>
              </a:defRPr>
            </a:pPr>
            <a:r>
              <a:t>physique.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STOCKAGE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Présenter les tables ClickHouse et</a:t>
            </a:r>
          </a:p>
          <a:p>
            <a:pPr>
              <a:lnSpc>
                <a:spcPts val="2000"/>
              </a:lnSpc>
              <a:spcBef>
                <a:spcPts val="0"/>
              </a:spcBef>
              <a:spcAft>
                <a:spcPts val="0"/>
              </a:spcAft>
              <a:defRPr sz="1600" b="0">
                <a:solidFill>
                  <a:srgbClr val="F4F6FA"/>
                </a:solidFill>
                <a:latin typeface="Arial"/>
              </a:defRPr>
            </a:pPr>
            <a:r>
              <a:t>les choix de stockage réellement</a:t>
            </a:r>
          </a:p>
          <a:p>
            <a:pPr>
              <a:lnSpc>
                <a:spcPts val="2000"/>
              </a:lnSpc>
              <a:spcBef>
                <a:spcPts val="0"/>
              </a:spcBef>
              <a:spcAft>
                <a:spcPts val="0"/>
              </a:spcAft>
              <a:defRPr sz="1600" b="0">
                <a:solidFill>
                  <a:srgbClr val="F4F6FA"/>
                </a:solidFill>
                <a:latin typeface="Arial"/>
              </a:defRPr>
            </a:pPr>
            <a:r>
              <a:t>appliqués.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IMPORT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Expliquer chargement et</a:t>
            </a:r>
          </a:p>
          <a:p>
            <a:pPr>
              <a:lnSpc>
                <a:spcPts val="2000"/>
              </a:lnSpc>
              <a:spcBef>
                <a:spcPts val="0"/>
              </a:spcBef>
              <a:spcAft>
                <a:spcPts val="0"/>
              </a:spcAft>
              <a:defRPr sz="1600" b="0">
                <a:solidFill>
                  <a:srgbClr val="F4F6FA"/>
                </a:solidFill>
                <a:latin typeface="Arial"/>
              </a:defRPr>
            </a:pPr>
            <a:r>
              <a:t>actualisation.</a:t>
            </a:r>
          </a:p>
          <a:p>
            <a:pPr>
              <a:lnSpc>
                <a:spcPts val="2000"/>
              </a:lnSpc>
              <a:spcBef>
                <a:spcPts val="0"/>
              </a:spcBef>
              <a:spcAft>
                <a:spcPts val="0"/>
              </a:spcAft>
              <a:defRPr sz="1600" b="0">
                <a:solidFill>
                  <a:srgbClr val="F4F6FA"/>
                </a:solidFill>
                <a:latin typeface="Arial"/>
              </a:defRPr>
            </a:pPr>
            <a:r>
              <a:t>Montrer une exécution et les objets</a:t>
            </a:r>
          </a:p>
          <a:p>
            <a:pPr>
              <a:lnSpc>
                <a:spcPts val="2000"/>
              </a:lnSpc>
              <a:spcBef>
                <a:spcPts val="0"/>
              </a:spcBef>
              <a:spcAft>
                <a:spcPts val="0"/>
              </a:spcAft>
              <a:defRPr sz="1600" b="0">
                <a:solidFill>
                  <a:srgbClr val="F4F6FA"/>
                </a:solidFill>
                <a:latin typeface="Arial"/>
              </a:defRPr>
            </a:pPr>
            <a:r>
              <a:t>produits.</a:t>
            </a:r>
          </a:p>
          <a:p>
            <a:pPr>
              <a:lnSpc>
                <a:spcPts val="2000"/>
              </a:lnSpc>
              <a:spcBef>
                <a:spcPts val="0"/>
              </a:spcBef>
              <a:spcAft>
                <a:spcPts val="0"/>
              </a:spcAft>
              <a:defRPr sz="1600" b="0">
                <a:solidFill>
                  <a:srgbClr val="F4F6FA"/>
                </a:solidFill>
                <a:latin typeface="Arial"/>
              </a:defRPr>
            </a:pPr>
            <a:r>
              <a:t>Préciser la stratégie de reprise.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graphe de dépendances dbt ne remplace pas automatiquement un modèle Merise.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DOCUMENTATION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la plateforme compréhensible et transmissible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documentation est un axe majeur du travail d’alternance.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COMPRENDRE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Architecture et sources.</a:t>
            </a:r>
          </a:p>
          <a:p>
            <a:pPr>
              <a:lnSpc>
                <a:spcPts val="2000"/>
              </a:lnSpc>
              <a:spcBef>
                <a:spcPts val="0"/>
              </a:spcBef>
              <a:spcAft>
                <a:spcPts val="0"/>
              </a:spcAft>
              <a:defRPr sz="1600" b="0">
                <a:solidFill>
                  <a:srgbClr val="F4F6FA"/>
                </a:solidFill>
                <a:latin typeface="Arial"/>
              </a:defRPr>
            </a:pPr>
            <a:r>
              <a:t>Définition des données.</a:t>
            </a:r>
          </a:p>
          <a:p>
            <a:pPr>
              <a:lnSpc>
                <a:spcPts val="2000"/>
              </a:lnSpc>
              <a:spcBef>
                <a:spcPts val="0"/>
              </a:spcBef>
              <a:spcAft>
                <a:spcPts val="0"/>
              </a:spcAft>
              <a:defRPr sz="1600" b="0">
                <a:solidFill>
                  <a:srgbClr val="F4F6FA"/>
                </a:solidFill>
                <a:latin typeface="Arial"/>
              </a:defRPr>
            </a:pPr>
            <a:r>
              <a:t>Logique des transformations et</a:t>
            </a:r>
          </a:p>
          <a:p>
            <a:pPr>
              <a:lnSpc>
                <a:spcPts val="2000"/>
              </a:lnSpc>
              <a:spcBef>
                <a:spcPts val="0"/>
              </a:spcBef>
              <a:spcAft>
                <a:spcPts val="0"/>
              </a:spcAft>
              <a:defRPr sz="1600" b="0">
                <a:solidFill>
                  <a:srgbClr val="F4F6FA"/>
                </a:solidFill>
                <a:latin typeface="Arial"/>
              </a:defRPr>
            </a:pPr>
            <a:r>
              <a:t>usages des marts.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Installation et accès.</a:t>
            </a:r>
          </a:p>
          <a:p>
            <a:pPr>
              <a:lnSpc>
                <a:spcPts val="2000"/>
              </a:lnSpc>
              <a:spcBef>
                <a:spcPts val="0"/>
              </a:spcBef>
              <a:spcAft>
                <a:spcPts val="0"/>
              </a:spcAft>
              <a:defRPr sz="1600" b="0">
                <a:solidFill>
                  <a:srgbClr val="F4F6FA"/>
                </a:solidFill>
                <a:latin typeface="Arial"/>
              </a:defRPr>
            </a:pPr>
            <a:r>
              <a:t>Lancement et diagnostic.</a:t>
            </a:r>
          </a:p>
          <a:p>
            <a:pPr>
              <a:lnSpc>
                <a:spcPts val="2000"/>
              </a:lnSpc>
              <a:spcBef>
                <a:spcPts val="0"/>
              </a:spcBef>
              <a:spcAft>
                <a:spcPts val="0"/>
              </a:spcAft>
              <a:defRPr sz="1600" b="0">
                <a:solidFill>
                  <a:srgbClr val="F4F6FA"/>
                </a:solidFill>
                <a:latin typeface="Arial"/>
              </a:defRPr>
            </a:pPr>
            <a:r>
              <a:t>Procédures de maintenance à</a:t>
            </a:r>
          </a:p>
          <a:p>
            <a:pPr>
              <a:lnSpc>
                <a:spcPts val="2000"/>
              </a:lnSpc>
              <a:spcBef>
                <a:spcPts val="0"/>
              </a:spcBef>
              <a:spcAft>
                <a:spcPts val="0"/>
              </a:spcAft>
              <a:defRPr sz="1600" b="0">
                <a:solidFill>
                  <a:srgbClr val="F4F6FA"/>
                </a:solidFill>
                <a:latin typeface="Arial"/>
              </a:defRPr>
            </a:pPr>
            <a:r>
              <a:t>montrer lorsqu’elles existent.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ÉVOLUER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Dépendances et impacts.</a:t>
            </a:r>
          </a:p>
          <a:p>
            <a:pPr>
              <a:lnSpc>
                <a:spcPts val="2000"/>
              </a:lnSpc>
              <a:spcBef>
                <a:spcPts val="0"/>
              </a:spcBef>
              <a:spcAft>
                <a:spcPts val="0"/>
              </a:spcAft>
              <a:defRPr sz="1600" b="0">
                <a:solidFill>
                  <a:srgbClr val="F4F6FA"/>
                </a:solidFill>
                <a:latin typeface="Arial"/>
              </a:defRPr>
            </a:pPr>
            <a:r>
              <a:t>Choix techniques argumentés.</a:t>
            </a:r>
          </a:p>
          <a:p>
            <a:pPr>
              <a:lnSpc>
                <a:spcPts val="2000"/>
              </a:lnSpc>
              <a:spcBef>
                <a:spcPts val="0"/>
              </a:spcBef>
              <a:spcAft>
                <a:spcPts val="0"/>
              </a:spcAft>
              <a:defRPr sz="1600" b="0">
                <a:solidFill>
                  <a:srgbClr val="F4F6FA"/>
                </a:solidFill>
                <a:latin typeface="Arial"/>
              </a:defRPr>
            </a:pPr>
            <a:r>
              <a:t>Mise à jour liée aux changements.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Montrer une page réellement produite et expliquer à qui elle sert.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C4 · COMPLÉMENT CALL TO AIDVENTURE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Documenter les traitements et les droits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Registre du jeu ; ne décrit pas les traitements internes de l’entreprise.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PÉRIMÈTRE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e-mails, mots de passe</a:t>
            </a:r>
          </a:p>
          <a:p>
            <a:pPr>
              <a:lnSpc>
                <a:spcPts val="2000"/>
              </a:lnSpc>
              <a:spcBef>
                <a:spcPts val="0"/>
              </a:spcBef>
              <a:spcAft>
                <a:spcPts val="0"/>
              </a:spcAft>
              <a:defRPr sz="1600" b="0">
                <a:solidFill>
                  <a:srgbClr val="F4F6FA"/>
                </a:solidFill>
                <a:latin typeface="Arial"/>
              </a:defRPr>
            </a:pPr>
            <a:r>
              <a:t>hachés, sauvegardes et</a:t>
            </a:r>
          </a:p>
          <a:p>
            <a:pPr>
              <a:lnSpc>
                <a:spcPts val="2000"/>
              </a:lnSpc>
              <a:spcBef>
                <a:spcPts val="0"/>
              </a:spcBef>
              <a:spcAft>
                <a:spcPts val="0"/>
              </a:spcAft>
              <a:defRPr sz="1600" b="0">
                <a:solidFill>
                  <a:srgbClr val="F4F6FA"/>
                </a:solidFill>
                <a:latin typeface="Arial"/>
              </a:defRPr>
            </a:pPr>
            <a:r>
              <a:t>personnages rattachés à un</a:t>
            </a:r>
          </a:p>
          <a:p>
            <a:pPr>
              <a:lnSpc>
                <a:spcPts val="2000"/>
              </a:lnSpc>
              <a:spcBef>
                <a:spcPts val="0"/>
              </a:spcBef>
              <a:spcAft>
                <a:spcPts val="0"/>
              </a:spcAft>
              <a:defRPr sz="1600" b="0">
                <a:solidFill>
                  <a:srgbClr val="F4F6FA"/>
                </a:solidFill>
                <a:latin typeface="Arial"/>
              </a:defRPr>
            </a:pPr>
            <a:r>
              <a:t>compte.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PROCÉDURES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Export utilisateur.</a:t>
            </a:r>
          </a:p>
          <a:p>
            <a:pPr>
              <a:lnSpc>
                <a:spcPts val="2000"/>
              </a:lnSpc>
              <a:spcBef>
                <a:spcPts val="0"/>
              </a:spcBef>
              <a:spcAft>
                <a:spcPts val="0"/>
              </a:spcAft>
              <a:defRPr sz="1600" b="0">
                <a:solidFill>
                  <a:srgbClr val="F4F6FA"/>
                </a:solidFill>
                <a:latin typeface="Arial"/>
              </a:defRPr>
            </a:pPr>
            <a:r>
              <a:t>Rectification via administration.</a:t>
            </a:r>
          </a:p>
          <a:p>
            <a:pPr>
              <a:lnSpc>
                <a:spcPts val="2000"/>
              </a:lnSpc>
              <a:spcBef>
                <a:spcPts val="0"/>
              </a:spcBef>
              <a:spcAft>
                <a:spcPts val="0"/>
              </a:spcAft>
              <a:defRPr sz="1600" b="0">
                <a:solidFill>
                  <a:srgbClr val="F4F6FA"/>
                </a:solidFill>
                <a:latin typeface="Arial"/>
              </a:defRPr>
            </a:pPr>
            <a:r>
              <a:t>Suppression du compte et</a:t>
            </a:r>
          </a:p>
          <a:p>
            <a:pPr>
              <a:lnSpc>
                <a:spcPts val="2000"/>
              </a:lnSpc>
              <a:spcBef>
                <a:spcPts val="0"/>
              </a:spcBef>
              <a:spcAft>
                <a:spcPts val="0"/>
              </a:spcAft>
              <a:defRPr sz="1600" b="0">
                <a:solidFill>
                  <a:srgbClr val="F4F6FA"/>
                </a:solidFill>
                <a:latin typeface="Arial"/>
              </a:defRPr>
            </a:pPr>
            <a:r>
              <a:t>cascades.</a:t>
            </a:r>
          </a:p>
          <a:p>
            <a:pPr>
              <a:lnSpc>
                <a:spcPts val="2000"/>
              </a:lnSpc>
              <a:spcBef>
                <a:spcPts val="0"/>
              </a:spcBef>
              <a:spcAft>
                <a:spcPts val="0"/>
              </a:spcAft>
              <a:defRPr sz="1600" b="0">
                <a:solidFill>
                  <a:srgbClr val="F4F6FA"/>
                </a:solidFill>
                <a:latin typeface="Arial"/>
              </a:defRPr>
            </a:pPr>
            <a:r>
              <a:t>Nettoyage avec prévisualisation.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VALIDER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Bases légales et durées</a:t>
            </a:r>
          </a:p>
          <a:p>
            <a:pPr>
              <a:lnSpc>
                <a:spcPts val="2000"/>
              </a:lnSpc>
              <a:spcBef>
                <a:spcPts val="0"/>
              </a:spcBef>
              <a:spcAft>
                <a:spcPts val="0"/>
              </a:spcAft>
              <a:defRPr sz="1600" b="0">
                <a:solidFill>
                  <a:srgbClr val="F4F6FA"/>
                </a:solidFill>
                <a:latin typeface="Arial"/>
              </a:defRPr>
            </a:pPr>
            <a:r>
              <a:t>proposées.</a:t>
            </a:r>
          </a:p>
          <a:p>
            <a:pPr>
              <a:lnSpc>
                <a:spcPts val="2000"/>
              </a:lnSpc>
              <a:spcBef>
                <a:spcPts val="0"/>
              </a:spcBef>
              <a:spcAft>
                <a:spcPts val="0"/>
              </a:spcAft>
              <a:defRPr sz="1600" b="0">
                <a:solidFill>
                  <a:srgbClr val="F4F6FA"/>
                </a:solidFill>
                <a:latin typeface="Arial"/>
              </a:defRPr>
            </a:pPr>
            <a:r>
              <a:t>Sauvegardes terminées : 365</a:t>
            </a:r>
          </a:p>
          <a:p>
            <a:pPr>
              <a:lnSpc>
                <a:spcPts val="2000"/>
              </a:lnSpc>
              <a:spcBef>
                <a:spcPts val="0"/>
              </a:spcBef>
              <a:spcAft>
                <a:spcPts val="0"/>
              </a:spcAft>
              <a:defRPr sz="1600" b="0">
                <a:solidFill>
                  <a:srgbClr val="F4F6FA"/>
                </a:solidFill>
                <a:latin typeface="Arial"/>
              </a:defRPr>
            </a:pPr>
            <a:r>
              <a:t>jours.</a:t>
            </a:r>
          </a:p>
          <a:p>
            <a:pPr>
              <a:lnSpc>
                <a:spcPts val="2000"/>
              </a:lnSpc>
              <a:spcBef>
                <a:spcPts val="0"/>
              </a:spcBef>
              <a:spcAft>
                <a:spcPts val="0"/>
              </a:spcAft>
              <a:defRPr sz="1600" b="0">
                <a:solidFill>
                  <a:srgbClr val="F4F6FA"/>
                </a:solidFill>
                <a:latin typeface="Arial"/>
              </a:defRPr>
            </a:pPr>
            <a:r>
              <a:t>Logs : 30 jours proposés.</a:t>
            </a:r>
          </a:p>
          <a:p>
            <a:pPr>
              <a:lnSpc>
                <a:spcPts val="2000"/>
              </a:lnSpc>
              <a:spcBef>
                <a:spcPts val="0"/>
              </a:spcBef>
              <a:spcAft>
                <a:spcPts val="0"/>
              </a:spcAft>
              <a:defRPr sz="1600" b="0">
                <a:solidFill>
                  <a:srgbClr val="F4F6FA"/>
                </a:solidFill>
                <a:latin typeface="Arial"/>
              </a:defRPr>
            </a:pPr>
            <a:r>
              <a:t>Validation par le responsable.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registre et des commandes constituent des éléments de démarche ; pas une certification de conformité.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docs/block1/gdpr-register.md ; docs/block1/backup-restore.md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 / C5 · PROJET COMPLÉMENTAIRE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Tines fournit les données à l’agent cyber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Quatre stories exposent chacune un webhook avec un contrat d’API précis.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APPELANT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Django avec analyste</a:t>
            </a:r>
          </a:p>
          <a:p>
            <a:pPr>
              <a:lnSpc>
                <a:spcPts val="2000"/>
              </a:lnSpc>
              <a:spcBef>
                <a:spcPts val="0"/>
              </a:spcBef>
              <a:spcAft>
                <a:spcPts val="0"/>
              </a:spcAft>
              <a:defRPr sz="1600" b="0">
                <a:solidFill>
                  <a:srgbClr val="F4F6FA"/>
                </a:solidFill>
                <a:latin typeface="Arial"/>
              </a:defRPr>
            </a:pPr>
            <a:r>
              <a:t>LLM.</a:t>
            </a:r>
          </a:p>
          <a:p>
            <a:pPr>
              <a:lnSpc>
                <a:spcPts val="2000"/>
              </a:lnSpc>
              <a:spcBef>
                <a:spcPts val="0"/>
              </a:spcBef>
              <a:spcAft>
                <a:spcPts val="0"/>
              </a:spcAft>
              <a:defRPr sz="1600" b="0">
                <a:solidFill>
                  <a:srgbClr val="F4F6FA"/>
                </a:solidFill>
                <a:latin typeface="Arial"/>
              </a:defRPr>
            </a:pPr>
            <a:r>
              <a:t>L’agent peut demander des</a:t>
            </a:r>
          </a:p>
          <a:p>
            <a:pPr>
              <a:lnSpc>
                <a:spcPts val="2000"/>
              </a:lnSpc>
              <a:spcBef>
                <a:spcPts val="0"/>
              </a:spcBef>
              <a:spcAft>
                <a:spcPts val="0"/>
              </a:spcAft>
              <a:defRPr sz="1600" b="0">
                <a:solidFill>
                  <a:srgbClr val="F4F6FA"/>
                </a:solidFill>
                <a:latin typeface="Arial"/>
              </a:defRPr>
            </a:pPr>
            <a:r>
              <a:t>informations sur une entité cyber.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INTERFACE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1875"/>
              </a:lnSpc>
              <a:spcBef>
                <a:spcPts val="0"/>
              </a:spcBef>
              <a:spcAft>
                <a:spcPts val="0"/>
              </a:spcAft>
              <a:defRPr sz="1500" b="0">
                <a:solidFill>
                  <a:srgbClr val="F4F6FA"/>
                </a:solidFill>
                <a:latin typeface="Arial"/>
              </a:defRPr>
            </a:pPr>
            <a:r>
              <a:t>Webhook Tines</a:t>
            </a:r>
          </a:p>
          <a:p>
            <a:pPr>
              <a:lnSpc>
                <a:spcPts val="1875"/>
              </a:lnSpc>
              <a:spcBef>
                <a:spcPts val="0"/>
              </a:spcBef>
              <a:spcAft>
                <a:spcPts val="0"/>
              </a:spcAft>
              <a:defRPr sz="1500" b="0">
                <a:solidFill>
                  <a:srgbClr val="F4F6FA"/>
                </a:solidFill>
                <a:latin typeface="Arial"/>
              </a:defRPr>
            </a:pPr>
            <a:r>
              <a:t>↓</a:t>
            </a:r>
          </a:p>
          <a:p>
            <a:pPr>
              <a:lnSpc>
                <a:spcPts val="1875"/>
              </a:lnSpc>
              <a:spcBef>
                <a:spcPts val="0"/>
              </a:spcBef>
              <a:spcAft>
                <a:spcPts val="0"/>
              </a:spcAft>
              <a:defRPr sz="1500" b="0">
                <a:solidFill>
                  <a:srgbClr val="F4F6FA"/>
                </a:solidFill>
                <a:latin typeface="Arial"/>
              </a:defRPr>
            </a:pPr>
            <a:r>
              <a:t>Story correspondant au type d’entité</a:t>
            </a:r>
          </a:p>
          <a:p>
            <a:pPr>
              <a:lnSpc>
                <a:spcPts val="1875"/>
              </a:lnSpc>
              <a:spcBef>
                <a:spcPts val="0"/>
              </a:spcBef>
              <a:spcAft>
                <a:spcPts val="0"/>
              </a:spcAft>
              <a:defRPr sz="1500" b="0">
                <a:solidFill>
                  <a:srgbClr val="F4F6FA"/>
                </a:solidFill>
                <a:latin typeface="Arial"/>
              </a:defRPr>
            </a:pPr>
            <a:r>
              <a:t>↓</a:t>
            </a:r>
          </a:p>
          <a:p>
            <a:pPr>
              <a:lnSpc>
                <a:spcPts val="1875"/>
              </a:lnSpc>
              <a:spcBef>
                <a:spcPts val="0"/>
              </a:spcBef>
              <a:spcAft>
                <a:spcPts val="0"/>
              </a:spcAft>
              <a:defRPr sz="1500" b="0">
                <a:solidFill>
                  <a:srgbClr val="F4F6FA"/>
                </a:solidFill>
                <a:latin typeface="Arial"/>
              </a:defRPr>
            </a:pPr>
            <a:r>
              <a:t>Appels aux consoles EDR</a:t>
            </a:r>
          </a:p>
          <a:p>
            <a:pPr>
              <a:lnSpc>
                <a:spcPts val="1875"/>
              </a:lnSpc>
              <a:spcBef>
                <a:spcPts val="0"/>
              </a:spcBef>
              <a:spcAft>
                <a:spcPts val="0"/>
              </a:spcAft>
              <a:defRPr sz="1500" b="0">
                <a:solidFill>
                  <a:srgbClr val="F4F6FA"/>
                </a:solidFill>
                <a:latin typeface="Arial"/>
              </a:defRPr>
            </a:pPr>
            <a:r>
              <a:t>nécessaires.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RÉPONSE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Données des API EDR renvoyées</a:t>
            </a:r>
          </a:p>
          <a:p>
            <a:pPr>
              <a:lnSpc>
                <a:spcPts val="2000"/>
              </a:lnSpc>
              <a:spcBef>
                <a:spcPts val="0"/>
              </a:spcBef>
              <a:spcAft>
                <a:spcPts val="0"/>
              </a:spcAft>
              <a:defRPr sz="1600" b="0">
                <a:solidFill>
                  <a:srgbClr val="F4F6FA"/>
                </a:solidFill>
                <a:latin typeface="Arial"/>
              </a:defRPr>
            </a:pPr>
            <a:r>
              <a:t>à l’appelant.</a:t>
            </a:r>
          </a:p>
          <a:p>
            <a:pPr>
              <a:lnSpc>
                <a:spcPts val="2000"/>
              </a:lnSpc>
              <a:spcBef>
                <a:spcPts val="0"/>
              </a:spcBef>
              <a:spcAft>
                <a:spcPts val="0"/>
              </a:spcAft>
              <a:defRPr sz="1600" b="0">
                <a:solidFill>
                  <a:srgbClr val="F4F6FA"/>
                </a:solidFill>
                <a:latin typeface="Arial"/>
              </a:defRPr>
            </a:pPr>
            <a:r>
              <a:t>Montrer contrat, accès et erreurs</a:t>
            </a:r>
          </a:p>
          <a:p>
            <a:pPr>
              <a:lnSpc>
                <a:spcPts val="2000"/>
              </a:lnSpc>
              <a:spcBef>
                <a:spcPts val="0"/>
              </a:spcBef>
              <a:spcAft>
                <a:spcPts val="0"/>
              </a:spcAft>
              <a:defRPr sz="1600" b="0">
                <a:solidFill>
                  <a:srgbClr val="F4F6FA"/>
                </a:solidFill>
                <a:latin typeface="Arial"/>
              </a:defRPr>
            </a:pPr>
            <a:r>
              <a:t>sur un exemple réel.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Projet distinct : ces endpoints ne sont pas présentés comme une API des marts.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E1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le trajet de la donnée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Préparer les pièces réelles et anonymisées pour la soutenance.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PLATEFORME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DAG quotidien.</a:t>
            </a:r>
          </a:p>
          <a:p>
            <a:pPr>
              <a:lnSpc>
                <a:spcPts val="2000"/>
              </a:lnSpc>
              <a:spcBef>
                <a:spcPts val="0"/>
              </a:spcBef>
              <a:spcAft>
                <a:spcPts val="0"/>
              </a:spcAft>
              <a:defRPr sz="1600" b="0">
                <a:solidFill>
                  <a:srgbClr val="F4F6FA"/>
                </a:solidFill>
                <a:latin typeface="Arial"/>
              </a:defRPr>
            </a:pPr>
            <a:r>
              <a:t>Une extraction représentative.</a:t>
            </a:r>
          </a:p>
          <a:p>
            <a:pPr>
              <a:lnSpc>
                <a:spcPts val="2000"/>
              </a:lnSpc>
              <a:spcBef>
                <a:spcPts val="0"/>
              </a:spcBef>
              <a:spcAft>
                <a:spcPts val="0"/>
              </a:spcAft>
              <a:defRPr sz="1600" b="0">
                <a:solidFill>
                  <a:srgbClr val="F4F6FA"/>
                </a:solidFill>
                <a:latin typeface="Arial"/>
              </a:defRPr>
            </a:pPr>
            <a:r>
              <a:t>Un modèle dbt et son résultat.</a:t>
            </a:r>
          </a:p>
          <a:p>
            <a:pPr>
              <a:lnSpc>
                <a:spcPts val="2000"/>
              </a:lnSpc>
              <a:spcBef>
                <a:spcPts val="0"/>
              </a:spcBef>
              <a:spcAft>
                <a:spcPts val="0"/>
              </a:spcAft>
              <a:defRPr sz="1600" b="0">
                <a:solidFill>
                  <a:srgbClr val="F4F6FA"/>
                </a:solidFill>
                <a:latin typeface="Arial"/>
              </a:defRPr>
            </a:pPr>
            <a:r>
              <a:t>Une page de documentation.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À DISPOSITION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mart et son usage métier.</a:t>
            </a:r>
          </a:p>
          <a:p>
            <a:pPr>
              <a:lnSpc>
                <a:spcPts val="2000"/>
              </a:lnSpc>
              <a:spcBef>
                <a:spcPts val="0"/>
              </a:spcBef>
              <a:spcAft>
                <a:spcPts val="0"/>
              </a:spcAft>
              <a:defRPr sz="1600" b="0">
                <a:solidFill>
                  <a:srgbClr val="F4F6FA"/>
                </a:solidFill>
                <a:latin typeface="Arial"/>
              </a:defRPr>
            </a:pPr>
            <a:r>
              <a:t>Puis, projet distinct : une story</a:t>
            </a:r>
          </a:p>
          <a:p>
            <a:pPr>
              <a:lnSpc>
                <a:spcPts val="2000"/>
              </a:lnSpc>
              <a:spcBef>
                <a:spcPts val="0"/>
              </a:spcBef>
              <a:spcAft>
                <a:spcPts val="0"/>
              </a:spcAft>
              <a:defRPr sz="1600" b="0">
                <a:solidFill>
                  <a:srgbClr val="F4F6FA"/>
                </a:solidFill>
                <a:latin typeface="Arial"/>
              </a:defRPr>
            </a:pPr>
            <a:r>
              <a:t>Tines et son contrat d’entrée /</a:t>
            </a:r>
          </a:p>
          <a:p>
            <a:pPr>
              <a:lnSpc>
                <a:spcPts val="2000"/>
              </a:lnSpc>
              <a:spcBef>
                <a:spcPts val="0"/>
              </a:spcBef>
              <a:spcAft>
                <a:spcPts val="0"/>
              </a:spcAft>
              <a:defRPr sz="1600" b="0">
                <a:solidFill>
                  <a:srgbClr val="F4F6FA"/>
                </a:solidFill>
                <a:latin typeface="Arial"/>
              </a:defRPr>
            </a:pPr>
            <a:r>
              <a:t>sortie.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GARANTIES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une évolution ou un bug</a:t>
            </a:r>
          </a:p>
          <a:p>
            <a:pPr>
              <a:lnSpc>
                <a:spcPts val="2000"/>
              </a:lnSpc>
              <a:spcBef>
                <a:spcPts val="0"/>
              </a:spcBef>
              <a:spcAft>
                <a:spcPts val="0"/>
              </a:spcAft>
              <a:defRPr sz="1600" b="0">
                <a:solidFill>
                  <a:srgbClr val="F4F6FA"/>
                </a:solidFill>
                <a:latin typeface="Arial"/>
              </a:defRPr>
            </a:pPr>
            <a:r>
              <a:t>corrigé.</a:t>
            </a:r>
          </a:p>
          <a:p>
            <a:pPr>
              <a:lnSpc>
                <a:spcPts val="2000"/>
              </a:lnSpc>
              <a:spcBef>
                <a:spcPts val="0"/>
              </a:spcBef>
              <a:spcAft>
                <a:spcPts val="0"/>
              </a:spcAft>
              <a:defRPr sz="1600" b="0">
                <a:solidFill>
                  <a:srgbClr val="F4F6FA"/>
                </a:solidFill>
                <a:latin typeface="Arial"/>
              </a:defRPr>
            </a:pPr>
            <a:r>
              <a:t>Ajouter mesures de charge et</a:t>
            </a:r>
          </a:p>
          <a:p>
            <a:pPr>
              <a:lnSpc>
                <a:spcPts val="2000"/>
              </a:lnSpc>
              <a:spcBef>
                <a:spcPts val="0"/>
              </a:spcBef>
              <a:spcAft>
                <a:spcPts val="0"/>
              </a:spcAft>
              <a:defRPr sz="1600" b="0">
                <a:solidFill>
                  <a:srgbClr val="F4F6FA"/>
                </a:solidFill>
                <a:latin typeface="Arial"/>
              </a:defRPr>
            </a:pPr>
            <a:r>
              <a:t>validation si disponibles.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support décrit tes travaux ; aucune connexion aux systèmes d’entreprise n’a été exécutée ici.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E1 ·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Des réalisations professionnelles complémentaires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 fil conducteur data et une preuve distincte d’interface API.</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C1 / C2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Extraction multi-source</a:t>
            </a:r>
          </a:p>
          <a:p>
            <a:pPr>
              <a:lnSpc>
                <a:spcPts val="2000"/>
              </a:lnSpc>
              <a:spcBef>
                <a:spcPts val="0"/>
              </a:spcBef>
              <a:spcAft>
                <a:spcPts val="0"/>
              </a:spcAft>
              <a:defRPr sz="1600" b="0">
                <a:solidFill>
                  <a:srgbClr val="F4F6FA"/>
                </a:solidFill>
                <a:latin typeface="Arial"/>
              </a:defRPr>
            </a:pPr>
            <a:r>
              <a:t>quotidienne.</a:t>
            </a:r>
          </a:p>
          <a:p>
            <a:pPr>
              <a:lnSpc>
                <a:spcPts val="2000"/>
              </a:lnSpc>
              <a:spcBef>
                <a:spcPts val="0"/>
              </a:spcBef>
              <a:spcAft>
                <a:spcPts val="0"/>
              </a:spcAft>
              <a:defRPr sz="1600" b="0">
                <a:solidFill>
                  <a:srgbClr val="F4F6FA"/>
                </a:solidFill>
                <a:latin typeface="Arial"/>
              </a:defRPr>
            </a:pPr>
            <a:r>
              <a:t>Requêtes Elasticsearch et</a:t>
            </a:r>
          </a:p>
          <a:p>
            <a:pPr>
              <a:lnSpc>
                <a:spcPts val="2000"/>
              </a:lnSpc>
              <a:spcBef>
                <a:spcPts val="0"/>
              </a:spcBef>
              <a:spcAft>
                <a:spcPts val="0"/>
              </a:spcAft>
              <a:defRPr sz="1600" b="0">
                <a:solidFill>
                  <a:srgbClr val="F4F6FA"/>
                </a:solidFill>
                <a:latin typeface="Arial"/>
              </a:defRPr>
            </a:pPr>
            <a:r>
              <a:t>transformations SQL dbt.</a:t>
            </a:r>
          </a:p>
          <a:p>
            <a:pPr>
              <a:lnSpc>
                <a:spcPts val="2000"/>
              </a:lnSpc>
              <a:spcBef>
                <a:spcPts val="0"/>
              </a:spcBef>
              <a:spcAft>
                <a:spcPts val="0"/>
              </a:spcAft>
              <a:defRPr sz="1600" b="0">
                <a:solidFill>
                  <a:srgbClr val="F4F6FA"/>
                </a:solidFill>
                <a:latin typeface="Arial"/>
              </a:defRPr>
            </a:pPr>
            <a:r>
              <a:t>Contraintes de charge à chiffrer.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C3 / C4</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Marts métier et maintenance.</a:t>
            </a:r>
          </a:p>
          <a:p>
            <a:pPr>
              <a:lnSpc>
                <a:spcPts val="2000"/>
              </a:lnSpc>
              <a:spcBef>
                <a:spcPts val="0"/>
              </a:spcBef>
              <a:spcAft>
                <a:spcPts val="0"/>
              </a:spcAft>
              <a:defRPr sz="1600" b="0">
                <a:solidFill>
                  <a:srgbClr val="F4F6FA"/>
                </a:solidFill>
                <a:latin typeface="Arial"/>
              </a:defRPr>
            </a:pPr>
            <a:r>
              <a:t>Modèle et import ClickHouse.</a:t>
            </a:r>
          </a:p>
          <a:p>
            <a:pPr>
              <a:lnSpc>
                <a:spcPts val="2000"/>
              </a:lnSpc>
              <a:spcBef>
                <a:spcPts val="0"/>
              </a:spcBef>
              <a:spcAft>
                <a:spcPts val="0"/>
              </a:spcAft>
              <a:defRPr sz="1600" b="0">
                <a:solidFill>
                  <a:srgbClr val="F4F6FA"/>
                </a:solidFill>
                <a:latin typeface="Arial"/>
              </a:defRPr>
            </a:pPr>
            <a:r>
              <a:t>Nettoyage, Merise et données</a:t>
            </a:r>
          </a:p>
          <a:p>
            <a:pPr>
              <a:lnSpc>
                <a:spcPts val="2000"/>
              </a:lnSpc>
              <a:spcBef>
                <a:spcPts val="0"/>
              </a:spcBef>
              <a:spcAft>
                <a:spcPts val="0"/>
              </a:spcAft>
              <a:defRPr sz="1600" b="0">
                <a:solidFill>
                  <a:srgbClr val="F4F6FA"/>
                </a:solidFill>
                <a:latin typeface="Arial"/>
              </a:defRPr>
            </a:pPr>
            <a:r>
              <a:t>personnelles à expliciter.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C5</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Stories Tines avec contrat précis.</a:t>
            </a:r>
          </a:p>
          <a:p>
            <a:pPr>
              <a:lnSpc>
                <a:spcPts val="2000"/>
              </a:lnSpc>
              <a:spcBef>
                <a:spcPts val="0"/>
              </a:spcBef>
              <a:spcAft>
                <a:spcPts val="0"/>
              </a:spcAft>
              <a:defRPr sz="1600" b="0">
                <a:solidFill>
                  <a:srgbClr val="F4F6FA"/>
                </a:solidFill>
                <a:latin typeface="Arial"/>
              </a:defRPr>
            </a:pPr>
            <a:r>
              <a:t>Caractère REST, accès et tests à</a:t>
            </a:r>
          </a:p>
          <a:p>
            <a:pPr>
              <a:lnSpc>
                <a:spcPts val="2000"/>
              </a:lnSpc>
              <a:spcBef>
                <a:spcPts val="0"/>
              </a:spcBef>
              <a:spcAft>
                <a:spcPts val="0"/>
              </a:spcAft>
              <a:defRPr sz="1600" b="0">
                <a:solidFill>
                  <a:srgbClr val="F4F6FA"/>
                </a:solidFill>
                <a:latin typeface="Arial"/>
              </a:defRPr>
            </a:pPr>
            <a:r>
              <a:t>documenter.</a:t>
            </a:r>
          </a:p>
          <a:p>
            <a:pPr>
              <a:lnSpc>
                <a:spcPts val="2000"/>
              </a:lnSpc>
              <a:spcBef>
                <a:spcPts val="0"/>
              </a:spcBef>
              <a:spcAft>
                <a:spcPts val="0"/>
              </a:spcAft>
              <a:defRPr sz="1600" b="0">
                <a:solidFill>
                  <a:srgbClr val="F4F6FA"/>
                </a:solidFill>
                <a:latin typeface="Arial"/>
              </a:defRPr>
            </a:pPr>
            <a:r>
              <a:t>API du jeu disponible en</a:t>
            </a:r>
          </a:p>
          <a:p>
            <a:pPr>
              <a:lnSpc>
                <a:spcPts val="2000"/>
              </a:lnSpc>
              <a:spcBef>
                <a:spcPts val="0"/>
              </a:spcBef>
              <a:spcAft>
                <a:spcPts val="0"/>
              </a:spcAft>
              <a:defRPr sz="1600" b="0">
                <a:solidFill>
                  <a:srgbClr val="F4F6FA"/>
                </a:solidFill>
                <a:latin typeface="Arial"/>
              </a:defRPr>
            </a:pPr>
            <a:r>
              <a:t>complément.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Attribuer chaque preuve à son projet et à ta contribution exacte.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SQL DU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Revenir à l’origine d’un monstre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Preuve complémentaire existante ; à remplacer par un extrait dbt si disponible.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SÉLECTION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SELECT m.name, s.source,</a:t>
            </a:r>
          </a:p>
          <a:p>
            <a:pPr>
              <a:lnSpc>
                <a:spcPts val="2000"/>
              </a:lnSpc>
              <a:spcBef>
                <a:spcPts val="0"/>
              </a:spcBef>
              <a:spcAft>
                <a:spcPts val="0"/>
              </a:spcAft>
              <a:defRPr sz="1600" b="0">
                <a:solidFill>
                  <a:srgbClr val="F4F6FA"/>
                </a:solidFill>
                <a:latin typeface="Arial"/>
              </a:defRPr>
            </a:pPr>
            <a:r>
              <a:t>s.source_record_id, s.source_url,</a:t>
            </a:r>
          </a:p>
          <a:p>
            <a:pPr>
              <a:lnSpc>
                <a:spcPts val="2000"/>
              </a:lnSpc>
              <a:spcBef>
                <a:spcPts val="0"/>
              </a:spcBef>
              <a:spcAft>
                <a:spcPts val="0"/>
              </a:spcAft>
              <a:defRPr sz="1600" b="0">
                <a:solidFill>
                  <a:srgbClr val="F4F6FA"/>
                </a:solidFill>
                <a:latin typeface="Arial"/>
              </a:defRPr>
            </a:pPr>
            <a:r>
              <a:t>s.collected_at, s.selected,</a:t>
            </a:r>
          </a:p>
          <a:p>
            <a:pPr>
              <a:lnSpc>
                <a:spcPts val="2000"/>
              </a:lnSpc>
              <a:spcBef>
                <a:spcPts val="0"/>
              </a:spcBef>
              <a:spcAft>
                <a:spcPts val="0"/>
              </a:spcAft>
              <a:defRPr sz="1600" b="0">
                <a:solidFill>
                  <a:srgbClr val="F4F6FA"/>
                </a:solidFill>
                <a:latin typeface="Arial"/>
              </a:defRPr>
            </a:pPr>
            <a:r>
              <a:t>s.ingestion_run_id</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JOINTURE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FROM monsters AS m</a:t>
            </a:r>
          </a:p>
          <a:p>
            <a:pPr>
              <a:lnSpc>
                <a:spcPts val="2000"/>
              </a:lnSpc>
              <a:spcBef>
                <a:spcPts val="0"/>
              </a:spcBef>
              <a:spcAft>
                <a:spcPts val="0"/>
              </a:spcAft>
              <a:defRPr sz="1600" b="0">
                <a:solidFill>
                  <a:srgbClr val="F4F6FA"/>
                </a:solidFill>
                <a:latin typeface="Arial"/>
              </a:defRPr>
            </a:pPr>
            <a:r>
              <a:t>JOIN monster_sources AS s</a:t>
            </a:r>
          </a:p>
          <a:p>
            <a:pPr>
              <a:lnSpc>
                <a:spcPts val="2000"/>
              </a:lnSpc>
              <a:spcBef>
                <a:spcPts val="0"/>
              </a:spcBef>
              <a:spcAft>
                <a:spcPts val="0"/>
              </a:spcAft>
              <a:defRPr sz="1600" b="0">
                <a:solidFill>
                  <a:srgbClr val="F4F6FA"/>
                </a:solidFill>
                <a:latin typeface="Arial"/>
              </a:defRPr>
            </a:pPr>
            <a:r>
              <a:t>ON s.monster_id = m.id</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PARAMÈTRE ET TRI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WHERE m.id = :monster_id</a:t>
            </a:r>
          </a:p>
          <a:p>
            <a:pPr>
              <a:lnSpc>
                <a:spcPts val="2000"/>
              </a:lnSpc>
              <a:spcBef>
                <a:spcPts val="0"/>
              </a:spcBef>
              <a:spcAft>
                <a:spcPts val="0"/>
              </a:spcAft>
              <a:defRPr sz="1600" b="0">
                <a:solidFill>
                  <a:srgbClr val="F4F6FA"/>
                </a:solidFill>
                <a:latin typeface="Arial"/>
              </a:defRPr>
            </a:pPr>
            <a:r>
              <a:t>ORDER BY s.selected DESC,</a:t>
            </a:r>
          </a:p>
          <a:p>
            <a:pPr>
              <a:lnSpc>
                <a:spcPts val="2000"/>
              </a:lnSpc>
              <a:spcBef>
                <a:spcPts val="0"/>
              </a:spcBef>
              <a:spcAft>
                <a:spcPts val="0"/>
              </a:spcAft>
              <a:defRPr sz="1600" b="0">
                <a:solidFill>
                  <a:srgbClr val="F4F6FA"/>
                </a:solidFill>
                <a:latin typeface="Arial"/>
              </a:defRPr>
            </a:pPr>
            <a:r>
              <a:t>s.source;</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ID lié comme paramètre SQL.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résultat explique à la fois la provenance et la priorité de fusion.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db/sqlite/queries/monster_dataset.sql, Q2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PIÈCES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Préparer les preuves d’alternance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contenu métier vient des descriptions du candidat, sans accès au code entreprise.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DATAPLATEFORME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DAG et extrait de run.</a:t>
            </a:r>
          </a:p>
          <a:p>
            <a:pPr>
              <a:lnSpc>
                <a:spcPts val="2000"/>
              </a:lnSpc>
              <a:spcBef>
                <a:spcPts val="0"/>
              </a:spcBef>
              <a:spcAft>
                <a:spcPts val="0"/>
              </a:spcAft>
              <a:defRPr sz="1600" b="0">
                <a:solidFill>
                  <a:srgbClr val="F4F6FA"/>
                </a:solidFill>
                <a:latin typeface="Arial"/>
              </a:defRPr>
            </a:pPr>
            <a:r>
              <a:t>Modèle SQL dbt et résultat.</a:t>
            </a:r>
          </a:p>
          <a:p>
            <a:pPr>
              <a:lnSpc>
                <a:spcPts val="2000"/>
              </a:lnSpc>
              <a:spcBef>
                <a:spcPts val="0"/>
              </a:spcBef>
              <a:spcAft>
                <a:spcPts val="0"/>
              </a:spcAft>
              <a:defRPr sz="1600" b="0">
                <a:solidFill>
                  <a:srgbClr val="F4F6FA"/>
                </a:solidFill>
                <a:latin typeface="Arial"/>
              </a:defRPr>
            </a:pPr>
            <a:r>
              <a:t>Schéma de stockage.</a:t>
            </a:r>
          </a:p>
          <a:p>
            <a:pPr>
              <a:lnSpc>
                <a:spcPts val="2000"/>
              </a:lnSpc>
              <a:spcBef>
                <a:spcPts val="0"/>
              </a:spcBef>
              <a:spcAft>
                <a:spcPts val="0"/>
              </a:spcAft>
              <a:defRPr sz="1600" b="0">
                <a:solidFill>
                  <a:srgbClr val="F4F6FA"/>
                </a:solidFill>
                <a:latin typeface="Arial"/>
              </a:defRPr>
            </a:pPr>
            <a:r>
              <a:t>Documentation et mesures.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story représentative.</a:t>
            </a:r>
          </a:p>
          <a:p>
            <a:pPr>
              <a:lnSpc>
                <a:spcPts val="2000"/>
              </a:lnSpc>
              <a:spcBef>
                <a:spcPts val="0"/>
              </a:spcBef>
              <a:spcAft>
                <a:spcPts val="0"/>
              </a:spcAft>
              <a:defRPr sz="1600" b="0">
                <a:solidFill>
                  <a:srgbClr val="F4F6FA"/>
                </a:solidFill>
                <a:latin typeface="Arial"/>
              </a:defRPr>
            </a:pPr>
            <a:r>
              <a:t>Contrat anonymisé.</a:t>
            </a:r>
          </a:p>
          <a:p>
            <a:pPr>
              <a:lnSpc>
                <a:spcPts val="2000"/>
              </a:lnSpc>
              <a:spcBef>
                <a:spcPts val="0"/>
              </a:spcBef>
              <a:spcAft>
                <a:spcPts val="0"/>
              </a:spcAft>
              <a:defRPr sz="1600" b="0">
                <a:solidFill>
                  <a:srgbClr val="F4F6FA"/>
                </a:solidFill>
                <a:latin typeface="Arial"/>
              </a:defRPr>
            </a:pPr>
            <a:r>
              <a:t>Requête / réponse.</a:t>
            </a:r>
          </a:p>
          <a:p>
            <a:pPr>
              <a:lnSpc>
                <a:spcPts val="2000"/>
              </a:lnSpc>
              <a:spcBef>
                <a:spcPts val="0"/>
              </a:spcBef>
              <a:spcAft>
                <a:spcPts val="0"/>
              </a:spcAft>
              <a:defRPr sz="1600" b="0">
                <a:solidFill>
                  <a:srgbClr val="F4F6FA"/>
                </a:solidFill>
                <a:latin typeface="Arial"/>
              </a:defRPr>
            </a:pPr>
            <a:r>
              <a:t>Tests et politique d’accès.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COMPLÉMENT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Sources fichier / scraping.</a:t>
            </a:r>
          </a:p>
          <a:p>
            <a:pPr>
              <a:lnSpc>
                <a:spcPts val="2000"/>
              </a:lnSpc>
              <a:spcBef>
                <a:spcPts val="0"/>
              </a:spcBef>
              <a:spcAft>
                <a:spcPts val="0"/>
              </a:spcAft>
              <a:defRPr sz="1600" b="0">
                <a:solidFill>
                  <a:srgbClr val="F4F6FA"/>
                </a:solidFill>
                <a:latin typeface="Arial"/>
              </a:defRPr>
            </a:pPr>
            <a:r>
              <a:t>Registre et modèles propres au</a:t>
            </a:r>
          </a:p>
          <a:p>
            <a:pPr>
              <a:lnSpc>
                <a:spcPts val="2000"/>
              </a:lnSpc>
              <a:spcBef>
                <a:spcPts val="0"/>
              </a:spcBef>
              <a:spcAft>
                <a:spcPts val="0"/>
              </a:spcAft>
              <a:defRPr sz="1600" b="0">
                <a:solidFill>
                  <a:srgbClr val="F4F6FA"/>
                </a:solidFill>
                <a:latin typeface="Arial"/>
              </a:defRPr>
            </a:pPr>
            <a:r>
              <a:t>jeu.</a:t>
            </a:r>
          </a:p>
          <a:p>
            <a:pPr>
              <a:lnSpc>
                <a:spcPts val="2000"/>
              </a:lnSpc>
              <a:spcBef>
                <a:spcPts val="0"/>
              </a:spcBef>
              <a:spcAft>
                <a:spcPts val="0"/>
              </a:spcAft>
              <a:defRPr sz="1600" b="0">
                <a:solidFill>
                  <a:srgbClr val="F4F6FA"/>
                </a:solidFill>
                <a:latin typeface="Arial"/>
              </a:defRPr>
            </a:pPr>
            <a:r>
              <a:t>API et tests déjà disponibles.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Aucune mesure locale du jeu n’est attribuée à la plateforme de l’entreprise.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les décisions sans extrapoler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points à préparer avant passage.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SCALABILITÉ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volume et quelle croissance ?</a:t>
            </a:r>
          </a:p>
          <a:p>
            <a:pPr>
              <a:lnSpc>
                <a:spcPts val="2000"/>
              </a:lnSpc>
              <a:spcBef>
                <a:spcPts val="0"/>
              </a:spcBef>
              <a:spcAft>
                <a:spcPts val="0"/>
              </a:spcAft>
              <a:defRPr sz="1600" b="0">
                <a:solidFill>
                  <a:srgbClr val="F4F6FA"/>
                </a:solidFill>
                <a:latin typeface="Arial"/>
              </a:defRPr>
            </a:pPr>
            <a:r>
              <a:t>Quel goulot ?</a:t>
            </a:r>
          </a:p>
          <a:p>
            <a:pPr>
              <a:lnSpc>
                <a:spcPts val="2000"/>
              </a:lnSpc>
              <a:spcBef>
                <a:spcPts val="0"/>
              </a:spcBef>
              <a:spcAft>
                <a:spcPts val="0"/>
              </a:spcAft>
              <a:defRPr sz="1600" b="0">
                <a:solidFill>
                  <a:srgbClr val="F4F6FA"/>
                </a:solidFill>
                <a:latin typeface="Arial"/>
              </a:defRPr>
            </a:pPr>
            <a:r>
              <a:t>Quel changement et quelle mesure</a:t>
            </a:r>
          </a:p>
          <a:p>
            <a:pPr>
              <a:lnSpc>
                <a:spcPts val="2000"/>
              </a:lnSpc>
              <a:spcBef>
                <a:spcPts val="0"/>
              </a:spcBef>
              <a:spcAft>
                <a:spcPts val="0"/>
              </a:spcAft>
              <a:defRPr sz="1600" b="0">
                <a:solidFill>
                  <a:srgbClr val="F4F6FA"/>
                </a:solidFill>
                <a:latin typeface="Arial"/>
              </a:defRPr>
            </a:pPr>
            <a:r>
              <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nettoyage réel ?</a:t>
            </a:r>
          </a:p>
          <a:p>
            <a:pPr>
              <a:lnSpc>
                <a:spcPts val="2000"/>
              </a:lnSpc>
              <a:spcBef>
                <a:spcPts val="0"/>
              </a:spcBef>
              <a:spcAft>
                <a:spcPts val="0"/>
              </a:spcAft>
              <a:defRPr sz="1600" b="0">
                <a:solidFill>
                  <a:srgbClr val="F4F6FA"/>
                </a:solidFill>
                <a:latin typeface="Arial"/>
              </a:defRPr>
            </a:pPr>
            <a:r>
              <a:t>Quelle règle de rapprochement ?</a:t>
            </a:r>
          </a:p>
          <a:p>
            <a:pPr>
              <a:lnSpc>
                <a:spcPts val="2000"/>
              </a:lnSpc>
              <a:spcBef>
                <a:spcPts val="0"/>
              </a:spcBef>
              <a:spcAft>
                <a:spcPts val="0"/>
              </a:spcAft>
              <a:defRPr sz="1600" b="0">
                <a:solidFill>
                  <a:srgbClr val="F4F6FA"/>
                </a:solidFill>
                <a:latin typeface="Arial"/>
              </a:defRPr>
            </a:pPr>
            <a:r>
              <a:t>Comment détecter une régression</a:t>
            </a:r>
          </a:p>
          <a:p>
            <a:pPr>
              <a:lnSpc>
                <a:spcPts val="2000"/>
              </a:lnSpc>
              <a:spcBef>
                <a:spcPts val="0"/>
              </a:spcBef>
              <a:spcAft>
                <a:spcPts val="0"/>
              </a:spcAft>
              <a:defRPr sz="1600" b="0">
                <a:solidFill>
                  <a:srgbClr val="F4F6FA"/>
                </a:solidFill>
                <a:latin typeface="Arial"/>
              </a:defRPr>
            </a:pPr>
            <a:r>
              <a: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À DISPOSITION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Qui consomme les marts ?</a:t>
            </a:r>
          </a:p>
          <a:p>
            <a:pPr>
              <a:lnSpc>
                <a:spcPts val="2000"/>
              </a:lnSpc>
              <a:spcBef>
                <a:spcPts val="0"/>
              </a:spcBef>
              <a:spcAft>
                <a:spcPts val="0"/>
              </a:spcAft>
              <a:defRPr sz="1600" b="0">
                <a:solidFill>
                  <a:srgbClr val="F4F6FA"/>
                </a:solidFill>
                <a:latin typeface="Arial"/>
              </a:defRPr>
            </a:pPr>
            <a:r>
              <a:t>Qui appelle les webhooks ?</a:t>
            </a:r>
          </a:p>
          <a:p>
            <a:pPr>
              <a:lnSpc>
                <a:spcPts val="2000"/>
              </a:lnSpc>
              <a:spcBef>
                <a:spcPts val="0"/>
              </a:spcBef>
              <a:spcAft>
                <a:spcPts val="0"/>
              </a:spcAft>
              <a:defRPr sz="1600" b="0">
                <a:solidFill>
                  <a:srgbClr val="F4F6FA"/>
                </a:solidFill>
                <a:latin typeface="Arial"/>
              </a:defRPr>
            </a:pPr>
            <a:r>
              <a:t>Quel contrôle des accès clients ?</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Nommer les faits, les résultats et les limites propres à chaque projet.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