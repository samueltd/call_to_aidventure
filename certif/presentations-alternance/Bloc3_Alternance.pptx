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identité, rôle, commanditaire et contexte scolaire. Le passage isolé du bloc prévoit E4 20 minutes, E5 10 minutes, puis 10 minutes de questions. Personnaliser les contributions réelles et les éventuelles aides reçues. Les slides ne remplacent pas le rapport E4 ni les documentations E5.</a:t>
            </a:r>
          </a:p>
          <a:p/>
          <a:p>
            <a:r>
              <a:t>Sources : Référentiel 2023, p. 16–21 ; règlement, p.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les acteurs et la valeur du service avant la technologie. La session anonyme n’offre pas la même reprise durable qu’une sauvegarde authentifiée. Le commanditaire et les contraintes de volume/budget restent à confirmer dans le document de cadrage ; ne pas les inventer.</a:t>
            </a:r>
          </a:p>
          <a:p/>
          <a:p>
            <a:r>
              <a:t>Sources : docs/block3/project-brief-requirements.md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Ne pas présenter la plateforme data comme intégrant un service IA : ce lien n’a pas été indiqué. Elle fournit un complément professionnel sur les demandes et arbitrages, tandis que le jeu reste le projet principal E4. Les tickets, critères et validations de l’entreprise sont à joindre sans inventer un processus.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une architecture en couches, pas des microservices déployés qui n’existent pas. Les appels de génération transmettent le contexte utile au service distant. Les secrets restent dans l’environnement. Le schéma est une vue simplifiée ; les modèles du dossier détaillent les flux et les zones de stockage.</a:t>
            </a:r>
          </a:p>
          <a:p/>
          <a:p>
            <a:r>
              <a:t>Sources : docs/block3/technical-framework-models.md ; services/game_engine.py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Défendre chaque choix avec ses alternatives et ses conséquences. Ne pas appeler l’environnement local une préproduction déployée. Le référentiel C15 attend une preuve de concept accessible en préproduction et une conclusion de poursuite ; joindre cette preuve. Les critères de sobriété des prestataires restent à compléter lorsque le choix est arrêté.</a:t>
            </a:r>
          </a:p>
          <a:p/>
          <a:p>
            <a:r>
              <a:t>Sources : docs/block3/architecture-decisions.md ; technical-framework-models.md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La contribution de bout en bout est confirmée par le candidat. Cela ne prouve pas automatiquement des rituels agiles, une équipe ou un processus MLOps. Associer une demande réelle aux échanges et à sa validation. Le backlog du jeu reste une pièce disponible dans le dossier initial.</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comment une vue délègue au moteur puis décide de persister. Les tests de sauvegarde couvrent l’échec du service IA, les fins de partie et la propriété. Le jeu implique des tirages aléatoires, mais ces règles ne sont pas décidées par le modèle ; les tests contrôlent l’aléatoire pour vérifier les résultats.</a:t>
            </a:r>
          </a:p>
          <a:p/>
          <a:p>
            <a:r>
              <a:t>Sources : src/django/game/models.py ; services/ ; tests.py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test CSRF exécuté utilise api_play comme route représentative ; ne pas affirmer qu’il teste individuellement chaque POST. D’autres contrôles testent 413, quota et propriété. Les anciennes notes bloc 1/2 mentionnent encore des exemptions CSRF ; les documents bloc 3 et le code courant décrivent leur migration. Aucun audit global OWASP n’est revendiqué.</a:t>
            </a:r>
          </a:p>
          <a:p/>
          <a:p>
            <a:r>
              <a:t>Sources : docs/block3/security-threat-model.md ; game/views.py ; tests.py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exécutés lisent des templates ou leurs réponses HTML ; ils ne font pas fonctionner un lecteur d’écran ni le JavaScript dans un navigateur. L’écoconception repose sur des pratiques, sans score environnemental mesuré. Le dépôt mentionne une ancienne taille Docker : elle n’a pas été revérifiée et n’est pas affichée comme résultat actuel.</a:t>
            </a:r>
          </a:p>
          <a:p/>
          <a:p>
            <a:r>
              <a:t>Sources : docs/block3/product-quality-audit.md ; ProductQualityTemplateTests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lot a terminé en 6,091 secondes : c’est une durée de tests, pas une performance de l’application. BrowserSmokeJourneyTests utilise le client Django et un moteur simulé, sans navigateur réel. Le seuil de couverture configuré reste 55 %, mais la couverture n’a pas été recalculée pour ce support. Aucune exécution CI distante n’a été consultée.</a:t>
            </a:r>
          </a:p>
          <a:p/>
          <a:p>
            <a:r>
              <a:t>Sources : preuves/verification.md ; .github/workflows/block3-ci-cd.yml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job staging-deploy-placeholder affiche des instructions : il n’y a aucune commande de déploiement effectif. Ne pas assimiler permission packages:write à une publication d’image. Le health de conteneur utilise une clé factice dans le workflow et ne prouve pas une génération IA. Joindre digest, URL de staging et preuve de rollback réels avant de revendiquer la chaîne complète.</a:t>
            </a:r>
          </a:p>
          <a:p/>
          <a:p>
            <a:r>
              <a:t>Sources : .github/workflows/block3-ci-cd.yml ; Dockerfile ; docs/block3/ci-cd-delivery.md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autres slides sont également prévues sur 100 secondes, soit E4 en 20 minutes. Préparer les onglets, une sauvegarde de test et le contexte sans données réelles. Une capture du produit n’a pas été créée pendant ce travail. La démonstration manuelle complète et la génération réelle nécessitent l’environnement configuré ; les tests seuls ne les remplacent pas.</a:t>
            </a:r>
          </a:p>
          <a:p/>
          <a:p>
            <a:r>
              <a:t>Sources : docs/block3/traceability.md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référentiel E5 vise la surveillance et la résolution d’un incident d’application dans le bloc IA. Le lien de cette plateforme à une application IA n’a pas été indiqué : ne pas le créer artificiellement. Ce scénario entreprise est une proposition à rattacher au périmètre accepté de l’épreuve. Le cas du jeu, dans son dossier d’origine, reste disponible comme alternative directement liée à l’application IA. Aucun run de reproduction entreprise n’a été inspecté ici.</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Les moyens de détection et de journalisation n’ont pas été décrits. Les cartes sont une trame de preuve, pas une configuration attestée. Les metrics et logs du jeu ne sont pas ceux de l’entreprise et ne doivent pas être attribués à ce cas. Si la surveillance professionnelle manque, conserver les slides C20 du support E5 initial et expliquer le changement de contexte.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C20 reste à prouver. Demander les métriques, seuils et notifications réellement utilisés. Ne pas réutiliser les alertes IA du jeu comme preuve du défaut de typage de la plateforme. Vérifier la confidentialité des lignes XML et des logs avant présentation ; ne pas afficher de données clients identifiantes.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Ne pas inventer un message ClickHouse, une date, un type concret ou une capture. Le candidat a décrit l’incident et son diagnostic mais pas l’exemple minimal. Conserver l’entrée, le schéma et les paramètres nécessaires à une reproduction hors données de production.</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Ne pas affirmer que toutes les données internes ServiceNow sont stockées en XML. Ce fait concerne le flux rencontré. Distinguer parsing XML, normalisation de valeur et validation de type. Le détail des champs, valeurs nulles et formats temporels n’est pas fourni ; ne pas inventer leurs règles.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candidat a développé la validation et les conversions ; les règles et le comportement des rejets restent à montrer. La dernière phrase exprime un principe à défendre, pas une affirmation que le code fait ou ne fait pas cette substitution. Joindre commit/MR, tests et documentation lorsqu’ils sont disponibles. Aucun correctif entreprise n’a été apporté par cet assistant.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Ne pas attribuer les 44 tests du jeu à cette correction. Aucun test du convertisseur n’a été fourni ou exécuté ici. Une preuve de run réussi sur le même cas et un test de non-régression permettraient d’étayer fortement C21. L’évolution dynamique de colonnes relève d’une autre contrainte à distinguer du défaut de typage.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Une correction de pipeline peut démontrer une méthode de résolution mais ne doit pas être présentée comme incident d’un service IA si aucun lien n’existe. Le référentiel et les consignes du centre déterminent le périmètre de l’épreuve. Le dossier initial du combat est conservé avec sa reproduction vérifiée ; la version entreprise est préparatoire.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Pour revenir au cas démontré, utiliser Presentation_E5.pptx dans le dossier certif/presentation-bloc3. Le dossier Dossier_incident_E5.md et le script reproduce_incident.py contiennent les révisions et limites exactes. Ne pas mélanger les deux causes ni les chronologies.</a:t>
            </a:r>
          </a:p>
          <a:p/>
          <a:p>
            <a:r>
              <a:t>Sources : certif/presentation-bloc3/Dossier_incident_E5.md ; preuves/incident-combat.json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Ne pas confondre le modèle de diagramme C4 avec la compétence C4 du bloc 1. Les références au référentiel concernent les PDF locaux fournis. Compléter aussi l’identité, les dates, le budget, l’hébergement et l’audit manuel demandés par le dossier de certification.</a:t>
            </a:r>
          </a:p>
          <a:p/>
          <a:p>
            <a:r>
              <a:t>Sources : docs/block3/ ; docs/monitoring.md ; Dossier_incident_E5.md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La compétence C7 reste moins étayée qu’un vrai comparatif de services. C20 et le lien applicatif IA du cas d’incident doivent être précisés. La contribution C16 mérite des traces de coordination, pas seulement une responsabilité technique. Les schémas et contrôles d’accès Tines ne sont pas déduits du seul contrat.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C14 À C19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une application intégrant l’IA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3 · E4 : 20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PRODUIT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aventure interactive dans le</a:t>
            </a:r>
          </a:p>
          <a:p>
            <a:pPr>
              <a:lnSpc>
                <a:spcPts val="2000"/>
              </a:lnSpc>
              <a:spcBef>
                <a:spcPts val="0"/>
              </a:spcBef>
              <a:spcAft>
                <a:spcPts val="0"/>
              </a:spcAft>
              <a:defRPr sz="1600" b="0">
                <a:solidFill>
                  <a:srgbClr val="F4F6FA"/>
                </a:solidFill>
                <a:latin typeface="Arial"/>
              </a:defRPr>
            </a:pPr>
            <a:r>
              <a:t>navigateur, avec narration IA et</a:t>
            </a:r>
          </a:p>
          <a:p>
            <a:pPr>
              <a:lnSpc>
                <a:spcPts val="2000"/>
              </a:lnSpc>
              <a:spcBef>
                <a:spcPts val="0"/>
              </a:spcBef>
              <a:spcAft>
                <a:spcPts val="0"/>
              </a:spcAft>
              <a:defRPr sz="1600" b="0">
                <a:solidFill>
                  <a:srgbClr val="F4F6FA"/>
                </a:solidFill>
                <a:latin typeface="Arial"/>
              </a:defRPr>
            </a:pPr>
            <a:r>
              <a:t>règles de jeu côté serveur.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Cadrer, concevoir, organiser et</a:t>
            </a:r>
          </a:p>
          <a:p>
            <a:pPr>
              <a:lnSpc>
                <a:spcPts val="2000"/>
              </a:lnSpc>
              <a:spcBef>
                <a:spcPts val="0"/>
              </a:spcBef>
              <a:spcAft>
                <a:spcPts val="0"/>
              </a:spcAft>
              <a:defRPr sz="1600" b="0">
                <a:solidFill>
                  <a:srgbClr val="F4F6FA"/>
                </a:solidFill>
                <a:latin typeface="Arial"/>
              </a:defRPr>
            </a:pPr>
            <a:r>
              <a:t>développer les parcours du joueur.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Tester le métier et les accès.</a:t>
            </a:r>
          </a:p>
          <a:p>
            <a:pPr>
              <a:lnSpc>
                <a:spcPts val="2000"/>
              </a:lnSpc>
              <a:spcBef>
                <a:spcPts val="0"/>
              </a:spcBef>
              <a:spcAft>
                <a:spcPts val="0"/>
              </a:spcAft>
              <a:defRPr sz="1600" b="0">
                <a:solidFill>
                  <a:srgbClr val="F4F6FA"/>
                </a:solidFill>
                <a:latin typeface="Arial"/>
              </a:defRPr>
            </a:pPr>
            <a:r>
              <a:t>Automatiser les contrôles.</a:t>
            </a:r>
          </a:p>
          <a:p>
            <a:pPr>
              <a:lnSpc>
                <a:spcPts val="2000"/>
              </a:lnSpc>
              <a:spcBef>
                <a:spcPts val="0"/>
              </a:spcBef>
              <a:spcAft>
                <a:spcPts val="0"/>
              </a:spcAft>
              <a:defRPr sz="1600" b="0">
                <a:solidFill>
                  <a:srgbClr val="F4F6FA"/>
                </a:solidFill>
                <a:latin typeface="Arial"/>
              </a:defRPr>
            </a:pPr>
            <a:r>
              <a:t>Préparer un artefact déployable.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bloc 3 relie les besoins du joueur aux preuves de fonctionnement.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2023, p. 16–21 ; règlement, p.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BESOIN ET UTILISATEURS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Permettre de jouer et de retrouver sa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parcours distinguent le visiteur et le joueur connecté.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VISITEUR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Choisir une aventure.</a:t>
            </a:r>
          </a:p>
          <a:p>
            <a:pPr>
              <a:lnSpc>
                <a:spcPts val="2000"/>
              </a:lnSpc>
              <a:spcBef>
                <a:spcPts val="0"/>
              </a:spcBef>
              <a:spcAft>
                <a:spcPts val="0"/>
              </a:spcAft>
              <a:defRPr sz="1600" b="0">
                <a:solidFill>
                  <a:srgbClr val="F4F6FA"/>
                </a:solidFill>
                <a:latin typeface="Arial"/>
              </a:defRPr>
            </a:pPr>
            <a:r>
              <a:t>Créer un personnage valide.</a:t>
            </a:r>
          </a:p>
          <a:p>
            <a:pPr>
              <a:lnSpc>
                <a:spcPts val="2000"/>
              </a:lnSpc>
              <a:spcBef>
                <a:spcPts val="0"/>
              </a:spcBef>
              <a:spcAft>
                <a:spcPts val="0"/>
              </a:spcAft>
              <a:defRPr sz="1600" b="0">
                <a:solidFill>
                  <a:srgbClr val="F4F6FA"/>
                </a:solidFill>
                <a:latin typeface="Arial"/>
              </a:defRPr>
            </a:pPr>
            <a:r>
              <a:t>Jouer sans créer de compte.</a:t>
            </a:r>
          </a:p>
          <a:p>
            <a:pPr>
              <a:lnSpc>
                <a:spcPts val="2000"/>
              </a:lnSpc>
              <a:spcBef>
                <a:spcPts val="0"/>
              </a:spcBef>
              <a:spcAft>
                <a:spcPts val="0"/>
              </a:spcAft>
              <a:defRPr sz="1600" b="0">
                <a:solidFill>
                  <a:srgbClr val="F4F6FA"/>
                </a:solidFill>
                <a:latin typeface="Arial"/>
              </a:defRPr>
            </a:pPr>
            <a:r>
              <a:t>Progression liée à la session.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JOUEUR CONNECTÉ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Retrouver ses sauvegardes.</a:t>
            </a:r>
          </a:p>
          <a:p>
            <a:pPr>
              <a:lnSpc>
                <a:spcPts val="2000"/>
              </a:lnSpc>
              <a:spcBef>
                <a:spcPts val="0"/>
              </a:spcBef>
              <a:spcAft>
                <a:spcPts val="0"/>
              </a:spcAft>
              <a:defRPr sz="1600" b="0">
                <a:solidFill>
                  <a:srgbClr val="F4F6FA"/>
                </a:solidFill>
                <a:latin typeface="Arial"/>
              </a:defRPr>
            </a:pPr>
            <a:r>
              <a:t>Reprendre une partie active.</a:t>
            </a:r>
          </a:p>
          <a:p>
            <a:pPr>
              <a:lnSpc>
                <a:spcPts val="2000"/>
              </a:lnSpc>
              <a:spcBef>
                <a:spcPts val="0"/>
              </a:spcBef>
              <a:spcAft>
                <a:spcPts val="0"/>
              </a:spcAft>
              <a:defRPr sz="1600" b="0">
                <a:solidFill>
                  <a:srgbClr val="F4F6FA"/>
                </a:solidFill>
                <a:latin typeface="Arial"/>
              </a:defRPr>
            </a:pPr>
            <a:r>
              <a:t>Réutiliser ses personnages.</a:t>
            </a:r>
          </a:p>
          <a:p>
            <a:pPr>
              <a:lnSpc>
                <a:spcPts val="2000"/>
              </a:lnSpc>
              <a:spcBef>
                <a:spcPts val="0"/>
              </a:spcBef>
              <a:spcAft>
                <a:spcPts val="0"/>
              </a:spcAft>
              <a:defRPr sz="1600" b="0">
                <a:solidFill>
                  <a:srgbClr val="F4F6FA"/>
                </a:solidFill>
                <a:latin typeface="Arial"/>
              </a:defRPr>
            </a:pPr>
            <a:r>
              <a:t>Gérer ses propres données.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EXPLOITANT / JURY</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Installer et vérifier le service.</a:t>
            </a:r>
          </a:p>
          <a:p>
            <a:pPr>
              <a:lnSpc>
                <a:spcPts val="2000"/>
              </a:lnSpc>
              <a:spcBef>
                <a:spcPts val="0"/>
              </a:spcBef>
              <a:spcAft>
                <a:spcPts val="0"/>
              </a:spcAft>
              <a:defRPr sz="1600" b="0">
                <a:solidFill>
                  <a:srgbClr val="F4F6FA"/>
                </a:solidFill>
                <a:latin typeface="Arial"/>
              </a:defRPr>
            </a:pPr>
            <a:r>
              <a:t>Comprendre les choix techniques.</a:t>
            </a:r>
          </a:p>
          <a:p>
            <a:pPr>
              <a:lnSpc>
                <a:spcPts val="2000"/>
              </a:lnSpc>
              <a:spcBef>
                <a:spcPts val="0"/>
              </a:spcBef>
              <a:spcAft>
                <a:spcPts val="0"/>
              </a:spcAft>
              <a:defRPr sz="1600" b="0">
                <a:solidFill>
                  <a:srgbClr val="F4F6FA"/>
                </a:solidFill>
                <a:latin typeface="Arial"/>
              </a:defRPr>
            </a:pPr>
            <a:r>
              <a:t>Relier exigences, code, tests et</a:t>
            </a:r>
          </a:p>
          <a:p>
            <a:pPr>
              <a:lnSpc>
                <a:spcPts val="2000"/>
              </a:lnSpc>
              <a:spcBef>
                <a:spcPts val="0"/>
              </a:spcBef>
              <a:spcAft>
                <a:spcPts val="0"/>
              </a:spcAft>
              <a:defRPr sz="1600" b="0">
                <a:solidFill>
                  <a:srgbClr val="F4F6FA"/>
                </a:solidFill>
                <a:latin typeface="Arial"/>
              </a:defRPr>
            </a:pPr>
            <a:r>
              <a:t>démonstration.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continuité de la partie et la propriété des données orientent la conception.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BESOINS ET ÉVOLUTIONS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Relier les demandes à des réalisations concrètes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Jeu : critères formalisés ; alternance : évolutions de plateforme réalisées.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CALL TO AIDVENTURE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Reprise des sauvegardes.</a:t>
            </a:r>
          </a:p>
          <a:p>
            <a:pPr>
              <a:lnSpc>
                <a:spcPts val="2000"/>
              </a:lnSpc>
              <a:spcBef>
                <a:spcPts val="0"/>
              </a:spcBef>
              <a:spcAft>
                <a:spcPts val="0"/>
              </a:spcAft>
              <a:defRPr sz="1600" b="0">
                <a:solidFill>
                  <a:srgbClr val="F4F6FA"/>
                </a:solidFill>
                <a:latin typeface="Arial"/>
              </a:defRPr>
            </a:pPr>
            <a:r>
              <a:t>Propriété des données.</a:t>
            </a:r>
          </a:p>
          <a:p>
            <a:pPr>
              <a:lnSpc>
                <a:spcPts val="2000"/>
              </a:lnSpc>
              <a:spcBef>
                <a:spcPts val="0"/>
              </a:spcBef>
              <a:spcAft>
                <a:spcPts val="0"/>
              </a:spcAft>
              <a:defRPr sz="1600" b="0">
                <a:solidFill>
                  <a:srgbClr val="F4F6FA"/>
                </a:solidFill>
                <a:latin typeface="Arial"/>
              </a:defRPr>
            </a:pPr>
            <a:r>
              <a:t>Échec IA sans progression.</a:t>
            </a:r>
          </a:p>
          <a:p>
            <a:pPr>
              <a:lnSpc>
                <a:spcPts val="2000"/>
              </a:lnSpc>
              <a:spcBef>
                <a:spcPts val="0"/>
              </a:spcBef>
              <a:spcAft>
                <a:spcPts val="0"/>
              </a:spcAft>
              <a:defRPr sz="1600" b="0">
                <a:solidFill>
                  <a:srgbClr val="F4F6FA"/>
                </a:solidFill>
                <a:latin typeface="Arial"/>
              </a:defRPr>
            </a:pPr>
            <a:r>
              <a:t>Critères et tests disponibles.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DATAPLATEFORME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Demandes de fonctionnalités</a:t>
            </a:r>
          </a:p>
          <a:p>
            <a:pPr>
              <a:lnSpc>
                <a:spcPts val="2000"/>
              </a:lnSpc>
              <a:spcBef>
                <a:spcPts val="0"/>
              </a:spcBef>
              <a:spcAft>
                <a:spcPts val="0"/>
              </a:spcAft>
              <a:defRPr sz="1600" b="0">
                <a:solidFill>
                  <a:srgbClr val="F4F6FA"/>
                </a:solidFill>
                <a:latin typeface="Arial"/>
              </a:defRPr>
            </a:pPr>
            <a:r>
              <a:t>prises en charge.</a:t>
            </a:r>
          </a:p>
          <a:p>
            <a:pPr>
              <a:lnSpc>
                <a:spcPts val="2000"/>
              </a:lnSpc>
              <a:spcBef>
                <a:spcPts val="0"/>
              </a:spcBef>
              <a:spcAft>
                <a:spcPts val="0"/>
              </a:spcAft>
              <a:defRPr sz="1600" b="0">
                <a:solidFill>
                  <a:srgbClr val="F4F6FA"/>
                </a:solidFill>
                <a:latin typeface="Arial"/>
              </a:defRPr>
            </a:pPr>
            <a:r>
              <a:t>Bugs corrigés et adaptation à la</a:t>
            </a:r>
          </a:p>
          <a:p>
            <a:pPr>
              <a:lnSpc>
                <a:spcPts val="2000"/>
              </a:lnSpc>
              <a:spcBef>
                <a:spcPts val="0"/>
              </a:spcBef>
              <a:spcAft>
                <a:spcPts val="0"/>
              </a:spcAft>
              <a:defRPr sz="1600" b="0">
                <a:solidFill>
                  <a:srgbClr val="F4F6FA"/>
                </a:solidFill>
                <a:latin typeface="Arial"/>
              </a:defRPr>
            </a:pPr>
            <a:r>
              <a:t>charge.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 À JOINDRE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demande réelle, sa</a:t>
            </a:r>
          </a:p>
          <a:p>
            <a:pPr>
              <a:lnSpc>
                <a:spcPts val="2000"/>
              </a:lnSpc>
              <a:spcBef>
                <a:spcPts val="0"/>
              </a:spcBef>
              <a:spcAft>
                <a:spcPts val="0"/>
              </a:spcAft>
              <a:defRPr sz="1600" b="0">
                <a:solidFill>
                  <a:srgbClr val="F4F6FA"/>
                </a:solidFill>
                <a:latin typeface="Arial"/>
              </a:defRPr>
            </a:pPr>
            <a:r>
              <a:t>reformulation, le changement livré</a:t>
            </a:r>
          </a:p>
          <a:p>
            <a:pPr>
              <a:lnSpc>
                <a:spcPts val="2000"/>
              </a:lnSpc>
              <a:spcBef>
                <a:spcPts val="0"/>
              </a:spcBef>
              <a:spcAft>
                <a:spcPts val="0"/>
              </a:spcAft>
              <a:defRPr sz="1600" b="0">
                <a:solidFill>
                  <a:srgbClr val="F4F6FA"/>
                </a:solidFill>
                <a:latin typeface="Arial"/>
              </a:defRPr>
            </a:pPr>
            <a:r>
              <a:t>et sa validation par l’utilisateur</a:t>
            </a:r>
          </a:p>
          <a:p>
            <a:pPr>
              <a:lnSpc>
                <a:spcPts val="2000"/>
              </a:lnSpc>
              <a:spcBef>
                <a:spcPts val="0"/>
              </a:spcBef>
              <a:spcAft>
                <a:spcPts val="0"/>
              </a:spcAft>
              <a:defRPr sz="1600" b="0">
                <a:solidFill>
                  <a:srgbClr val="F4F6FA"/>
                </a:solidFill>
                <a:latin typeface="Arial"/>
              </a:defRPr>
            </a:pPr>
            <a:r>
              <a:t>métier.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plateforme illustre la relation au besoin ; le contexte applicatif IA reste explicite.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ARCHITECTURE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Séparer présentation, métier et persistance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application Django avec des services Python internes.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PRÉSENTATION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Templates HTML / CSS / JS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Vues Django et endpoints JSON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Sessions, auth et CSRF</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MÉTIER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a:t>
            </a:r>
          </a:p>
          <a:p>
            <a:pPr>
              <a:lnSpc>
                <a:spcPts val="2000"/>
              </a:lnSpc>
              <a:spcBef>
                <a:spcPts val="0"/>
              </a:spcBef>
              <a:spcAft>
                <a:spcPts val="0"/>
              </a:spcAft>
              <a:defRPr sz="1600" b="0">
                <a:solidFill>
                  <a:srgbClr val="F4F6FA"/>
                </a:solidFill>
                <a:latin typeface="Arial"/>
              </a:defRPr>
            </a:pPr>
            <a:r>
              <a:t>↙ ↘</a:t>
            </a:r>
          </a:p>
          <a:p>
            <a:pPr>
              <a:lnSpc>
                <a:spcPts val="2000"/>
              </a:lnSpc>
              <a:spcBef>
                <a:spcPts val="0"/>
              </a:spcBef>
              <a:spcAft>
                <a:spcPts val="0"/>
              </a:spcAft>
              <a:defRPr sz="1600" b="0">
                <a:solidFill>
                  <a:srgbClr val="F4F6FA"/>
                </a:solidFill>
                <a:latin typeface="Arial"/>
              </a:defRPr>
            </a:pPr>
            <a:r>
              <a:t>LangGraph Combat</a:t>
            </a:r>
          </a:p>
          <a:p>
            <a:pPr>
              <a:lnSpc>
                <a:spcPts val="2000"/>
              </a:lnSpc>
              <a:spcBef>
                <a:spcPts val="0"/>
              </a:spcBef>
              <a:spcAft>
                <a:spcPts val="0"/>
              </a:spcAft>
              <a:defRPr sz="1600" b="0">
                <a:solidFill>
                  <a:srgbClr val="F4F6FA"/>
                </a:solidFill>
                <a:latin typeface="Arial"/>
              </a:defRPr>
            </a:pPr>
            <a:r>
              <a:t>IA + RAG règles serveur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STOCKAGE / SERVICES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Base Django : comptes / parties.</a:t>
            </a:r>
          </a:p>
          <a:p>
            <a:pPr>
              <a:lnSpc>
                <a:spcPts val="2000"/>
              </a:lnSpc>
              <a:spcBef>
                <a:spcPts val="0"/>
              </a:spcBef>
              <a:spcAft>
                <a:spcPts val="0"/>
              </a:spcAft>
              <a:defRPr sz="1600" b="0">
                <a:solidFill>
                  <a:srgbClr val="F4F6FA"/>
                </a:solidFill>
                <a:latin typeface="Arial"/>
              </a:defRPr>
            </a:pPr>
            <a:r>
              <a:t>SQLite catalogue : références.</a:t>
            </a:r>
          </a:p>
          <a:p>
            <a:pPr>
              <a:lnSpc>
                <a:spcPts val="2000"/>
              </a:lnSpc>
              <a:spcBef>
                <a:spcPts val="0"/>
              </a:spcBef>
              <a:spcAft>
                <a:spcPts val="0"/>
              </a:spcAft>
              <a:defRPr sz="1600" b="0">
                <a:solidFill>
                  <a:srgbClr val="F4F6FA"/>
                </a:solidFill>
                <a:latin typeface="Arial"/>
              </a:defRPr>
            </a:pPr>
            <a:r>
              <a:t>Chroma / Ollama : contexte.</a:t>
            </a:r>
          </a:p>
          <a:p>
            <a:pPr>
              <a:lnSpc>
                <a:spcPts val="2000"/>
              </a:lnSpc>
              <a:spcBef>
                <a:spcPts val="0"/>
              </a:spcBef>
              <a:spcAft>
                <a:spcPts val="0"/>
              </a:spcAft>
              <a:defRPr sz="1600" b="0">
                <a:solidFill>
                  <a:srgbClr val="F4F6FA"/>
                </a:solidFill>
                <a:latin typeface="Arial"/>
              </a:defRPr>
            </a:pPr>
            <a:r>
              <a:t>Fournisseur externe : génération.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navigateur envoie des actions ; le serveur décide des mutations autorisées.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docs/block3/technical-framework-models.md ; services/game_engine.py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DÉCISIONS TECHNIQUES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une architecture adaptée au périmètre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choix actuels favorisent une démonstration locale reproductible.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DJANGO</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Comptes, sessions, ORM et</a:t>
            </a:r>
          </a:p>
          <a:p>
            <a:pPr>
              <a:lnSpc>
                <a:spcPts val="2000"/>
              </a:lnSpc>
              <a:spcBef>
                <a:spcPts val="0"/>
              </a:spcBef>
              <a:spcAft>
                <a:spcPts val="0"/>
              </a:spcAft>
              <a:defRPr sz="1600" b="0">
                <a:solidFill>
                  <a:srgbClr val="F4F6FA"/>
                </a:solidFill>
                <a:latin typeface="Arial"/>
              </a:defRPr>
            </a:pPr>
            <a:r>
              <a:t>templates dans un même cadre.</a:t>
            </a:r>
          </a:p>
          <a:p>
            <a:pPr>
              <a:lnSpc>
                <a:spcPts val="2000"/>
              </a:lnSpc>
              <a:spcBef>
                <a:spcPts val="0"/>
              </a:spcBef>
              <a:spcAft>
                <a:spcPts val="0"/>
              </a:spcAft>
              <a:defRPr sz="1600" b="0">
                <a:solidFill>
                  <a:srgbClr val="F4F6FA"/>
                </a:solidFill>
                <a:latin typeface="Arial"/>
              </a:defRPr>
            </a:pPr>
            <a:r>
              <a:t>Moins de couches à exploiter pour</a:t>
            </a:r>
          </a:p>
          <a:p>
            <a:pPr>
              <a:lnSpc>
                <a:spcPts val="2000"/>
              </a:lnSpc>
              <a:spcBef>
                <a:spcPts val="0"/>
              </a:spcBef>
              <a:spcAft>
                <a:spcPts val="0"/>
              </a:spcAft>
              <a:defRPr sz="1600" b="0">
                <a:solidFill>
                  <a:srgbClr val="F4F6FA"/>
                </a:solidFill>
                <a:latin typeface="Arial"/>
              </a:defRPr>
            </a:pPr>
            <a:r>
              <a:t>ce projet solo.</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SQLITE / SERVICES IA</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Données locales de taille modeste.</a:t>
            </a:r>
          </a:p>
          <a:p>
            <a:pPr>
              <a:lnSpc>
                <a:spcPts val="2000"/>
              </a:lnSpc>
              <a:spcBef>
                <a:spcPts val="0"/>
              </a:spcBef>
              <a:spcAft>
                <a:spcPts val="0"/>
              </a:spcAft>
              <a:defRPr sz="1600" b="0">
                <a:solidFill>
                  <a:srgbClr val="F4F6FA"/>
                </a:solidFill>
                <a:latin typeface="Arial"/>
              </a:defRPr>
            </a:pPr>
            <a:r>
              <a:t>IA hébergée et retrieval local.</a:t>
            </a:r>
          </a:p>
          <a:p>
            <a:pPr>
              <a:lnSpc>
                <a:spcPts val="2000"/>
              </a:lnSpc>
              <a:spcBef>
                <a:spcPts val="0"/>
              </a:spcBef>
              <a:spcAft>
                <a:spcPts val="0"/>
              </a:spcAft>
              <a:defRPr sz="1600" b="0">
                <a:solidFill>
                  <a:srgbClr val="F4F6FA"/>
                </a:solidFill>
                <a:latin typeface="Arial"/>
              </a:defRPr>
            </a:pPr>
            <a:r>
              <a:t>Limites de concurrence et de</a:t>
            </a:r>
          </a:p>
          <a:p>
            <a:pPr>
              <a:lnSpc>
                <a:spcPts val="2000"/>
              </a:lnSpc>
              <a:spcBef>
                <a:spcPts val="0"/>
              </a:spcBef>
              <a:spcAft>
                <a:spcPts val="0"/>
              </a:spcAft>
              <a:defRPr sz="1600" b="0">
                <a:solidFill>
                  <a:srgbClr val="F4F6FA"/>
                </a:solidFill>
                <a:latin typeface="Arial"/>
              </a:defRPr>
            </a:pPr>
            <a:r>
              <a:t>dépendance externe documentées.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CIBLE DE DÉPLOIEMENT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Conteneur web et proxy HTTPS.</a:t>
            </a:r>
          </a:p>
          <a:p>
            <a:pPr>
              <a:lnSpc>
                <a:spcPts val="2000"/>
              </a:lnSpc>
              <a:spcBef>
                <a:spcPts val="0"/>
              </a:spcBef>
              <a:spcAft>
                <a:spcPts val="0"/>
              </a:spcAft>
              <a:defRPr sz="1600" b="0">
                <a:solidFill>
                  <a:srgbClr val="F4F6FA"/>
                </a:solidFill>
                <a:latin typeface="Arial"/>
              </a:defRPr>
            </a:pPr>
            <a:r>
              <a:t>Secrets externes, stockage</a:t>
            </a:r>
          </a:p>
          <a:p>
            <a:pPr>
              <a:lnSpc>
                <a:spcPts val="2000"/>
              </a:lnSpc>
              <a:spcBef>
                <a:spcPts val="0"/>
              </a:spcBef>
              <a:spcAft>
                <a:spcPts val="0"/>
              </a:spcAft>
              <a:defRPr sz="1600" b="0">
                <a:solidFill>
                  <a:srgbClr val="F4F6FA"/>
                </a:solidFill>
                <a:latin typeface="Arial"/>
              </a:defRPr>
            </a:pPr>
            <a:r>
              <a:t>durable.</a:t>
            </a:r>
          </a:p>
          <a:p>
            <a:pPr>
              <a:lnSpc>
                <a:spcPts val="2000"/>
              </a:lnSpc>
              <a:spcBef>
                <a:spcPts val="0"/>
              </a:spcBef>
              <a:spcAft>
                <a:spcPts val="0"/>
              </a:spcAft>
              <a:defRPr sz="1600" b="0">
                <a:solidFill>
                  <a:srgbClr val="F4F6FA"/>
                </a:solidFill>
                <a:latin typeface="Arial"/>
              </a:defRPr>
            </a:pPr>
            <a:r>
              <a:t>Hébergement et SGBD de</a:t>
            </a:r>
          </a:p>
          <a:p>
            <a:pPr>
              <a:lnSpc>
                <a:spcPts val="2000"/>
              </a:lnSpc>
              <a:spcBef>
                <a:spcPts val="0"/>
              </a:spcBef>
              <a:spcAft>
                <a:spcPts val="0"/>
              </a:spcAft>
              <a:defRPr sz="1600" b="0">
                <a:solidFill>
                  <a:srgbClr val="F4F6FA"/>
                </a:solidFill>
                <a:latin typeface="Arial"/>
              </a:defRPr>
            </a:pPr>
            <a:r>
              <a:t>production à confirmer.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préproduction cible est décrite ; son accessibilité réelle reste à prouver.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docs/block3/architecture-decisions.md ; technical-framework-models.md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C16 · CONTRIBUTION PERSONNELLE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Porter une réalisation de bout en bout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Alternance : développement, maintenance et évolution de la plateforme.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Chaîne multi-source complète.</a:t>
            </a:r>
          </a:p>
          <a:p>
            <a:pPr>
              <a:lnSpc>
                <a:spcPts val="2000"/>
              </a:lnSpc>
              <a:spcBef>
                <a:spcPts val="0"/>
              </a:spcBef>
              <a:spcAft>
                <a:spcPts val="0"/>
              </a:spcAft>
              <a:defRPr sz="1600" b="0">
                <a:solidFill>
                  <a:srgbClr val="F4F6FA"/>
                </a:solidFill>
                <a:latin typeface="Arial"/>
              </a:defRPr>
            </a:pPr>
            <a:r>
              <a:t>Airflow, ClickHouse et dbt.</a:t>
            </a:r>
          </a:p>
          <a:p>
            <a:pPr>
              <a:lnSpc>
                <a:spcPts val="2000"/>
              </a:lnSpc>
              <a:spcBef>
                <a:spcPts val="0"/>
              </a:spcBef>
              <a:spcAft>
                <a:spcPts val="0"/>
              </a:spcAft>
              <a:defRPr sz="1600" b="0">
                <a:solidFill>
                  <a:srgbClr val="F4F6FA"/>
                </a:solidFill>
                <a:latin typeface="Arial"/>
              </a:defRPr>
            </a:pPr>
            <a:r>
              <a:t>Documentation des travaux.</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ADAPTER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Scalabilité.</a:t>
            </a:r>
          </a:p>
          <a:p>
            <a:pPr>
              <a:lnSpc>
                <a:spcPts val="2000"/>
              </a:lnSpc>
              <a:spcBef>
                <a:spcPts val="0"/>
              </a:spcBef>
              <a:spcAft>
                <a:spcPts val="0"/>
              </a:spcAft>
              <a:defRPr sz="1600" b="0">
                <a:solidFill>
                  <a:srgbClr val="F4F6FA"/>
                </a:solidFill>
                <a:latin typeface="Arial"/>
              </a:defRPr>
            </a:pPr>
            <a:r>
              <a:t>Résolution des bugs.</a:t>
            </a:r>
          </a:p>
          <a:p>
            <a:pPr>
              <a:lnSpc>
                <a:spcPts val="2000"/>
              </a:lnSpc>
              <a:spcBef>
                <a:spcPts val="0"/>
              </a:spcBef>
              <a:spcAft>
                <a:spcPts val="0"/>
              </a:spcAft>
              <a:defRPr sz="1600" b="0">
                <a:solidFill>
                  <a:srgbClr val="F4F6FA"/>
                </a:solidFill>
                <a:latin typeface="Arial"/>
              </a:defRPr>
            </a:pPr>
            <a:r>
              <a:t>Demandes de fonctionnalités.</a:t>
            </a:r>
          </a:p>
          <a:p>
            <a:pPr>
              <a:lnSpc>
                <a:spcPts val="2000"/>
              </a:lnSpc>
              <a:spcBef>
                <a:spcPts val="0"/>
              </a:spcBef>
              <a:spcAft>
                <a:spcPts val="0"/>
              </a:spcAft>
              <a:defRPr sz="1600" b="0">
                <a:solidFill>
                  <a:srgbClr val="F4F6FA"/>
                </a:solidFill>
                <a:latin typeface="Arial"/>
              </a:defRPr>
            </a:pPr>
            <a:r>
              <a:t>Arbitrages à illustrer.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COORDONNER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Préciser interlocuteurs, priorités,</a:t>
            </a:r>
          </a:p>
          <a:p>
            <a:pPr>
              <a:lnSpc>
                <a:spcPts val="2000"/>
              </a:lnSpc>
              <a:spcBef>
                <a:spcPts val="0"/>
              </a:spcBef>
              <a:spcAft>
                <a:spcPts val="0"/>
              </a:spcAft>
              <a:defRPr sz="1600" b="0">
                <a:solidFill>
                  <a:srgbClr val="F4F6FA"/>
                </a:solidFill>
                <a:latin typeface="Arial"/>
              </a:defRPr>
            </a:pPr>
            <a:r>
              <a:t>outils de suivi, revues et échanges</a:t>
            </a:r>
          </a:p>
          <a:p>
            <a:pPr>
              <a:lnSpc>
                <a:spcPts val="2000"/>
              </a:lnSpc>
              <a:spcBef>
                <a:spcPts val="0"/>
              </a:spcBef>
              <a:spcAft>
                <a:spcPts val="0"/>
              </a:spcAft>
              <a:defRPr sz="1600" b="0">
                <a:solidFill>
                  <a:srgbClr val="F4F6FA"/>
                </a:solidFill>
                <a:latin typeface="Arial"/>
              </a:defRPr>
            </a:pPr>
            <a:r>
              <a:t>réellement pratiqués.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L’autonomie technique renforce le récit ; les pratiques de coordination doivent être prouvées.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PARCOURS ET ÉTAT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Conserver une progression cohérente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moteur expose des transitions de jeu et des règles de persistance.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PARCOURS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Accueil → personnage → récit</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Choix → combat éventuel</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Victoire, défaite ou poursuite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Anonyme : session Django.</a:t>
            </a:r>
          </a:p>
          <a:p>
            <a:pPr>
              <a:lnSpc>
                <a:spcPts val="2000"/>
              </a:lnSpc>
              <a:spcBef>
                <a:spcPts val="0"/>
              </a:spcBef>
              <a:spcAft>
                <a:spcPts val="0"/>
              </a:spcAft>
              <a:defRPr sz="1600" b="0">
                <a:solidFill>
                  <a:srgbClr val="F4F6FA"/>
                </a:solidFill>
                <a:latin typeface="Arial"/>
              </a:defRPr>
            </a:pPr>
            <a:r>
              <a:t>Connecté : SaveGame + session.</a:t>
            </a:r>
          </a:p>
          <a:p>
            <a:pPr>
              <a:lnSpc>
                <a:spcPts val="2000"/>
              </a:lnSpc>
              <a:spcBef>
                <a:spcPts val="0"/>
              </a:spcBef>
              <a:spcAft>
                <a:spcPts val="0"/>
              </a:spcAft>
              <a:defRPr sz="1600" b="0">
                <a:solidFill>
                  <a:srgbClr val="F4F6FA"/>
                </a:solidFill>
                <a:latin typeface="Arial"/>
              </a:defRPr>
            </a:pPr>
            <a:r>
              <a:t>État sérialisé en JSON.</a:t>
            </a:r>
          </a:p>
          <a:p>
            <a:pPr>
              <a:lnSpc>
                <a:spcPts val="2000"/>
              </a:lnSpc>
              <a:spcBef>
                <a:spcPts val="0"/>
              </a:spcBef>
              <a:spcAft>
                <a:spcPts val="0"/>
              </a:spcAft>
              <a:defRPr sz="1600" b="0">
                <a:solidFill>
                  <a:srgbClr val="F4F6FA"/>
                </a:solidFill>
                <a:latin typeface="Arial"/>
              </a:defRPr>
            </a:pPr>
            <a:r>
              <a:t>Partie terminée non rechargeable.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RÈGLES MÉTIER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par session.</a:t>
            </a:r>
          </a:p>
          <a:p>
            <a:pPr>
              <a:lnSpc>
                <a:spcPts val="2000"/>
              </a:lnSpc>
              <a:spcBef>
                <a:spcPts val="0"/>
              </a:spcBef>
              <a:spcAft>
                <a:spcPts val="0"/>
              </a:spcAft>
              <a:defRPr sz="1600" b="0">
                <a:solidFill>
                  <a:srgbClr val="F4F6FA"/>
                </a:solidFill>
                <a:latin typeface="Arial"/>
              </a:defRPr>
            </a:pPr>
            <a:r>
              <a:t>Soins et dégâts côté serveur.</a:t>
            </a:r>
          </a:p>
          <a:p>
            <a:pPr>
              <a:lnSpc>
                <a:spcPts val="2000"/>
              </a:lnSpc>
              <a:spcBef>
                <a:spcPts val="0"/>
              </a:spcBef>
              <a:spcAft>
                <a:spcPts val="0"/>
              </a:spcAft>
              <a:defRPr sz="1600" b="0">
                <a:solidFill>
                  <a:srgbClr val="F4F6FA"/>
                </a:solidFill>
                <a:latin typeface="Arial"/>
              </a:defRPr>
            </a:pPr>
            <a:r>
              <a:t>Propriété des sauvegardes.</a:t>
            </a:r>
          </a:p>
          <a:p>
            <a:pPr>
              <a:lnSpc>
                <a:spcPts val="2000"/>
              </a:lnSpc>
              <a:spcBef>
                <a:spcPts val="0"/>
              </a:spcBef>
              <a:spcAft>
                <a:spcPts val="0"/>
              </a:spcAft>
              <a:defRPr sz="1600" b="0">
                <a:solidFill>
                  <a:srgbClr val="F4F6FA"/>
                </a:solidFill>
                <a:latin typeface="Arial"/>
              </a:defRPr>
            </a:pPr>
            <a:r>
              <a:t>Échec IA sans progression</a:t>
            </a:r>
          </a:p>
          <a:p>
            <a:pPr>
              <a:lnSpc>
                <a:spcPts val="2000"/>
              </a:lnSpc>
              <a:spcBef>
                <a:spcPts val="0"/>
              </a:spcBef>
              <a:spcAft>
                <a:spcPts val="0"/>
              </a:spcAft>
              <a:defRPr sz="1600" b="0">
                <a:solidFill>
                  <a:srgbClr val="F4F6FA"/>
                </a:solidFill>
                <a:latin typeface="Arial"/>
              </a:defRPr>
            </a:pPr>
            <a:r>
              <a:t>persistée.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portent sur les transitions et les droits, au-delà du rendu des pages.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src/django/game/models.py ; services/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SÉCURITÉ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Protéger les requêtes et les données du joueur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contrôles concrets, avec des limites de production identifiées.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sur les POST navigateur.</a:t>
            </a:r>
          </a:p>
          <a:p>
            <a:pPr>
              <a:lnSpc>
                <a:spcPts val="2000"/>
              </a:lnSpc>
              <a:spcBef>
                <a:spcPts val="0"/>
              </a:spcBef>
              <a:spcAft>
                <a:spcPts val="0"/>
              </a:spcAft>
              <a:defRPr sz="1600" b="0">
                <a:solidFill>
                  <a:srgbClr val="F4F6FA"/>
                </a:solidFill>
                <a:latin typeface="Arial"/>
              </a:defRPr>
            </a:pPr>
            <a:r>
              <a:t>Taille JSON limitée.</a:t>
            </a:r>
          </a:p>
          <a:p>
            <a:pPr>
              <a:lnSpc>
                <a:spcPts val="2000"/>
              </a:lnSpc>
              <a:spcBef>
                <a:spcPts val="0"/>
              </a:spcBef>
              <a:spcAft>
                <a:spcPts val="0"/>
              </a:spcAft>
              <a:defRPr sz="1600" b="0">
                <a:solidFill>
                  <a:srgbClr val="F4F6FA"/>
                </a:solidFill>
                <a:latin typeface="Arial"/>
              </a:defRPr>
            </a:pPr>
            <a:r>
              <a:t>Quota sur les routes IA.</a:t>
            </a:r>
          </a:p>
          <a:p>
            <a:pPr>
              <a:lnSpc>
                <a:spcPts val="2000"/>
              </a:lnSpc>
              <a:spcBef>
                <a:spcPts val="0"/>
              </a:spcBef>
              <a:spcAft>
                <a:spcPts val="0"/>
              </a:spcAft>
              <a:defRPr sz="1600" b="0">
                <a:solidFill>
                  <a:srgbClr val="F4F6FA"/>
                </a:solidFill>
                <a:latin typeface="Arial"/>
              </a:defRPr>
            </a:pPr>
            <a:r>
              <a:t>Contenu dynamique via</a:t>
            </a:r>
          </a:p>
          <a:p>
            <a:pPr>
              <a:lnSpc>
                <a:spcPts val="2000"/>
              </a:lnSpc>
              <a:spcBef>
                <a:spcPts val="0"/>
              </a:spcBef>
              <a:spcAft>
                <a:spcPts val="0"/>
              </a:spcAft>
              <a:defRPr sz="1600" b="0">
                <a:solidFill>
                  <a:srgbClr val="F4F6FA"/>
                </a:solidFill>
                <a:latin typeface="Arial"/>
              </a:defRPr>
            </a:pPr>
            <a:r>
              <a:t>textContent.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PROPRIÉTÉ / SECRETS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Filtres par utilisateur.</a:t>
            </a:r>
          </a:p>
          <a:p>
            <a:pPr>
              <a:lnSpc>
                <a:spcPts val="2000"/>
              </a:lnSpc>
              <a:spcBef>
                <a:spcPts val="0"/>
              </a:spcBef>
              <a:spcAft>
                <a:spcPts val="0"/>
              </a:spcAft>
              <a:defRPr sz="1600" b="0">
                <a:solidFill>
                  <a:srgbClr val="F4F6FA"/>
                </a:solidFill>
                <a:latin typeface="Arial"/>
              </a:defRPr>
            </a:pPr>
            <a:r>
              <a:t>État de combat isolé.</a:t>
            </a:r>
          </a:p>
          <a:p>
            <a:pPr>
              <a:lnSpc>
                <a:spcPts val="2000"/>
              </a:lnSpc>
              <a:spcBef>
                <a:spcPts val="0"/>
              </a:spcBef>
              <a:spcAft>
                <a:spcPts val="0"/>
              </a:spcAft>
              <a:defRPr sz="1600" b="0">
                <a:solidFill>
                  <a:srgbClr val="F4F6FA"/>
                </a:solidFill>
                <a:latin typeface="Arial"/>
              </a:defRPr>
            </a:pPr>
            <a:r>
              <a:t>Secret et hôtes de production via</a:t>
            </a:r>
          </a:p>
          <a:p>
            <a:pPr>
              <a:lnSpc>
                <a:spcPts val="2000"/>
              </a:lnSpc>
              <a:spcBef>
                <a:spcPts val="0"/>
              </a:spcBef>
              <a:spcAft>
                <a:spcPts val="0"/>
              </a:spcAft>
              <a:defRPr sz="1600" b="0">
                <a:solidFill>
                  <a:srgbClr val="F4F6FA"/>
                </a:solidFill>
                <a:latin typeface="Arial"/>
              </a:defRPr>
            </a:pPr>
            <a:r>
              <a:t>environnement.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Audit dépendances à compléter.</a:t>
            </a:r>
          </a:p>
          <a:p>
            <a:pPr>
              <a:lnSpc>
                <a:spcPts val="2000"/>
              </a:lnSpc>
              <a:spcBef>
                <a:spcPts val="0"/>
              </a:spcBef>
              <a:spcAft>
                <a:spcPts val="0"/>
              </a:spcAft>
              <a:defRPr sz="1600" b="0">
                <a:solidFill>
                  <a:srgbClr val="F4F6FA"/>
                </a:solidFill>
                <a:latin typeface="Arial"/>
              </a:defRPr>
            </a:pPr>
            <a:r>
              <a:t>Cache partagé pour plusieurs</a:t>
            </a:r>
          </a:p>
          <a:p>
            <a:pPr>
              <a:lnSpc>
                <a:spcPts val="2000"/>
              </a:lnSpc>
              <a:spcBef>
                <a:spcPts val="0"/>
              </a:spcBef>
              <a:spcAft>
                <a:spcPts val="0"/>
              </a:spcAft>
              <a:defRPr sz="1600" b="0">
                <a:solidFill>
                  <a:srgbClr val="F4F6FA"/>
                </a:solidFill>
                <a:latin typeface="Arial"/>
              </a:defRPr>
            </a:pPr>
            <a:r>
              <a:t>instances.</a:t>
            </a:r>
          </a:p>
          <a:p>
            <a:pPr>
              <a:lnSpc>
                <a:spcPts val="2000"/>
              </a:lnSpc>
              <a:spcBef>
                <a:spcPts val="0"/>
              </a:spcBef>
              <a:spcAft>
                <a:spcPts val="0"/>
              </a:spcAft>
              <a:defRPr sz="1600" b="0">
                <a:solidFill>
                  <a:srgbClr val="F4F6FA"/>
                </a:solidFill>
                <a:latin typeface="Arial"/>
              </a:defRPr>
            </a:pPr>
            <a:r>
              <a:t>Revue des appels longs et de la</a:t>
            </a:r>
          </a:p>
          <a:p>
            <a:pPr>
              <a:lnSpc>
                <a:spcPts val="2000"/>
              </a:lnSpc>
              <a:spcBef>
                <a:spcPts val="0"/>
              </a:spcBef>
              <a:spcAft>
                <a:spcPts val="0"/>
              </a:spcAft>
              <a:defRPr sz="1600" b="0">
                <a:solidFill>
                  <a:srgbClr val="F4F6FA"/>
                </a:solidFill>
                <a:latin typeface="Arial"/>
              </a:defRPr>
            </a:pPr>
            <a:r>
              <a:t>concurrence du graphe.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protections du navigateur ont évolué : le code courant prime sur les anciennes notes.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docs/block3/security-threat-model.md ; game/views.py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ACCESSIBILITÉ ET SOBRIÉTÉ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les interactions perceptibles et maîtrisées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Améliorations présentes ; validation manuelle encore nécessaire.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INTERACTIONS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Annonces de statut dynamiques.</a:t>
            </a:r>
          </a:p>
          <a:p>
            <a:pPr>
              <a:lnSpc>
                <a:spcPts val="2000"/>
              </a:lnSpc>
              <a:spcBef>
                <a:spcPts val="0"/>
              </a:spcBef>
              <a:spcAft>
                <a:spcPts val="0"/>
              </a:spcAft>
              <a:defRPr sz="1600" b="0">
                <a:solidFill>
                  <a:srgbClr val="F4F6FA"/>
                </a:solidFill>
                <a:latin typeface="Arial"/>
              </a:defRPr>
            </a:pPr>
            <a:r>
              <a:t>Onglets avec sémantique ARIA.</a:t>
            </a:r>
          </a:p>
          <a:p>
            <a:pPr>
              <a:lnSpc>
                <a:spcPts val="2000"/>
              </a:lnSpc>
              <a:spcBef>
                <a:spcPts val="0"/>
              </a:spcBef>
              <a:spcAft>
                <a:spcPts val="0"/>
              </a:spcAft>
              <a:defRPr sz="1600" b="0">
                <a:solidFill>
                  <a:srgbClr val="F4F6FA"/>
                </a:solidFill>
                <a:latin typeface="Arial"/>
              </a:defRPr>
            </a:pPr>
            <a:r>
              <a:t>Focus après mise à jour.</a:t>
            </a:r>
          </a:p>
          <a:p>
            <a:pPr>
              <a:lnSpc>
                <a:spcPts val="2000"/>
              </a:lnSpc>
              <a:spcBef>
                <a:spcPts val="0"/>
              </a:spcBef>
              <a:spcAft>
                <a:spcPts val="0"/>
              </a:spcAft>
              <a:defRPr sz="1600" b="0">
                <a:solidFill>
                  <a:srgbClr val="F4F6FA"/>
                </a:solidFill>
                <a:latin typeface="Arial"/>
              </a:defRPr>
            </a:pPr>
            <a:r>
              <a:t>Barres de vie exposées comme</a:t>
            </a:r>
          </a:p>
          <a:p>
            <a:pPr>
              <a:lnSpc>
                <a:spcPts val="2000"/>
              </a:lnSpc>
              <a:spcBef>
                <a:spcPts val="0"/>
              </a:spcBef>
              <a:spcAft>
                <a:spcPts val="0"/>
              </a:spcAft>
              <a:defRPr sz="1600" b="0">
                <a:solidFill>
                  <a:srgbClr val="F4F6FA"/>
                </a:solidFill>
                <a:latin typeface="Arial"/>
              </a:defRPr>
            </a:pPr>
            <a:r>
              <a:t>progression.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VÉRIFICATION MANUELLE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Parcours au clavier.</a:t>
            </a:r>
          </a:p>
          <a:p>
            <a:pPr>
              <a:lnSpc>
                <a:spcPts val="2000"/>
              </a:lnSpc>
              <a:spcBef>
                <a:spcPts val="0"/>
              </a:spcBef>
              <a:spcAft>
                <a:spcPts val="0"/>
              </a:spcAft>
              <a:defRPr sz="1600" b="0">
                <a:solidFill>
                  <a:srgbClr val="F4F6FA"/>
                </a:solidFill>
                <a:latin typeface="Arial"/>
              </a:defRPr>
            </a:pPr>
            <a:r>
              <a:t>Contrastes et zoom 200 %.</a:t>
            </a:r>
          </a:p>
          <a:p>
            <a:pPr>
              <a:lnSpc>
                <a:spcPts val="2000"/>
              </a:lnSpc>
              <a:spcBef>
                <a:spcPts val="0"/>
              </a:spcBef>
              <a:spcAft>
                <a:spcPts val="0"/>
              </a:spcAft>
              <a:defRPr sz="1600" b="0">
                <a:solidFill>
                  <a:srgbClr val="F4F6FA"/>
                </a:solidFill>
                <a:latin typeface="Arial"/>
              </a:defRPr>
            </a:pPr>
            <a:r>
              <a:t>Lecteur d’écran.</a:t>
            </a:r>
          </a:p>
          <a:p>
            <a:pPr>
              <a:lnSpc>
                <a:spcPts val="2000"/>
              </a:lnSpc>
              <a:spcBef>
                <a:spcPts val="0"/>
              </a:spcBef>
              <a:spcAft>
                <a:spcPts val="0"/>
              </a:spcAft>
              <a:defRPr sz="1600" b="0">
                <a:solidFill>
                  <a:srgbClr val="F4F6FA"/>
                </a:solidFill>
                <a:latin typeface="Arial"/>
              </a:defRPr>
            </a:pPr>
            <a:r>
              <a:t>Qualité des textes FR / EN.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SOBRIÉTÉ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Appels de jeu déclenchés par</a:t>
            </a:r>
          </a:p>
          <a:p>
            <a:pPr>
              <a:lnSpc>
                <a:spcPts val="2000"/>
              </a:lnSpc>
              <a:spcBef>
                <a:spcPts val="0"/>
              </a:spcBef>
              <a:spcAft>
                <a:spcPts val="0"/>
              </a:spcAft>
              <a:defRPr sz="1600" b="0">
                <a:solidFill>
                  <a:srgbClr val="F4F6FA"/>
                </a:solidFill>
                <a:latin typeface="Arial"/>
              </a:defRPr>
            </a:pPr>
            <a:r>
              <a:t>action.</a:t>
            </a:r>
          </a:p>
          <a:p>
            <a:pPr>
              <a:lnSpc>
                <a:spcPts val="2000"/>
              </a:lnSpc>
              <a:spcBef>
                <a:spcPts val="0"/>
              </a:spcBef>
              <a:spcAft>
                <a:spcPts val="0"/>
              </a:spcAft>
              <a:defRPr sz="1600" b="0">
                <a:solidFill>
                  <a:srgbClr val="F4F6FA"/>
                </a:solidFill>
                <a:latin typeface="Arial"/>
              </a:defRPr>
            </a:pPr>
            <a:r>
              <a:t>Réutilisation du retrieval.</a:t>
            </a:r>
          </a:p>
          <a:p>
            <a:pPr>
              <a:lnSpc>
                <a:spcPts val="2000"/>
              </a:lnSpc>
              <a:spcBef>
                <a:spcPts val="0"/>
              </a:spcBef>
              <a:spcAft>
                <a:spcPts val="0"/>
              </a:spcAft>
              <a:defRPr sz="1600" b="0">
                <a:solidFill>
                  <a:srgbClr val="F4F6FA"/>
                </a:solidFill>
                <a:latin typeface="Arial"/>
              </a:defRPr>
            </a:pPr>
            <a:r>
              <a:t>Images locales.</a:t>
            </a:r>
          </a:p>
          <a:p>
            <a:pPr>
              <a:lnSpc>
                <a:spcPts val="2000"/>
              </a:lnSpc>
              <a:spcBef>
                <a:spcPts val="0"/>
              </a:spcBef>
              <a:spcAft>
                <a:spcPts val="0"/>
              </a:spcAft>
              <a:defRPr sz="1600" b="0">
                <a:solidFill>
                  <a:srgbClr val="F4F6FA"/>
                </a:solidFill>
                <a:latin typeface="Arial"/>
              </a:defRPr>
            </a:pPr>
            <a:r>
              <a:t>Poids et consommation à mesurer.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présence d’attributs ARIA ne suffit pas à valider l’accessibilité réelle.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docs/block3/product-quality-audit.md ; ProductQualityTemplateTests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C18 · CONTRÔLES AUTOMATISÉS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44 tests ciblés réussis sur le bloc applicatif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Vérifications locales du 14 septembre 2026.</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LOT EXÉCUTÉ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et isolation.</a:t>
            </a:r>
          </a:p>
          <a:p>
            <a:pPr>
              <a:lnSpc>
                <a:spcPts val="2000"/>
              </a:lnSpc>
              <a:spcBef>
                <a:spcPts val="0"/>
              </a:spcBef>
              <a:spcAft>
                <a:spcPts val="0"/>
              </a:spcAft>
              <a:defRPr sz="1600" b="0">
                <a:solidFill>
                  <a:srgbClr val="F4F6FA"/>
                </a:solidFill>
                <a:latin typeface="Arial"/>
              </a:defRPr>
            </a:pPr>
            <a:r>
              <a:t>Sécurité des requêtes.</a:t>
            </a:r>
          </a:p>
          <a:p>
            <a:pPr>
              <a:lnSpc>
                <a:spcPts val="2000"/>
              </a:lnSpc>
              <a:spcBef>
                <a:spcPts val="0"/>
              </a:spcBef>
              <a:spcAft>
                <a:spcPts val="0"/>
              </a:spcAft>
              <a:defRPr sz="1600" b="0">
                <a:solidFill>
                  <a:srgbClr val="F4F6FA"/>
                </a:solidFill>
                <a:latin typeface="Arial"/>
              </a:defRPr>
            </a:pPr>
            <a:r>
              <a:t>Templates et parcours simulé.</a:t>
            </a:r>
          </a:p>
          <a:p>
            <a:pPr>
              <a:lnSpc>
                <a:spcPts val="2000"/>
              </a:lnSpc>
              <a:spcBef>
                <a:spcPts val="0"/>
              </a:spcBef>
              <a:spcAft>
                <a:spcPts val="0"/>
              </a:spcAft>
              <a:defRPr sz="1600" b="0">
                <a:solidFill>
                  <a:srgbClr val="F4F6FA"/>
                </a:solidFill>
                <a:latin typeface="Arial"/>
              </a:defRPr>
            </a:pPr>
            <a:r>
              <a:t>Sauvegardes, personnages,</a:t>
            </a:r>
          </a:p>
          <a:p>
            <a:pPr>
              <a:lnSpc>
                <a:spcPts val="2000"/>
              </a:lnSpc>
              <a:spcBef>
                <a:spcPts val="0"/>
              </a:spcBef>
              <a:spcAft>
                <a:spcPts val="0"/>
              </a:spcAft>
              <a:defRPr sz="1600" b="0">
                <a:solidFill>
                  <a:srgbClr val="F4F6FA"/>
                </a:solidFill>
                <a:latin typeface="Arial"/>
              </a:defRPr>
            </a:pPr>
            <a:r>
              <a:t>métriques.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MIGRATIONS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makemigrations --check</a:t>
            </a:r>
          </a:p>
          <a:p>
            <a:pPr>
              <a:lnSpc>
                <a:spcPts val="2000"/>
              </a:lnSpc>
              <a:spcBef>
                <a:spcPts val="0"/>
              </a:spcBef>
              <a:spcAft>
                <a:spcPts val="0"/>
              </a:spcAft>
              <a:defRPr sz="1600" b="0">
                <a:solidFill>
                  <a:srgbClr val="F4F6FA"/>
                </a:solidFill>
                <a:latin typeface="Arial"/>
              </a:defRPr>
            </a:pPr>
            <a:r>
              <a:t>--dry-run</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Aucun changement détecté.</a:t>
            </a:r>
          </a:p>
          <a:p>
            <a:pPr>
              <a:lnSpc>
                <a:spcPts val="2000"/>
              </a:lnSpc>
              <a:spcBef>
                <a:spcPts val="0"/>
              </a:spcBef>
              <a:spcAft>
                <a:spcPts val="0"/>
              </a:spcAft>
              <a:defRPr sz="1600" b="0">
                <a:solidFill>
                  <a:srgbClr val="F4F6FA"/>
                </a:solidFill>
                <a:latin typeface="Arial"/>
              </a:defRPr>
            </a:pPr>
            <a:r>
              <a:t>Aucune migration créée.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 VERSIONNÉE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 push main / master, manuel.</a:t>
            </a:r>
          </a:p>
          <a:p>
            <a:pPr>
              <a:lnSpc>
                <a:spcPts val="2000"/>
              </a:lnSpc>
              <a:spcBef>
                <a:spcPts val="0"/>
              </a:spcBef>
              <a:spcAft>
                <a:spcPts val="0"/>
              </a:spcAft>
              <a:defRPr sz="1600" b="0">
                <a:solidFill>
                  <a:srgbClr val="F4F6FA"/>
                </a:solidFill>
                <a:latin typeface="Arial"/>
              </a:defRPr>
            </a:pPr>
            <a:r>
              <a:t>Lint, checks, tests et couverture.</a:t>
            </a:r>
          </a:p>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Résultats distants à joindre.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44 tests ne désignent ni la suite complète ni un pourcentage de couverture.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preuves/verification.md ; .github/workflows/block3-ci-cd.yml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C19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vérifier et conserver le même artefact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conteneur constitue l’unité de livraison prévue.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BUILD / SMOKE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Dockerfile Python 3.12.</a:t>
            </a:r>
          </a:p>
          <a:p>
            <a:pPr>
              <a:lnSpc>
                <a:spcPts val="2000"/>
              </a:lnSpc>
              <a:spcBef>
                <a:spcPts val="0"/>
              </a:spcBef>
              <a:spcAft>
                <a:spcPts val="0"/>
              </a:spcAft>
              <a:defRPr sz="1600" b="0">
                <a:solidFill>
                  <a:srgbClr val="F4F6FA"/>
                </a:solidFill>
                <a:latin typeface="Arial"/>
              </a:defRPr>
            </a:pPr>
            <a:r>
              <a:t>Installation verrouillée.</a:t>
            </a:r>
          </a:p>
          <a:p>
            <a:pPr>
              <a:lnSpc>
                <a:spcPts val="2000"/>
              </a:lnSpc>
              <a:spcBef>
                <a:spcPts val="0"/>
              </a:spcBef>
              <a:spcAft>
                <a:spcPts val="0"/>
              </a:spcAft>
              <a:defRPr sz="1600" b="0">
                <a:solidFill>
                  <a:srgbClr val="F4F6FA"/>
                </a:solidFill>
                <a:latin typeface="Arial"/>
              </a:defRPr>
            </a:pPr>
            <a:r>
              <a:t>Démarrage Gunicorn.</a:t>
            </a:r>
          </a:p>
          <a:p>
            <a:pPr>
              <a:lnSpc>
                <a:spcPts val="2000"/>
              </a:lnSpc>
              <a:spcBef>
                <a:spcPts val="0"/>
              </a:spcBef>
              <a:spcAft>
                <a:spcPts val="0"/>
              </a:spcAft>
              <a:defRPr sz="1600" b="0">
                <a:solidFill>
                  <a:srgbClr val="F4F6FA"/>
                </a:solidFill>
                <a:latin typeface="Arial"/>
              </a:defRPr>
            </a:pPr>
            <a:r>
              <a:t>Image taguée SHA, test /health</a:t>
            </a:r>
          </a:p>
          <a:p>
            <a:pPr>
              <a:lnSpc>
                <a:spcPts val="2000"/>
              </a:lnSpc>
              <a:spcBef>
                <a:spcPts val="0"/>
              </a:spcBef>
              <a:spcAft>
                <a:spcPts val="0"/>
              </a:spcAft>
              <a:defRPr sz="1600" b="0">
                <a:solidFill>
                  <a:srgbClr val="F4F6FA"/>
                </a:solidFill>
                <a:latin typeface="Arial"/>
              </a:defRPr>
            </a:pPr>
            <a:r>
              <a:t>puis export tar en CI.</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par environnement.</a:t>
            </a:r>
          </a:p>
          <a:p>
            <a:pPr>
              <a:lnSpc>
                <a:spcPts val="2000"/>
              </a:lnSpc>
              <a:spcBef>
                <a:spcPts val="0"/>
              </a:spcBef>
              <a:spcAft>
                <a:spcPts val="0"/>
              </a:spcAft>
              <a:defRPr sz="1600" b="0">
                <a:solidFill>
                  <a:srgbClr val="F4F6FA"/>
                </a:solidFill>
                <a:latin typeface="Arial"/>
              </a:defRPr>
            </a:pPr>
            <a:r>
              <a:t>Données persistantes à prévoir.</a:t>
            </a:r>
          </a:p>
          <a:p>
            <a:pPr>
              <a:lnSpc>
                <a:spcPts val="2000"/>
              </a:lnSpc>
              <a:spcBef>
                <a:spcPts val="0"/>
              </a:spcBef>
              <a:spcAft>
                <a:spcPts val="0"/>
              </a:spcAft>
              <a:defRPr sz="1600" b="0">
                <a:solidFill>
                  <a:srgbClr val="F4F6FA"/>
                </a:solidFill>
                <a:latin typeface="Arial"/>
              </a:defRPr>
            </a:pPr>
            <a:r>
              <a:t>Migrations au démarrage local.</a:t>
            </a:r>
          </a:p>
          <a:p>
            <a:pPr>
              <a:lnSpc>
                <a:spcPts val="2000"/>
              </a:lnSpc>
              <a:spcBef>
                <a:spcPts val="0"/>
              </a:spcBef>
              <a:spcAft>
                <a:spcPts val="0"/>
              </a:spcAft>
              <a:defRPr sz="1600" b="0">
                <a:solidFill>
                  <a:srgbClr val="F4F6FA"/>
                </a:solidFill>
                <a:latin typeface="Arial"/>
              </a:defRPr>
            </a:pPr>
            <a:r>
              <a:t>Étape de release à contrôler en</a:t>
            </a:r>
          </a:p>
          <a:p>
            <a:pPr>
              <a:lnSpc>
                <a:spcPts val="2000"/>
              </a:lnSpc>
              <a:spcBef>
                <a:spcPts val="0"/>
              </a:spcBef>
              <a:spcAft>
                <a:spcPts val="0"/>
              </a:spcAft>
              <a:defRPr sz="1600" b="0">
                <a:solidFill>
                  <a:srgbClr val="F4F6FA"/>
                </a:solidFill>
                <a:latin typeface="Arial"/>
              </a:defRPr>
            </a:pPr>
            <a:r>
              <a:t>production.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 / RETOUR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Déployer le digest vérifié.</a:t>
            </a:r>
          </a:p>
          <a:p>
            <a:pPr>
              <a:lnSpc>
                <a:spcPts val="2000"/>
              </a:lnSpc>
              <a:spcBef>
                <a:spcPts val="0"/>
              </a:spcBef>
              <a:spcAft>
                <a:spcPts val="0"/>
              </a:spcAft>
              <a:defRPr sz="1600" b="0">
                <a:solidFill>
                  <a:srgbClr val="F4F6FA"/>
                </a:solidFill>
                <a:latin typeface="Arial"/>
              </a:defRPr>
            </a:pPr>
            <a:r>
              <a:t>Conserver l’image précédente.</a:t>
            </a:r>
          </a:p>
          <a:p>
            <a:pPr>
              <a:lnSpc>
                <a:spcPts val="2000"/>
              </a:lnSpc>
              <a:spcBef>
                <a:spcPts val="0"/>
              </a:spcBef>
              <a:spcAft>
                <a:spcPts val="0"/>
              </a:spcAft>
              <a:defRPr sz="1600" b="0">
                <a:solidFill>
                  <a:srgbClr val="F4F6FA"/>
                </a:solidFill>
                <a:latin typeface="Arial"/>
              </a:defRPr>
            </a:pPr>
            <a:r>
              <a:t>Contrôler la compatibilité DB.</a:t>
            </a:r>
          </a:p>
          <a:p>
            <a:pPr>
              <a:lnSpc>
                <a:spcPts val="2000"/>
              </a:lnSpc>
              <a:spcBef>
                <a:spcPts val="0"/>
              </a:spcBef>
              <a:spcAft>
                <a:spcPts val="0"/>
              </a:spcAft>
              <a:defRPr sz="1600" b="0">
                <a:solidFill>
                  <a:srgbClr val="F4F6FA"/>
                </a:solidFill>
                <a:latin typeface="Arial"/>
              </a:defRPr>
            </a:pPr>
            <a:r>
              <a:t>Rejouer santé et parcours.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job staging est un placeholder : il ne déploie pas encore l’application.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.github/workflows/block3-ci-cd.yml ; Dockerfile ; docs/block3/ci-cd-delivery.md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le parcours, puis les garanties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préparée : 1 min 40, dans un environnement de démonstration.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00:00 → 00:35</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une aventure et un</a:t>
            </a:r>
          </a:p>
          <a:p>
            <a:pPr>
              <a:lnSpc>
                <a:spcPts val="2000"/>
              </a:lnSpc>
              <a:spcBef>
                <a:spcPts val="0"/>
              </a:spcBef>
              <a:spcAft>
                <a:spcPts val="0"/>
              </a:spcAft>
              <a:defRPr sz="1600" b="0">
                <a:solidFill>
                  <a:srgbClr val="F4F6FA"/>
                </a:solidFill>
                <a:latin typeface="Arial"/>
              </a:defRPr>
            </a:pPr>
            <a:r>
              <a:t>personnage déjà prêts.</a:t>
            </a:r>
          </a:p>
          <a:p>
            <a:pPr>
              <a:lnSpc>
                <a:spcPts val="2000"/>
              </a:lnSpc>
              <a:spcBef>
                <a:spcPts val="0"/>
              </a:spcBef>
              <a:spcAft>
                <a:spcPts val="0"/>
              </a:spcAft>
              <a:defRPr sz="1600" b="0">
                <a:solidFill>
                  <a:srgbClr val="F4F6FA"/>
                </a:solidFill>
                <a:latin typeface="Arial"/>
              </a:defRPr>
            </a:pPr>
            <a:r>
              <a:t>Afficher récit et choix.</a:t>
            </a:r>
          </a:p>
          <a:p>
            <a:pPr>
              <a:lnSpc>
                <a:spcPts val="2000"/>
              </a:lnSpc>
              <a:spcBef>
                <a:spcPts val="0"/>
              </a:spcBef>
              <a:spcAft>
                <a:spcPts val="0"/>
              </a:spcAft>
              <a:defRPr sz="1600" b="0">
                <a:solidFill>
                  <a:srgbClr val="F4F6FA"/>
                </a:solidFill>
                <a:latin typeface="Arial"/>
              </a:defRPr>
            </a:pPr>
            <a:r>
              <a:t>Exécuter une action de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00:35 → 01:10</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une sauvegarde du</a:t>
            </a:r>
          </a:p>
          <a:p>
            <a:pPr>
              <a:lnSpc>
                <a:spcPts val="2000"/>
              </a:lnSpc>
              <a:spcBef>
                <a:spcPts val="0"/>
              </a:spcBef>
              <a:spcAft>
                <a:spcPts val="0"/>
              </a:spcAft>
              <a:defRPr sz="1600" b="0">
                <a:solidFill>
                  <a:srgbClr val="F4F6FA"/>
                </a:solidFill>
                <a:latin typeface="Arial"/>
              </a:defRPr>
            </a:pPr>
            <a:r>
              <a:t>compte de test et sa reprise.</a:t>
            </a:r>
          </a:p>
          <a:p>
            <a:pPr>
              <a:lnSpc>
                <a:spcPts val="2000"/>
              </a:lnSpc>
              <a:spcBef>
                <a:spcPts val="0"/>
              </a:spcBef>
              <a:spcAft>
                <a:spcPts val="0"/>
              </a:spcAft>
              <a:defRPr sz="1600" b="0">
                <a:solidFill>
                  <a:srgbClr val="F4F6FA"/>
                </a:solidFill>
                <a:latin typeface="Arial"/>
              </a:defRPr>
            </a:pPr>
            <a:r>
              <a:t>Présenter le résultat du test de</a:t>
            </a:r>
          </a:p>
          <a:p>
            <a:pPr>
              <a:lnSpc>
                <a:spcPts val="2000"/>
              </a:lnSpc>
              <a:spcBef>
                <a:spcPts val="0"/>
              </a:spcBef>
              <a:spcAft>
                <a:spcPts val="0"/>
              </a:spcAft>
              <a:defRPr sz="1600" b="0">
                <a:solidFill>
                  <a:srgbClr val="F4F6FA"/>
                </a:solidFill>
                <a:latin typeface="Arial"/>
              </a:defRPr>
            </a:pPr>
            <a:r>
              <a:t>propriété.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01:10 → 01:40</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les résultats locaux et le</a:t>
            </a:r>
          </a:p>
          <a:p>
            <a:pPr>
              <a:lnSpc>
                <a:spcPts val="2000"/>
              </a:lnSpc>
              <a:spcBef>
                <a:spcPts val="0"/>
              </a:spcBef>
              <a:spcAft>
                <a:spcPts val="0"/>
              </a:spcAft>
              <a:defRPr sz="1600" b="0">
                <a:solidFill>
                  <a:srgbClr val="F4F6FA"/>
                </a:solidFill>
                <a:latin typeface="Arial"/>
              </a:defRPr>
            </a:pPr>
            <a:r>
              <a:t>workflow.</a:t>
            </a:r>
          </a:p>
          <a:p>
            <a:pPr>
              <a:lnSpc>
                <a:spcPts val="2000"/>
              </a:lnSpc>
              <a:spcBef>
                <a:spcPts val="0"/>
              </a:spcBef>
              <a:spcAft>
                <a:spcPts val="0"/>
              </a:spcAft>
              <a:defRPr sz="1600" b="0">
                <a:solidFill>
                  <a:srgbClr val="F4F6FA"/>
                </a:solidFill>
                <a:latin typeface="Arial"/>
              </a:defRPr>
            </a:pPr>
            <a:r>
              <a:t>Nommer les preuves manquantes.</a:t>
            </a:r>
          </a:p>
          <a:p>
            <a:pPr>
              <a:lnSpc>
                <a:spcPts val="2000"/>
              </a:lnSpc>
              <a:spcBef>
                <a:spcPts val="0"/>
              </a:spcBef>
              <a:spcAft>
                <a:spcPts val="0"/>
              </a:spcAft>
              <a:defRPr sz="1600" b="0">
                <a:solidFill>
                  <a:srgbClr val="F4F6FA"/>
                </a:solidFill>
                <a:latin typeface="Arial"/>
              </a:defRPr>
            </a:pPr>
            <a:r>
              <a:t>Introduire le cas d’incident E5.</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Prévoir une capture de secours ; annoncer toute simulation utilisée.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docs/block3/traceability.md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CAS D’ALTERNANCE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Fiabiliser l’ingestion ServiceNow vers ClickHouse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Incident décrit par le candidat ; pièces techniques de résolution à joindre.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SYMPTÔME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Erreurs répétées de validation de</a:t>
            </a:r>
          </a:p>
          <a:p>
            <a:pPr>
              <a:lnSpc>
                <a:spcPts val="2000"/>
              </a:lnSpc>
              <a:spcBef>
                <a:spcPts val="0"/>
              </a:spcBef>
              <a:spcAft>
                <a:spcPts val="0"/>
              </a:spcAft>
              <a:defRPr sz="1600" b="0">
                <a:solidFill>
                  <a:srgbClr val="F4F6FA"/>
                </a:solidFill>
                <a:latin typeface="Arial"/>
              </a:defRPr>
            </a:pPr>
            <a:r>
              <a:t>types pendant l’ingestion des</a:t>
            </a:r>
          </a:p>
          <a:p>
            <a:pPr>
              <a:lnSpc>
                <a:spcPts val="2000"/>
              </a:lnSpc>
              <a:spcBef>
                <a:spcPts val="0"/>
              </a:spcBef>
              <a:spcAft>
                <a:spcPts val="0"/>
              </a:spcAft>
              <a:defRPr sz="1600" b="0">
                <a:solidFill>
                  <a:srgbClr val="F4F6FA"/>
                </a:solidFill>
                <a:latin typeface="Arial"/>
              </a:defRPr>
            </a:pPr>
            <a:r>
              <a:t>données ServiceNow.</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CAUSE IDENTIFIÉE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Dans ce flux, les lignes issues de</a:t>
            </a:r>
          </a:p>
          <a:p>
            <a:pPr>
              <a:lnSpc>
                <a:spcPts val="2000"/>
              </a:lnSpc>
              <a:spcBef>
                <a:spcPts val="0"/>
              </a:spcBef>
              <a:spcAft>
                <a:spcPts val="0"/>
              </a:spcAft>
              <a:defRPr sz="1600" b="0">
                <a:solidFill>
                  <a:srgbClr val="F4F6FA"/>
                </a:solidFill>
                <a:latin typeface="Arial"/>
              </a:defRPr>
            </a:pPr>
            <a:r>
              <a:t>XML apportent des chaînes brutes</a:t>
            </a:r>
          </a:p>
          <a:p>
            <a:pPr>
              <a:lnSpc>
                <a:spcPts val="2000"/>
              </a:lnSpc>
              <a:spcBef>
                <a:spcPts val="0"/>
              </a:spcBef>
              <a:spcAft>
                <a:spcPts val="0"/>
              </a:spcAft>
              <a:defRPr sz="1600" b="0">
                <a:solidFill>
                  <a:srgbClr val="F4F6FA"/>
                </a:solidFill>
                <a:latin typeface="Arial"/>
              </a:defRPr>
            </a:pPr>
            <a:r>
              <a:t>non adaptées aux types attendus.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CORRECTION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Développement d’un système de</a:t>
            </a:r>
          </a:p>
          <a:p>
            <a:pPr>
              <a:lnSpc>
                <a:spcPts val="2000"/>
              </a:lnSpc>
              <a:spcBef>
                <a:spcPts val="0"/>
              </a:spcBef>
              <a:spcAft>
                <a:spcPts val="0"/>
              </a:spcAft>
              <a:defRPr sz="1600" b="0">
                <a:solidFill>
                  <a:srgbClr val="F4F6FA"/>
                </a:solidFill>
                <a:latin typeface="Arial"/>
              </a:defRPr>
            </a:pPr>
            <a:r>
              <a:t>validation et de conversion vers les</a:t>
            </a:r>
          </a:p>
          <a:p>
            <a:pPr>
              <a:lnSpc>
                <a:spcPts val="2000"/>
              </a:lnSpc>
              <a:spcBef>
                <a:spcPts val="0"/>
              </a:spcBef>
              <a:spcAft>
                <a:spcPts val="0"/>
              </a:spcAft>
              <a:defRPr sz="1600" b="0">
                <a:solidFill>
                  <a:srgbClr val="F4F6FA"/>
                </a:solidFill>
                <a:latin typeface="Arial"/>
              </a:defRPr>
            </a:pPr>
            <a:r>
              <a:t>types de données attendus.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Cas data professionnel : son adéquation au contexte applicatif IA d’E5 reste à établir.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SURVEILLANCE À DOCUMENTER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Identifier le signal qui révèle l’échec d’ingestion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dispositif réel de détection de l’entreprise reste à préciser.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OBSERVATION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Bugs de validation de types</a:t>
            </a:r>
          </a:p>
          <a:p>
            <a:pPr>
              <a:lnSpc>
                <a:spcPts val="2000"/>
              </a:lnSpc>
              <a:spcBef>
                <a:spcPts val="0"/>
              </a:spcBef>
              <a:spcAft>
                <a:spcPts val="0"/>
              </a:spcAft>
              <a:defRPr sz="1600" b="0">
                <a:solidFill>
                  <a:srgbClr val="F4F6FA"/>
                </a:solidFill>
                <a:latin typeface="Arial"/>
              </a:defRPr>
            </a:pPr>
            <a:r>
              <a:t>constatés pendant l’ingestion.</a:t>
            </a:r>
          </a:p>
          <a:p>
            <a:pPr>
              <a:lnSpc>
                <a:spcPts val="2000"/>
              </a:lnSpc>
              <a:spcBef>
                <a:spcPts val="0"/>
              </a:spcBef>
              <a:spcAft>
                <a:spcPts val="0"/>
              </a:spcAft>
              <a:defRPr sz="1600" b="0">
                <a:solidFill>
                  <a:srgbClr val="F4F6FA"/>
                </a:solidFill>
                <a:latin typeface="Arial"/>
              </a:defRPr>
            </a:pPr>
            <a:r>
              <a:t>Joindre un message d’erreur réel</a:t>
            </a:r>
          </a:p>
          <a:p>
            <a:pPr>
              <a:lnSpc>
                <a:spcPts val="2000"/>
              </a:lnSpc>
              <a:spcBef>
                <a:spcPts val="0"/>
              </a:spcBef>
              <a:spcAft>
                <a:spcPts val="0"/>
              </a:spcAft>
              <a:defRPr sz="1600" b="0">
                <a:solidFill>
                  <a:srgbClr val="F4F6FA"/>
                </a:solidFill>
                <a:latin typeface="Arial"/>
              </a:defRPr>
            </a:pPr>
            <a:r>
              <a:t>et anonymisé.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CONTEXTE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Table concernée.</a:t>
            </a:r>
          </a:p>
          <a:p>
            <a:pPr>
              <a:lnSpc>
                <a:spcPts val="2000"/>
              </a:lnSpc>
              <a:spcBef>
                <a:spcPts val="0"/>
              </a:spcBef>
              <a:spcAft>
                <a:spcPts val="0"/>
              </a:spcAft>
              <a:defRPr sz="1600" b="0">
                <a:solidFill>
                  <a:srgbClr val="F4F6FA"/>
                </a:solidFill>
                <a:latin typeface="Arial"/>
              </a:defRPr>
            </a:pPr>
            <a:r>
              <a:t>Étape du DAG.</a:t>
            </a:r>
          </a:p>
          <a:p>
            <a:pPr>
              <a:lnSpc>
                <a:spcPts val="2000"/>
              </a:lnSpc>
              <a:spcBef>
                <a:spcPts val="0"/>
              </a:spcBef>
              <a:spcAft>
                <a:spcPts val="0"/>
              </a:spcAft>
              <a:defRPr sz="1600" b="0">
                <a:solidFill>
                  <a:srgbClr val="F4F6FA"/>
                </a:solidFill>
                <a:latin typeface="Arial"/>
              </a:defRPr>
            </a:pPr>
            <a:r>
              <a:t>Champ et type attendus.</a:t>
            </a:r>
          </a:p>
          <a:p>
            <a:pPr>
              <a:lnSpc>
                <a:spcPts val="2000"/>
              </a:lnSpc>
              <a:spcBef>
                <a:spcPts val="0"/>
              </a:spcBef>
              <a:spcAft>
                <a:spcPts val="0"/>
              </a:spcAft>
              <a:defRPr sz="1600" b="0">
                <a:solidFill>
                  <a:srgbClr val="F4F6FA"/>
                </a:solidFill>
                <a:latin typeface="Arial"/>
              </a:defRPr>
            </a:pPr>
            <a:r>
              <a:t>Valeur ou forme d’entrée</a:t>
            </a:r>
          </a:p>
          <a:p>
            <a:pPr>
              <a:lnSpc>
                <a:spcPts val="2000"/>
              </a:lnSpc>
              <a:spcBef>
                <a:spcPts val="0"/>
              </a:spcBef>
              <a:spcAft>
                <a:spcPts val="0"/>
              </a:spcAft>
              <a:defRPr sz="1600" b="0">
                <a:solidFill>
                  <a:srgbClr val="F4F6FA"/>
                </a:solidFill>
                <a:latin typeface="Arial"/>
              </a:defRPr>
            </a:pPr>
            <a:r>
              <a:t>impliquée.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DÉTECTION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Préciser comment le défaut a été</a:t>
            </a:r>
          </a:p>
          <a:p>
            <a:pPr>
              <a:lnSpc>
                <a:spcPts val="2000"/>
              </a:lnSpc>
              <a:spcBef>
                <a:spcPts val="0"/>
              </a:spcBef>
              <a:spcAft>
                <a:spcPts val="0"/>
              </a:spcAft>
              <a:defRPr sz="1600" b="0">
                <a:solidFill>
                  <a:srgbClr val="F4F6FA"/>
                </a:solidFill>
                <a:latin typeface="Arial"/>
              </a:defRPr>
            </a:pPr>
            <a:r>
              <a:t>détecté : run, logs, alerte ou</a:t>
            </a:r>
          </a:p>
          <a:p>
            <a:pPr>
              <a:lnSpc>
                <a:spcPts val="2000"/>
              </a:lnSpc>
              <a:spcBef>
                <a:spcPts val="0"/>
              </a:spcBef>
              <a:spcAft>
                <a:spcPts val="0"/>
              </a:spcAft>
              <a:defRPr sz="1600" b="0">
                <a:solidFill>
                  <a:srgbClr val="F4F6FA"/>
                </a:solidFill>
                <a:latin typeface="Arial"/>
              </a:defRPr>
            </a:pPr>
            <a:r>
              <a:t>signalement.</a:t>
            </a:r>
          </a:p>
          <a:p>
            <a:pPr>
              <a:lnSpc>
                <a:spcPts val="2000"/>
              </a:lnSpc>
              <a:spcBef>
                <a:spcPts val="0"/>
              </a:spcBef>
              <a:spcAft>
                <a:spcPts val="0"/>
              </a:spcAft>
              <a:defRPr sz="1600" b="0">
                <a:solidFill>
                  <a:srgbClr val="F4F6FA"/>
                </a:solidFill>
                <a:latin typeface="Arial"/>
              </a:defRPr>
            </a:pPr>
            <a:r>
              <a:t>Ne pas inventer d’alerte.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présence d’Airflow ne prouve pas une chaîne d’alerting opérationnelle.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CONTRÔLES PROPOSÉS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Suivre le succès et la qualité de l’alimentation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Signaux à documenter ou à ajouter ; pas de seuils entreprise fournis.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EXÉCUTION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État et durée du DAG.</a:t>
            </a:r>
          </a:p>
          <a:p>
            <a:pPr>
              <a:lnSpc>
                <a:spcPts val="2000"/>
              </a:lnSpc>
              <a:spcBef>
                <a:spcPts val="0"/>
              </a:spcBef>
              <a:spcAft>
                <a:spcPts val="0"/>
              </a:spcAft>
              <a:defRPr sz="1600" b="0">
                <a:solidFill>
                  <a:srgbClr val="F4F6FA"/>
                </a:solidFill>
                <a:latin typeface="Arial"/>
              </a:defRPr>
            </a:pPr>
            <a:r>
              <a:t>Retard de la donnée.</a:t>
            </a:r>
          </a:p>
          <a:p>
            <a:pPr>
              <a:lnSpc>
                <a:spcPts val="2000"/>
              </a:lnSpc>
              <a:spcBef>
                <a:spcPts val="0"/>
              </a:spcBef>
              <a:spcAft>
                <a:spcPts val="0"/>
              </a:spcAft>
              <a:defRPr sz="1600" b="0">
                <a:solidFill>
                  <a:srgbClr val="F4F6FA"/>
                </a:solidFill>
                <a:latin typeface="Arial"/>
              </a:defRPr>
            </a:pPr>
            <a:r>
              <a:t>Fenêtre réellement traitée.</a:t>
            </a:r>
          </a:p>
          <a:p>
            <a:pPr>
              <a:lnSpc>
                <a:spcPts val="2000"/>
              </a:lnSpc>
              <a:spcBef>
                <a:spcPts val="0"/>
              </a:spcBef>
              <a:spcAft>
                <a:spcPts val="0"/>
              </a:spcAft>
              <a:defRPr sz="1600" b="0">
                <a:solidFill>
                  <a:srgbClr val="F4F6FA"/>
                </a:solidFill>
                <a:latin typeface="Arial"/>
              </a:defRPr>
            </a:pPr>
            <a:r>
              <a:t>Reprises éventuelles.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Échecs de conversion.</a:t>
            </a:r>
          </a:p>
          <a:p>
            <a:pPr>
              <a:lnSpc>
                <a:spcPts val="2000"/>
              </a:lnSpc>
              <a:spcBef>
                <a:spcPts val="0"/>
              </a:spcBef>
              <a:spcAft>
                <a:spcPts val="0"/>
              </a:spcAft>
              <a:defRPr sz="1600" b="0">
                <a:solidFill>
                  <a:srgbClr val="F4F6FA"/>
                </a:solidFill>
                <a:latin typeface="Arial"/>
              </a:defRPr>
            </a:pPr>
            <a:r>
              <a:t>Lignes acceptées / invalides.</a:t>
            </a:r>
          </a:p>
          <a:p>
            <a:pPr>
              <a:lnSpc>
                <a:spcPts val="2000"/>
              </a:lnSpc>
              <a:spcBef>
                <a:spcPts val="0"/>
              </a:spcBef>
              <a:spcAft>
                <a:spcPts val="0"/>
              </a:spcAft>
              <a:defRPr sz="1600" b="0">
                <a:solidFill>
                  <a:srgbClr val="F4F6FA"/>
                </a:solidFill>
                <a:latin typeface="Arial"/>
              </a:defRPr>
            </a:pPr>
            <a:r>
              <a:t>Champs et colonnes nouveaux.</a:t>
            </a:r>
          </a:p>
          <a:p>
            <a:pPr>
              <a:lnSpc>
                <a:spcPts val="2000"/>
              </a:lnSpc>
              <a:spcBef>
                <a:spcPts val="0"/>
              </a:spcBef>
              <a:spcAft>
                <a:spcPts val="0"/>
              </a:spcAft>
              <a:defRPr sz="1600" b="0">
                <a:solidFill>
                  <a:srgbClr val="F4F6FA"/>
                </a:solidFill>
                <a:latin typeface="Arial"/>
              </a:defRPr>
            </a:pPr>
            <a:r>
              <a:t>Écarts de schéma.</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RÉACTION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Seuils et destinataire réels.</a:t>
            </a:r>
          </a:p>
          <a:p>
            <a:pPr>
              <a:lnSpc>
                <a:spcPts val="2000"/>
              </a:lnSpc>
              <a:spcBef>
                <a:spcPts val="0"/>
              </a:spcBef>
              <a:spcAft>
                <a:spcPts val="0"/>
              </a:spcAft>
              <a:defRPr sz="1600" b="0">
                <a:solidFill>
                  <a:srgbClr val="F4F6FA"/>
                </a:solidFill>
                <a:latin typeface="Arial"/>
              </a:defRPr>
            </a:pPr>
            <a:r>
              <a:t>Procédure de diagnostic.</a:t>
            </a:r>
          </a:p>
          <a:p>
            <a:pPr>
              <a:lnSpc>
                <a:spcPts val="2000"/>
              </a:lnSpc>
              <a:spcBef>
                <a:spcPts val="0"/>
              </a:spcBef>
              <a:spcAft>
                <a:spcPts val="0"/>
              </a:spcAft>
              <a:defRPr sz="1600" b="0">
                <a:solidFill>
                  <a:srgbClr val="F4F6FA"/>
                </a:solidFill>
                <a:latin typeface="Arial"/>
              </a:defRPr>
            </a:pPr>
            <a:r>
              <a:t>Preuve d’une détection puis d’une</a:t>
            </a:r>
          </a:p>
          <a:p>
            <a:pPr>
              <a:lnSpc>
                <a:spcPts val="2000"/>
              </a:lnSpc>
              <a:spcBef>
                <a:spcPts val="0"/>
              </a:spcBef>
              <a:spcAft>
                <a:spcPts val="0"/>
              </a:spcAft>
              <a:defRPr sz="1600" b="0">
                <a:solidFill>
                  <a:srgbClr val="F4F6FA"/>
                </a:solidFill>
                <a:latin typeface="Arial"/>
              </a:defRPr>
            </a:pPr>
            <a:r>
              <a:t>résolution.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contrôles sont proposés ; leur présence et leurs valeurs ne sont pas affirmées.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REPRODUCTION À JOINDRE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Isoler une ligne qui déclenche l’erreur de type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Construire la preuve à partir du cas réel rencontré.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 RÉELLE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extrait XML anonymisé.</a:t>
            </a:r>
          </a:p>
          <a:p>
            <a:pPr>
              <a:lnSpc>
                <a:spcPts val="2000"/>
              </a:lnSpc>
              <a:spcBef>
                <a:spcPts val="0"/>
              </a:spcBef>
              <a:spcAft>
                <a:spcPts val="0"/>
              </a:spcAft>
              <a:defRPr sz="1600" b="0">
                <a:solidFill>
                  <a:srgbClr val="F4F6FA"/>
                </a:solidFill>
                <a:latin typeface="Arial"/>
              </a:defRPr>
            </a:pPr>
            <a:r>
              <a:t>Une valeur brute problématique.</a:t>
            </a:r>
          </a:p>
          <a:p>
            <a:pPr>
              <a:lnSpc>
                <a:spcPts val="2000"/>
              </a:lnSpc>
              <a:spcBef>
                <a:spcPts val="0"/>
              </a:spcBef>
              <a:spcAft>
                <a:spcPts val="0"/>
              </a:spcAft>
              <a:defRPr sz="1600" b="0">
                <a:solidFill>
                  <a:srgbClr val="F4F6FA"/>
                </a:solidFill>
                <a:latin typeface="Arial"/>
              </a:defRPr>
            </a:pPr>
            <a:r>
              <a:t>Le champ concerné.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ATTENDU</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type prévu dans ClickHouse.</a:t>
            </a:r>
          </a:p>
          <a:p>
            <a:pPr>
              <a:lnSpc>
                <a:spcPts val="2000"/>
              </a:lnSpc>
              <a:spcBef>
                <a:spcPts val="0"/>
              </a:spcBef>
              <a:spcAft>
                <a:spcPts val="0"/>
              </a:spcAft>
              <a:defRPr sz="1600" b="0">
                <a:solidFill>
                  <a:srgbClr val="F4F6FA"/>
                </a:solidFill>
                <a:latin typeface="Arial"/>
              </a:defRPr>
            </a:pPr>
            <a:r>
              <a:t>La règle de conversion.</a:t>
            </a:r>
          </a:p>
          <a:p>
            <a:pPr>
              <a:lnSpc>
                <a:spcPts val="2000"/>
              </a:lnSpc>
              <a:spcBef>
                <a:spcPts val="0"/>
              </a:spcBef>
              <a:spcAft>
                <a:spcPts val="0"/>
              </a:spcAft>
              <a:defRPr sz="1600" b="0">
                <a:solidFill>
                  <a:srgbClr val="F4F6FA"/>
                </a:solidFill>
                <a:latin typeface="Arial"/>
              </a:defRPr>
            </a:pPr>
            <a:r>
              <a:t>La politique pour une valeur</a:t>
            </a:r>
          </a:p>
          <a:p>
            <a:pPr>
              <a:lnSpc>
                <a:spcPts val="2000"/>
              </a:lnSpc>
              <a:spcBef>
                <a:spcPts val="0"/>
              </a:spcBef>
              <a:spcAft>
                <a:spcPts val="0"/>
              </a:spcAft>
              <a:defRPr sz="1600" b="0">
                <a:solidFill>
                  <a:srgbClr val="F4F6FA"/>
                </a:solidFill>
                <a:latin typeface="Arial"/>
              </a:defRPr>
            </a:pPr>
            <a:r>
              <a:t>invalide.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OBSERVÉ AVANT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Message d’erreur de type.</a:t>
            </a:r>
          </a:p>
          <a:p>
            <a:pPr>
              <a:lnSpc>
                <a:spcPts val="2000"/>
              </a:lnSpc>
              <a:spcBef>
                <a:spcPts val="0"/>
              </a:spcBef>
              <a:spcAft>
                <a:spcPts val="0"/>
              </a:spcAft>
              <a:defRPr sz="1600" b="0">
                <a:solidFill>
                  <a:srgbClr val="F4F6FA"/>
                </a:solidFill>
                <a:latin typeface="Arial"/>
              </a:defRPr>
            </a:pPr>
            <a:r>
              <a:t>Étape et commande d’ingestion.</a:t>
            </a:r>
          </a:p>
          <a:p>
            <a:pPr>
              <a:lnSpc>
                <a:spcPts val="2000"/>
              </a:lnSpc>
              <a:spcBef>
                <a:spcPts val="0"/>
              </a:spcBef>
              <a:spcAft>
                <a:spcPts val="0"/>
              </a:spcAft>
              <a:defRPr sz="1600" b="0">
                <a:solidFill>
                  <a:srgbClr val="F4F6FA"/>
                </a:solidFill>
                <a:latin typeface="Arial"/>
              </a:defRPr>
            </a:pPr>
            <a:r>
              <a:t>Échantillon minimal reproductible.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reproduction n’a pas encore été exécutée dans ce dossier : la pièce réelle reste à joindre.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CAUSE RACINE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 format de transport ne porte pas les bons types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flux ServiceNow fournissait des chaînes issues de XML.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SOURCE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Dans l’intégration concernée :</a:t>
            </a:r>
          </a:p>
          <a:p>
            <a:pPr>
              <a:lnSpc>
                <a:spcPts val="2000"/>
              </a:lnSpc>
              <a:spcBef>
                <a:spcPts val="0"/>
              </a:spcBef>
              <a:spcAft>
                <a:spcPts val="0"/>
              </a:spcAft>
              <a:defRPr sz="1600" b="0">
                <a:solidFill>
                  <a:srgbClr val="F4F6FA"/>
                </a:solidFill>
                <a:latin typeface="Arial"/>
              </a:defRPr>
            </a:pPr>
            <a:r>
              <a:t>données représentées en XML,</a:t>
            </a:r>
          </a:p>
          <a:p>
            <a:pPr>
              <a:lnSpc>
                <a:spcPts val="2000"/>
              </a:lnSpc>
              <a:spcBef>
                <a:spcPts val="0"/>
              </a:spcBef>
              <a:spcAft>
                <a:spcPts val="0"/>
              </a:spcAft>
              <a:defRPr sz="1600" b="0">
                <a:solidFill>
                  <a:srgbClr val="F4F6FA"/>
                </a:solidFill>
                <a:latin typeface="Arial"/>
              </a:defRPr>
            </a:pPr>
            <a:r>
              <a:t>lues comme chaînes brutes.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ÉCART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Les valeurs transmises ne</a:t>
            </a:r>
          </a:p>
          <a:p>
            <a:pPr>
              <a:lnSpc>
                <a:spcPts val="2000"/>
              </a:lnSpc>
              <a:spcBef>
                <a:spcPts val="0"/>
              </a:spcBef>
              <a:spcAft>
                <a:spcPts val="0"/>
              </a:spcAft>
              <a:defRPr sz="1600" b="0">
                <a:solidFill>
                  <a:srgbClr val="F4F6FA"/>
                </a:solidFill>
                <a:latin typeface="Arial"/>
              </a:defRPr>
            </a:pPr>
            <a:r>
              <a:t>correspondaient pas aux types</a:t>
            </a:r>
          </a:p>
          <a:p>
            <a:pPr>
              <a:lnSpc>
                <a:spcPts val="2000"/>
              </a:lnSpc>
              <a:spcBef>
                <a:spcPts val="0"/>
              </a:spcBef>
              <a:spcAft>
                <a:spcPts val="0"/>
              </a:spcAft>
              <a:defRPr sz="1600" b="0">
                <a:solidFill>
                  <a:srgbClr val="F4F6FA"/>
                </a:solidFill>
                <a:latin typeface="Arial"/>
              </a:defRPr>
            </a:pPr>
            <a:r>
              <a:t>exigés par le schéma ClickHouse.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EFFET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L’ingestion rencontrait des erreurs</a:t>
            </a:r>
          </a:p>
          <a:p>
            <a:pPr>
              <a:lnSpc>
                <a:spcPts val="2000"/>
              </a:lnSpc>
              <a:spcBef>
                <a:spcPts val="0"/>
              </a:spcBef>
              <a:spcAft>
                <a:spcPts val="0"/>
              </a:spcAft>
              <a:defRPr sz="1600" b="0">
                <a:solidFill>
                  <a:srgbClr val="F4F6FA"/>
                </a:solidFill>
                <a:latin typeface="Arial"/>
              </a:defRPr>
            </a:pPr>
            <a:r>
              <a:t>de validation.</a:t>
            </a:r>
          </a:p>
          <a:p>
            <a:pPr>
              <a:lnSpc>
                <a:spcPts val="2000"/>
              </a:lnSpc>
              <a:spcBef>
                <a:spcPts val="0"/>
              </a:spcBef>
              <a:spcAft>
                <a:spcPts val="0"/>
              </a:spcAft>
              <a:defRPr sz="1600" b="0">
                <a:solidFill>
                  <a:srgbClr val="F4F6FA"/>
                </a:solidFill>
                <a:latin typeface="Arial"/>
              </a:defRPr>
            </a:pPr>
            <a:r>
              <a:t>Le contrôle devait intervenir avant</a:t>
            </a:r>
          </a:p>
          <a:p>
            <a:pPr>
              <a:lnSpc>
                <a:spcPts val="2000"/>
              </a:lnSpc>
              <a:spcBef>
                <a:spcPts val="0"/>
              </a:spcBef>
              <a:spcAft>
                <a:spcPts val="0"/>
              </a:spcAft>
              <a:defRPr sz="1600" b="0">
                <a:solidFill>
                  <a:srgbClr val="F4F6FA"/>
                </a:solidFill>
                <a:latin typeface="Arial"/>
              </a:defRPr>
            </a:pPr>
            <a:r>
              <a:t>l’écriture typée.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Cette cause est rapportée par le candidat ; un exemple de valeur doit l’illustrer.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SOLUTION RÉALISÉE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Valider et convertir avant de charger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Système de conversion des chaînes développé par le candidat.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Lire les valeurs brutes du flux</a:t>
            </a:r>
          </a:p>
          <a:p>
            <a:pPr>
              <a:lnSpc>
                <a:spcPts val="2000"/>
              </a:lnSpc>
              <a:spcBef>
                <a:spcPts val="0"/>
              </a:spcBef>
              <a:spcAft>
                <a:spcPts val="0"/>
              </a:spcAft>
              <a:defRPr sz="1600" b="0">
                <a:solidFill>
                  <a:srgbClr val="F4F6FA"/>
                </a:solidFill>
                <a:latin typeface="Arial"/>
              </a:defRPr>
            </a:pPr>
            <a:r>
              <a:t>ServiceNow.</a:t>
            </a:r>
          </a:p>
          <a:p>
            <a:pPr>
              <a:lnSpc>
                <a:spcPts val="2000"/>
              </a:lnSpc>
              <a:spcBef>
                <a:spcPts val="0"/>
              </a:spcBef>
              <a:spcAft>
                <a:spcPts val="0"/>
              </a:spcAft>
              <a:defRPr sz="1600" b="0">
                <a:solidFill>
                  <a:srgbClr val="F4F6FA"/>
                </a:solidFill>
                <a:latin typeface="Arial"/>
              </a:defRPr>
            </a:pPr>
            <a:r>
              <a:t>Identifier les types attendus selon</a:t>
            </a:r>
          </a:p>
          <a:p>
            <a:pPr>
              <a:lnSpc>
                <a:spcPts val="2000"/>
              </a:lnSpc>
              <a:spcBef>
                <a:spcPts val="0"/>
              </a:spcBef>
              <a:spcAft>
                <a:spcPts val="0"/>
              </a:spcAft>
              <a:defRPr sz="1600" b="0">
                <a:solidFill>
                  <a:srgbClr val="F4F6FA"/>
                </a:solidFill>
                <a:latin typeface="Arial"/>
              </a:defRPr>
            </a:pPr>
            <a:r>
              <a:t>le contrat réel.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CONVERSION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Appliquer les règles développées</a:t>
            </a:r>
          </a:p>
          <a:p>
            <a:pPr>
              <a:lnSpc>
                <a:spcPts val="2000"/>
              </a:lnSpc>
              <a:spcBef>
                <a:spcPts val="0"/>
              </a:spcBef>
              <a:spcAft>
                <a:spcPts val="0"/>
              </a:spcAft>
              <a:defRPr sz="1600" b="0">
                <a:solidFill>
                  <a:srgbClr val="F4F6FA"/>
                </a:solidFill>
                <a:latin typeface="Arial"/>
              </a:defRPr>
            </a:pPr>
            <a:r>
              <a:t>pour obtenir les valeurs typées</a:t>
            </a:r>
          </a:p>
          <a:p>
            <a:pPr>
              <a:lnSpc>
                <a:spcPts val="2000"/>
              </a:lnSpc>
              <a:spcBef>
                <a:spcPts val="0"/>
              </a:spcBef>
              <a:spcAft>
                <a:spcPts val="0"/>
              </a:spcAft>
              <a:defRPr sz="1600" b="0">
                <a:solidFill>
                  <a:srgbClr val="F4F6FA"/>
                </a:solidFill>
                <a:latin typeface="Arial"/>
              </a:defRPr>
            </a:pPr>
            <a:r>
              <a:t>attendues.</a:t>
            </a:r>
          </a:p>
          <a:p>
            <a:pPr>
              <a:lnSpc>
                <a:spcPts val="2000"/>
              </a:lnSpc>
              <a:spcBef>
                <a:spcPts val="0"/>
              </a:spcBef>
              <a:spcAft>
                <a:spcPts val="0"/>
              </a:spcAft>
              <a:defRPr sz="1600" b="0">
                <a:solidFill>
                  <a:srgbClr val="F4F6FA"/>
                </a:solidFill>
                <a:latin typeface="Arial"/>
              </a:defRPr>
            </a:pPr>
            <a:r>
              <a:t>Code à joindre.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VALIDATION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Contrôler avant l’insertion.</a:t>
            </a:r>
          </a:p>
          <a:p>
            <a:pPr>
              <a:lnSpc>
                <a:spcPts val="2000"/>
              </a:lnSpc>
              <a:spcBef>
                <a:spcPts val="0"/>
              </a:spcBef>
              <a:spcAft>
                <a:spcPts val="0"/>
              </a:spcAft>
              <a:defRPr sz="1600" b="0">
                <a:solidFill>
                  <a:srgbClr val="F4F6FA"/>
                </a:solidFill>
                <a:latin typeface="Arial"/>
              </a:defRPr>
            </a:pPr>
            <a:r>
              <a:t>Documenter les cas invalides et le</a:t>
            </a:r>
          </a:p>
          <a:p>
            <a:pPr>
              <a:lnSpc>
                <a:spcPts val="2000"/>
              </a:lnSpc>
              <a:spcBef>
                <a:spcPts val="0"/>
              </a:spcBef>
              <a:spcAft>
                <a:spcPts val="0"/>
              </a:spcAft>
              <a:defRPr sz="1600" b="0">
                <a:solidFill>
                  <a:srgbClr val="F4F6FA"/>
                </a:solidFill>
                <a:latin typeface="Arial"/>
              </a:defRPr>
            </a:pPr>
            <a:r>
              <a:t>comportement effectivement</a:t>
            </a:r>
          </a:p>
          <a:p>
            <a:pPr>
              <a:lnSpc>
                <a:spcPts val="2000"/>
              </a:lnSpc>
              <a:spcBef>
                <a:spcPts val="0"/>
              </a:spcBef>
              <a:spcAft>
                <a:spcPts val="0"/>
              </a:spcAft>
              <a:defRPr sz="1600" b="0">
                <a:solidFill>
                  <a:srgbClr val="F4F6FA"/>
                </a:solidFill>
                <a:latin typeface="Arial"/>
              </a:defRPr>
            </a:pPr>
            <a:r>
              <a:t>choisi.</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Ne pas remplacer silencieusement une donnée invalide par une valeur arbitraire.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VALIDATION À MONTRER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Comparer le même échantillon avant et après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L’incident et sa correction sont décrits ; les résultats de validation restent à joindre.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Erreur de type sur le cas identifié.</a:t>
            </a:r>
          </a:p>
          <a:p>
            <a:pPr>
              <a:lnSpc>
                <a:spcPts val="2000"/>
              </a:lnSpc>
              <a:spcBef>
                <a:spcPts val="0"/>
              </a:spcBef>
              <a:spcAft>
                <a:spcPts val="0"/>
              </a:spcAft>
              <a:defRPr sz="1600" b="0">
                <a:solidFill>
                  <a:srgbClr val="F4F6FA"/>
                </a:solidFill>
                <a:latin typeface="Arial"/>
              </a:defRPr>
            </a:pPr>
            <a:r>
              <a:t>Entrée et schéma connus.</a:t>
            </a:r>
          </a:p>
          <a:p>
            <a:pPr>
              <a:lnSpc>
                <a:spcPts val="2000"/>
              </a:lnSpc>
              <a:spcBef>
                <a:spcPts val="0"/>
              </a:spcBef>
              <a:spcAft>
                <a:spcPts val="0"/>
              </a:spcAft>
              <a:defRPr sz="1600" b="0">
                <a:solidFill>
                  <a:srgbClr val="F4F6FA"/>
                </a:solidFill>
                <a:latin typeface="Arial"/>
              </a:defRPr>
            </a:pPr>
            <a:r>
              <a:t>Trace du défaut.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APRÈS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Même entrée convertie.</a:t>
            </a:r>
          </a:p>
          <a:p>
            <a:pPr>
              <a:lnSpc>
                <a:spcPts val="2000"/>
              </a:lnSpc>
              <a:spcBef>
                <a:spcPts val="0"/>
              </a:spcBef>
              <a:spcAft>
                <a:spcPts val="0"/>
              </a:spcAft>
              <a:defRPr sz="1600" b="0">
                <a:solidFill>
                  <a:srgbClr val="F4F6FA"/>
                </a:solidFill>
                <a:latin typeface="Arial"/>
              </a:defRPr>
            </a:pPr>
            <a:r>
              <a:t>Valeur typée obtenue.</a:t>
            </a:r>
          </a:p>
          <a:p>
            <a:pPr>
              <a:lnSpc>
                <a:spcPts val="2000"/>
              </a:lnSpc>
              <a:spcBef>
                <a:spcPts val="0"/>
              </a:spcBef>
              <a:spcAft>
                <a:spcPts val="0"/>
              </a:spcAft>
              <a:defRPr sz="1600" b="0">
                <a:solidFill>
                  <a:srgbClr val="F4F6FA"/>
                </a:solidFill>
                <a:latin typeface="Arial"/>
              </a:defRPr>
            </a:pPr>
            <a:r>
              <a:t>Résultat ClickHouse à montrer.</a:t>
            </a:r>
          </a:p>
          <a:p>
            <a:pPr>
              <a:lnSpc>
                <a:spcPts val="2000"/>
              </a:lnSpc>
              <a:spcBef>
                <a:spcPts val="0"/>
              </a:spcBef>
              <a:spcAft>
                <a:spcPts val="0"/>
              </a:spcAft>
              <a:defRPr sz="1600" b="0">
                <a:solidFill>
                  <a:srgbClr val="F4F6FA"/>
                </a:solidFill>
                <a:latin typeface="Arial"/>
              </a:defRPr>
            </a:pPr>
            <a:r>
              <a:t>Absence de perte à vérifier.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NON-RÉGRESSION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Cas valides et invalides.</a:t>
            </a:r>
          </a:p>
          <a:p>
            <a:pPr>
              <a:lnSpc>
                <a:spcPts val="2000"/>
              </a:lnSpc>
              <a:spcBef>
                <a:spcPts val="0"/>
              </a:spcBef>
              <a:spcAft>
                <a:spcPts val="0"/>
              </a:spcAft>
              <a:defRPr sz="1600" b="0">
                <a:solidFill>
                  <a:srgbClr val="F4F6FA"/>
                </a:solidFill>
                <a:latin typeface="Arial"/>
              </a:defRPr>
            </a:pPr>
            <a:r>
              <a:t>Formats limites réellement</a:t>
            </a:r>
          </a:p>
          <a:p>
            <a:pPr>
              <a:lnSpc>
                <a:spcPts val="2000"/>
              </a:lnSpc>
              <a:spcBef>
                <a:spcPts val="0"/>
              </a:spcBef>
              <a:spcAft>
                <a:spcPts val="0"/>
              </a:spcAft>
              <a:defRPr sz="1600" b="0">
                <a:solidFill>
                  <a:srgbClr val="F4F6FA"/>
                </a:solidFill>
                <a:latin typeface="Arial"/>
              </a:defRPr>
            </a:pPr>
            <a:r>
              <a:t>rencontrés.</a:t>
            </a:r>
          </a:p>
          <a:p>
            <a:pPr>
              <a:lnSpc>
                <a:spcPts val="2000"/>
              </a:lnSpc>
              <a:spcBef>
                <a:spcPts val="0"/>
              </a:spcBef>
              <a:spcAft>
                <a:spcPts val="0"/>
              </a:spcAft>
              <a:defRPr sz="1600" b="0">
                <a:solidFill>
                  <a:srgbClr val="F4F6FA"/>
                </a:solidFill>
                <a:latin typeface="Arial"/>
              </a:defRPr>
            </a:pPr>
            <a:r>
              <a:t>Test automatisé ou contrôle de</a:t>
            </a:r>
          </a:p>
          <a:p>
            <a:pPr>
              <a:lnSpc>
                <a:spcPts val="2000"/>
              </a:lnSpc>
              <a:spcBef>
                <a:spcPts val="0"/>
              </a:spcBef>
              <a:spcAft>
                <a:spcPts val="0"/>
              </a:spcAft>
              <a:defRPr sz="1600" b="0">
                <a:solidFill>
                  <a:srgbClr val="F4F6FA"/>
                </a:solidFill>
                <a:latin typeface="Arial"/>
              </a:defRPr>
            </a:pPr>
            <a:r>
              <a:t>reprise disponible.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Aucun taux de réussite ni compteur de lignes corrigées n’est inventé.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BILAN ET PÉRIMÈTRE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résolution métier à soutenir par ses pièces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contribution est claire ; le dossier de preuve reste à compléter.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CONFIRMÉ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Incident de typage ServiceNow.</a:t>
            </a:r>
          </a:p>
          <a:p>
            <a:pPr>
              <a:lnSpc>
                <a:spcPts val="2000"/>
              </a:lnSpc>
              <a:spcBef>
                <a:spcPts val="0"/>
              </a:spcBef>
              <a:spcAft>
                <a:spcPts val="0"/>
              </a:spcAft>
              <a:defRPr sz="1600" b="0">
                <a:solidFill>
                  <a:srgbClr val="F4F6FA"/>
                </a:solidFill>
                <a:latin typeface="Arial"/>
              </a:defRPr>
            </a:pPr>
            <a:r>
              <a:t>Investigation et cause.</a:t>
            </a:r>
          </a:p>
          <a:p>
            <a:pPr>
              <a:lnSpc>
                <a:spcPts val="2000"/>
              </a:lnSpc>
              <a:spcBef>
                <a:spcPts val="0"/>
              </a:spcBef>
              <a:spcAft>
                <a:spcPts val="0"/>
              </a:spcAft>
              <a:defRPr sz="1600" b="0">
                <a:solidFill>
                  <a:srgbClr val="F4F6FA"/>
                </a:solidFill>
                <a:latin typeface="Arial"/>
              </a:defRPr>
            </a:pPr>
            <a:r>
              <a:t>Validation / conversion</a:t>
            </a:r>
          </a:p>
          <a:p>
            <a:pPr>
              <a:lnSpc>
                <a:spcPts val="2000"/>
              </a:lnSpc>
              <a:spcBef>
                <a:spcPts val="0"/>
              </a:spcBef>
              <a:spcAft>
                <a:spcPts val="0"/>
              </a:spcAft>
              <a:defRPr sz="1600" b="0">
                <a:solidFill>
                  <a:srgbClr val="F4F6FA"/>
                </a:solidFill>
                <a:latin typeface="Arial"/>
              </a:defRPr>
            </a:pPr>
            <a:r>
              <a:t>développées.</a:t>
            </a:r>
          </a:p>
          <a:p>
            <a:pPr>
              <a:lnSpc>
                <a:spcPts val="2000"/>
              </a:lnSpc>
              <a:spcBef>
                <a:spcPts val="0"/>
              </a:spcBef>
              <a:spcAft>
                <a:spcPts val="0"/>
              </a:spcAft>
              <a:defRPr sz="1600" b="0">
                <a:solidFill>
                  <a:srgbClr val="F4F6FA"/>
                </a:solidFill>
                <a:latin typeface="Arial"/>
              </a:defRPr>
            </a:pPr>
            <a:r>
              <a:t>Responsabilité de maintenance.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JOINDRE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Message et échantillon</a:t>
            </a:r>
          </a:p>
          <a:p>
            <a:pPr>
              <a:lnSpc>
                <a:spcPts val="2000"/>
              </a:lnSpc>
              <a:spcBef>
                <a:spcPts val="0"/>
              </a:spcBef>
              <a:spcAft>
                <a:spcPts val="0"/>
              </a:spcAft>
              <a:defRPr sz="1600" b="0">
                <a:solidFill>
                  <a:srgbClr val="F4F6FA"/>
                </a:solidFill>
                <a:latin typeface="Arial"/>
              </a:defRPr>
            </a:pPr>
            <a:r>
              <a:t>anonymisés.</a:t>
            </a:r>
          </a:p>
          <a:p>
            <a:pPr>
              <a:lnSpc>
                <a:spcPts val="2000"/>
              </a:lnSpc>
              <a:spcBef>
                <a:spcPts val="0"/>
              </a:spcBef>
              <a:spcAft>
                <a:spcPts val="0"/>
              </a:spcAft>
              <a:defRPr sz="1600" b="0">
                <a:solidFill>
                  <a:srgbClr val="F4F6FA"/>
                </a:solidFill>
                <a:latin typeface="Arial"/>
              </a:defRPr>
            </a:pPr>
            <a:r>
              <a:t>Code / commit.</a:t>
            </a:r>
          </a:p>
          <a:p>
            <a:pPr>
              <a:lnSpc>
                <a:spcPts val="2000"/>
              </a:lnSpc>
              <a:spcBef>
                <a:spcPts val="0"/>
              </a:spcBef>
              <a:spcAft>
                <a:spcPts val="0"/>
              </a:spcAft>
              <a:defRPr sz="1600" b="0">
                <a:solidFill>
                  <a:srgbClr val="F4F6FA"/>
                </a:solidFill>
                <a:latin typeface="Arial"/>
              </a:defRPr>
            </a:pPr>
            <a:r>
              <a:t>Avant / après.</a:t>
            </a:r>
          </a:p>
          <a:p>
            <a:pPr>
              <a:lnSpc>
                <a:spcPts val="2000"/>
              </a:lnSpc>
              <a:spcBef>
                <a:spcPts val="0"/>
              </a:spcBef>
              <a:spcAft>
                <a:spcPts val="0"/>
              </a:spcAft>
              <a:defRPr sz="1600" b="0">
                <a:solidFill>
                  <a:srgbClr val="F4F6FA"/>
                </a:solidFill>
                <a:latin typeface="Arial"/>
              </a:defRPr>
            </a:pPr>
            <a:r>
              <a:t>Non-régression et trace de</a:t>
            </a:r>
          </a:p>
          <a:p>
            <a:pPr>
              <a:lnSpc>
                <a:spcPts val="2000"/>
              </a:lnSpc>
              <a:spcBef>
                <a:spcPts val="0"/>
              </a:spcBef>
              <a:spcAft>
                <a:spcPts val="0"/>
              </a:spcAft>
              <a:defRPr sz="1600" b="0">
                <a:solidFill>
                  <a:srgbClr val="F4F6FA"/>
                </a:solidFill>
                <a:latin typeface="Arial"/>
              </a:defRPr>
            </a:pPr>
            <a:r>
              <a:t>livraison.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PÉRIMÈTRE E5</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Relier le cas au contexte exigé.</a:t>
            </a:r>
          </a:p>
          <a:p>
            <a:pPr>
              <a:lnSpc>
                <a:spcPts val="2000"/>
              </a:lnSpc>
              <a:spcBef>
                <a:spcPts val="0"/>
              </a:spcBef>
              <a:spcAft>
                <a:spcPts val="0"/>
              </a:spcAft>
              <a:defRPr sz="1600" b="0">
                <a:solidFill>
                  <a:srgbClr val="F4F6FA"/>
                </a:solidFill>
                <a:latin typeface="Arial"/>
              </a:defRPr>
            </a:pPr>
            <a:r>
              <a:t>Documenter la surveillance réelle.</a:t>
            </a:r>
          </a:p>
          <a:p>
            <a:pPr>
              <a:lnSpc>
                <a:spcPts val="2000"/>
              </a:lnSpc>
              <a:spcBef>
                <a:spcPts val="0"/>
              </a:spcBef>
              <a:spcAft>
                <a:spcPts val="0"/>
              </a:spcAft>
              <a:defRPr sz="1600" b="0">
                <a:solidFill>
                  <a:srgbClr val="F4F6FA"/>
                </a:solidFill>
                <a:latin typeface="Arial"/>
              </a:defRPr>
            </a:pPr>
            <a:r>
              <a:t>Alternative disponible : incident de</a:t>
            </a:r>
          </a:p>
          <a:p>
            <a:pPr>
              <a:lnSpc>
                <a:spcPts val="2000"/>
              </a:lnSpc>
              <a:spcBef>
                <a:spcPts val="0"/>
              </a:spcBef>
              <a:spcAft>
                <a:spcPts val="0"/>
              </a:spcAft>
              <a:defRPr sz="1600" b="0">
                <a:solidFill>
                  <a:srgbClr val="F4F6FA"/>
                </a:solidFill>
                <a:latin typeface="Arial"/>
              </a:defRPr>
            </a:pPr>
            <a:r>
              <a:t>combat du jeu.</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cas entreprise ne remplace définitivement le cas du jeu qu’avec un périmètre et des preuves adaptés.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ALTERNATIVE VÉRIFIÉE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 cas du combat reste disponible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défaut historique reproduit et correction vérifiée.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DÉFAUT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Deux combats peuvent partager</a:t>
            </a:r>
          </a:p>
          <a:p>
            <a:pPr>
              <a:lnSpc>
                <a:spcPts val="2000"/>
              </a:lnSpc>
              <a:spcBef>
                <a:spcPts val="0"/>
              </a:spcBef>
              <a:spcAft>
                <a:spcPts val="0"/>
              </a:spcAft>
              <a:defRPr sz="1600" b="0">
                <a:solidFill>
                  <a:srgbClr val="F4F6FA"/>
                </a:solidFill>
                <a:latin typeface="Arial"/>
              </a:defRPr>
            </a:pPr>
            <a:r>
              <a:t>les références globales dans</a:t>
            </a:r>
          </a:p>
          <a:p>
            <a:pPr>
              <a:lnSpc>
                <a:spcPts val="2000"/>
              </a:lnSpc>
              <a:spcBef>
                <a:spcPts val="0"/>
              </a:spcBef>
              <a:spcAft>
                <a:spcPts val="0"/>
              </a:spcAft>
              <a:defRPr sz="1600" b="0">
                <a:solidFill>
                  <a:srgbClr val="F4F6FA"/>
                </a:solidFill>
                <a:latin typeface="Arial"/>
              </a:defRPr>
            </a:pPr>
            <a:r>
              <a:t>l’ancien cœur de combat.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CORRECTION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Session de combat passée</a:t>
            </a:r>
          </a:p>
          <a:p>
            <a:pPr>
              <a:lnSpc>
                <a:spcPts val="2000"/>
              </a:lnSpc>
              <a:spcBef>
                <a:spcPts val="0"/>
              </a:spcBef>
              <a:spcAft>
                <a:spcPts val="0"/>
              </a:spcAft>
              <a:defRPr sz="1600" b="0">
                <a:solidFill>
                  <a:srgbClr val="F4F6FA"/>
                </a:solidFill>
                <a:latin typeface="Arial"/>
              </a:defRPr>
            </a:pPr>
            <a:r>
              <a:t>explicitement aux fonctions.</a:t>
            </a:r>
          </a:p>
          <a:p>
            <a:pPr>
              <a:lnSpc>
                <a:spcPts val="2000"/>
              </a:lnSpc>
              <a:spcBef>
                <a:spcPts val="0"/>
              </a:spcBef>
              <a:spcAft>
                <a:spcPts val="0"/>
              </a:spcAft>
              <a:defRPr sz="1600" b="0">
                <a:solidFill>
                  <a:srgbClr val="F4F6FA"/>
                </a:solidFill>
                <a:latin typeface="Arial"/>
              </a:defRPr>
            </a:pPr>
            <a:r>
              <a:t>Commit historique identifié.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Script et JSON avant / après.</a:t>
            </a:r>
          </a:p>
          <a:p>
            <a:pPr>
              <a:lnSpc>
                <a:spcPts val="2000"/>
              </a:lnSpc>
              <a:spcBef>
                <a:spcPts val="0"/>
              </a:spcBef>
              <a:spcAft>
                <a:spcPts val="0"/>
              </a:spcAft>
              <a:defRPr sz="1600" b="0">
                <a:solidFill>
                  <a:srgbClr val="F4F6FA"/>
                </a:solidFill>
                <a:latin typeface="Arial"/>
              </a:defRPr>
            </a:pPr>
            <a:r>
              <a:t>Test d’isolation.</a:t>
            </a:r>
          </a:p>
          <a:p>
            <a:pPr>
              <a:lnSpc>
                <a:spcPts val="2000"/>
              </a:lnSpc>
              <a:spcBef>
                <a:spcPts val="0"/>
              </a:spcBef>
              <a:spcAft>
                <a:spcPts val="0"/>
              </a:spcAft>
              <a:defRPr sz="1600" b="0">
                <a:solidFill>
                  <a:srgbClr val="F4F6FA"/>
                </a:solidFill>
                <a:latin typeface="Arial"/>
              </a:defRPr>
            </a:pPr>
            <a:r>
              <a:t>Dossier E5 initial conservé dans</a:t>
            </a:r>
          </a:p>
          <a:p>
            <a:pPr>
              <a:lnSpc>
                <a:spcPts val="2000"/>
              </a:lnSpc>
              <a:spcBef>
                <a:spcPts val="0"/>
              </a:spcBef>
              <a:spcAft>
                <a:spcPts val="0"/>
              </a:spcAft>
              <a:defRPr sz="1600" b="0">
                <a:solidFill>
                  <a:srgbClr val="F4F6FA"/>
                </a:solidFill>
                <a:latin typeface="Arial"/>
              </a:defRPr>
            </a:pPr>
            <a:r>
              <a:t>presentation-bloc3/.</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résultats concernent le jeu ; ils ne valident pas le convertisseur ServiceNow.</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certif/presentation-bloc3/Dossier_incident_E5.md ; preuves/incident-combat.json</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C14 À C21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Retrouver les pièces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Documentation applicative sous docs/block3/.</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CADRAGE / RÉALISATION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C14 : besoins et traçabilité.</a:t>
            </a:r>
          </a:p>
          <a:p>
            <a:pPr>
              <a:lnSpc>
                <a:spcPts val="2000"/>
              </a:lnSpc>
              <a:spcBef>
                <a:spcPts val="0"/>
              </a:spcBef>
              <a:spcAft>
                <a:spcPts val="0"/>
              </a:spcAft>
              <a:defRPr sz="1600" b="0">
                <a:solidFill>
                  <a:srgbClr val="F4F6FA"/>
                </a:solidFill>
                <a:latin typeface="Arial"/>
              </a:defRPr>
            </a:pPr>
            <a:r>
              <a:t>C15 : modèles et décisions.</a:t>
            </a:r>
          </a:p>
          <a:p>
            <a:pPr>
              <a:lnSpc>
                <a:spcPts val="2000"/>
              </a:lnSpc>
              <a:spcBef>
                <a:spcPts val="0"/>
              </a:spcBef>
              <a:spcAft>
                <a:spcPts val="0"/>
              </a:spcAft>
              <a:defRPr sz="1600" b="0">
                <a:solidFill>
                  <a:srgbClr val="F4F6FA"/>
                </a:solidFill>
                <a:latin typeface="Arial"/>
              </a:defRPr>
            </a:pPr>
            <a:r>
              <a:t>C16 : backlog et revues.</a:t>
            </a:r>
          </a:p>
          <a:p>
            <a:pPr>
              <a:lnSpc>
                <a:spcPts val="2000"/>
              </a:lnSpc>
              <a:spcBef>
                <a:spcPts val="0"/>
              </a:spcBef>
              <a:spcAft>
                <a:spcPts val="0"/>
              </a:spcAft>
              <a:defRPr sz="1600" b="0">
                <a:solidFill>
                  <a:srgbClr val="F4F6FA"/>
                </a:solidFill>
                <a:latin typeface="Arial"/>
              </a:defRPr>
            </a:pPr>
            <a:r>
              <a:t>C17 : code, qualité et sécurité.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C18 : tests et workflow CI.</a:t>
            </a:r>
          </a:p>
          <a:p>
            <a:pPr>
              <a:lnSpc>
                <a:spcPts val="2000"/>
              </a:lnSpc>
              <a:spcBef>
                <a:spcPts val="0"/>
              </a:spcBef>
              <a:spcAft>
                <a:spcPts val="0"/>
              </a:spcAft>
              <a:defRPr sz="1600" b="0">
                <a:solidFill>
                  <a:srgbClr val="F4F6FA"/>
                </a:solidFill>
                <a:latin typeface="Arial"/>
              </a:defRPr>
            </a:pPr>
            <a:r>
              <a:t>C19 : Dockerfile, artefact et</a:t>
            </a:r>
          </a:p>
          <a:p>
            <a:pPr>
              <a:lnSpc>
                <a:spcPts val="2000"/>
              </a:lnSpc>
              <a:spcBef>
                <a:spcPts val="0"/>
              </a:spcBef>
              <a:spcAft>
                <a:spcPts val="0"/>
              </a:spcAft>
              <a:defRPr sz="1600" b="0">
                <a:solidFill>
                  <a:srgbClr val="F4F6FA"/>
                </a:solidFill>
                <a:latin typeface="Arial"/>
              </a:defRPr>
            </a:pPr>
            <a:r>
              <a:t>procédure de promotion.</a:t>
            </a:r>
          </a:p>
          <a:p>
            <a:pPr>
              <a:lnSpc>
                <a:spcPts val="2000"/>
              </a:lnSpc>
              <a:spcBef>
                <a:spcPts val="0"/>
              </a:spcBef>
              <a:spcAft>
                <a:spcPts val="0"/>
              </a:spcAft>
              <a:defRPr sz="1600" b="0">
                <a:solidFill>
                  <a:srgbClr val="F4F6FA"/>
                </a:solidFill>
                <a:latin typeface="Arial"/>
              </a:defRPr>
            </a:pPr>
            <a:r>
              <a:t>Preuves distantes à ajouter.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C20 : monitoring, règles et logs.</a:t>
            </a:r>
          </a:p>
          <a:p>
            <a:pPr>
              <a:lnSpc>
                <a:spcPts val="2000"/>
              </a:lnSpc>
              <a:spcBef>
                <a:spcPts val="0"/>
              </a:spcBef>
              <a:spcAft>
                <a:spcPts val="0"/>
              </a:spcAft>
              <a:defRPr sz="1600" b="0">
                <a:solidFill>
                  <a:srgbClr val="F4F6FA"/>
                </a:solidFill>
                <a:latin typeface="Arial"/>
              </a:defRPr>
            </a:pPr>
            <a:r>
              <a:t>C21 : dossier d’incident, correctif</a:t>
            </a:r>
          </a:p>
          <a:p>
            <a:pPr>
              <a:lnSpc>
                <a:spcPts val="2000"/>
              </a:lnSpc>
              <a:spcBef>
                <a:spcPts val="0"/>
              </a:spcBef>
              <a:spcAft>
                <a:spcPts val="0"/>
              </a:spcAft>
              <a:defRPr sz="1600" b="0">
                <a:solidFill>
                  <a:srgbClr val="F4F6FA"/>
                </a:solidFill>
                <a:latin typeface="Arial"/>
              </a:defRPr>
            </a:pPr>
            <a:r>
              <a:t>Git et reproduction.</a:t>
            </a:r>
          </a:p>
          <a:p>
            <a:pPr>
              <a:lnSpc>
                <a:spcPts val="2000"/>
              </a:lnSpc>
              <a:spcBef>
                <a:spcPts val="0"/>
              </a:spcBef>
              <a:spcAft>
                <a:spcPts val="0"/>
              </a:spcAft>
              <a:defRPr sz="1600" b="0">
                <a:solidFill>
                  <a:srgbClr val="F4F6FA"/>
                </a:solidFill>
                <a:latin typeface="Arial"/>
              </a:defRPr>
            </a:pPr>
            <a:r>
              <a:t>Ticket et déploiement à ajouter.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statuts des anciennes notes peuvent être en retard sur le code : dater les 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 ; docs/monitoring.md ; Dossier_incident_E5.md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PREUVES ENTREPRISE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Les points qui changent la solidité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Faire porter chaque réalisation sur son apport réel.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DATAPLATEFORME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Volumes importants par table.</a:t>
            </a:r>
          </a:p>
          <a:p>
            <a:pPr>
              <a:lnSpc>
                <a:spcPts val="2000"/>
              </a:lnSpc>
              <a:spcBef>
                <a:spcPts val="0"/>
              </a:spcBef>
              <a:spcAft>
                <a:spcPts val="0"/>
              </a:spcAft>
              <a:defRPr sz="1600" b="0">
                <a:solidFill>
                  <a:srgbClr val="F4F6FA"/>
                </a:solidFill>
                <a:latin typeface="Arial"/>
              </a:defRPr>
            </a:pPr>
            <a:r>
              <a:t>Fenêtres dynamiques.</a:t>
            </a:r>
          </a:p>
          <a:p>
            <a:pPr>
              <a:lnSpc>
                <a:spcPts val="2000"/>
              </a:lnSpc>
              <a:spcBef>
                <a:spcPts val="0"/>
              </a:spcBef>
              <a:spcAft>
                <a:spcPts val="0"/>
              </a:spcAft>
              <a:defRPr sz="1600" b="0">
                <a:solidFill>
                  <a:srgbClr val="F4F6FA"/>
                </a:solidFill>
                <a:latin typeface="Arial"/>
              </a:defRPr>
            </a:pPr>
            <a:r>
              <a:t>Colonnes ajoutées à la volée.</a:t>
            </a:r>
          </a:p>
          <a:p>
            <a:pPr>
              <a:lnSpc>
                <a:spcPts val="2000"/>
              </a:lnSpc>
              <a:spcBef>
                <a:spcPts val="0"/>
              </a:spcBef>
              <a:spcAft>
                <a:spcPts val="0"/>
              </a:spcAft>
              <a:defRPr sz="1600" b="0">
                <a:solidFill>
                  <a:srgbClr val="F4F6FA"/>
                </a:solidFill>
                <a:latin typeface="Arial"/>
              </a:defRPr>
            </a:pPr>
            <a:r>
              <a:t>Conversion du XML ServiceNow.</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BENCHMARKS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seul modèle exécuté.</a:t>
            </a:r>
          </a:p>
          <a:p>
            <a:pPr>
              <a:lnSpc>
                <a:spcPts val="2000"/>
              </a:lnSpc>
              <a:spcBef>
                <a:spcPts val="0"/>
              </a:spcBef>
              <a:spcAft>
                <a:spcPts val="0"/>
              </a:spcAft>
              <a:defRPr sz="1600" b="0">
                <a:solidFill>
                  <a:srgbClr val="F4F6FA"/>
                </a:solidFill>
                <a:latin typeface="Arial"/>
              </a:defRPr>
            </a:pPr>
            <a:r>
              <a:t>Runner agnostique.</a:t>
            </a:r>
          </a:p>
          <a:p>
            <a:pPr>
              <a:lnSpc>
                <a:spcPts val="2000"/>
              </a:lnSpc>
              <a:spcBef>
                <a:spcPts val="0"/>
              </a:spcBef>
              <a:spcAft>
                <a:spcPts val="0"/>
              </a:spcAft>
              <a:defRPr sz="1600" b="0">
                <a:solidFill>
                  <a:srgbClr val="F4F6FA"/>
                </a:solidFill>
                <a:latin typeface="Arial"/>
              </a:defRPr>
            </a:pPr>
            <a:r>
              <a:t>Scores et charge mesurés.</a:t>
            </a:r>
          </a:p>
          <a:p>
            <a:pPr>
              <a:lnSpc>
                <a:spcPts val="2000"/>
              </a:lnSpc>
              <a:spcBef>
                <a:spcPts val="0"/>
              </a:spcBef>
              <a:spcAft>
                <a:spcPts val="0"/>
              </a:spcAft>
              <a:defRPr sz="1600" b="0">
                <a:solidFill>
                  <a:srgbClr val="F4F6FA"/>
                </a:solidFill>
                <a:latin typeface="Arial"/>
              </a:defRPr>
            </a:pPr>
            <a:r>
              <a:t>Référence Qwen à confirmer.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Quatre endpoints par webhook.</a:t>
            </a:r>
          </a:p>
          <a:p>
            <a:pPr>
              <a:lnSpc>
                <a:spcPts val="2000"/>
              </a:lnSpc>
              <a:spcBef>
                <a:spcPts val="0"/>
              </a:spcBef>
              <a:spcAft>
                <a:spcPts val="0"/>
              </a:spcAft>
              <a:defRPr sz="1600" b="0">
                <a:solidFill>
                  <a:srgbClr val="F4F6FA"/>
                </a:solidFill>
                <a:latin typeface="Arial"/>
              </a:defRPr>
            </a:pPr>
            <a:r>
              <a:t>Contrat et appels EDR.</a:t>
            </a:r>
          </a:p>
          <a:p>
            <a:pPr>
              <a:lnSpc>
                <a:spcPts val="2000"/>
              </a:lnSpc>
              <a:spcBef>
                <a:spcPts val="0"/>
              </a:spcBef>
              <a:spcAft>
                <a:spcPts val="0"/>
              </a:spcAft>
              <a:defRPr sz="1600" b="0">
                <a:solidFill>
                  <a:srgbClr val="F4F6FA"/>
                </a:solidFill>
                <a:latin typeface="Arial"/>
              </a:defRPr>
            </a:pPr>
            <a:r>
              <a:t>Intégration comme outils de l’agent</a:t>
            </a:r>
          </a:p>
          <a:p>
            <a:pPr>
              <a:lnSpc>
                <a:spcPts val="2000"/>
              </a:lnSpc>
              <a:spcBef>
                <a:spcPts val="0"/>
              </a:spcBef>
              <a:spcAft>
                <a:spcPts val="0"/>
              </a:spcAft>
              <a:defRPr sz="1600" b="0">
                <a:solidFill>
                  <a:srgbClr val="F4F6FA"/>
                </a:solidFill>
                <a:latin typeface="Arial"/>
              </a:defRPr>
            </a:pPr>
            <a:r>
              <a:t>Django.</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Documents et runs à joindre ; contexte et responsabilité explicités pour chaque preuve.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