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L’application Django cyber est distincte du jeu. Le candidat n’a pas déclaré avoir créé toute cette application ou son agent ; sa contribution confirmée porte sur Tines. Le runner de benchmarks n’est pas présenté comme connecté à l’agent sans confirmation de ce lien.</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health renvoie des booléens, pas un ping fournisseur. Décrire le body {"choice": "Open the gate"}. L’API réutilise StepGameView pour déclencher le moteur. Le contrat YAML existe, mais quelques écarts contrat/code sont identifiés en annexe et ne doivent pas être présentés comme une conformité OpenAPI parfaite. Contexte de cette preuve conservée : Call To AIdventure. Aucun résultat de cette slide ne doit être attribué aux projets entreprise.</a:t>
            </a:r>
          </a:p>
          <a:p/>
          <a:p>
            <a:r>
              <a:t>Sources : src/django/game/ai_api.py ; docs/block2/openapi.yaml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Résultats vérifiés : utilisateur étranger rejeté, choix arbitraire rejeté avec liste renseignée, CSRF refusé sans jeton et quota exercé. Limite importante : le code ne rejette pas par ce contrôle un choix lorsque current_choices est vide. Ne pas affirmer une prévention générale des injections de prompt. Ne pas montrer d’identifiants de session réels. Contexte de cette preuve conservée : Call To AIdventure. Aucun résultat de cette slide ne doit être attribué aux projets entreprise.</a:t>
            </a:r>
          </a:p>
          <a:p/>
          <a:p>
            <a:r>
              <a:t>Sources : src/django/game/ai_api.py ; src/django/game/test_ai_api.py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C10 : cette réalisation contribue à l’intégration des outils de l’agent, mais il faut délimiter qui a écrit l’adaptateur Django, les appels et la logique de l’agent. C9 reste porté par l’API du jeu, car Tines n’est pas décrit comme un endpoint d’inférence. Préciser les quatre types d’entité sans inventer leurs noms. Authentification, autorisation client, gestion des erreurs et tests restent à joindre.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Les tests ciblés ont exercé les prompts FR, la reprise narrative, l’échec sans progression, les outils de soin et les objectifs. La classe SaveGamePersistenceTests n’appartient pas au lot de 33 exécuté ici : ne pas attribuer à ce lot la totalité des tests de persistance. Les cas sont simulés ; aucune qualité linguistique en réel n’est mesurée. Contexte de cette preuve conservée : Call To AIdventure. Aucun résultat de cette slide ne doit être attribué aux projets entreprise.</a:t>
            </a:r>
          </a:p>
          <a:p/>
          <a:p>
            <a:r>
              <a:t>Sources : src/agents/schemas.py ; src/django/game/tests.py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Expliquer compteur et histogramme, ainsi que la fenêtre de calcul. Les métriques exposées ont des tests ciblés, mais la chaîne Prometheus/Grafana n’a pas été lancée pour ce support. Les tokens peuvent dépendre des données d’usage fournies par le service ; l’estimation de coût nécessite des tarifs à jour. Les labels bornés évitent données sensibles et cardinalité excessive. Contexte de cette preuve conservée : Call To AIdventure. Aucun résultat de cette slide ne doit être attribué aux projets entreprise.</a:t>
            </a:r>
          </a:p>
          <a:p/>
          <a:p>
            <a:r>
              <a:t>Sources : src/observability/ ; docs/block2/monitoring-slos.md ; monitoring/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seuil précis de RAG documenté est plus de deux échecs en quinze minutes. La latence doit être élevée pendant dix minutes. Préparer un déclenchement contrôlé en bac à sable avec capture horodatée et retour à la règle initiale. Ce projet ajuste l’intégration ; il ne réentraîne pas automatiquement le modèle distant. Contexte de cette preuve conservée : Call To AIdventure. Aucun résultat de cette slide ne doit être attribué aux projets entreprise.</a:t>
            </a:r>
          </a:p>
          <a:p/>
          <a:p>
            <a:r>
              <a:t>Sources : docs/block2/monitoring-slos.md ; monitoring/alertmanager/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L’utilisateur confirme que le runner obtient des scores et métriques. Il n’a pas fourni de logs ni valeurs ; aucun taux de réussite n’est inventé. Montrer aussi la validation du dataset, les dépendances, la gestion d’échecs et les tests du runner s’ils existent. C12 est particulièrement bien servi par ce travail, sans prétendre qu’une étape d’entraînement existe.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Présenter le runner comme réalisé et exécuté. Les champs de la slide sont des emplacements pour une preuve existante, pas une simulation. Le seul modèle déclaré est Qwen avec version à confirmer. Mesure de performance du service, qualité cyber et tests du logiciel de benchmark sont trois périmètres différents.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Décrire PR, push main et déclenchement manuel. Le conteneur est construit et chargé localement dans le job : le workflow ne prouve pas la publication d’une image dans un registre. Le smoke test utilise une clé factice et RAG désactivé ; il vérifie le démarrage HTTP, pas le modèle. La couverture 55 % est un seuil configuré, pas une mesure obtenue aujourd’hui. Contexte de cette preuve conservée : Call To AIdventure. Aucun résultat de cette slide ne doit être attribué aux projets entreprise.</a:t>
            </a:r>
          </a:p>
          <a:p/>
          <a:p>
            <a:r>
              <a:t>Sources : .github/workflows/block2-ai.yml ; docs/block2/delivery.md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Garder au moins un artefact connu bon. Le modèle hébergé peut évoluer si son identifiant n’est pas une version figée ; expliciter cette limite. Versionner une collection RAG fait partie de la procédure à organiser, pas d’une preuve d’activation déjà produite ici. Staging, registre et liens de jobs restent à renseigner. Contexte de cette preuve conservée : Call To AIdventure. Aucun résultat de cette slide ne doit être attribué aux projets entreprise.</a:t>
            </a:r>
          </a:p>
          <a:p/>
          <a:p>
            <a:r>
              <a:t>Sources : docs/block2/delivery.md ; src/evaluation/runner.py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Les slides CI et monitoring conservées concernent le jeu. Ne pas annoncer une CI, un déploiement ou une alerte du runner qui n’ont pas été décrits. Joindre un export réel avant passage. Les preuves locales du jeu restent disponibles dans certif/presentation-bloc2/preuves/.</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Ces observations proviennent du code local, sans test d’exploitation. Le lot courant couvre une liste de choix non vide. Ajouter des tests de contrat et corriger les écarts avant de revendiquer une conformité stricte. Ce support ne change pas le périmètre de la demande en tâche de développement. Contexte de cette preuve conservée : Call To AIdventure. Aucun résultat de cette slide ne doit être attribué aux projets entreprise.</a:t>
            </a:r>
          </a:p>
          <a:p/>
          <a:p>
            <a:r>
              <a:t>Sources : docs/block2/openapi.yaml ; src/django/game/ai_api.py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Le dossier préparatoire joint précise les preuves à fournir. Aucune source entreprise n’a été inspectée directement pendant cette révision. Les intitulés et détails reposent sur les explications du candidat.</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Répondre à partir des implémentations et résultats réels. Aucun lien entre le choix du modèle narratif du jeu et les scores cyber n’est établi. La contribution aux endpoints Tines ne signifie pas création de toute l’application analyste.</a:t>
            </a:r>
          </a:p>
          <a:p/>
          <a:p>
            <a:r>
              <a:t>Sources : Alternance : description du candidat ; pièces techniques à joindre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E3 · C9 À C13</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Intégration et évaluation : des preuves</a:t>
            </a:r>
          </a:p>
          <a:p>
            <a:pPr>
              <a:lnSpc>
                <a:spcPts val="4250"/>
              </a:lnSpc>
              <a:spcBef>
                <a:spcPts val="0"/>
              </a:spcBef>
              <a:spcAft>
                <a:spcPts val="0"/>
              </a:spcAft>
              <a:defRPr sz="3400" b="1">
                <a:solidFill>
                  <a:srgbClr val="F4F6FA"/>
                </a:solidFill>
                <a:latin typeface="Arial"/>
              </a:defRPr>
            </a:pPr>
            <a:r>
              <a:t>complémentaires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Trois contextes identifiés, sans fusion artificielle de leurs architectures.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CALL TO AIDVENTURE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API du jeu et intégration IA.</a:t>
            </a:r>
          </a:p>
          <a:p>
            <a:pPr>
              <a:lnSpc>
                <a:spcPts val="2000"/>
              </a:lnSpc>
              <a:spcBef>
                <a:spcPts val="0"/>
              </a:spcBef>
              <a:spcAft>
                <a:spcPts val="0"/>
              </a:spcAft>
              <a:defRPr sz="1600" b="0">
                <a:solidFill>
                  <a:srgbClr val="F4F6FA"/>
                </a:solidFill>
                <a:latin typeface="Arial"/>
              </a:defRPr>
            </a:pPr>
            <a:r>
              <a:t>Contrôles d’accès, métriques et</a:t>
            </a:r>
          </a:p>
          <a:p>
            <a:pPr>
              <a:lnSpc>
                <a:spcPts val="2000"/>
              </a:lnSpc>
              <a:spcBef>
                <a:spcPts val="0"/>
              </a:spcBef>
              <a:spcAft>
                <a:spcPts val="0"/>
              </a:spcAft>
              <a:defRPr sz="1600" b="0">
                <a:solidFill>
                  <a:srgbClr val="F4F6FA"/>
                </a:solidFill>
                <a:latin typeface="Arial"/>
              </a:defRPr>
            </a:pPr>
            <a:r>
              <a:t>workflow existants.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ANALYSTE CYBER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Application Django et agent LLM.</a:t>
            </a:r>
          </a:p>
          <a:p>
            <a:pPr>
              <a:lnSpc>
                <a:spcPts val="2000"/>
              </a:lnSpc>
              <a:spcBef>
                <a:spcPts val="0"/>
              </a:spcBef>
              <a:spcAft>
                <a:spcPts val="0"/>
              </a:spcAft>
              <a:defRPr sz="1600" b="0">
                <a:solidFill>
                  <a:srgbClr val="F4F6FA"/>
                </a:solidFill>
                <a:latin typeface="Arial"/>
              </a:defRPr>
            </a:pPr>
            <a:r>
              <a:t>Contribution personnelle : quatre</a:t>
            </a:r>
          </a:p>
          <a:p>
            <a:pPr>
              <a:lnSpc>
                <a:spcPts val="2000"/>
              </a:lnSpc>
              <a:spcBef>
                <a:spcPts val="0"/>
              </a:spcBef>
              <a:spcAft>
                <a:spcPts val="0"/>
              </a:spcAft>
              <a:defRPr sz="1600" b="0">
                <a:solidFill>
                  <a:srgbClr val="F4F6FA"/>
                </a:solidFill>
                <a:latin typeface="Arial"/>
              </a:defRPr>
            </a:pPr>
            <a:r>
              <a:t>stories Tines fournissant des</a:t>
            </a:r>
          </a:p>
          <a:p>
            <a:pPr>
              <a:lnSpc>
                <a:spcPts val="2000"/>
              </a:lnSpc>
              <a:spcBef>
                <a:spcPts val="0"/>
              </a:spcBef>
              <a:spcAft>
                <a:spcPts val="0"/>
              </a:spcAft>
              <a:defRPr sz="1600" b="0">
                <a:solidFill>
                  <a:srgbClr val="F4F6FA"/>
                </a:solidFill>
                <a:latin typeface="Arial"/>
              </a:defRPr>
            </a:pPr>
            <a:r>
              <a:t>données EDR.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ÉVALUATION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Application de benchmarks cyber</a:t>
            </a:r>
          </a:p>
          <a:p>
            <a:pPr>
              <a:lnSpc>
                <a:spcPts val="2000"/>
              </a:lnSpc>
              <a:spcBef>
                <a:spcPts val="0"/>
              </a:spcBef>
              <a:spcAft>
                <a:spcPts val="0"/>
              </a:spcAft>
              <a:defRPr sz="1600" b="0">
                <a:solidFill>
                  <a:srgbClr val="F4F6FA"/>
                </a:solidFill>
                <a:latin typeface="Arial"/>
              </a:defRPr>
            </a:pPr>
            <a:r>
              <a:t>et performance.</a:t>
            </a:r>
          </a:p>
          <a:p>
            <a:pPr>
              <a:lnSpc>
                <a:spcPts val="2000"/>
              </a:lnSpc>
              <a:spcBef>
                <a:spcPts val="0"/>
              </a:spcBef>
              <a:spcAft>
                <a:spcPts val="0"/>
              </a:spcAft>
              <a:defRPr sz="1600" b="0">
                <a:solidFill>
                  <a:srgbClr val="F4F6FA"/>
                </a:solidFill>
                <a:latin typeface="Arial"/>
              </a:defRPr>
            </a:pPr>
            <a:r>
              <a:t>Scores et métriques enregistrés en</a:t>
            </a:r>
          </a:p>
          <a:p>
            <a:pPr>
              <a:lnSpc>
                <a:spcPts val="2000"/>
              </a:lnSpc>
              <a:spcBef>
                <a:spcPts val="0"/>
              </a:spcBef>
              <a:spcAft>
                <a:spcPts val="0"/>
              </a:spcAft>
              <a:defRPr sz="1600" b="0">
                <a:solidFill>
                  <a:srgbClr val="F4F6FA"/>
                </a:solidFill>
                <a:latin typeface="Arial"/>
              </a:defRPr>
            </a:pPr>
            <a:r>
              <a:t>base.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Attribuer chaque résultat et chaque responsabilité au bon projet.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C9 · API REST</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Exposer trois points d’entrée documentés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Contrat versionné dans docs/block2/openapi.yaml.</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ÉTAT DE CONFIGURATION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GET /api/v1/ai/health/</a:t>
            </a:r>
          </a:p>
          <a:p>
            <a:pPr>
              <a:lnSpc>
                <a:spcPts val="2000"/>
              </a:lnSpc>
              <a:spcBef>
                <a:spcPts val="0"/>
              </a:spcBef>
              <a:spcAft>
                <a:spcPts val="0"/>
              </a:spcAft>
              <a:defRPr sz="1600" b="0">
                <a:solidFill>
                  <a:srgbClr val="F4F6FA"/>
                </a:solidFill>
                <a:latin typeface="Arial"/>
              </a:defRPr>
            </a:pPr>
            <a:r>
              <a:t>Public.</a:t>
            </a:r>
          </a:p>
          <a:p>
            <a:pPr>
              <a:lnSpc>
                <a:spcPts val="2000"/>
              </a:lnSpc>
              <a:spcBef>
                <a:spcPts val="0"/>
              </a:spcBef>
              <a:spcAft>
                <a:spcPts val="0"/>
              </a:spcAft>
              <a:defRPr sz="1600" b="0">
                <a:solidFill>
                  <a:srgbClr val="F4F6FA"/>
                </a:solidFill>
                <a:latin typeface="Arial"/>
              </a:defRPr>
            </a:pPr>
            <a:r>
              <a:t>Indique la configuration.</a:t>
            </a:r>
          </a:p>
          <a:p>
            <a:pPr>
              <a:lnSpc>
                <a:spcPts val="2000"/>
              </a:lnSpc>
              <a:spcBef>
                <a:spcPts val="0"/>
              </a:spcBef>
              <a:spcAft>
                <a:spcPts val="0"/>
              </a:spcAft>
              <a:defRPr sz="1600" b="0">
                <a:solidFill>
                  <a:srgbClr val="F4F6FA"/>
                </a:solidFill>
                <a:latin typeface="Arial"/>
              </a:defRPr>
            </a:pPr>
            <a:r>
              <a:t>Ne prouve pas un appel réussi au</a:t>
            </a:r>
          </a:p>
          <a:p>
            <a:pPr>
              <a:lnSpc>
                <a:spcPts val="2000"/>
              </a:lnSpc>
              <a:spcBef>
                <a:spcPts val="0"/>
              </a:spcBef>
              <a:spcAft>
                <a:spcPts val="0"/>
              </a:spcAft>
              <a:defRPr sz="1600" b="0">
                <a:solidFill>
                  <a:srgbClr val="F4F6FA"/>
                </a:solidFill>
                <a:latin typeface="Arial"/>
              </a:defRPr>
            </a:pPr>
            <a:r>
              <a:t>fournisseur.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MÉTADONNÉES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GET /api/v1/ai/configuration/</a:t>
            </a:r>
          </a:p>
          <a:p>
            <a:pPr>
              <a:lnSpc>
                <a:spcPts val="2000"/>
              </a:lnSpc>
              <a:spcBef>
                <a:spcPts val="0"/>
              </a:spcBef>
              <a:spcAft>
                <a:spcPts val="0"/>
              </a:spcAft>
              <a:defRPr sz="1600" b="0">
                <a:solidFill>
                  <a:srgbClr val="F4F6FA"/>
                </a:solidFill>
                <a:latin typeface="Arial"/>
              </a:defRPr>
            </a:pPr>
            <a:r>
              <a:t>Authentifié.</a:t>
            </a:r>
          </a:p>
          <a:p>
            <a:pPr>
              <a:lnSpc>
                <a:spcPts val="2000"/>
              </a:lnSpc>
              <a:spcBef>
                <a:spcPts val="0"/>
              </a:spcBef>
              <a:spcAft>
                <a:spcPts val="0"/>
              </a:spcAft>
              <a:defRPr sz="1600" b="0">
                <a:solidFill>
                  <a:srgbClr val="F4F6FA"/>
                </a:solidFill>
                <a:latin typeface="Arial"/>
              </a:defRPr>
            </a:pPr>
            <a:r>
              <a:t>Modèles et limites utiles.</a:t>
            </a:r>
          </a:p>
          <a:p>
            <a:pPr>
              <a:lnSpc>
                <a:spcPts val="2000"/>
              </a:lnSpc>
              <a:spcBef>
                <a:spcPts val="0"/>
              </a:spcBef>
              <a:spcAft>
                <a:spcPts val="0"/>
              </a:spcAft>
              <a:defRPr sz="1600" b="0">
                <a:solidFill>
                  <a:srgbClr val="F4F6FA"/>
                </a:solidFill>
                <a:latin typeface="Arial"/>
              </a:defRPr>
            </a:pPr>
            <a:r>
              <a:t>Aucune clé ni prompt.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TOUR DE JEU</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POST /api/v1/games/</a:t>
            </a:r>
          </a:p>
          <a:p>
            <a:pPr>
              <a:lnSpc>
                <a:spcPts val="2000"/>
              </a:lnSpc>
              <a:spcBef>
                <a:spcPts val="0"/>
              </a:spcBef>
              <a:spcAft>
                <a:spcPts val="0"/>
              </a:spcAft>
              <a:defRPr sz="1600" b="0">
                <a:solidFill>
                  <a:srgbClr val="F4F6FA"/>
                </a:solidFill>
                <a:latin typeface="Arial"/>
              </a:defRPr>
            </a:pPr>
            <a:r>
              <a:t>{game_id}/turns/</a:t>
            </a:r>
          </a:p>
          <a:p>
            <a:pPr>
              <a:lnSpc>
                <a:spcPts val="2000"/>
              </a:lnSpc>
              <a:spcBef>
                <a:spcPts val="0"/>
              </a:spcBef>
              <a:spcAft>
                <a:spcPts val="0"/>
              </a:spcAft>
              <a:defRPr sz="1600" b="0">
                <a:solidFill>
                  <a:srgbClr val="F4F6FA"/>
                </a:solidFill>
                <a:latin typeface="Arial"/>
              </a:defRPr>
            </a:pPr>
            <a:r>
              <a:t>Session + CSRF.</a:t>
            </a:r>
          </a:p>
          <a:p>
            <a:pPr>
              <a:lnSpc>
                <a:spcPts val="2000"/>
              </a:lnSpc>
              <a:spcBef>
                <a:spcPts val="0"/>
              </a:spcBef>
              <a:spcAft>
                <a:spcPts val="0"/>
              </a:spcAft>
              <a:defRPr sz="1600" b="0">
                <a:solidFill>
                  <a:srgbClr val="F4F6FA"/>
                </a:solidFill>
                <a:latin typeface="Arial"/>
              </a:defRPr>
            </a:pPr>
            <a:r>
              <a:t>Avance une sauvegarde possédée.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Une configuration valide ne constitue pas une mesure de disponibilité du modèle.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src/django/game/ai_api.py ; docs/block2/openapi.yaml</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C9 · CONTRÔLES D’ACCÈS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Contrôler avant de solliciter le modèle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La frontière v1 associe identité, propriété et limites.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IDENTITÉ / PROPRIÉTÉ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Session Django.</a:t>
            </a:r>
          </a:p>
          <a:p>
            <a:pPr>
              <a:lnSpc>
                <a:spcPts val="2000"/>
              </a:lnSpc>
              <a:spcBef>
                <a:spcPts val="0"/>
              </a:spcBef>
              <a:spcAft>
                <a:spcPts val="0"/>
              </a:spcAft>
              <a:defRPr sz="1600" b="0">
                <a:solidFill>
                  <a:srgbClr val="F4F6FA"/>
                </a:solidFill>
                <a:latin typeface="Arial"/>
              </a:defRPr>
            </a:pPr>
            <a:r>
              <a:t>Recherche par ID + utilisateur.</a:t>
            </a:r>
          </a:p>
          <a:p>
            <a:pPr>
              <a:lnSpc>
                <a:spcPts val="2000"/>
              </a:lnSpc>
              <a:spcBef>
                <a:spcPts val="0"/>
              </a:spcBef>
              <a:spcAft>
                <a:spcPts val="0"/>
              </a:spcAft>
              <a:defRPr sz="1600" b="0">
                <a:solidFill>
                  <a:srgbClr val="F4F6FA"/>
                </a:solidFill>
                <a:latin typeface="Arial"/>
              </a:defRPr>
            </a:pPr>
            <a:r>
              <a:t>Partie étrangère ou absente :</a:t>
            </a:r>
          </a:p>
          <a:p>
            <a:pPr>
              <a:lnSpc>
                <a:spcPts val="2000"/>
              </a:lnSpc>
              <a:spcBef>
                <a:spcPts val="0"/>
              </a:spcBef>
              <a:spcAft>
                <a:spcPts val="0"/>
              </a:spcAft>
              <a:defRPr sz="1600" b="0">
                <a:solidFill>
                  <a:srgbClr val="F4F6FA"/>
                </a:solidFill>
                <a:latin typeface="Arial"/>
              </a:defRPr>
            </a:pPr>
            <a:r>
              <a:t>même réponse 404.</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REQUÊTE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CSRF requis pour le POST.</a:t>
            </a:r>
          </a:p>
          <a:p>
            <a:pPr>
              <a:lnSpc>
                <a:spcPts val="2000"/>
              </a:lnSpc>
              <a:spcBef>
                <a:spcPts val="0"/>
              </a:spcBef>
              <a:spcAft>
                <a:spcPts val="0"/>
              </a:spcAft>
              <a:defRPr sz="1600" b="0">
                <a:solidFill>
                  <a:srgbClr val="F4F6FA"/>
                </a:solidFill>
                <a:latin typeface="Arial"/>
              </a:defRPr>
            </a:pPr>
            <a:r>
              <a:t>Taille et longueur bornées.</a:t>
            </a:r>
          </a:p>
          <a:p>
            <a:pPr>
              <a:lnSpc>
                <a:spcPts val="2000"/>
              </a:lnSpc>
              <a:spcBef>
                <a:spcPts val="0"/>
              </a:spcBef>
              <a:spcAft>
                <a:spcPts val="0"/>
              </a:spcAft>
              <a:defRPr sz="1600" b="0">
                <a:solidFill>
                  <a:srgbClr val="F4F6FA"/>
                </a:solidFill>
                <a:latin typeface="Arial"/>
              </a:defRPr>
            </a:pPr>
            <a:r>
              <a:t>Choix comparé à la liste serveur</a:t>
            </a:r>
          </a:p>
          <a:p>
            <a:pPr>
              <a:lnSpc>
                <a:spcPts val="2000"/>
              </a:lnSpc>
              <a:spcBef>
                <a:spcPts val="0"/>
              </a:spcBef>
              <a:spcAft>
                <a:spcPts val="0"/>
              </a:spcAft>
              <a:defRPr sz="1600" b="0">
                <a:solidFill>
                  <a:srgbClr val="F4F6FA"/>
                </a:solidFill>
                <a:latin typeface="Arial"/>
              </a:defRPr>
            </a:pPr>
            <a:r>
              <a:t>lorsqu’elle est non vide.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QUOTA</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Compteur utilisateur en cache.</a:t>
            </a:r>
          </a:p>
          <a:p>
            <a:pPr>
              <a:lnSpc>
                <a:spcPts val="2000"/>
              </a:lnSpc>
              <a:spcBef>
                <a:spcPts val="0"/>
              </a:spcBef>
              <a:spcAft>
                <a:spcPts val="0"/>
              </a:spcAft>
              <a:defRPr sz="1600" b="0">
                <a:solidFill>
                  <a:srgbClr val="F4F6FA"/>
                </a:solidFill>
                <a:latin typeface="Arial"/>
              </a:defRPr>
            </a:pPr>
            <a:r>
              <a:t>Dépassement : HTTP 429.</a:t>
            </a:r>
          </a:p>
          <a:p>
            <a:pPr>
              <a:lnSpc>
                <a:spcPts val="2000"/>
              </a:lnSpc>
              <a:spcBef>
                <a:spcPts val="0"/>
              </a:spcBef>
              <a:spcAft>
                <a:spcPts val="0"/>
              </a:spcAft>
              <a:defRPr sz="1600" b="0">
                <a:solidFill>
                  <a:srgbClr val="F4F6FA"/>
                </a:solidFill>
                <a:latin typeface="Arial"/>
              </a:defRPr>
            </a:pPr>
            <a:r>
              <a:t>Un cache partagé et sa</a:t>
            </a:r>
          </a:p>
          <a:p>
            <a:pPr>
              <a:lnSpc>
                <a:spcPts val="2000"/>
              </a:lnSpc>
              <a:spcBef>
                <a:spcPts val="0"/>
              </a:spcBef>
              <a:spcAft>
                <a:spcPts val="0"/>
              </a:spcAft>
              <a:defRPr sz="1600" b="0">
                <a:solidFill>
                  <a:srgbClr val="F4F6FA"/>
                </a:solidFill>
                <a:latin typeface="Arial"/>
              </a:defRPr>
            </a:pPr>
            <a:r>
              <a:t>concurrence sont à revoir pour</a:t>
            </a:r>
          </a:p>
          <a:p>
            <a:pPr>
              <a:lnSpc>
                <a:spcPts val="2000"/>
              </a:lnSpc>
              <a:spcBef>
                <a:spcPts val="0"/>
              </a:spcBef>
              <a:spcAft>
                <a:spcPts val="0"/>
              </a:spcAft>
              <a:defRPr sz="1600" b="0">
                <a:solidFill>
                  <a:srgbClr val="F4F6FA"/>
                </a:solidFill>
                <a:latin typeface="Arial"/>
              </a:defRPr>
            </a:pPr>
            <a:r>
              <a:t>plusieurs instances.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tests prouvent des contrôles précis ; ils ne constituent pas un audit complet de sécurité.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src/django/game/ai_api.py ; src/django/game/test_ai_api.py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C10 · INTÉGRATION PAR OUTILS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L’agent demande des données aux stories Tines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Contribution confirmée : quatre stories avec un contrat d’API précis.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APPLICATION DJANGO</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L’analyste LLM dispose d’outils</a:t>
            </a:r>
          </a:p>
          <a:p>
            <a:pPr>
              <a:lnSpc>
                <a:spcPts val="2000"/>
              </a:lnSpc>
              <a:spcBef>
                <a:spcPts val="0"/>
              </a:spcBef>
              <a:spcAft>
                <a:spcPts val="0"/>
              </a:spcAft>
              <a:defRPr sz="1600" b="0">
                <a:solidFill>
                  <a:srgbClr val="F4F6FA"/>
                </a:solidFill>
                <a:latin typeface="Arial"/>
              </a:defRPr>
            </a:pPr>
            <a:r>
              <a:t>permettant d’appeler les endpoints</a:t>
            </a:r>
          </a:p>
          <a:p>
            <a:pPr>
              <a:lnSpc>
                <a:spcPts val="2000"/>
              </a:lnSpc>
              <a:spcBef>
                <a:spcPts val="0"/>
              </a:spcBef>
              <a:spcAft>
                <a:spcPts val="0"/>
              </a:spcAft>
              <a:defRPr sz="1600" b="0">
                <a:solidFill>
                  <a:srgbClr val="F4F6FA"/>
                </a:solidFill>
                <a:latin typeface="Arial"/>
              </a:defRPr>
            </a:pPr>
            <a:r>
              <a:t>selon l’entité cyber à examiner.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TINES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Webhook d’entrée</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Story dédiée</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Interrogation des consoles EDR</a:t>
            </a:r>
          </a:p>
          <a:p>
            <a:pPr>
              <a:lnSpc>
                <a:spcPts val="2000"/>
              </a:lnSpc>
              <a:spcBef>
                <a:spcPts val="0"/>
              </a:spcBef>
              <a:spcAft>
                <a:spcPts val="0"/>
              </a:spcAft>
              <a:defRPr sz="1600" b="0">
                <a:solidFill>
                  <a:srgbClr val="F4F6FA"/>
                </a:solidFill>
                <a:latin typeface="Arial"/>
              </a:defRPr>
            </a:pPr>
            <a:r>
              <a:t>nécessaires.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RETOUR À L’AGENT</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Les données récupérées sont</a:t>
            </a:r>
          </a:p>
          <a:p>
            <a:pPr>
              <a:lnSpc>
                <a:spcPts val="2000"/>
              </a:lnSpc>
              <a:spcBef>
                <a:spcPts val="0"/>
              </a:spcBef>
              <a:spcAft>
                <a:spcPts val="0"/>
              </a:spcAft>
              <a:defRPr sz="1600" b="0">
                <a:solidFill>
                  <a:srgbClr val="F4F6FA"/>
                </a:solidFill>
                <a:latin typeface="Arial"/>
              </a:defRPr>
            </a:pPr>
            <a:r>
              <a:t>renvoyées à l’appelant.</a:t>
            </a:r>
          </a:p>
          <a:p>
            <a:pPr>
              <a:lnSpc>
                <a:spcPts val="2000"/>
              </a:lnSpc>
              <a:spcBef>
                <a:spcPts val="0"/>
              </a:spcBef>
              <a:spcAft>
                <a:spcPts val="0"/>
              </a:spcAft>
              <a:defRPr sz="1600" b="0">
                <a:solidFill>
                  <a:srgbClr val="F4F6FA"/>
                </a:solidFill>
                <a:latin typeface="Arial"/>
              </a:defRPr>
            </a:pPr>
            <a:r>
              <a:t>Contrat et exemple d’échange à</a:t>
            </a:r>
          </a:p>
          <a:p>
            <a:pPr>
              <a:lnSpc>
                <a:spcPts val="2000"/>
              </a:lnSpc>
              <a:spcBef>
                <a:spcPts val="0"/>
              </a:spcBef>
              <a:spcAft>
                <a:spcPts val="0"/>
              </a:spcAft>
              <a:defRPr sz="1600" b="0">
                <a:solidFill>
                  <a:srgbClr val="F4F6FA"/>
                </a:solidFill>
                <a:latin typeface="Arial"/>
              </a:defRPr>
            </a:pPr>
            <a:r>
              <a:t>joindre.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Ces endpoints exposent des données et des outils ; ils n’exposent pas le modèle lui-même.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C10 · SORTIES ET ERREURS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Valider la forme et protéger la progression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appels au modèle peuvent échouer ou produire une réponse inutilisable.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SORTIES TYPÉES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ChoiceOutput : 3 choix distincts,</a:t>
            </a:r>
          </a:p>
          <a:p>
            <a:pPr>
              <a:lnSpc>
                <a:spcPts val="2000"/>
              </a:lnSpc>
              <a:spcBef>
                <a:spcPts val="0"/>
              </a:spcBef>
              <a:spcAft>
                <a:spcPts val="0"/>
              </a:spcAft>
              <a:defRPr sz="1600" b="0">
                <a:solidFill>
                  <a:srgbClr val="F4F6FA"/>
                </a:solidFill>
                <a:latin typeface="Arial"/>
              </a:defRPr>
            </a:pPr>
            <a:r>
              <a:t>chacun ≤ 6 mots.</a:t>
            </a:r>
          </a:p>
          <a:p>
            <a:pPr>
              <a:lnSpc>
                <a:spcPts val="2000"/>
              </a:lnSpc>
              <a:spcBef>
                <a:spcPts val="0"/>
              </a:spcBef>
              <a:spcAft>
                <a:spcPts val="0"/>
              </a:spcAft>
              <a:defRPr sz="1600" b="0">
                <a:solidFill>
                  <a:srgbClr val="F4F6FA"/>
                </a:solidFill>
                <a:latin typeface="Arial"/>
              </a:defRPr>
            </a:pPr>
            <a:r>
              <a:t>Objectifs et progression : schémas</a:t>
            </a:r>
          </a:p>
          <a:p>
            <a:pPr>
              <a:lnSpc>
                <a:spcPts val="2000"/>
              </a:lnSpc>
              <a:spcBef>
                <a:spcPts val="0"/>
              </a:spcBef>
              <a:spcAft>
                <a:spcPts val="0"/>
              </a:spcAft>
              <a:defRPr sz="1600" b="0">
                <a:solidFill>
                  <a:srgbClr val="F4F6FA"/>
                </a:solidFill>
                <a:latin typeface="Arial"/>
              </a:defRPr>
            </a:pPr>
            <a:r>
              <a:t>dédiés.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REPRISES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Retry sur erreurs transitoires.</a:t>
            </a:r>
          </a:p>
          <a:p>
            <a:pPr>
              <a:lnSpc>
                <a:spcPts val="2000"/>
              </a:lnSpc>
              <a:spcBef>
                <a:spcPts val="0"/>
              </a:spcBef>
              <a:spcAft>
                <a:spcPts val="0"/>
              </a:spcAft>
              <a:defRPr sz="1600" b="0">
                <a:solidFill>
                  <a:srgbClr val="F4F6FA"/>
                </a:solidFill>
                <a:latin typeface="Arial"/>
              </a:defRPr>
            </a:pPr>
            <a:r>
              <a:t>Délais et tentatives bornés.</a:t>
            </a:r>
          </a:p>
          <a:p>
            <a:pPr>
              <a:lnSpc>
                <a:spcPts val="2000"/>
              </a:lnSpc>
              <a:spcBef>
                <a:spcPts val="0"/>
              </a:spcBef>
              <a:spcAft>
                <a:spcPts val="0"/>
              </a:spcAft>
              <a:defRPr sz="1600" b="0">
                <a:solidFill>
                  <a:srgbClr val="F4F6FA"/>
                </a:solidFill>
                <a:latin typeface="Arial"/>
              </a:defRPr>
            </a:pPr>
            <a:r>
              <a:t>Après épuisement : erreur</a:t>
            </a:r>
          </a:p>
          <a:p>
            <a:pPr>
              <a:lnSpc>
                <a:spcPts val="2000"/>
              </a:lnSpc>
              <a:spcBef>
                <a:spcPts val="0"/>
              </a:spcBef>
              <a:spcAft>
                <a:spcPts val="0"/>
              </a:spcAft>
              <a:defRPr sz="1600" b="0">
                <a:solidFill>
                  <a:srgbClr val="F4F6FA"/>
                </a:solidFill>
                <a:latin typeface="Arial"/>
              </a:defRPr>
            </a:pPr>
            <a:r>
              <a:t>contrôlée du service.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ÉTAT DU JEU</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génération échouée ne doit</a:t>
            </a:r>
          </a:p>
          <a:p>
            <a:pPr>
              <a:lnSpc>
                <a:spcPts val="2000"/>
              </a:lnSpc>
              <a:spcBef>
                <a:spcPts val="0"/>
              </a:spcBef>
              <a:spcAft>
                <a:spcPts val="0"/>
              </a:spcAft>
              <a:defRPr sz="1600" b="0">
                <a:solidFill>
                  <a:srgbClr val="F4F6FA"/>
                </a:solidFill>
                <a:latin typeface="Arial"/>
              </a:defRPr>
            </a:pPr>
            <a:r>
              <a:t>pas avancer l’état.</a:t>
            </a:r>
          </a:p>
          <a:p>
            <a:pPr>
              <a:lnSpc>
                <a:spcPts val="2000"/>
              </a:lnSpc>
              <a:spcBef>
                <a:spcPts val="0"/>
              </a:spcBef>
              <a:spcAft>
                <a:spcPts val="0"/>
              </a:spcAft>
              <a:defRPr sz="1600" b="0">
                <a:solidFill>
                  <a:srgbClr val="F4F6FA"/>
                </a:solidFill>
                <a:latin typeface="Arial"/>
              </a:defRPr>
            </a:pPr>
            <a:r>
              <a:t>Les règles de soin, dégâts et</a:t>
            </a:r>
          </a:p>
          <a:p>
            <a:pPr>
              <a:lnSpc>
                <a:spcPts val="2000"/>
              </a:lnSpc>
              <a:spcBef>
                <a:spcPts val="0"/>
              </a:spcBef>
              <a:spcAft>
                <a:spcPts val="0"/>
              </a:spcAft>
              <a:defRPr sz="1600" b="0">
                <a:solidFill>
                  <a:srgbClr val="F4F6FA"/>
                </a:solidFill>
                <a:latin typeface="Arial"/>
              </a:defRPr>
            </a:pPr>
            <a:r>
              <a:t>progression restent côté serveur.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Réussite HTTP, validité du schéma et pertinence narrative sont trois vérifications différentes.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src/agents/schemas.py ; src/django/game/tests.py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C11 · OBSERVABILITÉ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Observer disponibilité, qualité et coût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Collecteurs → Prometheus → Grafana ; règles vers Alertmanager.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SERVICE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Nombre d’appels et erreurs.</a:t>
            </a:r>
          </a:p>
          <a:p>
            <a:pPr>
              <a:lnSpc>
                <a:spcPts val="2000"/>
              </a:lnSpc>
              <a:spcBef>
                <a:spcPts val="0"/>
              </a:spcBef>
              <a:spcAft>
                <a:spcPts val="0"/>
              </a:spcAft>
              <a:defRPr sz="1600" b="0">
                <a:solidFill>
                  <a:srgbClr val="F4F6FA"/>
                </a:solidFill>
                <a:latin typeface="Arial"/>
              </a:defRPr>
            </a:pPr>
            <a:r>
              <a:t>Histogramme des durées.</a:t>
            </a:r>
          </a:p>
          <a:p>
            <a:pPr>
              <a:lnSpc>
                <a:spcPts val="2000"/>
              </a:lnSpc>
              <a:spcBef>
                <a:spcPts val="0"/>
              </a:spcBef>
              <a:spcAft>
                <a:spcPts val="0"/>
              </a:spcAft>
              <a:defRPr sz="1600" b="0">
                <a:solidFill>
                  <a:srgbClr val="F4F6FA"/>
                </a:solidFill>
                <a:latin typeface="Arial"/>
              </a:defRPr>
            </a:pPr>
            <a:r>
              <a:t>Objectifs : 99 % de succès et p95</a:t>
            </a:r>
          </a:p>
          <a:p>
            <a:pPr>
              <a:lnSpc>
                <a:spcPts val="2000"/>
              </a:lnSpc>
              <a:spcBef>
                <a:spcPts val="0"/>
              </a:spcBef>
              <a:spcAft>
                <a:spcPts val="0"/>
              </a:spcAft>
              <a:defRPr sz="1600" b="0">
                <a:solidFill>
                  <a:srgbClr val="F4F6FA"/>
                </a:solidFill>
                <a:latin typeface="Arial"/>
              </a:defRPr>
            </a:pPr>
            <a:r>
              <a:t>&lt; 30 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 / RAG</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Sorties structurées valides ou</a:t>
            </a:r>
          </a:p>
          <a:p>
            <a:pPr>
              <a:lnSpc>
                <a:spcPts val="2000"/>
              </a:lnSpc>
              <a:spcBef>
                <a:spcPts val="0"/>
              </a:spcBef>
              <a:spcAft>
                <a:spcPts val="0"/>
              </a:spcAft>
              <a:defRPr sz="1600" b="0">
                <a:solidFill>
                  <a:srgbClr val="F4F6FA"/>
                </a:solidFill>
                <a:latin typeface="Arial"/>
              </a:defRPr>
            </a:pPr>
            <a:r>
              <a:t>invalides.</a:t>
            </a:r>
          </a:p>
          <a:p>
            <a:pPr>
              <a:lnSpc>
                <a:spcPts val="2000"/>
              </a:lnSpc>
              <a:spcBef>
                <a:spcPts val="0"/>
              </a:spcBef>
              <a:spcAft>
                <a:spcPts val="0"/>
              </a:spcAft>
              <a:defRPr sz="1600" b="0">
                <a:solidFill>
                  <a:srgbClr val="F4F6FA"/>
                </a:solidFill>
                <a:latin typeface="Arial"/>
              </a:defRPr>
            </a:pPr>
            <a:r>
              <a:t>RAG : résultats, vides, erreurs et</a:t>
            </a:r>
          </a:p>
          <a:p>
            <a:pPr>
              <a:lnSpc>
                <a:spcPts val="2000"/>
              </a:lnSpc>
              <a:spcBef>
                <a:spcPts val="0"/>
              </a:spcBef>
              <a:spcAft>
                <a:spcPts val="0"/>
              </a:spcAft>
              <a:defRPr sz="1600" b="0">
                <a:solidFill>
                  <a:srgbClr val="F4F6FA"/>
                </a:solidFill>
                <a:latin typeface="Arial"/>
              </a:defRPr>
            </a:pPr>
            <a:r>
              <a:t>durées de récupération.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CONSOMMATION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Tokens d’entrée / sortie.</a:t>
            </a:r>
          </a:p>
          <a:p>
            <a:pPr>
              <a:lnSpc>
                <a:spcPts val="2000"/>
              </a:lnSpc>
              <a:spcBef>
                <a:spcPts val="0"/>
              </a:spcBef>
              <a:spcAft>
                <a:spcPts val="0"/>
              </a:spcAft>
              <a:defRPr sz="1600" b="0">
                <a:solidFill>
                  <a:srgbClr val="F4F6FA"/>
                </a:solidFill>
                <a:latin typeface="Arial"/>
              </a:defRPr>
            </a:pPr>
            <a:r>
              <a:t>Coût estimé avec tarifs configurés.</a:t>
            </a:r>
          </a:p>
          <a:p>
            <a:pPr>
              <a:lnSpc>
                <a:spcPts val="2000"/>
              </a:lnSpc>
              <a:spcBef>
                <a:spcPts val="0"/>
              </a:spcBef>
              <a:spcAft>
                <a:spcPts val="0"/>
              </a:spcAft>
              <a:defRPr sz="1600" b="0">
                <a:solidFill>
                  <a:srgbClr val="F4F6FA"/>
                </a:solidFill>
                <a:latin typeface="Arial"/>
              </a:defRPr>
            </a:pPr>
            <a:r>
              <a:t>Labels sans prompts, identités ni</a:t>
            </a:r>
          </a:p>
          <a:p>
            <a:pPr>
              <a:lnSpc>
                <a:spcPts val="2000"/>
              </a:lnSpc>
              <a:spcBef>
                <a:spcPts val="0"/>
              </a:spcBef>
              <a:spcAft>
                <a:spcPts val="0"/>
              </a:spcAft>
              <a:defRPr sz="1600" b="0">
                <a:solidFill>
                  <a:srgbClr val="F4F6FA"/>
                </a:solidFill>
                <a:latin typeface="Arial"/>
              </a:defRPr>
            </a:pPr>
            <a:r>
              <a:t>sessions.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SLO sont des objectifs ; aucun historique de production n’est présenté ici.</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src/observability/ ; docs/block2/monitoring-slos.md ; monitoring/</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C11 · ALERTES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Transformer un signal en action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Règles présentes ; livraison d’une notification externe à démontrer.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DÉTECTER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3 indisponibilités en 10 min.</a:t>
            </a:r>
          </a:p>
          <a:p>
            <a:pPr>
              <a:lnSpc>
                <a:spcPts val="2000"/>
              </a:lnSpc>
              <a:spcBef>
                <a:spcPts val="0"/>
              </a:spcBef>
              <a:spcAft>
                <a:spcPts val="0"/>
              </a:spcAft>
              <a:defRPr sz="1600" b="0">
                <a:solidFill>
                  <a:srgbClr val="F4F6FA"/>
                </a:solidFill>
                <a:latin typeface="Arial"/>
              </a:defRPr>
            </a:pPr>
            <a:r>
              <a:t>Latence élevée persistante.</a:t>
            </a:r>
          </a:p>
          <a:p>
            <a:pPr>
              <a:lnSpc>
                <a:spcPts val="2000"/>
              </a:lnSpc>
              <a:spcBef>
                <a:spcPts val="0"/>
              </a:spcBef>
              <a:spcAft>
                <a:spcPts val="0"/>
              </a:spcAft>
              <a:defRPr sz="1600" b="0">
                <a:solidFill>
                  <a:srgbClr val="F4F6FA"/>
                </a:solidFill>
                <a:latin typeface="Arial"/>
              </a:defRPr>
            </a:pPr>
            <a:r>
              <a:t>Sortie structurée invalide.</a:t>
            </a:r>
          </a:p>
          <a:p>
            <a:pPr>
              <a:lnSpc>
                <a:spcPts val="2000"/>
              </a:lnSpc>
              <a:spcBef>
                <a:spcPts val="0"/>
              </a:spcBef>
              <a:spcAft>
                <a:spcPts val="0"/>
              </a:spcAft>
              <a:defRPr sz="1600" b="0">
                <a:solidFill>
                  <a:srgbClr val="F4F6FA"/>
                </a:solidFill>
                <a:latin typeface="Arial"/>
              </a:defRPr>
            </a:pPr>
            <a:r>
              <a:t>Erreurs de retrieval.</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DIAGNOSTIQUER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Identifier modèle et révision.</a:t>
            </a:r>
          </a:p>
          <a:p>
            <a:pPr>
              <a:lnSpc>
                <a:spcPts val="2000"/>
              </a:lnSpc>
              <a:spcBef>
                <a:spcPts val="0"/>
              </a:spcBef>
              <a:spcAft>
                <a:spcPts val="0"/>
              </a:spcAft>
              <a:defRPr sz="1600" b="0">
                <a:solidFill>
                  <a:srgbClr val="F4F6FA"/>
                </a:solidFill>
                <a:latin typeface="Arial"/>
              </a:defRPr>
            </a:pPr>
            <a:r>
              <a:t>Comparer erreurs, durée et RAG.</a:t>
            </a:r>
          </a:p>
          <a:p>
            <a:pPr>
              <a:lnSpc>
                <a:spcPts val="2000"/>
              </a:lnSpc>
              <a:spcBef>
                <a:spcPts val="0"/>
              </a:spcBef>
              <a:spcAft>
                <a:spcPts val="0"/>
              </a:spcAft>
              <a:defRPr sz="1600" b="0">
                <a:solidFill>
                  <a:srgbClr val="F4F6FA"/>
                </a:solidFill>
                <a:latin typeface="Arial"/>
              </a:defRPr>
            </a:pPr>
            <a:r>
              <a:t>Reproduire avec un cas minimal</a:t>
            </a:r>
          </a:p>
          <a:p>
            <a:pPr>
              <a:lnSpc>
                <a:spcPts val="2000"/>
              </a:lnSpc>
              <a:spcBef>
                <a:spcPts val="0"/>
              </a:spcBef>
              <a:spcAft>
                <a:spcPts val="0"/>
              </a:spcAft>
              <a:defRPr sz="1600" b="0">
                <a:solidFill>
                  <a:srgbClr val="F4F6FA"/>
                </a:solidFill>
                <a:latin typeface="Arial"/>
              </a:defRPr>
            </a:pPr>
            <a:r>
              <a:t>sans donnée personnelle.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AMÉLIORER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Corriger prompt ou configuration.</a:t>
            </a:r>
          </a:p>
          <a:p>
            <a:pPr>
              <a:lnSpc>
                <a:spcPts val="2000"/>
              </a:lnSpc>
              <a:spcBef>
                <a:spcPts val="0"/>
              </a:spcBef>
              <a:spcAft>
                <a:spcPts val="0"/>
              </a:spcAft>
              <a:defRPr sz="1600" b="0">
                <a:solidFill>
                  <a:srgbClr val="F4F6FA"/>
                </a:solidFill>
                <a:latin typeface="Arial"/>
              </a:defRPr>
            </a:pPr>
            <a:r>
              <a:t>Rejouer les cas de référence.</a:t>
            </a:r>
          </a:p>
          <a:p>
            <a:pPr>
              <a:lnSpc>
                <a:spcPts val="2000"/>
              </a:lnSpc>
              <a:spcBef>
                <a:spcPts val="0"/>
              </a:spcBef>
              <a:spcAft>
                <a:spcPts val="0"/>
              </a:spcAft>
              <a:defRPr sz="1600" b="0">
                <a:solidFill>
                  <a:srgbClr val="F4F6FA"/>
                </a:solidFill>
                <a:latin typeface="Arial"/>
              </a:defRPr>
            </a:pPr>
            <a:r>
              <a:t>Comparer avant / après.</a:t>
            </a:r>
          </a:p>
          <a:p>
            <a:pPr>
              <a:lnSpc>
                <a:spcPts val="2000"/>
              </a:lnSpc>
              <a:spcBef>
                <a:spcPts val="0"/>
              </a:spcBef>
              <a:spcAft>
                <a:spcPts val="0"/>
              </a:spcAft>
              <a:defRPr sz="1600" b="0">
                <a:solidFill>
                  <a:srgbClr val="F4F6FA"/>
                </a:solidFill>
                <a:latin typeface="Arial"/>
              </a:defRPr>
            </a:pPr>
            <a:r>
              <a:t>Garder un retour arrière.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Alertmanager utilise un récepteur local : aucune notification externe n’a été prouvée.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docs/block2/monitoring-slos.md ; monitoring/alertmanager/</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C12 · ÉVALUATION AUTOMATISÉE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Exécuter des benchmarks cyber et de performance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Réalisation d’alternance : une application de lancement et de stockage des résultats.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CYBERSÉCURITÉ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Exécution des benchmarks</a:t>
            </a:r>
          </a:p>
          <a:p>
            <a:pPr>
              <a:lnSpc>
                <a:spcPts val="2000"/>
              </a:lnSpc>
              <a:spcBef>
                <a:spcPts val="0"/>
              </a:spcBef>
              <a:spcAft>
                <a:spcPts val="0"/>
              </a:spcAft>
              <a:defRPr sz="1600" b="0">
                <a:solidFill>
                  <a:srgbClr val="F4F6FA"/>
                </a:solidFill>
                <a:latin typeface="Arial"/>
              </a:defRPr>
            </a:pPr>
            <a:r>
              <a:t>retenus.</a:t>
            </a:r>
          </a:p>
          <a:p>
            <a:pPr>
              <a:lnSpc>
                <a:spcPts val="2000"/>
              </a:lnSpc>
              <a:spcBef>
                <a:spcPts val="0"/>
              </a:spcBef>
              <a:spcAft>
                <a:spcPts val="0"/>
              </a:spcAft>
              <a:defRPr sz="1600" b="0">
                <a:solidFill>
                  <a:srgbClr val="F4F6FA"/>
                </a:solidFill>
                <a:latin typeface="Arial"/>
              </a:defRPr>
            </a:pPr>
            <a:r>
              <a:t>Production de scores.</a:t>
            </a:r>
          </a:p>
          <a:p>
            <a:pPr>
              <a:lnSpc>
                <a:spcPts val="2000"/>
              </a:lnSpc>
              <a:spcBef>
                <a:spcPts val="0"/>
              </a:spcBef>
              <a:spcAft>
                <a:spcPts val="0"/>
              </a:spcAft>
              <a:defRPr sz="1600" b="0">
                <a:solidFill>
                  <a:srgbClr val="F4F6FA"/>
                </a:solidFill>
                <a:latin typeface="Arial"/>
              </a:defRPr>
            </a:pPr>
            <a:r>
              <a:t>Règles de scoring sans juge</a:t>
            </a:r>
          </a:p>
          <a:p>
            <a:pPr>
              <a:lnSpc>
                <a:spcPts val="2000"/>
              </a:lnSpc>
              <a:spcBef>
                <a:spcPts val="0"/>
              </a:spcBef>
              <a:spcAft>
                <a:spcPts val="0"/>
              </a:spcAft>
              <a:defRPr sz="1600" b="0">
                <a:solidFill>
                  <a:srgbClr val="F4F6FA"/>
                </a:solidFill>
                <a:latin typeface="Arial"/>
              </a:defRPr>
            </a:pPr>
            <a:r>
              <a:t>humain ni LLM recherchées à la</a:t>
            </a:r>
          </a:p>
          <a:p>
            <a:pPr>
              <a:lnSpc>
                <a:spcPts val="2000"/>
              </a:lnSpc>
              <a:spcBef>
                <a:spcPts val="0"/>
              </a:spcBef>
              <a:spcAft>
                <a:spcPts val="0"/>
              </a:spcAft>
              <a:defRPr sz="1600" b="0">
                <a:solidFill>
                  <a:srgbClr val="F4F6FA"/>
                </a:solidFill>
                <a:latin typeface="Arial"/>
              </a:defRPr>
            </a:pPr>
            <a:r>
              <a:t>sélection.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PERFORMANCE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Mesures P50, P95, P99.</a:t>
            </a:r>
          </a:p>
          <a:p>
            <a:pPr>
              <a:lnSpc>
                <a:spcPts val="2000"/>
              </a:lnSpc>
              <a:spcBef>
                <a:spcPts val="0"/>
              </a:spcBef>
              <a:spcAft>
                <a:spcPts val="0"/>
              </a:spcAft>
              <a:defRPr sz="1600" b="0">
                <a:solidFill>
                  <a:srgbClr val="F4F6FA"/>
                </a:solidFill>
                <a:latin typeface="Arial"/>
              </a:defRPr>
            </a:pPr>
            <a:r>
              <a:t>Vitesse et concurrence.</a:t>
            </a:r>
          </a:p>
          <a:p>
            <a:pPr>
              <a:lnSpc>
                <a:spcPts val="2000"/>
              </a:lnSpc>
              <a:spcBef>
                <a:spcPts val="0"/>
              </a:spcBef>
              <a:spcAft>
                <a:spcPts val="0"/>
              </a:spcAft>
              <a:defRPr sz="1600" b="0">
                <a:solidFill>
                  <a:srgbClr val="F4F6FA"/>
                </a:solidFill>
                <a:latin typeface="Arial"/>
              </a:defRPr>
            </a:pPr>
            <a:r>
              <a:t>Définir les unités, le scénario et le</a:t>
            </a:r>
          </a:p>
          <a:p>
            <a:pPr>
              <a:lnSpc>
                <a:spcPts val="2000"/>
              </a:lnSpc>
              <a:spcBef>
                <a:spcPts val="0"/>
              </a:spcBef>
              <a:spcAft>
                <a:spcPts val="0"/>
              </a:spcAft>
              <a:defRPr sz="1600" b="0">
                <a:solidFill>
                  <a:srgbClr val="F4F6FA"/>
                </a:solidFill>
                <a:latin typeface="Arial"/>
              </a:defRPr>
            </a:pPr>
            <a:r>
              <a:t>nombre de requêtes.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PERSISTANCE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Métriques et résultats en BDD.</a:t>
            </a:r>
          </a:p>
          <a:p>
            <a:pPr>
              <a:lnSpc>
                <a:spcPts val="2000"/>
              </a:lnSpc>
              <a:spcBef>
                <a:spcPts val="0"/>
              </a:spcBef>
              <a:spcAft>
                <a:spcPts val="0"/>
              </a:spcAft>
              <a:defRPr sz="1600" b="0">
                <a:solidFill>
                  <a:srgbClr val="F4F6FA"/>
                </a:solidFill>
                <a:latin typeface="Arial"/>
              </a:defRPr>
            </a:pPr>
            <a:r>
              <a:t>Joindre une exécution réelle, son</a:t>
            </a:r>
          </a:p>
          <a:p>
            <a:pPr>
              <a:lnSpc>
                <a:spcPts val="2000"/>
              </a:lnSpc>
              <a:spcBef>
                <a:spcPts val="0"/>
              </a:spcBef>
              <a:spcAft>
                <a:spcPts val="0"/>
              </a:spcAft>
              <a:defRPr sz="1600" b="0">
                <a:solidFill>
                  <a:srgbClr val="F4F6FA"/>
                </a:solidFill>
                <a:latin typeface="Arial"/>
              </a:defRPr>
            </a:pPr>
            <a:r>
              <a:t>contexte et les résultats</a:t>
            </a:r>
          </a:p>
          <a:p>
            <a:pPr>
              <a:lnSpc>
                <a:spcPts val="2000"/>
              </a:lnSpc>
              <a:spcBef>
                <a:spcPts val="0"/>
              </a:spcBef>
              <a:spcAft>
                <a:spcPts val="0"/>
              </a:spcAft>
              <a:defRPr sz="1600" b="0">
                <a:solidFill>
                  <a:srgbClr val="F4F6FA"/>
                </a:solidFill>
                <a:latin typeface="Arial"/>
              </a:defRPr>
            </a:pPr>
            <a:r>
              <a:t>correspondants.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tests du logiciel et les évaluations des modèles restent deux preuves distinctes.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C12 · RUN À PRÉSENTER</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Présenter un run du modèle disponible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Famille Qwen ; référence exacte et résultats à insérer depuis les preuves.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CYBER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Benchmark et version.</a:t>
            </a:r>
          </a:p>
          <a:p>
            <a:pPr>
              <a:lnSpc>
                <a:spcPts val="2000"/>
              </a:lnSpc>
              <a:spcBef>
                <a:spcPts val="0"/>
              </a:spcBef>
              <a:spcAft>
                <a:spcPts val="0"/>
              </a:spcAft>
              <a:defRPr sz="1600" b="0">
                <a:solidFill>
                  <a:srgbClr val="F4F6FA"/>
                </a:solidFill>
                <a:latin typeface="Arial"/>
              </a:defRPr>
            </a:pPr>
            <a:r>
              <a:t>Score obtenu et unité.</a:t>
            </a:r>
          </a:p>
          <a:p>
            <a:pPr>
              <a:lnSpc>
                <a:spcPts val="2000"/>
              </a:lnSpc>
              <a:spcBef>
                <a:spcPts val="0"/>
              </a:spcBef>
              <a:spcAft>
                <a:spcPts val="0"/>
              </a:spcAft>
              <a:defRPr sz="1600" b="0">
                <a:solidFill>
                  <a:srgbClr val="F4F6FA"/>
                </a:solidFill>
                <a:latin typeface="Arial"/>
              </a:defRPr>
            </a:pPr>
            <a:r>
              <a:t>Nombre de cas.</a:t>
            </a:r>
          </a:p>
          <a:p>
            <a:pPr>
              <a:lnSpc>
                <a:spcPts val="2000"/>
              </a:lnSpc>
              <a:spcBef>
                <a:spcPts val="0"/>
              </a:spcBef>
              <a:spcAft>
                <a:spcPts val="0"/>
              </a:spcAft>
              <a:defRPr sz="1600" b="0">
                <a:solidFill>
                  <a:srgbClr val="F4F6FA"/>
                </a:solidFill>
                <a:latin typeface="Arial"/>
              </a:defRPr>
            </a:pPr>
            <a:r>
              <a:t>Mécanisme de scoring retenu.</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PERFORMANCE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P50 / P95 / P99.</a:t>
            </a:r>
          </a:p>
          <a:p>
            <a:pPr>
              <a:lnSpc>
                <a:spcPts val="2000"/>
              </a:lnSpc>
              <a:spcBef>
                <a:spcPts val="0"/>
              </a:spcBef>
              <a:spcAft>
                <a:spcPts val="0"/>
              </a:spcAft>
              <a:defRPr sz="1600" b="0">
                <a:solidFill>
                  <a:srgbClr val="F4F6FA"/>
                </a:solidFill>
                <a:latin typeface="Arial"/>
              </a:defRPr>
            </a:pPr>
            <a:r>
              <a:t>Vitesse et unité.</a:t>
            </a:r>
          </a:p>
          <a:p>
            <a:pPr>
              <a:lnSpc>
                <a:spcPts val="2000"/>
              </a:lnSpc>
              <a:spcBef>
                <a:spcPts val="0"/>
              </a:spcBef>
              <a:spcAft>
                <a:spcPts val="0"/>
              </a:spcAft>
              <a:defRPr sz="1600" b="0">
                <a:solidFill>
                  <a:srgbClr val="F4F6FA"/>
                </a:solidFill>
                <a:latin typeface="Arial"/>
              </a:defRPr>
            </a:pPr>
            <a:r>
              <a:t>Concurrence exercée.</a:t>
            </a:r>
          </a:p>
          <a:p>
            <a:pPr>
              <a:lnSpc>
                <a:spcPts val="2000"/>
              </a:lnSpc>
              <a:spcBef>
                <a:spcPts val="0"/>
              </a:spcBef>
              <a:spcAft>
                <a:spcPts val="0"/>
              </a:spcAft>
              <a:defRPr sz="1600" b="0">
                <a:solidFill>
                  <a:srgbClr val="F4F6FA"/>
                </a:solidFill>
                <a:latin typeface="Arial"/>
              </a:defRPr>
            </a:pPr>
            <a:r>
              <a:t>Charge, erreurs et durée du test.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INTERPRÉTATION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Ce que le run démontre.</a:t>
            </a:r>
          </a:p>
          <a:p>
            <a:pPr>
              <a:lnSpc>
                <a:spcPts val="2000"/>
              </a:lnSpc>
              <a:spcBef>
                <a:spcPts val="0"/>
              </a:spcBef>
              <a:spcAft>
                <a:spcPts val="0"/>
              </a:spcAft>
              <a:defRPr sz="1600" b="0">
                <a:solidFill>
                  <a:srgbClr val="F4F6FA"/>
                </a:solidFill>
                <a:latin typeface="Arial"/>
              </a:defRPr>
            </a:pPr>
            <a:r>
              <a:t>Ses limites.</a:t>
            </a:r>
          </a:p>
          <a:p>
            <a:pPr>
              <a:lnSpc>
                <a:spcPts val="2000"/>
              </a:lnSpc>
              <a:spcBef>
                <a:spcPts val="0"/>
              </a:spcBef>
              <a:spcAft>
                <a:spcPts val="0"/>
              </a:spcAft>
              <a:defRPr sz="1600" b="0">
                <a:solidFill>
                  <a:srgbClr val="F4F6FA"/>
                </a:solidFill>
                <a:latin typeface="Arial"/>
              </a:defRPr>
            </a:pPr>
            <a:r>
              <a:t>Décisions possibles pour l’usage.</a:t>
            </a:r>
          </a:p>
          <a:p>
            <a:pPr>
              <a:lnSpc>
                <a:spcPts val="2000"/>
              </a:lnSpc>
              <a:spcBef>
                <a:spcPts val="0"/>
              </a:spcBef>
              <a:spcAft>
                <a:spcPts val="0"/>
              </a:spcAft>
              <a:defRPr sz="1600" b="0">
                <a:solidFill>
                  <a:srgbClr val="F4F6FA"/>
                </a:solidFill>
                <a:latin typeface="Arial"/>
              </a:defRPr>
            </a:pPr>
            <a:r>
              <a:t>Aucun classement multi-modèles.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runs existent selon le candidat ; aucune valeur n’est recopiée avant réception des pièces.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C13 · INTÉGRATION CONTINUE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Automatiser les contrôles avant livraison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Workflow Block 2 AI component versionné dans GitHub Actions.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Dépendances verrouillées.</a:t>
            </a:r>
          </a:p>
          <a:p>
            <a:pPr>
              <a:lnSpc>
                <a:spcPts val="2000"/>
              </a:lnSpc>
              <a:spcBef>
                <a:spcPts val="0"/>
              </a:spcBef>
              <a:spcAft>
                <a:spcPts val="0"/>
              </a:spcAft>
              <a:defRPr sz="1600" b="0">
                <a:solidFill>
                  <a:srgbClr val="F4F6FA"/>
                </a:solidFill>
                <a:latin typeface="Arial"/>
              </a:defRPr>
            </a:pPr>
            <a:r>
              <a:t>Lint et checks Django.</a:t>
            </a:r>
          </a:p>
          <a:p>
            <a:pPr>
              <a:lnSpc>
                <a:spcPts val="2000"/>
              </a:lnSpc>
              <a:spcBef>
                <a:spcPts val="0"/>
              </a:spcBef>
              <a:spcAft>
                <a:spcPts val="0"/>
              </a:spcAft>
              <a:defRPr sz="1600" b="0">
                <a:solidFill>
                  <a:srgbClr val="F4F6FA"/>
                </a:solidFill>
                <a:latin typeface="Arial"/>
              </a:defRPr>
            </a:pPr>
            <a:r>
              <a:t>Tests + seuil de couverture 55 %.</a:t>
            </a:r>
          </a:p>
          <a:p>
            <a:pPr>
              <a:lnSpc>
                <a:spcPts val="2000"/>
              </a:lnSpc>
              <a:spcBef>
                <a:spcPts val="0"/>
              </a:spcBef>
              <a:spcAft>
                <a:spcPts val="0"/>
              </a:spcAft>
              <a:defRPr sz="1600" b="0">
                <a:solidFill>
                  <a:srgbClr val="F4F6FA"/>
                </a:solidFill>
                <a:latin typeface="Arial"/>
              </a:defRPr>
            </a:pPr>
            <a:r>
              <a:t>RAG dry-run + dataset offline.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ARTEFACT</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Validation des configurations de</a:t>
            </a:r>
          </a:p>
          <a:p>
            <a:pPr>
              <a:lnSpc>
                <a:spcPts val="2000"/>
              </a:lnSpc>
              <a:spcBef>
                <a:spcPts val="0"/>
              </a:spcBef>
              <a:spcAft>
                <a:spcPts val="0"/>
              </a:spcAft>
              <a:defRPr sz="1600" b="0">
                <a:solidFill>
                  <a:srgbClr val="F4F6FA"/>
                </a:solidFill>
                <a:latin typeface="Arial"/>
              </a:defRPr>
            </a:pPr>
            <a:r>
              <a:t>monitoring.</a:t>
            </a:r>
          </a:p>
          <a:p>
            <a:pPr>
              <a:lnSpc>
                <a:spcPts val="2000"/>
              </a:lnSpc>
              <a:spcBef>
                <a:spcPts val="0"/>
              </a:spcBef>
              <a:spcAft>
                <a:spcPts val="0"/>
              </a:spcAft>
              <a:defRPr sz="1600" b="0">
                <a:solidFill>
                  <a:srgbClr val="F4F6FA"/>
                </a:solidFill>
                <a:latin typeface="Arial"/>
              </a:defRPr>
            </a:pPr>
            <a:r>
              <a:t>Build Docker tagué SHA Git.</a:t>
            </a:r>
          </a:p>
          <a:p>
            <a:pPr>
              <a:lnSpc>
                <a:spcPts val="2000"/>
              </a:lnSpc>
              <a:spcBef>
                <a:spcPts val="0"/>
              </a:spcBef>
              <a:spcAft>
                <a:spcPts val="0"/>
              </a:spcAft>
              <a:defRPr sz="1600" b="0">
                <a:solidFill>
                  <a:srgbClr val="F4F6FA"/>
                </a:solidFill>
                <a:latin typeface="Arial"/>
              </a:defRPr>
            </a:pPr>
            <a:r>
              <a:t>Smoke test HTTP /health.</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ÉVALUATION LIVE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Déclenchement manuel.</a:t>
            </a:r>
          </a:p>
          <a:p>
            <a:pPr>
              <a:lnSpc>
                <a:spcPts val="2000"/>
              </a:lnSpc>
              <a:spcBef>
                <a:spcPts val="0"/>
              </a:spcBef>
              <a:spcAft>
                <a:spcPts val="0"/>
              </a:spcAft>
              <a:defRPr sz="1600" b="0">
                <a:solidFill>
                  <a:srgbClr val="F4F6FA"/>
                </a:solidFill>
                <a:latin typeface="Arial"/>
              </a:defRPr>
            </a:pPr>
            <a:r>
              <a:t>Environnement ai-evaluation.</a:t>
            </a:r>
          </a:p>
          <a:p>
            <a:pPr>
              <a:lnSpc>
                <a:spcPts val="2000"/>
              </a:lnSpc>
              <a:spcBef>
                <a:spcPts val="0"/>
              </a:spcBef>
              <a:spcAft>
                <a:spcPts val="0"/>
              </a:spcAft>
              <a:defRPr sz="1600" b="0">
                <a:solidFill>
                  <a:srgbClr val="F4F6FA"/>
                </a:solidFill>
                <a:latin typeface="Arial"/>
              </a:defRPr>
            </a:pPr>
            <a:r>
              <a:t>Clé protégée.</a:t>
            </a:r>
          </a:p>
          <a:p>
            <a:pPr>
              <a:lnSpc>
                <a:spcPts val="2000"/>
              </a:lnSpc>
              <a:spcBef>
                <a:spcPts val="0"/>
              </a:spcBef>
              <a:spcAft>
                <a:spcPts val="0"/>
              </a:spcAft>
              <a:defRPr sz="1600" b="0">
                <a:solidFill>
                  <a:srgbClr val="F4F6FA"/>
                </a:solidFill>
                <a:latin typeface="Arial"/>
              </a:defRPr>
            </a:pPr>
            <a:r>
              <a:t>Rapport conservé comme artefact.</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workflow est présent ; aucun succès GitHub distant n’a été vérifié pour ces slides.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.github/workflows/block2-ai.yml ; docs/block2/delivery.md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C13 · LIVRAISON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Promouvoir un artefact, prévoir le retour arrière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Procédure documentée ; déploiement réel encore à prouver.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PROMOTION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Revoir les tests et le rapport IA.</a:t>
            </a:r>
          </a:p>
          <a:p>
            <a:pPr>
              <a:lnSpc>
                <a:spcPts val="2000"/>
              </a:lnSpc>
              <a:spcBef>
                <a:spcPts val="0"/>
              </a:spcBef>
              <a:spcAft>
                <a:spcPts val="0"/>
              </a:spcAft>
              <a:defRPr sz="1600" b="0">
                <a:solidFill>
                  <a:srgbClr val="F4F6FA"/>
                </a:solidFill>
                <a:latin typeface="Arial"/>
              </a:defRPr>
            </a:pPr>
            <a:r>
              <a:t>Publier l’image exacte.</a:t>
            </a:r>
          </a:p>
          <a:p>
            <a:pPr>
              <a:lnSpc>
                <a:spcPts val="2000"/>
              </a:lnSpc>
              <a:spcBef>
                <a:spcPts val="0"/>
              </a:spcBef>
              <a:spcAft>
                <a:spcPts val="0"/>
              </a:spcAft>
              <a:defRPr sz="1600" b="0">
                <a:solidFill>
                  <a:srgbClr val="F4F6FA"/>
                </a:solidFill>
                <a:latin typeface="Arial"/>
              </a:defRPr>
            </a:pPr>
            <a:r>
              <a:t>Déployer son digest en staging.</a:t>
            </a:r>
          </a:p>
          <a:p>
            <a:pPr>
              <a:lnSpc>
                <a:spcPts val="2000"/>
              </a:lnSpc>
              <a:spcBef>
                <a:spcPts val="0"/>
              </a:spcBef>
              <a:spcAft>
                <a:spcPts val="0"/>
              </a:spcAft>
              <a:defRPr sz="1600" b="0">
                <a:solidFill>
                  <a:srgbClr val="F4F6FA"/>
                </a:solidFill>
                <a:latin typeface="Arial"/>
              </a:defRPr>
            </a:pPr>
            <a:r>
              <a:t>Vérifier santé et parcours.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TRAÇABILITÉ</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Révision Git et dataset.</a:t>
            </a:r>
          </a:p>
          <a:p>
            <a:pPr>
              <a:lnSpc>
                <a:spcPts val="2000"/>
              </a:lnSpc>
              <a:spcBef>
                <a:spcPts val="0"/>
              </a:spcBef>
              <a:spcAft>
                <a:spcPts val="0"/>
              </a:spcAft>
              <a:defRPr sz="1600" b="0">
                <a:solidFill>
                  <a:srgbClr val="F4F6FA"/>
                </a:solidFill>
                <a:latin typeface="Arial"/>
              </a:defRPr>
            </a:pPr>
            <a:r>
              <a:t>Modèle et paramètres.</a:t>
            </a:r>
          </a:p>
          <a:p>
            <a:pPr>
              <a:lnSpc>
                <a:spcPts val="2000"/>
              </a:lnSpc>
              <a:spcBef>
                <a:spcPts val="0"/>
              </a:spcBef>
              <a:spcAft>
                <a:spcPts val="0"/>
              </a:spcAft>
              <a:defRPr sz="1600" b="0">
                <a:solidFill>
                  <a:srgbClr val="F4F6FA"/>
                </a:solidFill>
                <a:latin typeface="Arial"/>
              </a:defRPr>
            </a:pPr>
            <a:r>
              <a:t>Prompts versionnés.</a:t>
            </a:r>
          </a:p>
          <a:p>
            <a:pPr>
              <a:lnSpc>
                <a:spcPts val="2000"/>
              </a:lnSpc>
              <a:spcBef>
                <a:spcPts val="0"/>
              </a:spcBef>
              <a:spcAft>
                <a:spcPts val="0"/>
              </a:spcAft>
              <a:defRPr sz="1600" b="0">
                <a:solidFill>
                  <a:srgbClr val="F4F6FA"/>
                </a:solidFill>
                <a:latin typeface="Arial"/>
              </a:defRPr>
            </a:pPr>
            <a:r>
              <a:t>Collection RAG identifiée.</a:t>
            </a:r>
          </a:p>
          <a:p>
            <a:pPr>
              <a:lnSpc>
                <a:spcPts val="2000"/>
              </a:lnSpc>
              <a:spcBef>
                <a:spcPts val="0"/>
              </a:spcBef>
              <a:spcAft>
                <a:spcPts val="0"/>
              </a:spcAft>
              <a:defRPr sz="1600" b="0">
                <a:solidFill>
                  <a:srgbClr val="F4F6FA"/>
                </a:solidFill>
                <a:latin typeface="Arial"/>
              </a:defRPr>
            </a:pPr>
            <a:r>
              <a:t>Conserver les rapports.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RETOUR ARRIÈRE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Redéployer le digest précédent.</a:t>
            </a:r>
          </a:p>
          <a:p>
            <a:pPr>
              <a:lnSpc>
                <a:spcPts val="2000"/>
              </a:lnSpc>
              <a:spcBef>
                <a:spcPts val="0"/>
              </a:spcBef>
              <a:spcAft>
                <a:spcPts val="0"/>
              </a:spcAft>
              <a:defRPr sz="1600" b="0">
                <a:solidFill>
                  <a:srgbClr val="F4F6FA"/>
                </a:solidFill>
                <a:latin typeface="Arial"/>
              </a:defRPr>
            </a:pPr>
            <a:r>
              <a:t>Restaurer sa configuration.</a:t>
            </a:r>
          </a:p>
          <a:p>
            <a:pPr>
              <a:lnSpc>
                <a:spcPts val="2000"/>
              </a:lnSpc>
              <a:spcBef>
                <a:spcPts val="0"/>
              </a:spcBef>
              <a:spcAft>
                <a:spcPts val="0"/>
              </a:spcAft>
              <a:defRPr sz="1600" b="0">
                <a:solidFill>
                  <a:srgbClr val="F4F6FA"/>
                </a:solidFill>
                <a:latin typeface="Arial"/>
              </a:defRPr>
            </a:pPr>
            <a:r>
              <a:t>Revenir à la collection RAG</a:t>
            </a:r>
          </a:p>
          <a:p>
            <a:pPr>
              <a:lnSpc>
                <a:spcPts val="2000"/>
              </a:lnSpc>
              <a:spcBef>
                <a:spcPts val="0"/>
              </a:spcBef>
              <a:spcAft>
                <a:spcPts val="0"/>
              </a:spcAft>
              <a:defRPr sz="1600" b="0">
                <a:solidFill>
                  <a:srgbClr val="F4F6FA"/>
                </a:solidFill>
                <a:latin typeface="Arial"/>
              </a:defRPr>
            </a:pPr>
            <a:r>
              <a:t>prévue.</a:t>
            </a:r>
          </a:p>
          <a:p>
            <a:pPr>
              <a:lnSpc>
                <a:spcPts val="2000"/>
              </a:lnSpc>
              <a:spcBef>
                <a:spcPts val="0"/>
              </a:spcBef>
              <a:spcAft>
                <a:spcPts val="0"/>
              </a:spcAft>
              <a:defRPr sz="1600" b="0">
                <a:solidFill>
                  <a:srgbClr val="F4F6FA"/>
                </a:solidFill>
                <a:latin typeface="Arial"/>
              </a:defRPr>
            </a:pPr>
            <a:r>
              <a:t>Rejouer santé et smoke tests.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 digest fixe le conteneur ; il ne fige pas à lui seul le comportement d’un fournisseur distant.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docs/block2/delivery.md ; src/evaluation/runner.py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E3 · DÉMONSTRATION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Montrer une preuve par réalisation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Préparer les contrats, les résultats et la traçabilité.</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API DU JEU</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Montrer la frontière authentifiée et</a:t>
            </a:r>
          </a:p>
          <a:p>
            <a:pPr>
              <a:lnSpc>
                <a:spcPts val="2000"/>
              </a:lnSpc>
              <a:spcBef>
                <a:spcPts val="0"/>
              </a:spcBef>
              <a:spcAft>
                <a:spcPts val="0"/>
              </a:spcAft>
              <a:defRPr sz="1600" b="0">
                <a:solidFill>
                  <a:srgbClr val="F4F6FA"/>
                </a:solidFill>
                <a:latin typeface="Arial"/>
              </a:defRPr>
            </a:pPr>
            <a:r>
              <a:t>un contrôle d’accès.</a:t>
            </a:r>
          </a:p>
          <a:p>
            <a:pPr>
              <a:lnSpc>
                <a:spcPts val="2000"/>
              </a:lnSpc>
              <a:spcBef>
                <a:spcPts val="0"/>
              </a:spcBef>
              <a:spcAft>
                <a:spcPts val="0"/>
              </a:spcAft>
              <a:defRPr sz="1600" b="0">
                <a:solidFill>
                  <a:srgbClr val="F4F6FA"/>
                </a:solidFill>
                <a:latin typeface="Arial"/>
              </a:defRPr>
            </a:pPr>
            <a:r>
              <a:t>Tests locaux disponibles dans le</a:t>
            </a:r>
          </a:p>
          <a:p>
            <a:pPr>
              <a:lnSpc>
                <a:spcPts val="2000"/>
              </a:lnSpc>
              <a:spcBef>
                <a:spcPts val="0"/>
              </a:spcBef>
              <a:spcAft>
                <a:spcPts val="0"/>
              </a:spcAft>
              <a:defRPr sz="1600" b="0">
                <a:solidFill>
                  <a:srgbClr val="F4F6FA"/>
                </a:solidFill>
                <a:latin typeface="Arial"/>
              </a:defRPr>
            </a:pPr>
            <a:r>
              <a:t>dossier initial.</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OUTILS TINES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contrat réel.</a:t>
            </a:r>
          </a:p>
          <a:p>
            <a:pPr>
              <a:lnSpc>
                <a:spcPts val="2000"/>
              </a:lnSpc>
              <a:spcBef>
                <a:spcPts val="0"/>
              </a:spcBef>
              <a:spcAft>
                <a:spcPts val="0"/>
              </a:spcAft>
              <a:defRPr sz="1600" b="0">
                <a:solidFill>
                  <a:srgbClr val="F4F6FA"/>
                </a:solidFill>
                <a:latin typeface="Arial"/>
              </a:defRPr>
            </a:pPr>
            <a:r>
              <a:t>Une story et son parcours EDR.</a:t>
            </a:r>
          </a:p>
          <a:p>
            <a:pPr>
              <a:lnSpc>
                <a:spcPts val="2000"/>
              </a:lnSpc>
              <a:spcBef>
                <a:spcPts val="0"/>
              </a:spcBef>
              <a:spcAft>
                <a:spcPts val="0"/>
              </a:spcAft>
              <a:defRPr sz="1600" b="0">
                <a:solidFill>
                  <a:srgbClr val="F4F6FA"/>
                </a:solidFill>
                <a:latin typeface="Arial"/>
              </a:defRPr>
            </a:pPr>
            <a:r>
              <a:t>Une requête / réponse</a:t>
            </a:r>
          </a:p>
          <a:p>
            <a:pPr>
              <a:lnSpc>
                <a:spcPts val="2000"/>
              </a:lnSpc>
              <a:spcBef>
                <a:spcPts val="0"/>
              </a:spcBef>
              <a:spcAft>
                <a:spcPts val="0"/>
              </a:spcAft>
              <a:defRPr sz="1600" b="0">
                <a:solidFill>
                  <a:srgbClr val="F4F6FA"/>
                </a:solidFill>
                <a:latin typeface="Arial"/>
              </a:defRPr>
            </a:pPr>
            <a:r>
              <a:t>anonymisée.</a:t>
            </a:r>
          </a:p>
          <a:p>
            <a:pPr>
              <a:lnSpc>
                <a:spcPts val="2000"/>
              </a:lnSpc>
              <a:spcBef>
                <a:spcPts val="0"/>
              </a:spcBef>
              <a:spcAft>
                <a:spcPts val="0"/>
              </a:spcAft>
              <a:defRPr sz="1600" b="0">
                <a:solidFill>
                  <a:srgbClr val="F4F6FA"/>
                </a:solidFill>
                <a:latin typeface="Arial"/>
              </a:defRPr>
            </a:pPr>
            <a:r>
              <a:t>Contribution personnelle délimitée.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BENCHMARKS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campagne d’évaluation.</a:t>
            </a:r>
          </a:p>
          <a:p>
            <a:pPr>
              <a:lnSpc>
                <a:spcPts val="2000"/>
              </a:lnSpc>
              <a:spcBef>
                <a:spcPts val="0"/>
              </a:spcBef>
              <a:spcAft>
                <a:spcPts val="0"/>
              </a:spcAft>
              <a:defRPr sz="1600" b="0">
                <a:solidFill>
                  <a:srgbClr val="F4F6FA"/>
                </a:solidFill>
                <a:latin typeface="Arial"/>
              </a:defRPr>
            </a:pPr>
            <a:r>
              <a:t>Résultats cyber et performance.</a:t>
            </a:r>
          </a:p>
          <a:p>
            <a:pPr>
              <a:lnSpc>
                <a:spcPts val="2000"/>
              </a:lnSpc>
              <a:spcBef>
                <a:spcPts val="0"/>
              </a:spcBef>
              <a:spcAft>
                <a:spcPts val="0"/>
              </a:spcAft>
              <a:defRPr sz="1600" b="0">
                <a:solidFill>
                  <a:srgbClr val="F4F6FA"/>
                </a:solidFill>
                <a:latin typeface="Arial"/>
              </a:defRPr>
            </a:pPr>
            <a:r>
              <a:t>Enregistrement en base.</a:t>
            </a:r>
          </a:p>
          <a:p>
            <a:pPr>
              <a:lnSpc>
                <a:spcPts val="2000"/>
              </a:lnSpc>
              <a:spcBef>
                <a:spcPts val="0"/>
              </a:spcBef>
              <a:spcAft>
                <a:spcPts val="0"/>
              </a:spcAft>
              <a:defRPr sz="1600" b="0">
                <a:solidFill>
                  <a:srgbClr val="F4F6FA"/>
                </a:solidFill>
                <a:latin typeface="Arial"/>
              </a:defRPr>
            </a:pPr>
            <a:r>
              <a:t>Interprétation des écarts.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livraison continue et l’alerte restent des sujets distincts des campagnes de benchmarks.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A · C9</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Écarts repérés entre contrat et code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Points identifiés à la lecture ; aucune modification applicative dans cette livraison.</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OPENAPI</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La liste security encode session</a:t>
            </a:r>
          </a:p>
          <a:p>
            <a:pPr>
              <a:lnSpc>
                <a:spcPts val="2000"/>
              </a:lnSpc>
              <a:spcBef>
                <a:spcPts val="0"/>
              </a:spcBef>
              <a:spcAft>
                <a:spcPts val="0"/>
              </a:spcAft>
              <a:defRPr sz="1600" b="0">
                <a:solidFill>
                  <a:srgbClr val="F4F6FA"/>
                </a:solidFill>
                <a:latin typeface="Arial"/>
              </a:defRPr>
            </a:pPr>
            <a:r>
              <a:t>OU CSRF, alors que la vue exige</a:t>
            </a:r>
          </a:p>
          <a:p>
            <a:pPr>
              <a:lnSpc>
                <a:spcPts val="2000"/>
              </a:lnSpc>
              <a:spcBef>
                <a:spcPts val="0"/>
              </a:spcBef>
              <a:spcAft>
                <a:spcPts val="0"/>
              </a:spcAft>
              <a:defRPr sz="1600" b="0">
                <a:solidFill>
                  <a:srgbClr val="F4F6FA"/>
                </a:solidFill>
                <a:latin typeface="Arial"/>
              </a:defRPr>
            </a:pPr>
            <a:r>
              <a:t>les deux.</a:t>
            </a:r>
          </a:p>
          <a:p>
            <a:pPr>
              <a:lnSpc>
                <a:spcPts val="2000"/>
              </a:lnSpc>
              <a:spcBef>
                <a:spcPts val="0"/>
              </a:spcBef>
              <a:spcAft>
                <a:spcPts val="0"/>
              </a:spcAft>
              <a:defRPr sz="1600" b="0">
                <a:solidFill>
                  <a:srgbClr val="F4F6FA"/>
                </a:solidFill>
                <a:latin typeface="Arial"/>
              </a:defRPr>
            </a:pPr>
            <a:r>
              <a:t>Réunir les exigences dans le</a:t>
            </a:r>
          </a:p>
          <a:p>
            <a:pPr>
              <a:lnSpc>
                <a:spcPts val="2000"/>
              </a:lnSpc>
              <a:spcBef>
                <a:spcPts val="0"/>
              </a:spcBef>
              <a:spcAft>
                <a:spcPts val="0"/>
              </a:spcAft>
              <a:defRPr sz="1600" b="0">
                <a:solidFill>
                  <a:srgbClr val="F4F6FA"/>
                </a:solidFill>
                <a:latin typeface="Arial"/>
              </a:defRPr>
            </a:pPr>
            <a:r>
              <a:t>contrat.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ENTRÉES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Le contrat interdit les champs</a:t>
            </a:r>
          </a:p>
          <a:p>
            <a:pPr>
              <a:lnSpc>
                <a:spcPts val="2000"/>
              </a:lnSpc>
              <a:spcBef>
                <a:spcPts val="0"/>
              </a:spcBef>
              <a:spcAft>
                <a:spcPts val="0"/>
              </a:spcAft>
              <a:defRPr sz="1600" b="0">
                <a:solidFill>
                  <a:srgbClr val="F4F6FA"/>
                </a:solidFill>
                <a:latin typeface="Arial"/>
              </a:defRPr>
            </a:pPr>
            <a:r>
              <a:t>supplémentaires ; la vue ne les</a:t>
            </a:r>
          </a:p>
          <a:p>
            <a:pPr>
              <a:lnSpc>
                <a:spcPts val="2000"/>
              </a:lnSpc>
              <a:spcBef>
                <a:spcPts val="0"/>
              </a:spcBef>
              <a:spcAft>
                <a:spcPts val="0"/>
              </a:spcAft>
              <a:defRPr sz="1600" b="0">
                <a:solidFill>
                  <a:srgbClr val="F4F6FA"/>
                </a:solidFill>
                <a:latin typeface="Arial"/>
              </a:defRPr>
            </a:pPr>
            <a:r>
              <a:t>rejette pas explicitement.</a:t>
            </a:r>
          </a:p>
          <a:p>
            <a:pPr>
              <a:lnSpc>
                <a:spcPts val="2000"/>
              </a:lnSpc>
              <a:spcBef>
                <a:spcPts val="0"/>
              </a:spcBef>
              <a:spcAft>
                <a:spcPts val="0"/>
              </a:spcAft>
              <a:defRPr sz="1600" b="0">
                <a:solidFill>
                  <a:srgbClr val="F4F6FA"/>
                </a:solidFill>
                <a:latin typeface="Arial"/>
              </a:defRPr>
            </a:pPr>
            <a:r>
              <a:t>Un JSON non objet reste à tester.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CHOIX</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La comparaison est conditionnée à</a:t>
            </a:r>
          </a:p>
          <a:p>
            <a:pPr>
              <a:lnSpc>
                <a:spcPts val="2000"/>
              </a:lnSpc>
              <a:spcBef>
                <a:spcPts val="0"/>
              </a:spcBef>
              <a:spcAft>
                <a:spcPts val="0"/>
              </a:spcAft>
              <a:defRPr sz="1600" b="0">
                <a:solidFill>
                  <a:srgbClr val="F4F6FA"/>
                </a:solidFill>
                <a:latin typeface="Arial"/>
              </a:defRPr>
            </a:pPr>
            <a:r>
              <a:t>une liste serveur non vide.</a:t>
            </a:r>
          </a:p>
          <a:p>
            <a:pPr>
              <a:lnSpc>
                <a:spcPts val="2000"/>
              </a:lnSpc>
              <a:spcBef>
                <a:spcPts val="0"/>
              </a:spcBef>
              <a:spcAft>
                <a:spcPts val="0"/>
              </a:spcAft>
              <a:defRPr sz="1600" b="0">
                <a:solidFill>
                  <a:srgbClr val="F4F6FA"/>
                </a:solidFill>
                <a:latin typeface="Arial"/>
              </a:defRPr>
            </a:pPr>
            <a:r>
              <a:t>Définir et tester le comportement</a:t>
            </a:r>
          </a:p>
          <a:p>
            <a:pPr>
              <a:lnSpc>
                <a:spcPts val="2000"/>
              </a:lnSpc>
              <a:spcBef>
                <a:spcPts val="0"/>
              </a:spcBef>
              <a:spcAft>
                <a:spcPts val="0"/>
              </a:spcAft>
              <a:defRPr sz="1600" b="0">
                <a:solidFill>
                  <a:srgbClr val="F4F6FA"/>
                </a:solidFill>
                <a:latin typeface="Arial"/>
              </a:defRPr>
            </a:pPr>
            <a:r>
              <a:t>quand elle est vide.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Conserver ces réserves dans l’argumentaire de sécurité.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docs/block2/openapi.yaml ; src/django/game/ai_api.py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B · PREUVES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Assembler les pièces sans mélanger les projets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Sources d’alternance à joindre ; code du jeu déjà disponible.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E2</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Matrice des benchmarks.</a:t>
            </a:r>
          </a:p>
          <a:p>
            <a:pPr>
              <a:lnSpc>
                <a:spcPts val="2000"/>
              </a:lnSpc>
              <a:spcBef>
                <a:spcPts val="0"/>
              </a:spcBef>
              <a:spcAft>
                <a:spcPts val="0"/>
              </a:spcAft>
              <a:defRPr sz="1600" b="0">
                <a:solidFill>
                  <a:srgbClr val="F4F6FA"/>
                </a:solidFill>
                <a:latin typeface="Arial"/>
              </a:defRPr>
            </a:pPr>
            <a:r>
              <a:t>Critères et exclusions.</a:t>
            </a:r>
          </a:p>
          <a:p>
            <a:pPr>
              <a:lnSpc>
                <a:spcPts val="2000"/>
              </a:lnSpc>
              <a:spcBef>
                <a:spcPts val="0"/>
              </a:spcBef>
              <a:spcAft>
                <a:spcPts val="0"/>
              </a:spcAft>
              <a:defRPr sz="1600" b="0">
                <a:solidFill>
                  <a:srgbClr val="F4F6FA"/>
                </a:solidFill>
                <a:latin typeface="Arial"/>
              </a:defRPr>
            </a:pPr>
            <a:r>
              <a:t>Restitution de veille.</a:t>
            </a:r>
          </a:p>
          <a:p>
            <a:pPr>
              <a:lnSpc>
                <a:spcPts val="2000"/>
              </a:lnSpc>
              <a:spcBef>
                <a:spcPts val="0"/>
              </a:spcBef>
              <a:spcAft>
                <a:spcPts val="0"/>
              </a:spcAft>
              <a:defRPr sz="1600" b="0">
                <a:solidFill>
                  <a:srgbClr val="F4F6FA"/>
                </a:solidFill>
                <a:latin typeface="Arial"/>
              </a:defRPr>
            </a:pPr>
            <a:r>
              <a:t>Modèles et recommandation.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E3 · ENTREPRISE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Code et commande du runner.</a:t>
            </a:r>
          </a:p>
          <a:p>
            <a:pPr>
              <a:lnSpc>
                <a:spcPts val="2000"/>
              </a:lnSpc>
              <a:spcBef>
                <a:spcPts val="0"/>
              </a:spcBef>
              <a:spcAft>
                <a:spcPts val="0"/>
              </a:spcAft>
              <a:defRPr sz="1600" b="0">
                <a:solidFill>
                  <a:srgbClr val="F4F6FA"/>
                </a:solidFill>
                <a:latin typeface="Arial"/>
              </a:defRPr>
            </a:pPr>
            <a:r>
              <a:t>Schéma BDD et résultats.</a:t>
            </a:r>
          </a:p>
          <a:p>
            <a:pPr>
              <a:lnSpc>
                <a:spcPts val="2000"/>
              </a:lnSpc>
              <a:spcBef>
                <a:spcPts val="0"/>
              </a:spcBef>
              <a:spcAft>
                <a:spcPts val="0"/>
              </a:spcAft>
              <a:defRPr sz="1600" b="0">
                <a:solidFill>
                  <a:srgbClr val="F4F6FA"/>
                </a:solidFill>
                <a:latin typeface="Arial"/>
              </a:defRPr>
            </a:pPr>
            <a:r>
              <a:t>Contrat Tines et story.</a:t>
            </a:r>
          </a:p>
          <a:p>
            <a:pPr>
              <a:lnSpc>
                <a:spcPts val="2000"/>
              </a:lnSpc>
              <a:spcBef>
                <a:spcPts val="0"/>
              </a:spcBef>
              <a:spcAft>
                <a:spcPts val="0"/>
              </a:spcAft>
              <a:defRPr sz="1600" b="0">
                <a:solidFill>
                  <a:srgbClr val="F4F6FA"/>
                </a:solidFill>
                <a:latin typeface="Arial"/>
              </a:defRPr>
            </a:pPr>
            <a:r>
              <a:t>Tests d’intégration disponibles.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E3 · JEU</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API et tests.</a:t>
            </a:r>
          </a:p>
          <a:p>
            <a:pPr>
              <a:lnSpc>
                <a:spcPts val="2000"/>
              </a:lnSpc>
              <a:spcBef>
                <a:spcPts val="0"/>
              </a:spcBef>
              <a:spcAft>
                <a:spcPts val="0"/>
              </a:spcAft>
              <a:defRPr sz="1600" b="0">
                <a:solidFill>
                  <a:srgbClr val="F4F6FA"/>
                </a:solidFill>
                <a:latin typeface="Arial"/>
              </a:defRPr>
            </a:pPr>
            <a:r>
              <a:t>Configuration / RAG.</a:t>
            </a:r>
          </a:p>
          <a:p>
            <a:pPr>
              <a:lnSpc>
                <a:spcPts val="2000"/>
              </a:lnSpc>
              <a:spcBef>
                <a:spcPts val="0"/>
              </a:spcBef>
              <a:spcAft>
                <a:spcPts val="0"/>
              </a:spcAft>
              <a:defRPr sz="1600" b="0">
                <a:solidFill>
                  <a:srgbClr val="F4F6FA"/>
                </a:solidFill>
                <a:latin typeface="Arial"/>
              </a:defRPr>
            </a:pPr>
            <a:r>
              <a:t>Métriques et workflow.</a:t>
            </a:r>
          </a:p>
          <a:p>
            <a:pPr>
              <a:lnSpc>
                <a:spcPts val="2000"/>
              </a:lnSpc>
              <a:spcBef>
                <a:spcPts val="0"/>
              </a:spcBef>
              <a:spcAft>
                <a:spcPts val="0"/>
              </a:spcAft>
              <a:defRPr sz="1600" b="0">
                <a:solidFill>
                  <a:srgbClr val="F4F6FA"/>
                </a:solidFill>
                <a:latin typeface="Arial"/>
              </a:defRPr>
            </a:pPr>
            <a:r>
              <a:t>Limites du dossier initial</a:t>
            </a:r>
          </a:p>
          <a:p>
            <a:pPr>
              <a:lnSpc>
                <a:spcPts val="2000"/>
              </a:lnSpc>
              <a:spcBef>
                <a:spcPts val="0"/>
              </a:spcBef>
              <a:spcAft>
                <a:spcPts val="0"/>
              </a:spcAft>
              <a:defRPr sz="1600" b="0">
                <a:solidFill>
                  <a:srgbClr val="F4F6FA"/>
                </a:solidFill>
                <a:latin typeface="Arial"/>
              </a:defRPr>
            </a:pPr>
            <a:r>
              <a:t>conservées.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Une campagne de test n’est pas une surveillance continue ni une livraison.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C · QUESTIONS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Défendre le protocole et les interfaces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Questions probables sur les nouveaux travaux.</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SANS JUGE ?</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Quel mécanisme donne le score ?</a:t>
            </a:r>
          </a:p>
          <a:p>
            <a:pPr>
              <a:lnSpc>
                <a:spcPts val="2000"/>
              </a:lnSpc>
              <a:spcBef>
                <a:spcPts val="0"/>
              </a:spcBef>
              <a:spcAft>
                <a:spcPts val="0"/>
              </a:spcAft>
              <a:defRPr sz="1600" b="0">
                <a:solidFill>
                  <a:srgbClr val="F4F6FA"/>
                </a:solidFill>
                <a:latin typeface="Arial"/>
              </a:defRPr>
            </a:pPr>
            <a:r>
              <a:t>Que mesure-t-il vraiment ?</a:t>
            </a:r>
          </a:p>
          <a:p>
            <a:pPr>
              <a:lnSpc>
                <a:spcPts val="2000"/>
              </a:lnSpc>
              <a:spcBef>
                <a:spcPts val="0"/>
              </a:spcBef>
              <a:spcAft>
                <a:spcPts val="0"/>
              </a:spcAft>
              <a:defRPr sz="1600" b="0">
                <a:solidFill>
                  <a:srgbClr val="F4F6FA"/>
                </a:solidFill>
                <a:latin typeface="Arial"/>
              </a:defRPr>
            </a:pPr>
            <a:r>
              <a:t>Quels biais et quels cas non</a:t>
            </a:r>
          </a:p>
          <a:p>
            <a:pPr>
              <a:lnSpc>
                <a:spcPts val="2000"/>
              </a:lnSpc>
              <a:spcBef>
                <a:spcPts val="0"/>
              </a:spcBef>
              <a:spcAft>
                <a:spcPts val="0"/>
              </a:spcAft>
              <a:defRPr sz="1600" b="0">
                <a:solidFill>
                  <a:srgbClr val="F4F6FA"/>
                </a:solidFill>
                <a:latin typeface="Arial"/>
              </a:defRPr>
            </a:pPr>
            <a:r>
              <a:t>couverts ?</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COMPARAISON ÉQUITABLE</a:t>
            </a:r>
          </a:p>
          <a:p>
            <a:pPr>
              <a:lnSpc>
                <a:spcPts val="2250"/>
              </a:lnSpc>
              <a:spcBef>
                <a:spcPts val="0"/>
              </a:spcBef>
              <a:spcAft>
                <a:spcPts val="0"/>
              </a:spcAft>
              <a:defRPr sz="1800" b="1">
                <a:solidFill>
                  <a:srgbClr val="60DFBD"/>
                </a:solidFill>
                <a:latin typeface="Arial"/>
              </a:defRPr>
            </a:pPr>
            <a:r>
              <a:t>?</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Versions, charge et paramètres</a:t>
            </a:r>
          </a:p>
          <a:p>
            <a:pPr>
              <a:lnSpc>
                <a:spcPts val="2000"/>
              </a:lnSpc>
              <a:spcBef>
                <a:spcPts val="0"/>
              </a:spcBef>
              <a:spcAft>
                <a:spcPts val="0"/>
              </a:spcAft>
              <a:defRPr sz="1600" b="0">
                <a:solidFill>
                  <a:srgbClr val="F4F6FA"/>
                </a:solidFill>
                <a:latin typeface="Arial"/>
              </a:defRPr>
            </a:pPr>
            <a:r>
              <a:t>identiques ?</a:t>
            </a:r>
          </a:p>
          <a:p>
            <a:pPr>
              <a:lnSpc>
                <a:spcPts val="2000"/>
              </a:lnSpc>
              <a:spcBef>
                <a:spcPts val="0"/>
              </a:spcBef>
              <a:spcAft>
                <a:spcPts val="0"/>
              </a:spcAft>
              <a:defRPr sz="1600" b="0">
                <a:solidFill>
                  <a:srgbClr val="F4F6FA"/>
                </a:solidFill>
                <a:latin typeface="Arial"/>
              </a:defRPr>
            </a:pPr>
            <a:r>
              <a:t>Combien de cas / répétitions ?</a:t>
            </a:r>
          </a:p>
          <a:p>
            <a:pPr>
              <a:lnSpc>
                <a:spcPts val="2000"/>
              </a:lnSpc>
              <a:spcBef>
                <a:spcPts val="0"/>
              </a:spcBef>
              <a:spcAft>
                <a:spcPts val="0"/>
              </a:spcAft>
              <a:defRPr sz="1600" b="0">
                <a:solidFill>
                  <a:srgbClr val="F4F6FA"/>
                </a:solidFill>
                <a:latin typeface="Arial"/>
              </a:defRPr>
            </a:pPr>
            <a:r>
              <a:t>Quel traitement des erreurs ?</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TINES ET L’AGENT ?</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Quel contrat ?</a:t>
            </a:r>
          </a:p>
          <a:p>
            <a:pPr>
              <a:lnSpc>
                <a:spcPts val="2000"/>
              </a:lnSpc>
              <a:spcBef>
                <a:spcPts val="0"/>
              </a:spcBef>
              <a:spcAft>
                <a:spcPts val="0"/>
              </a:spcAft>
              <a:defRPr sz="1600" b="0">
                <a:solidFill>
                  <a:srgbClr val="F4F6FA"/>
                </a:solidFill>
                <a:latin typeface="Arial"/>
              </a:defRPr>
            </a:pPr>
            <a:r>
              <a:t>Qui peut appeler quoi ?</a:t>
            </a:r>
          </a:p>
          <a:p>
            <a:pPr>
              <a:lnSpc>
                <a:spcPts val="2000"/>
              </a:lnSpc>
              <a:spcBef>
                <a:spcPts val="0"/>
              </a:spcBef>
              <a:spcAft>
                <a:spcPts val="0"/>
              </a:spcAft>
              <a:defRPr sz="1600" b="0">
                <a:solidFill>
                  <a:srgbClr val="F4F6FA"/>
                </a:solidFill>
                <a:latin typeface="Arial"/>
              </a:defRPr>
            </a:pPr>
            <a:r>
              <a:t>Comment isoler les clients ?</a:t>
            </a:r>
          </a:p>
          <a:p>
            <a:pPr>
              <a:lnSpc>
                <a:spcPts val="2000"/>
              </a:lnSpc>
              <a:spcBef>
                <a:spcPts val="0"/>
              </a:spcBef>
              <a:spcAft>
                <a:spcPts val="0"/>
              </a:spcAft>
              <a:defRPr sz="1600" b="0">
                <a:solidFill>
                  <a:srgbClr val="F4F6FA"/>
                </a:solidFill>
                <a:latin typeface="Arial"/>
              </a:defRPr>
            </a:pPr>
            <a:r>
              <a:t>Quelle part as-tu développée ?</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Une automatisation du scoring ne garantit pas à elle seule la validité de l’évaluation.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Alternance : description du candidat ; pièces techniques à joindre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