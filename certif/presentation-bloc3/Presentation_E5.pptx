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référentiel accepte un contexte réel ou fictif avec erreur technique. Ici, la cause et le correctif sont historiques ; la reproduction a été réalisée le 14 septembre 2026 pour la soutenance. Ne pas inventer une alerte utilisateur, un ticket, une date de découverte ou un impact de production. Le dossier joint précise le périmètre de la reconstruction.</a:t>
            </a:r>
          </a:p>
          <a:p/>
          <a:p>
            <a:r>
              <a:t>Sources : Référentiel, p. 17 et 22–23 ; Dossier_incident_E5.md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La durée navigateur ne couvre que les retours de récit avec choix utilisables : combats, fins et erreurs sont exclus. Ce n’est donc pas une latence de toutes les requêtes. Le format des logs est du texte à champs, pas du JSON. Les exceptions peuvent produire du contenu sensible ; ne pas déclarer une anonymisation universelle. La stack n’a pas été démarrée pour ces slides.</a:t>
            </a:r>
          </a:p>
          <a:p/>
          <a:p>
            <a:r>
              <a:t>Sources : docs/monitoring.md ; settings.py ; src/observability/metrics.py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La règle indisponibilité opère par série, sans somme explicite ; ne pas la présenter comme un total global agrégé. Pour l’incident d’isolation, proposer un contrôle synthétique ou un compteur d’invariants, mais le nommer comme amélioration future. Les règles de seuil existent ; leur déclenchement et leur livraison doivent encore être montrés dans un bac à sable.</a:t>
            </a:r>
          </a:p>
          <a:p/>
          <a:p>
            <a:r>
              <a:t>Sources : monitoring/prometheus/alerts.yml ; monitoring/alertmanager/alertmanager.yml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Expliquer l’imbrication plutôt qu’une concurrence supposée mesurée : restaurer A, restaurer B, puis reprendre l’attaque initiée pour A. Le script lit la version parent du correctif et l’exécute dans un module isolé. Il ne change ni la branche, ni le code du jeu, ni les bases. Ce n’est pas un test de charge HTTP multi-thread.</a:t>
            </a:r>
          </a:p>
          <a:p/>
          <a:p>
            <a:r>
              <a:t>Sources : reproduce_incident.py ; preuves/incident-combat.json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La preuve de cause est le code historique et sa reproduction. Écarter l’hypothèse d’un calcul de dégâts erroné : les dégâts sont fixes et corrects, mais appliqués à la mauvaise référence. L’ancien adaptateur restaurait bien l’état avant l’action ; cela ne protégeait pas contre une autre restauration intercalée.</a:t>
            </a:r>
          </a:p>
          <a:p/>
          <a:p>
            <a:r>
              <a:t>Sources : Git : parent de 8a3cf39, src/combat/core.py ; diff 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Décrire la correction telle qu’elle existe, sans s’en attribuer une réalisation aujourd’hui. Le changement historique est dans un commit plus large, pas dans une PR dédiée à cet incident. Il reste des limites de concurrence sur le graphe ou des requêtes visant une même sauvegarde ; la correction ne prouve pas que toute l’application est thread-safe.</a:t>
            </a:r>
          </a:p>
          <a:p/>
          <a:p>
            <a:r>
              <a:t>Sources : src/combat/core.py ; services/game_engine.py ; commit 8a3cf39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Le script avant/après et le test Django ne sont pas identiques : le premier reproduit une imbrication au niveau des fonctions cœur ; le second exécute successivement des actions sur deux états et vérifie leurs HP. Les deux se complètent. Ne pas appeler cela un benchmark concurrent ni une preuve de réparation des parties historiques.</a:t>
            </a:r>
          </a:p>
          <a:p/>
          <a:p>
            <a:r>
              <a:t>Sources : preuves/incident-combat.json ; game.tests.CombatEngineTests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75 s.</a:t>
            </a:r>
          </a:p>
          <a:p/>
          <a:p>
            <a:r>
              <a:t>Conclure sur une cause comprise, un correctif versionné et un résultat vérifié. Le document rédigé aujourd’hui n’est pas un ticket créé au moment de l’incident. La boucle d’amélioration ajuste l’application et ses tests ; elle n’entraîne pas automatiquement le modèle de génération. Utiliser les annexes pour les commandes et questions.</a:t>
            </a:r>
          </a:p>
          <a:p/>
          <a:p>
            <a:r>
              <a:t>Sources : Dossier_incident_E5.md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Les lignes des cartes sont coupées pour projection ; copier les commandes complètes depuis le dossier. La reproduction requiert l’historique Git contenant le parent de 8a3cf39. Aucun git switch, reset ou retour de base n’est nécessaire.</a:t>
            </a:r>
          </a:p>
          <a:p/>
          <a:p>
            <a:r>
              <a:t>Sources : reproduce_incident.py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Ne pas confondre le modèle de diagramme C4 avec la compétence C4 du bloc 1. Les références au référentiel concernent les PDF locaux fournis. Compléter aussi l’identité, les dates, le budget, l’hébergement et l’audit manuel demandés par le dossier de certification.</a:t>
            </a:r>
          </a:p>
          <a:p/>
          <a:p>
            <a:r>
              <a:t>Sources : docs/block3/ ; docs/monitoring.md ; Dossier_incident_E5.md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Préparer également : distinction CI/CD, copie de l’état versus isolation, mise à jour concurrente d’une même partie, limites du health, protection des journaux et rollback de migrations. Montrer la preuve adaptée plutôt que généraliser les résultats du lot ciblé.</a:t>
            </a:r>
          </a:p>
          <a:p/>
          <a:p>
            <a:r>
              <a:t>Sources : preuves/verification.md ; docs/block3/README.md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C20 ET C21</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Surveiller et résoudre un incident technique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Cas étudié : interférence entre deux combats dans un même processus.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SURVEILLER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Métriques, journaux et règles</a:t>
            </a:r>
          </a:p>
          <a:p>
            <a:pPr>
              <a:lnSpc>
                <a:spcPts val="2000"/>
              </a:lnSpc>
              <a:spcBef>
                <a:spcPts val="0"/>
              </a:spcBef>
              <a:spcAft>
                <a:spcPts val="0"/>
              </a:spcAft>
              <a:defRPr sz="1600" b="0">
                <a:solidFill>
                  <a:srgbClr val="F4F6FA"/>
                </a:solidFill>
                <a:latin typeface="Arial"/>
              </a:defRPr>
            </a:pPr>
            <a:r>
              <a:t>d’alerte du projet.</a:t>
            </a:r>
          </a:p>
          <a:p>
            <a:pPr>
              <a:lnSpc>
                <a:spcPts val="2000"/>
              </a:lnSpc>
              <a:spcBef>
                <a:spcPts val="0"/>
              </a:spcBef>
              <a:spcAft>
                <a:spcPts val="0"/>
              </a:spcAft>
              <a:defRPr sz="1600" b="0">
                <a:solidFill>
                  <a:srgbClr val="F4F6FA"/>
                </a:solidFill>
                <a:latin typeface="Arial"/>
              </a:defRPr>
            </a:pPr>
            <a:r>
              <a:t>Distinguer fonctionnement</a:t>
            </a:r>
          </a:p>
          <a:p>
            <a:pPr>
              <a:lnSpc>
                <a:spcPts val="2000"/>
              </a:lnSpc>
              <a:spcBef>
                <a:spcPts val="0"/>
              </a:spcBef>
              <a:spcAft>
                <a:spcPts val="0"/>
              </a:spcAft>
              <a:defRPr sz="1600" b="0">
                <a:solidFill>
                  <a:srgbClr val="F4F6FA"/>
                </a:solidFill>
                <a:latin typeface="Arial"/>
              </a:defRPr>
            </a:pPr>
            <a:r>
              <a:t>technique et intégrité métier.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REPRODUIRE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Ancien code extrait de Git.</a:t>
            </a:r>
          </a:p>
          <a:p>
            <a:pPr>
              <a:lnSpc>
                <a:spcPts val="2000"/>
              </a:lnSpc>
              <a:spcBef>
                <a:spcPts val="0"/>
              </a:spcBef>
              <a:spcAft>
                <a:spcPts val="0"/>
              </a:spcAft>
              <a:defRPr sz="1600" b="0">
                <a:solidFill>
                  <a:srgbClr val="F4F6FA"/>
                </a:solidFill>
                <a:latin typeface="Arial"/>
              </a:defRPr>
            </a:pPr>
            <a:r>
              <a:t>Deux états A et B.</a:t>
            </a:r>
          </a:p>
          <a:p>
            <a:pPr>
              <a:lnSpc>
                <a:spcPts val="2000"/>
              </a:lnSpc>
              <a:spcBef>
                <a:spcPts val="0"/>
              </a:spcBef>
              <a:spcAft>
                <a:spcPts val="0"/>
              </a:spcAft>
              <a:defRPr sz="1600" b="0">
                <a:solidFill>
                  <a:srgbClr val="F4F6FA"/>
                </a:solidFill>
                <a:latin typeface="Arial"/>
              </a:defRPr>
            </a:pPr>
            <a:r>
              <a:t>Imbrication déterministe.</a:t>
            </a:r>
          </a:p>
          <a:p>
            <a:pPr>
              <a:lnSpc>
                <a:spcPts val="2000"/>
              </a:lnSpc>
              <a:spcBef>
                <a:spcPts val="0"/>
              </a:spcBef>
              <a:spcAft>
                <a:spcPts val="0"/>
              </a:spcAft>
              <a:defRPr sz="1600" b="0">
                <a:solidFill>
                  <a:srgbClr val="F4F6FA"/>
                </a:solidFill>
                <a:latin typeface="Arial"/>
              </a:defRPr>
            </a:pPr>
            <a:r>
              <a:t>Aucun incident de production</a:t>
            </a:r>
          </a:p>
          <a:p>
            <a:pPr>
              <a:lnSpc>
                <a:spcPts val="2000"/>
              </a:lnSpc>
              <a:spcBef>
                <a:spcPts val="0"/>
              </a:spcBef>
              <a:spcAft>
                <a:spcPts val="0"/>
              </a:spcAft>
              <a:defRPr sz="1600" b="0">
                <a:solidFill>
                  <a:srgbClr val="F4F6FA"/>
                </a:solidFill>
                <a:latin typeface="Arial"/>
              </a:defRPr>
            </a:pPr>
            <a:r>
              <a:t>supposé.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VÉRIFIER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Comparer avant / après.</a:t>
            </a:r>
          </a:p>
          <a:p>
            <a:pPr>
              <a:lnSpc>
                <a:spcPts val="2000"/>
              </a:lnSpc>
              <a:spcBef>
                <a:spcPts val="0"/>
              </a:spcBef>
              <a:spcAft>
                <a:spcPts val="0"/>
              </a:spcAft>
              <a:defRPr sz="1600" b="0">
                <a:solidFill>
                  <a:srgbClr val="F4F6FA"/>
                </a:solidFill>
                <a:latin typeface="Arial"/>
              </a:defRPr>
            </a:pPr>
            <a:r>
              <a:t>Identifier le correctif versionné.</a:t>
            </a:r>
          </a:p>
          <a:p>
            <a:pPr>
              <a:lnSpc>
                <a:spcPts val="2000"/>
              </a:lnSpc>
              <a:spcBef>
                <a:spcPts val="0"/>
              </a:spcBef>
              <a:spcAft>
                <a:spcPts val="0"/>
              </a:spcAft>
              <a:defRPr sz="1600" b="0">
                <a:solidFill>
                  <a:srgbClr val="F4F6FA"/>
                </a:solidFill>
                <a:latin typeface="Arial"/>
              </a:defRPr>
            </a:pPr>
            <a:r>
              <a:t>Expliquer les limites et les suites</a:t>
            </a:r>
          </a:p>
          <a:p>
            <a:pPr>
              <a:lnSpc>
                <a:spcPts val="2000"/>
              </a:lnSpc>
              <a:spcBef>
                <a:spcPts val="0"/>
              </a:spcBef>
              <a:spcAft>
                <a:spcPts val="0"/>
              </a:spcAft>
              <a:defRPr sz="1600" b="0">
                <a:solidFill>
                  <a:srgbClr val="F4F6FA"/>
                </a:solidFill>
                <a:latin typeface="Arial"/>
              </a:defRPr>
            </a:pPr>
            <a:r>
              <a:t>opérationnelles.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E5 : 10 minutes ; dossier technique complémentaire joint au support.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p. 17 et 22–23 ; Dossier_incident_E5.md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SURVEILLANCE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Observer le parcours complet du joueur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Django /metrics → Prometheus → Grafana ; journaux de services en console.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APPLICATION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Démarrages, tours et résultats.</a:t>
            </a:r>
          </a:p>
          <a:p>
            <a:pPr>
              <a:lnSpc>
                <a:spcPts val="2000"/>
              </a:lnSpc>
              <a:spcBef>
                <a:spcPts val="0"/>
              </a:spcBef>
              <a:spcAft>
                <a:spcPts val="0"/>
              </a:spcAft>
              <a:defRPr sz="1600" b="0">
                <a:solidFill>
                  <a:srgbClr val="F4F6FA"/>
                </a:solidFill>
                <a:latin typeface="Arial"/>
              </a:defRPr>
            </a:pPr>
            <a:r>
              <a:t>Combats et actions.</a:t>
            </a:r>
          </a:p>
          <a:p>
            <a:pPr>
              <a:lnSpc>
                <a:spcPts val="2000"/>
              </a:lnSpc>
              <a:spcBef>
                <a:spcPts val="0"/>
              </a:spcBef>
              <a:spcAft>
                <a:spcPts val="0"/>
              </a:spcAft>
              <a:defRPr sz="1600" b="0">
                <a:solidFill>
                  <a:srgbClr val="F4F6FA"/>
                </a:solidFill>
                <a:latin typeface="Arial"/>
              </a:defRPr>
            </a:pPr>
            <a:r>
              <a:t>Délai navigateur jusqu’au retour de</a:t>
            </a:r>
          </a:p>
          <a:p>
            <a:pPr>
              <a:lnSpc>
                <a:spcPts val="2000"/>
              </a:lnSpc>
              <a:spcBef>
                <a:spcPts val="0"/>
              </a:spcBef>
              <a:spcAft>
                <a:spcPts val="0"/>
              </a:spcAft>
              <a:defRPr sz="1600" b="0">
                <a:solidFill>
                  <a:srgbClr val="F4F6FA"/>
                </a:solidFill>
                <a:latin typeface="Arial"/>
              </a:defRPr>
            </a:pPr>
            <a:r>
              <a:t>choix utilisables.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SERVICES IA</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Opérations, tentatives et retries.</a:t>
            </a:r>
          </a:p>
          <a:p>
            <a:pPr>
              <a:lnSpc>
                <a:spcPts val="2000"/>
              </a:lnSpc>
              <a:spcBef>
                <a:spcPts val="0"/>
              </a:spcBef>
              <a:spcAft>
                <a:spcPts val="0"/>
              </a:spcAft>
              <a:defRPr sz="1600" b="0">
                <a:solidFill>
                  <a:srgbClr val="F4F6FA"/>
                </a:solidFill>
                <a:latin typeface="Arial"/>
              </a:defRPr>
            </a:pPr>
            <a:r>
              <a:t>Durée logique incluant reprises.</a:t>
            </a:r>
          </a:p>
          <a:p>
            <a:pPr>
              <a:lnSpc>
                <a:spcPts val="2000"/>
              </a:lnSpc>
              <a:spcBef>
                <a:spcPts val="0"/>
              </a:spcBef>
              <a:spcAft>
                <a:spcPts val="0"/>
              </a:spcAft>
              <a:defRPr sz="1600" b="0">
                <a:solidFill>
                  <a:srgbClr val="F4F6FA"/>
                </a:solidFill>
                <a:latin typeface="Arial"/>
              </a:defRPr>
            </a:pPr>
            <a:r>
              <a:t>Échecs, sorties invalides et RAG.</a:t>
            </a:r>
          </a:p>
          <a:p>
            <a:pPr>
              <a:lnSpc>
                <a:spcPts val="2000"/>
              </a:lnSpc>
              <a:spcBef>
                <a:spcPts val="0"/>
              </a:spcBef>
              <a:spcAft>
                <a:spcPts val="0"/>
              </a:spcAft>
              <a:defRPr sz="1600" b="0">
                <a:solidFill>
                  <a:srgbClr val="F4F6FA"/>
                </a:solidFill>
                <a:latin typeface="Arial"/>
              </a:defRPr>
            </a:pPr>
            <a:r>
              <a:t>Coût estimé si tarifs configurés.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JOURNAUX</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Date, niveau, logger, message.</a:t>
            </a:r>
          </a:p>
          <a:p>
            <a:pPr>
              <a:lnSpc>
                <a:spcPts val="2000"/>
              </a:lnSpc>
              <a:spcBef>
                <a:spcPts val="0"/>
              </a:spcBef>
              <a:spcAft>
                <a:spcPts val="0"/>
              </a:spcAft>
              <a:defRPr sz="1600" b="0">
                <a:solidFill>
                  <a:srgbClr val="F4F6FA"/>
                </a:solidFill>
                <a:latin typeface="Arial"/>
              </a:defRPr>
            </a:pPr>
            <a:r>
              <a:t>Loggers agents et retrieval.</a:t>
            </a:r>
          </a:p>
          <a:p>
            <a:pPr>
              <a:lnSpc>
                <a:spcPts val="2000"/>
              </a:lnSpc>
              <a:spcBef>
                <a:spcPts val="0"/>
              </a:spcBef>
              <a:spcAft>
                <a:spcPts val="0"/>
              </a:spcAft>
              <a:defRPr sz="1600" b="0">
                <a:solidFill>
                  <a:srgbClr val="F4F6FA"/>
                </a:solidFill>
                <a:latin typeface="Arial"/>
              </a:defRPr>
            </a:pPr>
            <a:r>
              <a:t>Erreurs contextualisées.</a:t>
            </a:r>
          </a:p>
          <a:p>
            <a:pPr>
              <a:lnSpc>
                <a:spcPts val="2000"/>
              </a:lnSpc>
              <a:spcBef>
                <a:spcPts val="0"/>
              </a:spcBef>
              <a:spcAft>
                <a:spcPts val="0"/>
              </a:spcAft>
              <a:defRPr sz="1600" b="0">
                <a:solidFill>
                  <a:srgbClr val="F4F6FA"/>
                </a:solidFill>
                <a:latin typeface="Arial"/>
              </a:defRPr>
            </a:pPr>
            <a:r>
              <a:t>Contenu à revoir avant partage.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métriques évitent les identités ; les messages et traces doivent aussi être contrôlés.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docs/monitoring.md ; settings.py ; src/observability/metrics.py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C20 · SEUILS ET DÉTECTION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Les alertes techniques ne détectent pas tout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Règles existantes dans monitoring/prometheus/alerts.yml.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INDISPONIBILITÉ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Plus de 2 opérations indisponibles</a:t>
            </a:r>
          </a:p>
          <a:p>
            <a:pPr>
              <a:lnSpc>
                <a:spcPts val="2000"/>
              </a:lnSpc>
              <a:spcBef>
                <a:spcPts val="0"/>
              </a:spcBef>
              <a:spcAft>
                <a:spcPts val="0"/>
              </a:spcAft>
              <a:defRPr sz="1600" b="0">
                <a:solidFill>
                  <a:srgbClr val="F4F6FA"/>
                </a:solidFill>
                <a:latin typeface="Arial"/>
              </a:defRPr>
            </a:pPr>
            <a:r>
              <a:t>sur 10 min.</a:t>
            </a:r>
          </a:p>
          <a:p>
            <a:pPr>
              <a:lnSpc>
                <a:spcPts val="2000"/>
              </a:lnSpc>
              <a:spcBef>
                <a:spcPts val="0"/>
              </a:spcBef>
              <a:spcAft>
                <a:spcPts val="0"/>
              </a:spcAft>
              <a:defRPr sz="1600" b="0">
                <a:solidFill>
                  <a:srgbClr val="F4F6FA"/>
                </a:solidFill>
                <a:latin typeface="Arial"/>
              </a:defRPr>
            </a:pPr>
            <a:r>
              <a:t>Condition maintenue 2 min.</a:t>
            </a:r>
          </a:p>
          <a:p>
            <a:pPr>
              <a:lnSpc>
                <a:spcPts val="2000"/>
              </a:lnSpc>
              <a:spcBef>
                <a:spcPts val="0"/>
              </a:spcBef>
              <a:spcAft>
                <a:spcPts val="0"/>
              </a:spcAft>
              <a:defRPr sz="1600" b="0">
                <a:solidFill>
                  <a:srgbClr val="F4F6FA"/>
                </a:solidFill>
                <a:latin typeface="Arial"/>
              </a:defRPr>
            </a:pPr>
            <a:r>
              <a:t>Signal pour diagnostic fournisseur.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LATENCE / QUALITÉ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p95 &gt; 30 s sur fenêtre 15 min,</a:t>
            </a:r>
          </a:p>
          <a:p>
            <a:pPr>
              <a:lnSpc>
                <a:spcPts val="2000"/>
              </a:lnSpc>
              <a:spcBef>
                <a:spcPts val="0"/>
              </a:spcBef>
              <a:spcAft>
                <a:spcPts val="0"/>
              </a:spcAft>
              <a:defRPr sz="1600" b="0">
                <a:solidFill>
                  <a:srgbClr val="F4F6FA"/>
                </a:solidFill>
                <a:latin typeface="Arial"/>
              </a:defRPr>
            </a:pPr>
            <a:r>
              <a:t>pendant 10 min.</a:t>
            </a:r>
          </a:p>
          <a:p>
            <a:pPr>
              <a:lnSpc>
                <a:spcPts val="2000"/>
              </a:lnSpc>
              <a:spcBef>
                <a:spcPts val="0"/>
              </a:spcBef>
              <a:spcAft>
                <a:spcPts val="0"/>
              </a:spcAft>
              <a:defRPr sz="1600" b="0">
                <a:solidFill>
                  <a:srgbClr val="F4F6FA"/>
                </a:solidFill>
                <a:latin typeface="Arial"/>
              </a:defRPr>
            </a:pPr>
            <a:r>
              <a:t>Sortie invalide : fenêtre 15 min,</a:t>
            </a:r>
          </a:p>
          <a:p>
            <a:pPr>
              <a:lnSpc>
                <a:spcPts val="2000"/>
              </a:lnSpc>
              <a:spcBef>
                <a:spcPts val="0"/>
              </a:spcBef>
              <a:spcAft>
                <a:spcPts val="0"/>
              </a:spcAft>
              <a:defRPr sz="1600" b="0">
                <a:solidFill>
                  <a:srgbClr val="F4F6FA"/>
                </a:solidFill>
                <a:latin typeface="Arial"/>
              </a:defRPr>
            </a:pPr>
            <a:r>
              <a:t>maintien 1 min.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ANGLE MORT MÉTIER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combat peut renvoyer HTTP</a:t>
            </a:r>
          </a:p>
          <a:p>
            <a:pPr>
              <a:lnSpc>
                <a:spcPts val="2000"/>
              </a:lnSpc>
              <a:spcBef>
                <a:spcPts val="0"/>
              </a:spcBef>
              <a:spcAft>
                <a:spcPts val="0"/>
              </a:spcAft>
              <a:defRPr sz="1600" b="0">
                <a:solidFill>
                  <a:srgbClr val="F4F6FA"/>
                </a:solidFill>
                <a:latin typeface="Arial"/>
              </a:defRPr>
            </a:pPr>
            <a:r>
              <a:t>200 tout en modifiant le mauvais</a:t>
            </a:r>
          </a:p>
          <a:p>
            <a:pPr>
              <a:lnSpc>
                <a:spcPts val="2000"/>
              </a:lnSpc>
              <a:spcBef>
                <a:spcPts val="0"/>
              </a:spcBef>
              <a:spcAft>
                <a:spcPts val="0"/>
              </a:spcAft>
              <a:defRPr sz="1600" b="0">
                <a:solidFill>
                  <a:srgbClr val="F4F6FA"/>
                </a:solidFill>
                <a:latin typeface="Arial"/>
              </a:defRPr>
            </a:pPr>
            <a:r>
              <a:t>état.</a:t>
            </a:r>
          </a:p>
          <a:p>
            <a:pPr>
              <a:lnSpc>
                <a:spcPts val="2000"/>
              </a:lnSpc>
              <a:spcBef>
                <a:spcPts val="0"/>
              </a:spcBef>
              <a:spcAft>
                <a:spcPts val="0"/>
              </a:spcAft>
              <a:defRPr sz="1600" b="0">
                <a:solidFill>
                  <a:srgbClr val="F4F6FA"/>
                </a:solidFill>
                <a:latin typeface="Arial"/>
              </a:defRPr>
            </a:pPr>
            <a:r>
              <a:t>Aucune règle actuelle ne détecte</a:t>
            </a:r>
          </a:p>
          <a:p>
            <a:pPr>
              <a:lnSpc>
                <a:spcPts val="2000"/>
              </a:lnSpc>
              <a:spcBef>
                <a:spcPts val="0"/>
              </a:spcBef>
              <a:spcAft>
                <a:spcPts val="0"/>
              </a:spcAft>
              <a:defRPr sz="1600" b="0">
                <a:solidFill>
                  <a:srgbClr val="F4F6FA"/>
                </a:solidFill>
                <a:latin typeface="Arial"/>
              </a:defRPr>
            </a:pPr>
            <a:r>
              <a:t>cet invariant.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récepteur Alertmanager est vide : aucune réception externe démontrée.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monitoring/prometheus/alerts.yml ; monitoring/alertmanager/alertmanager.yml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REPRODUCTION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L’ancienne version attaque le mauvais monstre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Scénario contrôlé : chaque monstre démarre à 8 PV ; dégâts fixés à 3.</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1 / RESTAURER A</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processus charge le joueur A et</a:t>
            </a:r>
          </a:p>
          <a:p>
            <a:pPr>
              <a:lnSpc>
                <a:spcPts val="2000"/>
              </a:lnSpc>
              <a:spcBef>
                <a:spcPts val="0"/>
              </a:spcBef>
              <a:spcAft>
                <a:spcPts val="0"/>
              </a:spcAft>
              <a:defRPr sz="1600" b="0">
                <a:solidFill>
                  <a:srgbClr val="F4F6FA"/>
                </a:solidFill>
                <a:latin typeface="Arial"/>
              </a:defRPr>
            </a:pPr>
            <a:r>
              <a:t>son monstre dans des variables</a:t>
            </a:r>
          </a:p>
          <a:p>
            <a:pPr>
              <a:lnSpc>
                <a:spcPts val="2000"/>
              </a:lnSpc>
              <a:spcBef>
                <a:spcPts val="0"/>
              </a:spcBef>
              <a:spcAft>
                <a:spcPts val="0"/>
              </a:spcAft>
              <a:defRPr sz="1600" b="0">
                <a:solidFill>
                  <a:srgbClr val="F4F6FA"/>
                </a:solidFill>
                <a:latin typeface="Arial"/>
              </a:defRPr>
            </a:pPr>
            <a:r>
              <a:t>globales.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2 / RESTAURER B</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Avant l’attaque de A, B charge son</a:t>
            </a:r>
          </a:p>
          <a:p>
            <a:pPr>
              <a:lnSpc>
                <a:spcPts val="2000"/>
              </a:lnSpc>
              <a:spcBef>
                <a:spcPts val="0"/>
              </a:spcBef>
              <a:spcAft>
                <a:spcPts val="0"/>
              </a:spcAft>
              <a:defRPr sz="1600" b="0">
                <a:solidFill>
                  <a:srgbClr val="F4F6FA"/>
                </a:solidFill>
                <a:latin typeface="Arial"/>
              </a:defRPr>
            </a:pPr>
            <a:r>
              <a:t>combat.</a:t>
            </a:r>
          </a:p>
          <a:p>
            <a:pPr>
              <a:lnSpc>
                <a:spcPts val="2000"/>
              </a:lnSpc>
              <a:spcBef>
                <a:spcPts val="0"/>
              </a:spcBef>
              <a:spcAft>
                <a:spcPts val="0"/>
              </a:spcAft>
              <a:defRPr sz="1600" b="0">
                <a:solidFill>
                  <a:srgbClr val="F4F6FA"/>
                </a:solidFill>
                <a:latin typeface="Arial"/>
              </a:defRPr>
            </a:pPr>
            <a:r>
              <a:t>Les mêmes variables globales</a:t>
            </a:r>
          </a:p>
          <a:p>
            <a:pPr>
              <a:lnSpc>
                <a:spcPts val="2000"/>
              </a:lnSpc>
              <a:spcBef>
                <a:spcPts val="0"/>
              </a:spcBef>
              <a:spcAft>
                <a:spcPts val="0"/>
              </a:spcAft>
              <a:defRPr sz="1600" b="0">
                <a:solidFill>
                  <a:srgbClr val="F4F6FA"/>
                </a:solidFill>
                <a:latin typeface="Arial"/>
              </a:defRPr>
            </a:pPr>
            <a:r>
              <a:t>pointent maintenant vers B.</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3 / REPRENDRE A</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L’action destinée à A utilise l’état</a:t>
            </a:r>
          </a:p>
          <a:p>
            <a:pPr>
              <a:lnSpc>
                <a:spcPts val="2000"/>
              </a:lnSpc>
              <a:spcBef>
                <a:spcPts val="0"/>
              </a:spcBef>
              <a:spcAft>
                <a:spcPts val="0"/>
              </a:spcAft>
              <a:defRPr sz="1600" b="0">
                <a:solidFill>
                  <a:srgbClr val="F4F6FA"/>
                </a:solidFill>
                <a:latin typeface="Arial"/>
              </a:defRPr>
            </a:pPr>
            <a:r>
              <a:t>global de B.</a:t>
            </a:r>
          </a:p>
          <a:p>
            <a:pPr>
              <a:lnSpc>
                <a:spcPts val="2000"/>
              </a:lnSpc>
              <a:spcBef>
                <a:spcPts val="0"/>
              </a:spcBef>
              <a:spcAft>
                <a:spcPts val="0"/>
              </a:spcAft>
              <a:defRPr sz="1600" b="0">
                <a:solidFill>
                  <a:srgbClr val="F4F6FA"/>
                </a:solidFill>
                <a:latin typeface="Arial"/>
              </a:defRPr>
            </a:pPr>
            <a:r>
              <a:t>Monstre A : 8 PV.</a:t>
            </a:r>
          </a:p>
          <a:p>
            <a:pPr>
              <a:lnSpc>
                <a:spcPts val="2000"/>
              </a:lnSpc>
              <a:spcBef>
                <a:spcPts val="0"/>
              </a:spcBef>
              <a:spcAft>
                <a:spcPts val="0"/>
              </a:spcAft>
              <a:defRPr sz="1600" b="0">
                <a:solidFill>
                  <a:srgbClr val="F4F6FA"/>
                </a:solidFill>
                <a:latin typeface="Arial"/>
              </a:defRPr>
            </a:pPr>
            <a:r>
              <a:t>Monstre B : 5 PV.</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Attendu : A perd 3 PV ; observé avant correctif : B perd 3 PV.</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reproduce_incident.py ; preuves/incident-combat.json</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CAUSE RACINE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 état global partage une identité implicite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sélection du combat dépendait du dernier appel de restauration.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player et current_monster au</a:t>
            </a:r>
          </a:p>
          <a:p>
            <a:pPr>
              <a:lnSpc>
                <a:spcPts val="2000"/>
              </a:lnSpc>
              <a:spcBef>
                <a:spcPts val="0"/>
              </a:spcBef>
              <a:spcAft>
                <a:spcPts val="0"/>
              </a:spcAft>
              <a:defRPr sz="1600" b="0">
                <a:solidFill>
                  <a:srgbClr val="F4F6FA"/>
                </a:solidFill>
                <a:latin typeface="Arial"/>
              </a:defRPr>
            </a:pPr>
            <a:r>
              <a:t>niveau du module.</a:t>
            </a:r>
          </a:p>
          <a:p>
            <a:pPr>
              <a:lnSpc>
                <a:spcPts val="2000"/>
              </a:lnSpc>
              <a:spcBef>
                <a:spcPts val="0"/>
              </a:spcBef>
              <a:spcAft>
                <a:spcPts val="0"/>
              </a:spcAft>
              <a:defRPr sz="1600" b="0">
                <a:solidFill>
                  <a:srgbClr val="F4F6FA"/>
                </a:solidFill>
                <a:latin typeface="Arial"/>
              </a:defRPr>
            </a:pPr>
            <a:r>
              <a:t>restore_combat remplace leurs</a:t>
            </a:r>
          </a:p>
          <a:p>
            <a:pPr>
              <a:lnSpc>
                <a:spcPts val="2000"/>
              </a:lnSpc>
              <a:spcBef>
                <a:spcPts val="0"/>
              </a:spcBef>
              <a:spcAft>
                <a:spcPts val="0"/>
              </a:spcAft>
              <a:defRPr sz="1600" b="0">
                <a:solidFill>
                  <a:srgbClr val="F4F6FA"/>
                </a:solidFill>
                <a:latin typeface="Arial"/>
              </a:defRPr>
            </a:pPr>
            <a:r>
              <a:t>références.</a:t>
            </a:r>
          </a:p>
          <a:p>
            <a:pPr>
              <a:lnSpc>
                <a:spcPts val="2000"/>
              </a:lnSpc>
              <a:spcBef>
                <a:spcPts val="0"/>
              </a:spcBef>
              <a:spcAft>
                <a:spcPts val="0"/>
              </a:spcAft>
              <a:defRPr sz="1600" b="0">
                <a:solidFill>
                  <a:srgbClr val="F4F6FA"/>
                </a:solidFill>
                <a:latin typeface="Arial"/>
              </a:defRPr>
            </a:pPr>
            <a:r>
              <a:t>player_action les lit implicitement.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MÉCANISME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Chaque session web possède ses</a:t>
            </a:r>
          </a:p>
          <a:p>
            <a:pPr>
              <a:lnSpc>
                <a:spcPts val="2000"/>
              </a:lnSpc>
              <a:spcBef>
                <a:spcPts val="0"/>
              </a:spcBef>
              <a:spcAft>
                <a:spcPts val="0"/>
              </a:spcAft>
              <a:defRPr sz="1600" b="0">
                <a:solidFill>
                  <a:srgbClr val="F4F6FA"/>
                </a:solidFill>
                <a:latin typeface="Arial"/>
              </a:defRPr>
            </a:pPr>
            <a:r>
              <a:t>données, mais la fonction métier</a:t>
            </a:r>
          </a:p>
          <a:p>
            <a:pPr>
              <a:lnSpc>
                <a:spcPts val="2000"/>
              </a:lnSpc>
              <a:spcBef>
                <a:spcPts val="0"/>
              </a:spcBef>
              <a:spcAft>
                <a:spcPts val="0"/>
              </a:spcAft>
              <a:defRPr sz="1600" b="0">
                <a:solidFill>
                  <a:srgbClr val="F4F6FA"/>
                </a:solidFill>
                <a:latin typeface="Arial"/>
              </a:defRPr>
            </a:pPr>
            <a:r>
              <a:t>réutilise une mémoire de</a:t>
            </a:r>
          </a:p>
          <a:p>
            <a:pPr>
              <a:lnSpc>
                <a:spcPts val="2000"/>
              </a:lnSpc>
              <a:spcBef>
                <a:spcPts val="0"/>
              </a:spcBef>
              <a:spcAft>
                <a:spcPts val="0"/>
              </a:spcAft>
              <a:defRPr sz="1600" b="0">
                <a:solidFill>
                  <a:srgbClr val="F4F6FA"/>
                </a:solidFill>
                <a:latin typeface="Arial"/>
              </a:defRPr>
            </a:pPr>
            <a:r>
              <a:t>processus partagée.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CONSÉQUENCE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interruption entre restauration</a:t>
            </a:r>
          </a:p>
          <a:p>
            <a:pPr>
              <a:lnSpc>
                <a:spcPts val="2000"/>
              </a:lnSpc>
              <a:spcBef>
                <a:spcPts val="0"/>
              </a:spcBef>
              <a:spcAft>
                <a:spcPts val="0"/>
              </a:spcAft>
              <a:defRPr sz="1600" b="0">
                <a:solidFill>
                  <a:srgbClr val="F4F6FA"/>
                </a:solidFill>
                <a:latin typeface="Arial"/>
              </a:defRPr>
            </a:pPr>
            <a:r>
              <a:t>et résolution peut cibler un autre</a:t>
            </a:r>
          </a:p>
          <a:p>
            <a:pPr>
              <a:lnSpc>
                <a:spcPts val="2000"/>
              </a:lnSpc>
              <a:spcBef>
                <a:spcPts val="0"/>
              </a:spcBef>
              <a:spcAft>
                <a:spcPts val="0"/>
              </a:spcAft>
              <a:defRPr sz="1600" b="0">
                <a:solidFill>
                  <a:srgbClr val="F4F6FA"/>
                </a:solidFill>
                <a:latin typeface="Arial"/>
              </a:defRPr>
            </a:pPr>
            <a:r>
              <a:t>combat.</a:t>
            </a:r>
          </a:p>
          <a:p>
            <a:pPr>
              <a:lnSpc>
                <a:spcPts val="2000"/>
              </a:lnSpc>
              <a:spcBef>
                <a:spcPts val="0"/>
              </a:spcBef>
              <a:spcAft>
                <a:spcPts val="0"/>
              </a:spcAft>
              <a:defRPr sz="1600" b="0">
                <a:solidFill>
                  <a:srgbClr val="F4F6FA"/>
                </a:solidFill>
                <a:latin typeface="Arial"/>
              </a:defRPr>
            </a:pPr>
            <a:r>
              <a:t>Les compteurs HTTP ne voient pas</a:t>
            </a:r>
          </a:p>
          <a:p>
            <a:pPr>
              <a:lnSpc>
                <a:spcPts val="2000"/>
              </a:lnSpc>
              <a:spcBef>
                <a:spcPts val="0"/>
              </a:spcBef>
              <a:spcAft>
                <a:spcPts val="0"/>
              </a:spcAft>
              <a:defRPr sz="1600" b="0">
                <a:solidFill>
                  <a:srgbClr val="F4F6FA"/>
                </a:solidFill>
                <a:latin typeface="Arial"/>
              </a:defRPr>
            </a:pPr>
            <a:r>
              <a:t>cette erreur métier.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L’isolement de la session web doit être conservé jusque dans les fonctions métier.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 : parent de 8a3cf39, src/combat/core.py ; diff 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CORRECTION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Passer le combat explicitement aux fonctions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Correctif versionné le 3 septembre 2026 : commit 8a3cf39.</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OBJET DÉDIÉ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CombatSession regroupe joueur,</a:t>
            </a:r>
          </a:p>
          <a:p>
            <a:pPr>
              <a:lnSpc>
                <a:spcPts val="2000"/>
              </a:lnSpc>
              <a:spcBef>
                <a:spcPts val="0"/>
              </a:spcBef>
              <a:spcAft>
                <a:spcPts val="0"/>
              </a:spcAft>
              <a:defRPr sz="1600" b="0">
                <a:solidFill>
                  <a:srgbClr val="F4F6FA"/>
                </a:solidFill>
                <a:latin typeface="Arial"/>
              </a:defRPr>
            </a:pPr>
            <a:r>
              <a:t>monstre, journal et défense.</a:t>
            </a:r>
          </a:p>
          <a:p>
            <a:pPr>
              <a:lnSpc>
                <a:spcPts val="2000"/>
              </a:lnSpc>
              <a:spcBef>
                <a:spcPts val="0"/>
              </a:spcBef>
              <a:spcAft>
                <a:spcPts val="0"/>
              </a:spcAft>
              <a:defRPr sz="1600" b="0">
                <a:solidFill>
                  <a:srgbClr val="F4F6FA"/>
                </a:solidFill>
                <a:latin typeface="Arial"/>
              </a:defRPr>
            </a:pPr>
            <a:r>
              <a:t>Une instance liée à l’état traité.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APPELS EXPLICITES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restore_combat_session(...)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resolve_player_action(session,</a:t>
            </a:r>
          </a:p>
          <a:p>
            <a:pPr>
              <a:lnSpc>
                <a:spcPts val="2000"/>
              </a:lnSpc>
              <a:spcBef>
                <a:spcPts val="0"/>
              </a:spcBef>
              <a:spcAft>
                <a:spcPts val="0"/>
              </a:spcAft>
              <a:defRPr sz="1600" b="0">
                <a:solidFill>
                  <a:srgbClr val="F4F6FA"/>
                </a:solidFill>
                <a:latin typeface="Arial"/>
              </a:defRPr>
            </a:pPr>
            <a:r>
              <a:t>action)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resolve_monster_attack(session)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MISE À JOUR LOCALE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 récupère joueur et</a:t>
            </a:r>
          </a:p>
          <a:p>
            <a:pPr>
              <a:lnSpc>
                <a:spcPts val="2000"/>
              </a:lnSpc>
              <a:spcBef>
                <a:spcPts val="0"/>
              </a:spcBef>
              <a:spcAft>
                <a:spcPts val="0"/>
              </a:spcAft>
              <a:defRPr sz="1600" b="0">
                <a:solidFill>
                  <a:srgbClr val="F4F6FA"/>
                </a:solidFill>
                <a:latin typeface="Arial"/>
              </a:defRPr>
            </a:pPr>
            <a:r>
              <a:t>monstre dans cette instance, puis</a:t>
            </a:r>
          </a:p>
          <a:p>
            <a:pPr>
              <a:lnSpc>
                <a:spcPts val="2000"/>
              </a:lnSpc>
              <a:spcBef>
                <a:spcPts val="0"/>
              </a:spcBef>
              <a:spcAft>
                <a:spcPts val="0"/>
              </a:spcAft>
              <a:defRPr sz="1600" b="0">
                <a:solidFill>
                  <a:srgbClr val="F4F6FA"/>
                </a:solidFill>
                <a:latin typeface="Arial"/>
              </a:defRPr>
            </a:pPr>
            <a:r>
              <a:t>met à jour son état de partie.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résolution du combat Django ne dépend plus du dernier combat restauré globalement.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src/combat/core.py ; services/game_engine.py ; commit 8a3cf39</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C21 · VALIDATION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Le même scénario touche désormais le bon état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Résultats vérifiés le 14 septembre 2026.</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 CORRECTIF</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Monstre A : 8 → 8 PV.</a:t>
            </a:r>
          </a:p>
          <a:p>
            <a:pPr>
              <a:lnSpc>
                <a:spcPts val="2000"/>
              </a:lnSpc>
              <a:spcBef>
                <a:spcPts val="0"/>
              </a:spcBef>
              <a:spcAft>
                <a:spcPts val="0"/>
              </a:spcAft>
              <a:defRPr sz="1600" b="0">
                <a:solidFill>
                  <a:srgbClr val="F4F6FA"/>
                </a:solidFill>
                <a:latin typeface="Arial"/>
              </a:defRPr>
            </a:pPr>
            <a:r>
              <a:t>Monstre B : 8 → 5 PV.</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Le mauvais combat est modifié.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CODE ACTUEL</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Monstre A : 8 → 5 PV.</a:t>
            </a:r>
          </a:p>
          <a:p>
            <a:pPr>
              <a:lnSpc>
                <a:spcPts val="2000"/>
              </a:lnSpc>
              <a:spcBef>
                <a:spcPts val="0"/>
              </a:spcBef>
              <a:spcAft>
                <a:spcPts val="0"/>
              </a:spcAft>
              <a:defRPr sz="1600" b="0">
                <a:solidFill>
                  <a:srgbClr val="F4F6FA"/>
                </a:solidFill>
                <a:latin typeface="Arial"/>
              </a:defRPr>
            </a:pPr>
            <a:r>
              <a:t>Monstre B : 8 → 8 PV.</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L’action reste dans la session A.</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RÉGRESSION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 d’isolation Django réussi.</a:t>
            </a:r>
          </a:p>
          <a:p>
            <a:pPr>
              <a:lnSpc>
                <a:spcPts val="2000"/>
              </a:lnSpc>
              <a:spcBef>
                <a:spcPts val="0"/>
              </a:spcBef>
              <a:spcAft>
                <a:spcPts val="0"/>
              </a:spcAft>
              <a:defRPr sz="1600" b="0">
                <a:solidFill>
                  <a:srgbClr val="F4F6FA"/>
                </a:solidFill>
                <a:latin typeface="Arial"/>
              </a:defRPr>
            </a:pPr>
            <a:r>
              <a:t>44 tests applicatifs ciblés réussis.</a:t>
            </a:r>
          </a:p>
          <a:p>
            <a:pPr>
              <a:lnSpc>
                <a:spcPts val="2000"/>
              </a:lnSpc>
              <a:spcBef>
                <a:spcPts val="0"/>
              </a:spcBef>
              <a:spcAft>
                <a:spcPts val="0"/>
              </a:spcAft>
              <a:defRPr sz="1600" b="0">
                <a:solidFill>
                  <a:srgbClr val="F4F6FA"/>
                </a:solidFill>
                <a:latin typeface="Arial"/>
              </a:defRPr>
            </a:pPr>
            <a:r>
              <a:t>Cas absent / invalide et reprise de</a:t>
            </a:r>
          </a:p>
          <a:p>
            <a:pPr>
              <a:lnSpc>
                <a:spcPts val="2000"/>
              </a:lnSpc>
              <a:spcBef>
                <a:spcPts val="0"/>
              </a:spcBef>
              <a:spcAft>
                <a:spcPts val="0"/>
              </a:spcAft>
              <a:defRPr sz="1600" b="0">
                <a:solidFill>
                  <a:srgbClr val="F4F6FA"/>
                </a:solidFill>
                <a:latin typeface="Arial"/>
              </a:defRPr>
            </a:pPr>
            <a:r>
              <a:t>combat également exercés.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L’imbrication est prouvée ; la montée en charge et les requêtes simultanées restent à tester.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preuves/incident-combat.json ; game.tests.CombatEngineTests</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E5 · CAPITALISATION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Relier le correctif à l’exploitation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résolution documentée et des actions opérationnelles encore à compléter.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PREUVES DISPONIBLES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Scénario, cause et correctif.</a:t>
            </a:r>
          </a:p>
          <a:p>
            <a:pPr>
              <a:lnSpc>
                <a:spcPts val="2000"/>
              </a:lnSpc>
              <a:spcBef>
                <a:spcPts val="0"/>
              </a:spcBef>
              <a:spcAft>
                <a:spcPts val="0"/>
              </a:spcAft>
              <a:defRPr sz="1600" b="0">
                <a:solidFill>
                  <a:srgbClr val="F4F6FA"/>
                </a:solidFill>
                <a:latin typeface="Arial"/>
              </a:defRPr>
            </a:pPr>
            <a:r>
              <a:t>Commit historique identifié.</a:t>
            </a:r>
          </a:p>
          <a:p>
            <a:pPr>
              <a:lnSpc>
                <a:spcPts val="2000"/>
              </a:lnSpc>
              <a:spcBef>
                <a:spcPts val="0"/>
              </a:spcBef>
              <a:spcAft>
                <a:spcPts val="0"/>
              </a:spcAft>
              <a:defRPr sz="1600" b="0">
                <a:solidFill>
                  <a:srgbClr val="F4F6FA"/>
                </a:solidFill>
                <a:latin typeface="Arial"/>
              </a:defRPr>
            </a:pPr>
            <a:r>
              <a:t>Reproduction avant / après.</a:t>
            </a:r>
          </a:p>
          <a:p>
            <a:pPr>
              <a:lnSpc>
                <a:spcPts val="2000"/>
              </a:lnSpc>
              <a:spcBef>
                <a:spcPts val="0"/>
              </a:spcBef>
              <a:spcAft>
                <a:spcPts val="0"/>
              </a:spcAft>
              <a:defRPr sz="1600" b="0">
                <a:solidFill>
                  <a:srgbClr val="F4F6FA"/>
                </a:solidFill>
                <a:latin typeface="Arial"/>
              </a:defRPr>
            </a:pPr>
            <a:r>
              <a:t>Test de non-régression et</a:t>
            </a:r>
          </a:p>
          <a:p>
            <a:pPr>
              <a:lnSpc>
                <a:spcPts val="2000"/>
              </a:lnSpc>
              <a:spcBef>
                <a:spcPts val="0"/>
              </a:spcBef>
              <a:spcAft>
                <a:spcPts val="0"/>
              </a:spcAft>
              <a:defRPr sz="1600" b="0">
                <a:solidFill>
                  <a:srgbClr val="F4F6FA"/>
                </a:solidFill>
                <a:latin typeface="Arial"/>
              </a:defRPr>
            </a:pPr>
            <a:r>
              <a:t>commandes.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JOINDRE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Ticket dans l’outil de suivi.</a:t>
            </a:r>
          </a:p>
          <a:p>
            <a:pPr>
              <a:lnSpc>
                <a:spcPts val="2000"/>
              </a:lnSpc>
              <a:spcBef>
                <a:spcPts val="0"/>
              </a:spcBef>
              <a:spcAft>
                <a:spcPts val="0"/>
              </a:spcAft>
              <a:defRPr sz="1600" b="0">
                <a:solidFill>
                  <a:srgbClr val="F4F6FA"/>
                </a:solidFill>
                <a:latin typeface="Arial"/>
              </a:defRPr>
            </a:pPr>
            <a:r>
              <a:t>Chronologie de découverte réelle.</a:t>
            </a:r>
          </a:p>
          <a:p>
            <a:pPr>
              <a:lnSpc>
                <a:spcPts val="2000"/>
              </a:lnSpc>
              <a:spcBef>
                <a:spcPts val="0"/>
              </a:spcBef>
              <a:spcAft>
                <a:spcPts val="0"/>
              </a:spcAft>
              <a:defRPr sz="1600" b="0">
                <a:solidFill>
                  <a:srgbClr val="F4F6FA"/>
                </a:solidFill>
                <a:latin typeface="Arial"/>
              </a:defRPr>
            </a:pPr>
            <a:r>
              <a:t>Alerte reçue en environnement</a:t>
            </a:r>
          </a:p>
          <a:p>
            <a:pPr>
              <a:lnSpc>
                <a:spcPts val="2000"/>
              </a:lnSpc>
              <a:spcBef>
                <a:spcPts val="0"/>
              </a:spcBef>
              <a:spcAft>
                <a:spcPts val="0"/>
              </a:spcAft>
              <a:defRPr sz="1600" b="0">
                <a:solidFill>
                  <a:srgbClr val="F4F6FA"/>
                </a:solidFill>
                <a:latin typeface="Arial"/>
              </a:defRPr>
            </a:pPr>
            <a:r>
              <a:t>test.</a:t>
            </a:r>
          </a:p>
          <a:p>
            <a:pPr>
              <a:lnSpc>
                <a:spcPts val="2000"/>
              </a:lnSpc>
              <a:spcBef>
                <a:spcPts val="0"/>
              </a:spcBef>
              <a:spcAft>
                <a:spcPts val="0"/>
              </a:spcAft>
              <a:defRPr sz="1600" b="0">
                <a:solidFill>
                  <a:srgbClr val="F4F6FA"/>
                </a:solidFill>
                <a:latin typeface="Arial"/>
              </a:defRPr>
            </a:pPr>
            <a:r>
              <a:t>Déploiement du correctif et</a:t>
            </a:r>
          </a:p>
          <a:p>
            <a:pPr>
              <a:lnSpc>
                <a:spcPts val="2000"/>
              </a:lnSpc>
              <a:spcBef>
                <a:spcPts val="0"/>
              </a:spcBef>
              <a:spcAft>
                <a:spcPts val="0"/>
              </a:spcAft>
              <a:defRPr sz="1600" b="0">
                <a:solidFill>
                  <a:srgbClr val="F4F6FA"/>
                </a:solidFill>
                <a:latin typeface="Arial"/>
              </a:defRPr>
            </a:pPr>
            <a:r>
              <a:t>contrôle après livraison.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PRÉVENIR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Tester les invariants métier.</a:t>
            </a:r>
          </a:p>
          <a:p>
            <a:pPr>
              <a:lnSpc>
                <a:spcPts val="2000"/>
              </a:lnSpc>
              <a:spcBef>
                <a:spcPts val="0"/>
              </a:spcBef>
              <a:spcAft>
                <a:spcPts val="0"/>
              </a:spcAft>
              <a:defRPr sz="1600" b="0">
                <a:solidFill>
                  <a:srgbClr val="F4F6FA"/>
                </a:solidFill>
                <a:latin typeface="Arial"/>
              </a:defRPr>
            </a:pPr>
            <a:r>
              <a:t>Revoir les autres états partagés.</a:t>
            </a:r>
          </a:p>
          <a:p>
            <a:pPr>
              <a:lnSpc>
                <a:spcPts val="2000"/>
              </a:lnSpc>
              <a:spcBef>
                <a:spcPts val="0"/>
              </a:spcBef>
              <a:spcAft>
                <a:spcPts val="0"/>
              </a:spcAft>
              <a:defRPr sz="1600" b="0">
                <a:solidFill>
                  <a:srgbClr val="F4F6FA"/>
                </a:solidFill>
                <a:latin typeface="Arial"/>
              </a:defRPr>
            </a:pPr>
            <a:r>
              <a:t>Tester concurrence et charge.</a:t>
            </a:r>
          </a:p>
          <a:p>
            <a:pPr>
              <a:lnSpc>
                <a:spcPts val="2000"/>
              </a:lnSpc>
              <a:spcBef>
                <a:spcPts val="0"/>
              </a:spcBef>
              <a:spcAft>
                <a:spcPts val="0"/>
              </a:spcAft>
              <a:defRPr sz="1600" b="0">
                <a:solidFill>
                  <a:srgbClr val="F4F6FA"/>
                </a:solidFill>
                <a:latin typeface="Arial"/>
              </a:defRPr>
            </a:pPr>
            <a:r>
              <a:t>Mettre à jour le guide de</a:t>
            </a:r>
          </a:p>
          <a:p>
            <a:pPr>
              <a:lnSpc>
                <a:spcPts val="2000"/>
              </a:lnSpc>
              <a:spcBef>
                <a:spcPts val="0"/>
              </a:spcBef>
              <a:spcAft>
                <a:spcPts val="0"/>
              </a:spcAft>
              <a:defRPr sz="1600" b="0">
                <a:solidFill>
                  <a:srgbClr val="F4F6FA"/>
                </a:solidFill>
                <a:latin typeface="Arial"/>
              </a:defRPr>
            </a:pPr>
            <a:r>
              <a:t>diagnostic.</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dossier E5 distingue les faits historiques, la reconstruction et les actions proposées.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Dossier_incident_E5.md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COMMANDES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Rejouer les preuves sans toucher au jeu</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Depuis la racine du dépôt ; aucune génération réelle requise.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AVANT / APRÈS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uv run python</a:t>
            </a:r>
          </a:p>
          <a:p>
            <a:pPr>
              <a:lnSpc>
                <a:spcPts val="2000"/>
              </a:lnSpc>
              <a:spcBef>
                <a:spcPts val="0"/>
              </a:spcBef>
              <a:spcAft>
                <a:spcPts val="0"/>
              </a:spcAft>
              <a:defRPr sz="1600" b="0">
                <a:solidFill>
                  <a:srgbClr val="F4F6FA"/>
                </a:solidFill>
                <a:latin typeface="Arial"/>
              </a:defRPr>
            </a:pPr>
            <a:r>
              <a:t>certif/presentation-bloc3/</a:t>
            </a:r>
          </a:p>
          <a:p>
            <a:pPr>
              <a:lnSpc>
                <a:spcPts val="2000"/>
              </a:lnSpc>
              <a:spcBef>
                <a:spcPts val="0"/>
              </a:spcBef>
              <a:spcAft>
                <a:spcPts val="0"/>
              </a:spcAft>
              <a:defRPr sz="1600" b="0">
                <a:solidFill>
                  <a:srgbClr val="F4F6FA"/>
                </a:solidFill>
                <a:latin typeface="Arial"/>
              </a:defRPr>
            </a:pPr>
            <a:r>
              <a:t>reproduce_incident.py</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Ancien code lu via Git.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TEST D’ISOLATION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uv run python</a:t>
            </a:r>
          </a:p>
          <a:p>
            <a:pPr>
              <a:lnSpc>
                <a:spcPts val="2000"/>
              </a:lnSpc>
              <a:spcBef>
                <a:spcPts val="0"/>
              </a:spcBef>
              <a:spcAft>
                <a:spcPts val="0"/>
              </a:spcAft>
              <a:defRPr sz="1600" b="0">
                <a:solidFill>
                  <a:srgbClr val="F4F6FA"/>
                </a:solidFill>
                <a:latin typeface="Arial"/>
              </a:defRPr>
            </a:pPr>
            <a:r>
              <a:t>src/django/manage.py test</a:t>
            </a:r>
          </a:p>
          <a:p>
            <a:pPr>
              <a:lnSpc>
                <a:spcPts val="2000"/>
              </a:lnSpc>
              <a:spcBef>
                <a:spcPts val="0"/>
              </a:spcBef>
              <a:spcAft>
                <a:spcPts val="0"/>
              </a:spcAft>
              <a:defRPr sz="1600" b="0">
                <a:solidFill>
                  <a:srgbClr val="F4F6FA"/>
                </a:solidFill>
                <a:latin typeface="Arial"/>
              </a:defRPr>
            </a:pPr>
            <a:r>
              <a:t>game.tests.CombatEngineTests</a:t>
            </a:r>
          </a:p>
          <a:p>
            <a:pPr>
              <a:lnSpc>
                <a:spcPts val="2000"/>
              </a:lnSpc>
              <a:spcBef>
                <a:spcPts val="0"/>
              </a:spcBef>
              <a:spcAft>
                <a:spcPts val="0"/>
              </a:spcAft>
              <a:defRPr sz="1600" b="0">
                <a:solidFill>
                  <a:srgbClr val="F4F6FA"/>
                </a:solidFill>
                <a:latin typeface="Arial"/>
              </a:defRPr>
            </a:pPr>
            <a:r>
              <a:t>--noinput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MIGRATIONS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uv run python</a:t>
            </a:r>
          </a:p>
          <a:p>
            <a:pPr>
              <a:lnSpc>
                <a:spcPts val="2000"/>
              </a:lnSpc>
              <a:spcBef>
                <a:spcPts val="0"/>
              </a:spcBef>
              <a:spcAft>
                <a:spcPts val="0"/>
              </a:spcAft>
              <a:defRPr sz="1600" b="0">
                <a:solidFill>
                  <a:srgbClr val="F4F6FA"/>
                </a:solidFill>
                <a:latin typeface="Arial"/>
              </a:defRPr>
            </a:pPr>
            <a:r>
              <a:t>src/django/manage.py</a:t>
            </a:r>
          </a:p>
          <a:p>
            <a:pPr>
              <a:lnSpc>
                <a:spcPts val="2000"/>
              </a:lnSpc>
              <a:spcBef>
                <a:spcPts val="0"/>
              </a:spcBef>
              <a:spcAft>
                <a:spcPts val="0"/>
              </a:spcAft>
              <a:defRPr sz="1600" b="0">
                <a:solidFill>
                  <a:srgbClr val="F4F6FA"/>
                </a:solidFill>
                <a:latin typeface="Arial"/>
              </a:defRPr>
            </a:pPr>
            <a:r>
              <a:t>makemigrations --check</a:t>
            </a:r>
          </a:p>
          <a:p>
            <a:pPr>
              <a:lnSpc>
                <a:spcPts val="2000"/>
              </a:lnSpc>
              <a:spcBef>
                <a:spcPts val="0"/>
              </a:spcBef>
              <a:spcAft>
                <a:spcPts val="0"/>
              </a:spcAft>
              <a:defRPr sz="1600" b="0">
                <a:solidFill>
                  <a:srgbClr val="F4F6FA"/>
                </a:solidFill>
                <a:latin typeface="Arial"/>
              </a:defRPr>
            </a:pPr>
            <a:r>
              <a:t>--dry-run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commandes exactes et le lot complet figurent dans preuves/verification.md.</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reproduce_incident.py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C14 À C21</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Retrouver les pièces du dossier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Documentation applicative sous docs/block3/.</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CADRAGE / RÉALISATION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C14 : besoins et traçabilité.</a:t>
            </a:r>
          </a:p>
          <a:p>
            <a:pPr>
              <a:lnSpc>
                <a:spcPts val="2000"/>
              </a:lnSpc>
              <a:spcBef>
                <a:spcPts val="0"/>
              </a:spcBef>
              <a:spcAft>
                <a:spcPts val="0"/>
              </a:spcAft>
              <a:defRPr sz="1600" b="0">
                <a:solidFill>
                  <a:srgbClr val="F4F6FA"/>
                </a:solidFill>
                <a:latin typeface="Arial"/>
              </a:defRPr>
            </a:pPr>
            <a:r>
              <a:t>C15 : modèles et décisions.</a:t>
            </a:r>
          </a:p>
          <a:p>
            <a:pPr>
              <a:lnSpc>
                <a:spcPts val="2000"/>
              </a:lnSpc>
              <a:spcBef>
                <a:spcPts val="0"/>
              </a:spcBef>
              <a:spcAft>
                <a:spcPts val="0"/>
              </a:spcAft>
              <a:defRPr sz="1600" b="0">
                <a:solidFill>
                  <a:srgbClr val="F4F6FA"/>
                </a:solidFill>
                <a:latin typeface="Arial"/>
              </a:defRPr>
            </a:pPr>
            <a:r>
              <a:t>C16 : backlog et revues.</a:t>
            </a:r>
          </a:p>
          <a:p>
            <a:pPr>
              <a:lnSpc>
                <a:spcPts val="2000"/>
              </a:lnSpc>
              <a:spcBef>
                <a:spcPts val="0"/>
              </a:spcBef>
              <a:spcAft>
                <a:spcPts val="0"/>
              </a:spcAft>
              <a:defRPr sz="1600" b="0">
                <a:solidFill>
                  <a:srgbClr val="F4F6FA"/>
                </a:solidFill>
                <a:latin typeface="Arial"/>
              </a:defRPr>
            </a:pPr>
            <a:r>
              <a:t>C17 : code, qualité et sécurité.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C18 : tests et workflow CI.</a:t>
            </a:r>
          </a:p>
          <a:p>
            <a:pPr>
              <a:lnSpc>
                <a:spcPts val="2000"/>
              </a:lnSpc>
              <a:spcBef>
                <a:spcPts val="0"/>
              </a:spcBef>
              <a:spcAft>
                <a:spcPts val="0"/>
              </a:spcAft>
              <a:defRPr sz="1600" b="0">
                <a:solidFill>
                  <a:srgbClr val="F4F6FA"/>
                </a:solidFill>
                <a:latin typeface="Arial"/>
              </a:defRPr>
            </a:pPr>
            <a:r>
              <a:t>C19 : Dockerfile, artefact et</a:t>
            </a:r>
          </a:p>
          <a:p>
            <a:pPr>
              <a:lnSpc>
                <a:spcPts val="2000"/>
              </a:lnSpc>
              <a:spcBef>
                <a:spcPts val="0"/>
              </a:spcBef>
              <a:spcAft>
                <a:spcPts val="0"/>
              </a:spcAft>
              <a:defRPr sz="1600" b="0">
                <a:solidFill>
                  <a:srgbClr val="F4F6FA"/>
                </a:solidFill>
                <a:latin typeface="Arial"/>
              </a:defRPr>
            </a:pPr>
            <a:r>
              <a:t>procédure de promotion.</a:t>
            </a:r>
          </a:p>
          <a:p>
            <a:pPr>
              <a:lnSpc>
                <a:spcPts val="2000"/>
              </a:lnSpc>
              <a:spcBef>
                <a:spcPts val="0"/>
              </a:spcBef>
              <a:spcAft>
                <a:spcPts val="0"/>
              </a:spcAft>
              <a:defRPr sz="1600" b="0">
                <a:solidFill>
                  <a:srgbClr val="F4F6FA"/>
                </a:solidFill>
                <a:latin typeface="Arial"/>
              </a:defRPr>
            </a:pPr>
            <a:r>
              <a:t>Preuves distantes à ajouter.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C20 : monitoring, règles et logs.</a:t>
            </a:r>
          </a:p>
          <a:p>
            <a:pPr>
              <a:lnSpc>
                <a:spcPts val="2000"/>
              </a:lnSpc>
              <a:spcBef>
                <a:spcPts val="0"/>
              </a:spcBef>
              <a:spcAft>
                <a:spcPts val="0"/>
              </a:spcAft>
              <a:defRPr sz="1600" b="0">
                <a:solidFill>
                  <a:srgbClr val="F4F6FA"/>
                </a:solidFill>
                <a:latin typeface="Arial"/>
              </a:defRPr>
            </a:pPr>
            <a:r>
              <a:t>C21 : dossier d’incident, correctif</a:t>
            </a:r>
          </a:p>
          <a:p>
            <a:pPr>
              <a:lnSpc>
                <a:spcPts val="2000"/>
              </a:lnSpc>
              <a:spcBef>
                <a:spcPts val="0"/>
              </a:spcBef>
              <a:spcAft>
                <a:spcPts val="0"/>
              </a:spcAft>
              <a:defRPr sz="1600" b="0">
                <a:solidFill>
                  <a:srgbClr val="F4F6FA"/>
                </a:solidFill>
                <a:latin typeface="Arial"/>
              </a:defRPr>
            </a:pPr>
            <a:r>
              <a:t>Git et reproduction.</a:t>
            </a:r>
          </a:p>
          <a:p>
            <a:pPr>
              <a:lnSpc>
                <a:spcPts val="2000"/>
              </a:lnSpc>
              <a:spcBef>
                <a:spcPts val="0"/>
              </a:spcBef>
              <a:spcAft>
                <a:spcPts val="0"/>
              </a:spcAft>
              <a:defRPr sz="1600" b="0">
                <a:solidFill>
                  <a:srgbClr val="F4F6FA"/>
                </a:solidFill>
                <a:latin typeface="Arial"/>
              </a:defRPr>
            </a:pPr>
            <a:r>
              <a:t>Ticket et déploiement à ajouter.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statuts des anciennes notes peuvent être en retard sur le code : dater les preuves.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 ; docs/monitoring.md ; Dossier_incident_E5.md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Expliquer les frontières de la preuve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Trois questions probables du jury.</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EST-CE DÉPLOYÉ ?</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packaging et la procédure</a:t>
            </a:r>
          </a:p>
          <a:p>
            <a:pPr>
              <a:lnSpc>
                <a:spcPts val="2000"/>
              </a:lnSpc>
              <a:spcBef>
                <a:spcPts val="0"/>
              </a:spcBef>
              <a:spcAft>
                <a:spcPts val="0"/>
              </a:spcAft>
              <a:defRPr sz="1600" b="0">
                <a:solidFill>
                  <a:srgbClr val="F4F6FA"/>
                </a:solidFill>
                <a:latin typeface="Arial"/>
              </a:defRPr>
            </a:pPr>
            <a:r>
              <a:t>existent. Le job staging reste à</a:t>
            </a:r>
          </a:p>
          <a:p>
            <a:pPr>
              <a:lnSpc>
                <a:spcPts val="2000"/>
              </a:lnSpc>
              <a:spcBef>
                <a:spcPts val="0"/>
              </a:spcBef>
              <a:spcAft>
                <a:spcPts val="0"/>
              </a:spcAft>
              <a:defRPr sz="1600" b="0">
                <a:solidFill>
                  <a:srgbClr val="F4F6FA"/>
                </a:solidFill>
                <a:latin typeface="Arial"/>
              </a:defRPr>
            </a:pPr>
            <a:r>
              <a:t>compléter ; aucune mise en</a:t>
            </a:r>
          </a:p>
          <a:p>
            <a:pPr>
              <a:lnSpc>
                <a:spcPts val="2000"/>
              </a:lnSpc>
              <a:spcBef>
                <a:spcPts val="0"/>
              </a:spcBef>
              <a:spcAft>
                <a:spcPts val="0"/>
              </a:spcAft>
              <a:defRPr sz="1600" b="0">
                <a:solidFill>
                  <a:srgbClr val="F4F6FA"/>
                </a:solidFill>
                <a:latin typeface="Arial"/>
              </a:defRPr>
            </a:pPr>
            <a:r>
              <a:t>production prouvée ici.</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EST-CE ACCESSIBLE ?</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Des améliorations et tests de</a:t>
            </a:r>
          </a:p>
          <a:p>
            <a:pPr>
              <a:lnSpc>
                <a:spcPts val="2000"/>
              </a:lnSpc>
              <a:spcBef>
                <a:spcPts val="0"/>
              </a:spcBef>
              <a:spcAft>
                <a:spcPts val="0"/>
              </a:spcAft>
              <a:defRPr sz="1600" b="0">
                <a:solidFill>
                  <a:srgbClr val="F4F6FA"/>
                </a:solidFill>
                <a:latin typeface="Arial"/>
              </a:defRPr>
            </a:pPr>
            <a:r>
              <a:t>structure existent. Clavier,</a:t>
            </a:r>
          </a:p>
          <a:p>
            <a:pPr>
              <a:lnSpc>
                <a:spcPts val="2000"/>
              </a:lnSpc>
              <a:spcBef>
                <a:spcPts val="0"/>
              </a:spcBef>
              <a:spcAft>
                <a:spcPts val="0"/>
              </a:spcAft>
              <a:defRPr sz="1600" b="0">
                <a:solidFill>
                  <a:srgbClr val="F4F6FA"/>
                </a:solidFill>
                <a:latin typeface="Arial"/>
              </a:defRPr>
            </a:pPr>
            <a:r>
              <a:t>contraste, zoom et lecteur d’écran</a:t>
            </a:r>
          </a:p>
          <a:p>
            <a:pPr>
              <a:lnSpc>
                <a:spcPts val="2000"/>
              </a:lnSpc>
              <a:spcBef>
                <a:spcPts val="0"/>
              </a:spcBef>
              <a:spcAft>
                <a:spcPts val="0"/>
              </a:spcAft>
              <a:defRPr sz="1600" b="0">
                <a:solidFill>
                  <a:srgbClr val="F4F6FA"/>
                </a:solidFill>
                <a:latin typeface="Arial"/>
              </a:defRPr>
            </a:pPr>
            <a:r>
              <a:t>restent à auditer.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INCIDENT DÉTECTÉ</a:t>
            </a:r>
          </a:p>
          <a:p>
            <a:pPr>
              <a:lnSpc>
                <a:spcPts val="2250"/>
              </a:lnSpc>
              <a:spcBef>
                <a:spcPts val="0"/>
              </a:spcBef>
              <a:spcAft>
                <a:spcPts val="0"/>
              </a:spcAft>
              <a:defRPr sz="1800" b="1">
                <a:solidFill>
                  <a:srgbClr val="60DFBD"/>
                </a:solidFill>
                <a:latin typeface="Arial"/>
              </a:defRPr>
            </a:pPr>
            <a:r>
              <a:t>COMMENT ?</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Défaut historique reconstruit par</a:t>
            </a:r>
          </a:p>
          <a:p>
            <a:pPr>
              <a:lnSpc>
                <a:spcPts val="2000"/>
              </a:lnSpc>
              <a:spcBef>
                <a:spcPts val="0"/>
              </a:spcBef>
              <a:spcAft>
                <a:spcPts val="0"/>
              </a:spcAft>
              <a:defRPr sz="1600" b="0">
                <a:solidFill>
                  <a:srgbClr val="F4F6FA"/>
                </a:solidFill>
                <a:latin typeface="Arial"/>
              </a:defRPr>
            </a:pPr>
            <a:r>
              <a:t>imbrication contrôlée. Aucune</a:t>
            </a:r>
          </a:p>
          <a:p>
            <a:pPr>
              <a:lnSpc>
                <a:spcPts val="2000"/>
              </a:lnSpc>
              <a:spcBef>
                <a:spcPts val="0"/>
              </a:spcBef>
              <a:spcAft>
                <a:spcPts val="0"/>
              </a:spcAft>
              <a:defRPr sz="1600" b="0">
                <a:solidFill>
                  <a:srgbClr val="F4F6FA"/>
                </a:solidFill>
                <a:latin typeface="Arial"/>
              </a:defRPr>
            </a:pPr>
            <a:r>
              <a:t>alerte de production ni détection</a:t>
            </a:r>
          </a:p>
          <a:p>
            <a:pPr>
              <a:lnSpc>
                <a:spcPts val="2000"/>
              </a:lnSpc>
              <a:spcBef>
                <a:spcPts val="0"/>
              </a:spcBef>
              <a:spcAft>
                <a:spcPts val="0"/>
              </a:spcAft>
              <a:defRPr sz="1600" b="0">
                <a:solidFill>
                  <a:srgbClr val="F4F6FA"/>
                </a:solidFill>
                <a:latin typeface="Arial"/>
              </a:defRPr>
            </a:pPr>
            <a:r>
              <a:t>automatique de ce défaut n’est</a:t>
            </a:r>
          </a:p>
          <a:p>
            <a:pPr>
              <a:lnSpc>
                <a:spcPts val="2000"/>
              </a:lnSpc>
              <a:spcBef>
                <a:spcPts val="0"/>
              </a:spcBef>
              <a:spcAft>
                <a:spcPts val="0"/>
              </a:spcAft>
              <a:defRPr sz="1600" b="0">
                <a:solidFill>
                  <a:srgbClr val="F4F6FA"/>
                </a:solidFill>
                <a:latin typeface="Arial"/>
              </a:defRPr>
            </a:pPr>
            <a:r>
              <a:t>revendiquée.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Présenter exactement ce qui a été observé, testé et livré.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preuves/verification.md ; docs/block3/README.md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