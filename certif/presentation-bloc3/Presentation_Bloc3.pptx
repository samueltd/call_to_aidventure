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identité, rôle, commanditaire et contexte scolaire. Le passage isolé du bloc prévoit E4 20 minutes, E5 10 minutes, puis 10 minutes de questions. Personnaliser les contributions réelles et les éventuelles aides reçues. Les slides ne remplacent pas le rapport E4 ni les documentations E5.</a:t>
            </a:r>
          </a:p>
          <a:p/>
          <a:p>
            <a:r>
              <a:t>Sources : Référentiel 2023, p. 16–21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les acteurs et la valeur du service avant la technologie. La session anonyme n’offre pas la même reprise durable qu’une sauvegarde authentifiée. Le commanditaire et les contraintes de volume/budget restent à confirmer dans le document de cadrage ; ne pas les inventer.</a:t>
            </a:r>
          </a:p>
          <a:p/>
          <a:p>
            <a:r>
              <a:t>Sources : docs/block3/project-brief-requirements.md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Relier FR-10 à SaveGame, NFR-06 aux filtres de propriétaire et NFR-07 à la frontière de persistance. Les critères d’accessibilité doivent être intégrés aux user stories et associés à un standard choisi. Une cible WCAG/RGAA documentée n’est pas une conformité auditée.</a:t>
            </a:r>
          </a:p>
          <a:p/>
          <a:p>
            <a:r>
              <a:t>Sources : docs/block3/traceability.md ; 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une architecture en couches, pas des microservices déployés qui n’existent pas. Les appels de génération transmettent le contexte utile au service distant. Les secrets restent dans l’environnement. Le schéma est une vue simplifiée ; les modèles du dossier détaillent les flux et les zones de stockage.</a:t>
            </a:r>
          </a:p>
          <a:p/>
          <a:p>
            <a:r>
              <a:t>Sources : docs/block3/technical-framework-models.md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Défendre chaque choix avec ses alternatives et ses conséquences. Ne pas appeler l’environnement local une préproduction déployée. Le référentiel C15 attend une preuve de concept accessible en préproduction et une conclusion de poursuite ; joindre cette preuve. Les critères de sobriété des prestataires restent à compléter lorsque le choix est arrêté.</a:t>
            </a:r>
          </a:p>
          <a:p/>
          <a:p>
            <a:r>
              <a:t>Sources : docs/block3/architecture-decisions.md ; technical-framework-models.md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dépôt décrit une démarche légère solo avec assistance outillée. Ne pas revendiquer une équipe Scrum, des cérémonies ou des échanges non attestés. Personnaliser calendrier, temps investi, imprévus et arbitrages. Les documents proposent une définition de prêt et de terminé ; l’historique des revues reste à enrichir.</a:t>
            </a:r>
          </a:p>
          <a:p/>
          <a:p>
            <a:r>
              <a:t>Sources : docs/block3/agile-execution.md ; historique Git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comment une vue délègue au moteur puis décide de persister. Les tests de sauvegarde couvrent l’échec du service IA, les fins de partie et la propriété. Le jeu implique des tirages aléatoires, mais ces règles ne sont pas décidées par le modèle ; les tests contrôlent l’aléatoire pour vérifier les résultats.</a:t>
            </a:r>
          </a:p>
          <a:p/>
          <a:p>
            <a:r>
              <a:t>Sources : src/django/game/models.py ; services/ ; tests.py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test CSRF exécuté utilise api_play comme route représentative ; ne pas affirmer qu’il teste individuellement chaque POST. D’autres contrôles testent 413, quota et propriété. Les anciennes notes bloc 1/2 mentionnent encore des exemptions CSRF ; les documents bloc 3 et le code courant décrivent leur migration. Aucun audit global OWASP n’est revendiqué.</a:t>
            </a:r>
          </a:p>
          <a:p/>
          <a:p>
            <a:r>
              <a:t>Sources : docs/block3/security-threat-model.md ; game/views.py ; tests.py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exécutés lisent des templates ou leurs réponses HTML ; ils ne font pas fonctionner un lecteur d’écran ni le JavaScript dans un navigateur. L’écoconception repose sur des pratiques, sans score environnemental mesuré. Le dépôt mentionne une ancienne taille Docker : elle n’a pas été revérifiée et n’est pas affichée comme résultat actuel.</a:t>
            </a:r>
          </a:p>
          <a:p/>
          <a:p>
            <a:r>
              <a:t>Sources : docs/block3/product-quality-audit.md ; ProductQualityTemplateTests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lot a terminé en 6,091 secondes : c’est une durée de tests, pas une performance de l’application. BrowserSmokeJourneyTests utilise le client Django et un moteur simulé, sans navigateur réel. Le seuil de couverture configuré reste 55 %, mais la couverture n’a pas été recalculée pour ce support. Aucune exécution CI distante n’a été consultée.</a:t>
            </a:r>
          </a:p>
          <a:p/>
          <a:p>
            <a:r>
              <a:t>Sources : preuves/verification.md ; .github/workflows/block3-ci-cd.yml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job staging-deploy-placeholder affiche des instructions : il n’y a aucune commande de déploiement effectif. Ne pas assimiler permission packages:write à une publication d’image. Le health de conteneur utilise une clé factice dans le workflow et ne prouve pas une génération IA. Joindre digest, URL de staging et preuve de rollback réels avant de revendiquer la chaîne complète.</a:t>
            </a:r>
          </a:p>
          <a:p/>
          <a:p>
            <a:r>
              <a:t>Sources : .github/workflows/block3-ci-cd.yml ; Dockerfile ; docs/block3/ci-cd-delivery.md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autres slides sont également prévues sur 100 secondes, soit E4 en 20 minutes. Préparer les onglets, une sauvegarde de test et le contexte sans données réelles. Une capture du produit n’a pas été créée pendant ce travail. La démonstration manuelle complète et la génération réelle nécessitent l’environnement configuré ; les tests seuls ne les remplacent pas.</a:t>
            </a:r>
          </a:p>
          <a:p/>
          <a:p>
            <a:r>
              <a:t>Sources : docs/block3/traceability.md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référentiel accepte un contexte réel ou fictif avec erreur technique. Ici, la cause et le correctif sont historiques ; la reproduction a été réalisée le 14 septembre 2026 pour la soutenance. Ne pas inventer une alerte utilisateur, un ticket, une date de découverte ou un impact de production. Le dossier joint précise le périmètre de la reconstruction.</a:t>
            </a:r>
          </a:p>
          <a:p/>
          <a:p>
            <a:r>
              <a:t>Sources : Référentiel, p. 17 et 22–23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durée navigateur ne couvre que les retours de récit avec choix utilisables : combats, fins et erreurs sont exclus. Ce n’est donc pas une latence de toutes les requêtes. Le format des logs est du texte à champs, pas du JSON. Les exceptions peuvent produire du contenu sensible ; ne pas déclarer une anonymisation universelle. La stack n’a pas été démarrée pour ces slides.</a:t>
            </a:r>
          </a:p>
          <a:p/>
          <a:p>
            <a:r>
              <a:t>Sources : docs/monitoring.md ; settings.py ; src/observability/metrics.py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règle indisponibilité opère par série, sans somme explicite ; ne pas la présenter comme un total global agrégé. Pour l’incident d’isolation, proposer un contrôle synthétique ou un compteur d’invariants, mais le nommer comme amélioration future. Les règles de seuil existent ; leur déclenchement et leur livraison doivent encore être montrés dans un bac à sable.</a:t>
            </a:r>
          </a:p>
          <a:p/>
          <a:p>
            <a:r>
              <a:t>Sources : monitoring/prometheus/alerts.yml ; monitoring/alertmanager/alertmanager.yml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Expliquer l’imbrication plutôt qu’une concurrence supposée mesurée : restaurer A, restaurer B, puis reprendre l’attaque initiée pour A. Le script lit la version parent du correctif et l’exécute dans un module isolé. Il ne change ni la branche, ni le code du jeu, ni les bases. Ce n’est pas un test de charge HTTP multi-thread.</a:t>
            </a:r>
          </a:p>
          <a:p/>
          <a:p>
            <a:r>
              <a:t>Sources : reproduce_incident.py ; preuves/incident-combat.json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preuve de cause est le code historique et sa reproduction. Écarter l’hypothèse d’un calcul de dégâts erroné : les dégâts sont fixes et corrects, mais appliqués à la mauvaise référence. L’ancien adaptateur restaurait bien l’état avant l’action ; cela ne protégeait pas contre une autre restauration intercalée.</a:t>
            </a:r>
          </a:p>
          <a:p/>
          <a:p>
            <a:r>
              <a:t>Sources : Git : parent de 8a3cf39, src/combat/core.py ; diff 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Décrire la correction telle qu’elle existe, sans s’en attribuer une réalisation aujourd’hui. Le changement historique est dans un commit plus large, pas dans une PR dédiée à cet incident. Il reste des limites de concurrence sur le graphe ou des requêtes visant une même sauvegarde ; la correction ne prouve pas que toute l’application est thread-safe.</a:t>
            </a:r>
          </a:p>
          <a:p/>
          <a:p>
            <a:r>
              <a:t>Sources : src/combat/core.py ; services/game_engine.py ; commit 8a3cf39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script avant/après et le test Django ne sont pas identiques : le premier reproduit une imbrication au niveau des fonctions cœur ; le second exécute successivement des actions sur deux états et vérifie leurs HP. Les deux se complètent. Ne pas appeler cela un benchmark concurrent ni une preuve de réparation des parties historiques.</a:t>
            </a:r>
          </a:p>
          <a:p/>
          <a:p>
            <a:r>
              <a:t>Sources : preuves/incident-combat.json ; game.tests.CombatEngineTests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Conclure sur une cause comprise, un correctif versionné et un résultat vérifié. Le document rédigé aujourd’hui n’est pas un ticket créé au moment de l’incident. La boucle d’amélioration ajuste l’application et ses tests ; elle n’entraîne pas automatiquement le modèle de génération. Utiliser les annexes pour les commandes et questions.</a:t>
            </a:r>
          </a:p>
          <a:p/>
          <a:p>
            <a:r>
              <a:t>Sources : Dossier_incident_E5.md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Les lignes des cartes sont coupées pour projection ; copier les commandes complètes depuis le dossier. La reproduction requiert l’historique Git contenant le parent de 8a3cf39. Aucun git switch, reset ou retour de base n’est nécessaire.</a:t>
            </a:r>
          </a:p>
          <a:p/>
          <a:p>
            <a:r>
              <a:t>Sources : reproduce_incident.py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Ne pas confondre le modèle de diagramme C4 avec la compétence C4 du bloc 1. Les références au référentiel concernent les PDF locaux fournis. Compléter aussi l’identité, les dates, le budget, l’hébergement et l’audit manuel demandés par le dossier de certification.</a:t>
            </a:r>
          </a:p>
          <a:p/>
          <a:p>
            <a:r>
              <a:t>Sources : docs/block3/ ; docs/monitoring.md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Préparer également : distinction CI/CD, copie de l’état versus isolation, mise à jour concurrente d’une même partie, limites du health, protection des journaux et rollback de migrations. Montrer la preuve adaptée plutôt que généraliser les résultats du lot ciblé.</a:t>
            </a:r>
          </a:p>
          <a:p/>
          <a:p>
            <a:r>
              <a:t>Sources : preuves/verification.md ; docs/block3/README.md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C14 À C19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une application intégrant l’IA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3 · E4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PRODUIT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aventure interactive dans le</a:t>
            </a:r>
          </a:p>
          <a:p>
            <a:pPr>
              <a:lnSpc>
                <a:spcPts val="2000"/>
              </a:lnSpc>
              <a:spcBef>
                <a:spcPts val="0"/>
              </a:spcBef>
              <a:spcAft>
                <a:spcPts val="0"/>
              </a:spcAft>
              <a:defRPr sz="1600" b="0">
                <a:solidFill>
                  <a:srgbClr val="F4F6FA"/>
                </a:solidFill>
                <a:latin typeface="Arial"/>
              </a:defRPr>
            </a:pPr>
            <a:r>
              <a:t>navigateur, avec narration IA et</a:t>
            </a:r>
          </a:p>
          <a:p>
            <a:pPr>
              <a:lnSpc>
                <a:spcPts val="2000"/>
              </a:lnSpc>
              <a:spcBef>
                <a:spcPts val="0"/>
              </a:spcBef>
              <a:spcAft>
                <a:spcPts val="0"/>
              </a:spcAft>
              <a:defRPr sz="1600" b="0">
                <a:solidFill>
                  <a:srgbClr val="F4F6FA"/>
                </a:solidFill>
                <a:latin typeface="Arial"/>
              </a:defRPr>
            </a:pPr>
            <a:r>
              <a:t>règles de jeu côté serveur.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Cadrer, concevoir, organiser et</a:t>
            </a:r>
          </a:p>
          <a:p>
            <a:pPr>
              <a:lnSpc>
                <a:spcPts val="2000"/>
              </a:lnSpc>
              <a:spcBef>
                <a:spcPts val="0"/>
              </a:spcBef>
              <a:spcAft>
                <a:spcPts val="0"/>
              </a:spcAft>
              <a:defRPr sz="1600" b="0">
                <a:solidFill>
                  <a:srgbClr val="F4F6FA"/>
                </a:solidFill>
                <a:latin typeface="Arial"/>
              </a:defRPr>
            </a:pPr>
            <a:r>
              <a:t>développer les parcours du joueur.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 métier et les accès.</a:t>
            </a:r>
          </a:p>
          <a:p>
            <a:pPr>
              <a:lnSpc>
                <a:spcPts val="2000"/>
              </a:lnSpc>
              <a:spcBef>
                <a:spcPts val="0"/>
              </a:spcBef>
              <a:spcAft>
                <a:spcPts val="0"/>
              </a:spcAft>
              <a:defRPr sz="1600" b="0">
                <a:solidFill>
                  <a:srgbClr val="F4F6FA"/>
                </a:solidFill>
                <a:latin typeface="Arial"/>
              </a:defRPr>
            </a:pPr>
            <a:r>
              <a:t>Automatiser les contrôles.</a:t>
            </a:r>
          </a:p>
          <a:p>
            <a:pPr>
              <a:lnSpc>
                <a:spcPts val="2000"/>
              </a:lnSpc>
              <a:spcBef>
                <a:spcPts val="0"/>
              </a:spcBef>
              <a:spcAft>
                <a:spcPts val="0"/>
              </a:spcAft>
              <a:defRPr sz="1600" b="0">
                <a:solidFill>
                  <a:srgbClr val="F4F6FA"/>
                </a:solidFill>
                <a:latin typeface="Arial"/>
              </a:defRPr>
            </a:pPr>
            <a:r>
              <a:t>Préparer un artefact déployable.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bloc 3 relie les besoins du joueur aux preuves de fonctionnement.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16–21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 ET UTILISATEURS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Permettre de jouer et de retrouver sa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parcours distinguent le visiteur et le joueur connecté.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VISITEUR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Choisir une aventure.</a:t>
            </a:r>
          </a:p>
          <a:p>
            <a:pPr>
              <a:lnSpc>
                <a:spcPts val="2000"/>
              </a:lnSpc>
              <a:spcBef>
                <a:spcPts val="0"/>
              </a:spcBef>
              <a:spcAft>
                <a:spcPts val="0"/>
              </a:spcAft>
              <a:defRPr sz="1600" b="0">
                <a:solidFill>
                  <a:srgbClr val="F4F6FA"/>
                </a:solidFill>
                <a:latin typeface="Arial"/>
              </a:defRPr>
            </a:pPr>
            <a:r>
              <a:t>Créer un personnage valide.</a:t>
            </a:r>
          </a:p>
          <a:p>
            <a:pPr>
              <a:lnSpc>
                <a:spcPts val="2000"/>
              </a:lnSpc>
              <a:spcBef>
                <a:spcPts val="0"/>
              </a:spcBef>
              <a:spcAft>
                <a:spcPts val="0"/>
              </a:spcAft>
              <a:defRPr sz="1600" b="0">
                <a:solidFill>
                  <a:srgbClr val="F4F6FA"/>
                </a:solidFill>
                <a:latin typeface="Arial"/>
              </a:defRPr>
            </a:pPr>
            <a:r>
              <a:t>Jouer sans créer de compte.</a:t>
            </a:r>
          </a:p>
          <a:p>
            <a:pPr>
              <a:lnSpc>
                <a:spcPts val="2000"/>
              </a:lnSpc>
              <a:spcBef>
                <a:spcPts val="0"/>
              </a:spcBef>
              <a:spcAft>
                <a:spcPts val="0"/>
              </a:spcAft>
              <a:defRPr sz="1600" b="0">
                <a:solidFill>
                  <a:srgbClr val="F4F6FA"/>
                </a:solidFill>
                <a:latin typeface="Arial"/>
              </a:defRPr>
            </a:pPr>
            <a:r>
              <a:t>Progression liée à la session.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JOUEUR CONNECTÉ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Retrouver ses sauvegardes.</a:t>
            </a:r>
          </a:p>
          <a:p>
            <a:pPr>
              <a:lnSpc>
                <a:spcPts val="2000"/>
              </a:lnSpc>
              <a:spcBef>
                <a:spcPts val="0"/>
              </a:spcBef>
              <a:spcAft>
                <a:spcPts val="0"/>
              </a:spcAft>
              <a:defRPr sz="1600" b="0">
                <a:solidFill>
                  <a:srgbClr val="F4F6FA"/>
                </a:solidFill>
                <a:latin typeface="Arial"/>
              </a:defRPr>
            </a:pPr>
            <a:r>
              <a:t>Reprendre une partie active.</a:t>
            </a:r>
          </a:p>
          <a:p>
            <a:pPr>
              <a:lnSpc>
                <a:spcPts val="2000"/>
              </a:lnSpc>
              <a:spcBef>
                <a:spcPts val="0"/>
              </a:spcBef>
              <a:spcAft>
                <a:spcPts val="0"/>
              </a:spcAft>
              <a:defRPr sz="1600" b="0">
                <a:solidFill>
                  <a:srgbClr val="F4F6FA"/>
                </a:solidFill>
                <a:latin typeface="Arial"/>
              </a:defRPr>
            </a:pPr>
            <a:r>
              <a:t>Réutiliser ses personnages.</a:t>
            </a:r>
          </a:p>
          <a:p>
            <a:pPr>
              <a:lnSpc>
                <a:spcPts val="2000"/>
              </a:lnSpc>
              <a:spcBef>
                <a:spcPts val="0"/>
              </a:spcBef>
              <a:spcAft>
                <a:spcPts val="0"/>
              </a:spcAft>
              <a:defRPr sz="1600" b="0">
                <a:solidFill>
                  <a:srgbClr val="F4F6FA"/>
                </a:solidFill>
                <a:latin typeface="Arial"/>
              </a:defRPr>
            </a:pPr>
            <a:r>
              <a:t>Gérer ses propres données.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EXPLOITANT / JURY</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Installer et vérifier le service.</a:t>
            </a:r>
          </a:p>
          <a:p>
            <a:pPr>
              <a:lnSpc>
                <a:spcPts val="2000"/>
              </a:lnSpc>
              <a:spcBef>
                <a:spcPts val="0"/>
              </a:spcBef>
              <a:spcAft>
                <a:spcPts val="0"/>
              </a:spcAft>
              <a:defRPr sz="1600" b="0">
                <a:solidFill>
                  <a:srgbClr val="F4F6FA"/>
                </a:solidFill>
                <a:latin typeface="Arial"/>
              </a:defRPr>
            </a:pPr>
            <a:r>
              <a:t>Comprendre les choix techniques.</a:t>
            </a:r>
          </a:p>
          <a:p>
            <a:pPr>
              <a:lnSpc>
                <a:spcPts val="2000"/>
              </a:lnSpc>
              <a:spcBef>
                <a:spcPts val="0"/>
              </a:spcBef>
              <a:spcAft>
                <a:spcPts val="0"/>
              </a:spcAft>
              <a:defRPr sz="1600" b="0">
                <a:solidFill>
                  <a:srgbClr val="F4F6FA"/>
                </a:solidFill>
                <a:latin typeface="Arial"/>
              </a:defRPr>
            </a:pPr>
            <a:r>
              <a:t>Relier exigences, code, tests et</a:t>
            </a:r>
          </a:p>
          <a:p>
            <a:pPr>
              <a:lnSpc>
                <a:spcPts val="2000"/>
              </a:lnSpc>
              <a:spcBef>
                <a:spcPts val="0"/>
              </a:spcBef>
              <a:spcAft>
                <a:spcPts val="0"/>
              </a:spcAft>
              <a:defRPr sz="1600" b="0">
                <a:solidFill>
                  <a:srgbClr val="F4F6FA"/>
                </a:solidFill>
                <a:latin typeface="Arial"/>
              </a:defRPr>
            </a:pPr>
            <a:r>
              <a:t>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continuité de la partie et la propriété des données orientent la conception.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SPÉCIFICATIONS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le besoin en critères vérifiables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Exemples issus des exigences et des tests du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REPRENDRE SA PARTIE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joueur peut charger sa</a:t>
            </a:r>
          </a:p>
          <a:p>
            <a:pPr>
              <a:lnSpc>
                <a:spcPts val="2000"/>
              </a:lnSpc>
              <a:spcBef>
                <a:spcPts val="0"/>
              </a:spcBef>
              <a:spcAft>
                <a:spcPts val="0"/>
              </a:spcAft>
              <a:defRPr sz="1600" b="0">
                <a:solidFill>
                  <a:srgbClr val="F4F6FA"/>
                </a:solidFill>
                <a:latin typeface="Arial"/>
              </a:defRPr>
            </a:pPr>
            <a:r>
              <a:t>sauvegarde active.</a:t>
            </a:r>
          </a:p>
          <a:p>
            <a:pPr>
              <a:lnSpc>
                <a:spcPts val="2000"/>
              </a:lnSpc>
              <a:spcBef>
                <a:spcPts val="0"/>
              </a:spcBef>
              <a:spcAft>
                <a:spcPts val="0"/>
              </a:spcAft>
              <a:defRPr sz="1600" b="0">
                <a:solidFill>
                  <a:srgbClr val="F4F6FA"/>
                </a:solidFill>
                <a:latin typeface="Arial"/>
              </a:defRPr>
            </a:pPr>
            <a:r>
              <a:t>Un autre utilisateur ne peut ni la</a:t>
            </a:r>
          </a:p>
          <a:p>
            <a:pPr>
              <a:lnSpc>
                <a:spcPts val="2000"/>
              </a:lnSpc>
              <a:spcBef>
                <a:spcPts val="0"/>
              </a:spcBef>
              <a:spcAft>
                <a:spcPts val="0"/>
              </a:spcAft>
              <a:defRPr sz="1600" b="0">
                <a:solidFill>
                  <a:srgbClr val="F4F6FA"/>
                </a:solidFill>
                <a:latin typeface="Arial"/>
              </a:defRPr>
            </a:pPr>
            <a:r>
              <a:t>charger ni la supprimer.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SURVIVRE À UNE PANNE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tour IA en échec retourne une</a:t>
            </a:r>
          </a:p>
          <a:p>
            <a:pPr>
              <a:lnSpc>
                <a:spcPts val="2000"/>
              </a:lnSpc>
              <a:spcBef>
                <a:spcPts val="0"/>
              </a:spcBef>
              <a:spcAft>
                <a:spcPts val="0"/>
              </a:spcAft>
              <a:defRPr sz="1600" b="0">
                <a:solidFill>
                  <a:srgbClr val="F4F6FA"/>
                </a:solidFill>
                <a:latin typeface="Arial"/>
              </a:defRPr>
            </a:pPr>
            <a:r>
              <a:t>erreur contrôlée.</a:t>
            </a:r>
          </a:p>
          <a:p>
            <a:pPr>
              <a:lnSpc>
                <a:spcPts val="2000"/>
              </a:lnSpc>
              <a:spcBef>
                <a:spcPts val="0"/>
              </a:spcBef>
              <a:spcAft>
                <a:spcPts val="0"/>
              </a:spcAft>
              <a:defRPr sz="1600" b="0">
                <a:solidFill>
                  <a:srgbClr val="F4F6FA"/>
                </a:solidFill>
                <a:latin typeface="Arial"/>
              </a:defRPr>
            </a:pPr>
            <a:r>
              <a:t>La progression sauvegardée ne</a:t>
            </a:r>
          </a:p>
          <a:p>
            <a:pPr>
              <a:lnSpc>
                <a:spcPts val="2000"/>
              </a:lnSpc>
              <a:spcBef>
                <a:spcPts val="0"/>
              </a:spcBef>
              <a:spcAft>
                <a:spcPts val="0"/>
              </a:spcAft>
              <a:defRPr sz="1600" b="0">
                <a:solidFill>
                  <a:srgbClr val="F4F6FA"/>
                </a:solidFill>
                <a:latin typeface="Arial"/>
              </a:defRPr>
            </a:pPr>
            <a:r>
              <a:t>doit pas avancer.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UTILISER L’INTERFACE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Navigation et états</a:t>
            </a:r>
          </a:p>
          <a:p>
            <a:pPr>
              <a:lnSpc>
                <a:spcPts val="2000"/>
              </a:lnSpc>
              <a:spcBef>
                <a:spcPts val="0"/>
              </a:spcBef>
              <a:spcAft>
                <a:spcPts val="0"/>
              </a:spcAft>
              <a:defRPr sz="1600" b="0">
                <a:solidFill>
                  <a:srgbClr val="F4F6FA"/>
                </a:solidFill>
                <a:latin typeface="Arial"/>
              </a:defRPr>
            </a:pPr>
            <a:r>
              <a:t>compréhensibles.</a:t>
            </a:r>
          </a:p>
          <a:p>
            <a:pPr>
              <a:lnSpc>
                <a:spcPts val="2000"/>
              </a:lnSpc>
              <a:spcBef>
                <a:spcPts val="0"/>
              </a:spcBef>
              <a:spcAft>
                <a:spcPts val="0"/>
              </a:spcAft>
              <a:defRPr sz="1600" b="0">
                <a:solidFill>
                  <a:srgbClr val="F4F6FA"/>
                </a:solidFill>
                <a:latin typeface="Arial"/>
              </a:defRPr>
            </a:pPr>
            <a:r>
              <a:t>Critères clavier, focus et annonces.</a:t>
            </a:r>
          </a:p>
          <a:p>
            <a:pPr>
              <a:lnSpc>
                <a:spcPts val="2000"/>
              </a:lnSpc>
              <a:spcBef>
                <a:spcPts val="0"/>
              </a:spcBef>
              <a:spcAft>
                <a:spcPts val="0"/>
              </a:spcAft>
              <a:defRPr sz="1600" b="0">
                <a:solidFill>
                  <a:srgbClr val="F4F6FA"/>
                </a:solidFill>
                <a:latin typeface="Arial"/>
              </a:defRPr>
            </a:pPr>
            <a:r>
              <a:t>Cible d’accessibilité à valider.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Chaque exigence doit avoir un composant, un test et une preuve de démonstration.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Séparer présentation, métier et persistance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application Django avec des services Python internes.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PRÉSENTATION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Templates HTML / CSS / JS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Vues Django et endpoints JSON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Sessions, auth et CSRF</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MÉTIER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a:t>
            </a:r>
          </a:p>
          <a:p>
            <a:pPr>
              <a:lnSpc>
                <a:spcPts val="2000"/>
              </a:lnSpc>
              <a:spcBef>
                <a:spcPts val="0"/>
              </a:spcBef>
              <a:spcAft>
                <a:spcPts val="0"/>
              </a:spcAft>
              <a:defRPr sz="1600" b="0">
                <a:solidFill>
                  <a:srgbClr val="F4F6FA"/>
                </a:solidFill>
                <a:latin typeface="Arial"/>
              </a:defRPr>
            </a:pPr>
            <a:r>
              <a:t>↙ ↘</a:t>
            </a:r>
          </a:p>
          <a:p>
            <a:pPr>
              <a:lnSpc>
                <a:spcPts val="2000"/>
              </a:lnSpc>
              <a:spcBef>
                <a:spcPts val="0"/>
              </a:spcBef>
              <a:spcAft>
                <a:spcPts val="0"/>
              </a:spcAft>
              <a:defRPr sz="1600" b="0">
                <a:solidFill>
                  <a:srgbClr val="F4F6FA"/>
                </a:solidFill>
                <a:latin typeface="Arial"/>
              </a:defRPr>
            </a:pPr>
            <a:r>
              <a:t>LangGraph Combat</a:t>
            </a:r>
          </a:p>
          <a:p>
            <a:pPr>
              <a:lnSpc>
                <a:spcPts val="2000"/>
              </a:lnSpc>
              <a:spcBef>
                <a:spcPts val="0"/>
              </a:spcBef>
              <a:spcAft>
                <a:spcPts val="0"/>
              </a:spcAft>
              <a:defRPr sz="1600" b="0">
                <a:solidFill>
                  <a:srgbClr val="F4F6FA"/>
                </a:solidFill>
                <a:latin typeface="Arial"/>
              </a:defRPr>
            </a:pPr>
            <a:r>
              <a:t>IA + RAG règles serveur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STOCKAGE / SERVICES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 Django : comptes / parties.</a:t>
            </a:r>
          </a:p>
          <a:p>
            <a:pPr>
              <a:lnSpc>
                <a:spcPts val="2000"/>
              </a:lnSpc>
              <a:spcBef>
                <a:spcPts val="0"/>
              </a:spcBef>
              <a:spcAft>
                <a:spcPts val="0"/>
              </a:spcAft>
              <a:defRPr sz="1600" b="0">
                <a:solidFill>
                  <a:srgbClr val="F4F6FA"/>
                </a:solidFill>
                <a:latin typeface="Arial"/>
              </a:defRPr>
            </a:pPr>
            <a:r>
              <a:t>SQLite catalogue : références.</a:t>
            </a:r>
          </a:p>
          <a:p>
            <a:pPr>
              <a:lnSpc>
                <a:spcPts val="2000"/>
              </a:lnSpc>
              <a:spcBef>
                <a:spcPts val="0"/>
              </a:spcBef>
              <a:spcAft>
                <a:spcPts val="0"/>
              </a:spcAft>
              <a:defRPr sz="1600" b="0">
                <a:solidFill>
                  <a:srgbClr val="F4F6FA"/>
                </a:solidFill>
                <a:latin typeface="Arial"/>
              </a:defRPr>
            </a:pPr>
            <a:r>
              <a:t>Chroma / Ollama : contexte.</a:t>
            </a:r>
          </a:p>
          <a:p>
            <a:pPr>
              <a:lnSpc>
                <a:spcPts val="2000"/>
              </a:lnSpc>
              <a:spcBef>
                <a:spcPts val="0"/>
              </a:spcBef>
              <a:spcAft>
                <a:spcPts val="0"/>
              </a:spcAft>
              <a:defRPr sz="1600" b="0">
                <a:solidFill>
                  <a:srgbClr val="F4F6FA"/>
                </a:solidFill>
                <a:latin typeface="Arial"/>
              </a:defRPr>
            </a:pPr>
            <a:r>
              <a:t>Fournisseur externe : génération.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envoie des actions ; le serveur décide des mutations autorisées.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docs/block3/technical-framework-models.md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DÉCISIONS TECHNIQUES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une architecture adaptée au périmètre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choix actuels favorisent une démonstration locale reproductible.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sessions, ORM et</a:t>
            </a:r>
          </a:p>
          <a:p>
            <a:pPr>
              <a:lnSpc>
                <a:spcPts val="2000"/>
              </a:lnSpc>
              <a:spcBef>
                <a:spcPts val="0"/>
              </a:spcBef>
              <a:spcAft>
                <a:spcPts val="0"/>
              </a:spcAft>
              <a:defRPr sz="1600" b="0">
                <a:solidFill>
                  <a:srgbClr val="F4F6FA"/>
                </a:solidFill>
                <a:latin typeface="Arial"/>
              </a:defRPr>
            </a:pPr>
            <a:r>
              <a:t>templates dans un même cadre.</a:t>
            </a:r>
          </a:p>
          <a:p>
            <a:pPr>
              <a:lnSpc>
                <a:spcPts val="2000"/>
              </a:lnSpc>
              <a:spcBef>
                <a:spcPts val="0"/>
              </a:spcBef>
              <a:spcAft>
                <a:spcPts val="0"/>
              </a:spcAft>
              <a:defRPr sz="1600" b="0">
                <a:solidFill>
                  <a:srgbClr val="F4F6FA"/>
                </a:solidFill>
                <a:latin typeface="Arial"/>
              </a:defRPr>
            </a:pPr>
            <a:r>
              <a:t>Moins de couches à exploiter pour</a:t>
            </a:r>
          </a:p>
          <a:p>
            <a:pPr>
              <a:lnSpc>
                <a:spcPts val="2000"/>
              </a:lnSpc>
              <a:spcBef>
                <a:spcPts val="0"/>
              </a:spcBef>
              <a:spcAft>
                <a:spcPts val="0"/>
              </a:spcAft>
              <a:defRPr sz="1600" b="0">
                <a:solidFill>
                  <a:srgbClr val="F4F6FA"/>
                </a:solidFill>
                <a:latin typeface="Arial"/>
              </a:defRPr>
            </a:pPr>
            <a:r>
              <a:t>ce projet solo.</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SQLITE / 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Données locales de taille modeste.</a:t>
            </a:r>
          </a:p>
          <a:p>
            <a:pPr>
              <a:lnSpc>
                <a:spcPts val="2000"/>
              </a:lnSpc>
              <a:spcBef>
                <a:spcPts val="0"/>
              </a:spcBef>
              <a:spcAft>
                <a:spcPts val="0"/>
              </a:spcAft>
              <a:defRPr sz="1600" b="0">
                <a:solidFill>
                  <a:srgbClr val="F4F6FA"/>
                </a:solidFill>
                <a:latin typeface="Arial"/>
              </a:defRPr>
            </a:pPr>
            <a:r>
              <a:t>IA hébergée et retrieval local.</a:t>
            </a:r>
          </a:p>
          <a:p>
            <a:pPr>
              <a:lnSpc>
                <a:spcPts val="2000"/>
              </a:lnSpc>
              <a:spcBef>
                <a:spcPts val="0"/>
              </a:spcBef>
              <a:spcAft>
                <a:spcPts val="0"/>
              </a:spcAft>
              <a:defRPr sz="1600" b="0">
                <a:solidFill>
                  <a:srgbClr val="F4F6FA"/>
                </a:solidFill>
                <a:latin typeface="Arial"/>
              </a:defRPr>
            </a:pPr>
            <a:r>
              <a:t>Limites de concurrence et de</a:t>
            </a:r>
          </a:p>
          <a:p>
            <a:pPr>
              <a:lnSpc>
                <a:spcPts val="2000"/>
              </a:lnSpc>
              <a:spcBef>
                <a:spcPts val="0"/>
              </a:spcBef>
              <a:spcAft>
                <a:spcPts val="0"/>
              </a:spcAft>
              <a:defRPr sz="1600" b="0">
                <a:solidFill>
                  <a:srgbClr val="F4F6FA"/>
                </a:solidFill>
                <a:latin typeface="Arial"/>
              </a:defRPr>
            </a:pPr>
            <a:r>
              <a:t>dépendance externe documentées.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CIBLE DE DÉPLOIEMENT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Conteneur web et proxy HTTPS.</a:t>
            </a:r>
          </a:p>
          <a:p>
            <a:pPr>
              <a:lnSpc>
                <a:spcPts val="2000"/>
              </a:lnSpc>
              <a:spcBef>
                <a:spcPts val="0"/>
              </a:spcBef>
              <a:spcAft>
                <a:spcPts val="0"/>
              </a:spcAft>
              <a:defRPr sz="1600" b="0">
                <a:solidFill>
                  <a:srgbClr val="F4F6FA"/>
                </a:solidFill>
                <a:latin typeface="Arial"/>
              </a:defRPr>
            </a:pPr>
            <a:r>
              <a:t>Secrets externes, stockage</a:t>
            </a:r>
          </a:p>
          <a:p>
            <a:pPr>
              <a:lnSpc>
                <a:spcPts val="2000"/>
              </a:lnSpc>
              <a:spcBef>
                <a:spcPts val="0"/>
              </a:spcBef>
              <a:spcAft>
                <a:spcPts val="0"/>
              </a:spcAft>
              <a:defRPr sz="1600" b="0">
                <a:solidFill>
                  <a:srgbClr val="F4F6FA"/>
                </a:solidFill>
                <a:latin typeface="Arial"/>
              </a:defRPr>
            </a:pPr>
            <a:r>
              <a:t>durable.</a:t>
            </a:r>
          </a:p>
          <a:p>
            <a:pPr>
              <a:lnSpc>
                <a:spcPts val="2000"/>
              </a:lnSpc>
              <a:spcBef>
                <a:spcPts val="0"/>
              </a:spcBef>
              <a:spcAft>
                <a:spcPts val="0"/>
              </a:spcAft>
              <a:defRPr sz="1600" b="0">
                <a:solidFill>
                  <a:srgbClr val="F4F6FA"/>
                </a:solidFill>
                <a:latin typeface="Arial"/>
              </a:defRPr>
            </a:pPr>
            <a:r>
              <a:t>Hébergement et SGBD de</a:t>
            </a:r>
          </a:p>
          <a:p>
            <a:pPr>
              <a:lnSpc>
                <a:spcPts val="2000"/>
              </a:lnSpc>
              <a:spcBef>
                <a:spcPts val="0"/>
              </a:spcBef>
              <a:spcAft>
                <a:spcPts val="0"/>
              </a:spcAft>
              <a:defRPr sz="1600" b="0">
                <a:solidFill>
                  <a:srgbClr val="F4F6FA"/>
                </a:solidFill>
                <a:latin typeface="Arial"/>
              </a:defRPr>
            </a:pPr>
            <a:r>
              <a:t>production à confirmer.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préproduction cible est décrite ; son accessibilité réelle reste à prouver.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docs/block3/architecture-decisions.md ; technical-framework-models.md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C16 · ORGANISATION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Piloter un projet solo avec des critères explicites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Backlog, priorités, risques et décisions sont documentés.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PRÉPARER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Besoin formulé.</a:t>
            </a:r>
          </a:p>
          <a:p>
            <a:pPr>
              <a:lnSpc>
                <a:spcPts val="2000"/>
              </a:lnSpc>
              <a:spcBef>
                <a:spcPts val="0"/>
              </a:spcBef>
              <a:spcAft>
                <a:spcPts val="0"/>
              </a:spcAft>
              <a:defRPr sz="1600" b="0">
                <a:solidFill>
                  <a:srgbClr val="F4F6FA"/>
                </a:solidFill>
                <a:latin typeface="Arial"/>
              </a:defRPr>
            </a:pPr>
            <a:r>
              <a:t>Critères testables.</a:t>
            </a:r>
          </a:p>
          <a:p>
            <a:pPr>
              <a:lnSpc>
                <a:spcPts val="2000"/>
              </a:lnSpc>
              <a:spcBef>
                <a:spcPts val="0"/>
              </a:spcBef>
              <a:spcAft>
                <a:spcPts val="0"/>
              </a:spcAft>
              <a:defRPr sz="1600" b="0">
                <a:solidFill>
                  <a:srgbClr val="F4F6FA"/>
                </a:solidFill>
                <a:latin typeface="Arial"/>
              </a:defRPr>
            </a:pPr>
            <a:r>
              <a:t>Composants concernés.</a:t>
            </a:r>
          </a:p>
          <a:p>
            <a:pPr>
              <a:lnSpc>
                <a:spcPts val="2000"/>
              </a:lnSpc>
              <a:spcBef>
                <a:spcPts val="0"/>
              </a:spcBef>
              <a:spcAft>
                <a:spcPts val="0"/>
              </a:spcAft>
              <a:defRPr sz="1600" b="0">
                <a:solidFill>
                  <a:srgbClr val="F4F6FA"/>
                </a:solidFill>
                <a:latin typeface="Arial"/>
              </a:defRPr>
            </a:pPr>
            <a:r>
              <a:t>Risques et preuve attendue.</a:t>
            </a:r>
          </a:p>
          <a:p>
            <a:pPr>
              <a:lnSpc>
                <a:spcPts val="2000"/>
              </a:lnSpc>
              <a:spcBef>
                <a:spcPts val="0"/>
              </a:spcBef>
              <a:spcAft>
                <a:spcPts val="0"/>
              </a:spcAft>
              <a:defRPr sz="1600" b="0">
                <a:solidFill>
                  <a:srgbClr val="F4F6FA"/>
                </a:solidFill>
                <a:latin typeface="Arial"/>
              </a:defRPr>
            </a:pPr>
            <a:r>
              <a:t>Définition de prêt.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Sécurité → cadrage → qualité</a:t>
            </a:r>
          </a:p>
          <a:p>
            <a:pPr>
              <a:lnSpc>
                <a:spcPts val="2000"/>
              </a:lnSpc>
              <a:spcBef>
                <a:spcPts val="0"/>
              </a:spcBef>
              <a:spcAft>
                <a:spcPts val="0"/>
              </a:spcAft>
              <a:defRPr sz="1600" b="0">
                <a:solidFill>
                  <a:srgbClr val="F4F6FA"/>
                </a:solidFill>
                <a:latin typeface="Arial"/>
              </a:defRPr>
            </a:pPr>
            <a:r>
              <a:t>→ industrialisation → exploitation.</a:t>
            </a:r>
          </a:p>
          <a:p>
            <a:pPr>
              <a:lnSpc>
                <a:spcPts val="2000"/>
              </a:lnSpc>
              <a:spcBef>
                <a:spcPts val="0"/>
              </a:spcBef>
              <a:spcAft>
                <a:spcPts val="0"/>
              </a:spcAft>
              <a:defRPr sz="1600" b="0">
                <a:solidFill>
                  <a:srgbClr val="F4F6FA"/>
                </a:solidFill>
                <a:latin typeface="Arial"/>
              </a:defRPr>
            </a:pPr>
            <a:r>
              <a:t>Suivi par éléments de backlog et</a:t>
            </a:r>
          </a:p>
          <a:p>
            <a:pPr>
              <a:lnSpc>
                <a:spcPts val="2000"/>
              </a:lnSpc>
              <a:spcBef>
                <a:spcPts val="0"/>
              </a:spcBef>
              <a:spcAft>
                <a:spcPts val="0"/>
              </a:spcAft>
              <a:defRPr sz="1600" b="0">
                <a:solidFill>
                  <a:srgbClr val="F4F6FA"/>
                </a:solidFill>
                <a:latin typeface="Arial"/>
              </a:defRPr>
            </a:pPr>
            <a:r>
              <a:t>commits.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TERMINER / REVOIR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Code et documentation cohérents.</a:t>
            </a:r>
          </a:p>
          <a:p>
            <a:pPr>
              <a:lnSpc>
                <a:spcPts val="2000"/>
              </a:lnSpc>
              <a:spcBef>
                <a:spcPts val="0"/>
              </a:spcBef>
              <a:spcAft>
                <a:spcPts val="0"/>
              </a:spcAft>
              <a:defRPr sz="1600" b="0">
                <a:solidFill>
                  <a:srgbClr val="F4F6FA"/>
                </a:solidFill>
                <a:latin typeface="Arial"/>
              </a:defRPr>
            </a:pPr>
            <a:r>
              <a:t>Tests pertinents.</a:t>
            </a:r>
          </a:p>
          <a:p>
            <a:pPr>
              <a:lnSpc>
                <a:spcPts val="2000"/>
              </a:lnSpc>
              <a:spcBef>
                <a:spcPts val="0"/>
              </a:spcBef>
              <a:spcAft>
                <a:spcPts val="0"/>
              </a:spcAft>
              <a:defRPr sz="1600" b="0">
                <a:solidFill>
                  <a:srgbClr val="F4F6FA"/>
                </a:solidFill>
                <a:latin typeface="Arial"/>
              </a:defRPr>
            </a:pPr>
            <a:r>
              <a:t>Preuve conservée.</a:t>
            </a:r>
          </a:p>
          <a:p>
            <a:pPr>
              <a:lnSpc>
                <a:spcPts val="2000"/>
              </a:lnSpc>
              <a:spcBef>
                <a:spcPts val="0"/>
              </a:spcBef>
              <a:spcAft>
                <a:spcPts val="0"/>
              </a:spcAft>
              <a:defRPr sz="1600" b="0">
                <a:solidFill>
                  <a:srgbClr val="F4F6FA"/>
                </a:solidFill>
                <a:latin typeface="Arial"/>
              </a:defRPr>
            </a:pPr>
            <a:r>
              <a:t>Notes de revue et rétrospective à</a:t>
            </a:r>
          </a:p>
          <a:p>
            <a:pPr>
              <a:lnSpc>
                <a:spcPts val="2000"/>
              </a:lnSpc>
              <a:spcBef>
                <a:spcPts val="0"/>
              </a:spcBef>
              <a:spcAft>
                <a:spcPts val="0"/>
              </a:spcAft>
              <a:defRPr sz="1600" b="0">
                <a:solidFill>
                  <a:srgbClr val="F4F6FA"/>
                </a:solidFill>
                <a:latin typeface="Arial"/>
              </a:defRPr>
            </a:pPr>
            <a:r>
              <a:t>maintenir.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rituels, dates et échanges réels doivent compléter les supports de pilotage.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docs/block3/agile-execution.md ; historique Git</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PARCOURS ET ÉTAT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une progression cohérente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moteur expose des transitions de jeu et des règles de persistance.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PARCOURS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Accueil → personnage → récit</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Choix → combat éventuel</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Victoire, défaite ou poursuite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Anonyme : session Django.</a:t>
            </a:r>
          </a:p>
          <a:p>
            <a:pPr>
              <a:lnSpc>
                <a:spcPts val="2000"/>
              </a:lnSpc>
              <a:spcBef>
                <a:spcPts val="0"/>
              </a:spcBef>
              <a:spcAft>
                <a:spcPts val="0"/>
              </a:spcAft>
              <a:defRPr sz="1600" b="0">
                <a:solidFill>
                  <a:srgbClr val="F4F6FA"/>
                </a:solidFill>
                <a:latin typeface="Arial"/>
              </a:defRPr>
            </a:pPr>
            <a:r>
              <a:t>Connecté : SaveGame + session.</a:t>
            </a:r>
          </a:p>
          <a:p>
            <a:pPr>
              <a:lnSpc>
                <a:spcPts val="2000"/>
              </a:lnSpc>
              <a:spcBef>
                <a:spcPts val="0"/>
              </a:spcBef>
              <a:spcAft>
                <a:spcPts val="0"/>
              </a:spcAft>
              <a:defRPr sz="1600" b="0">
                <a:solidFill>
                  <a:srgbClr val="F4F6FA"/>
                </a:solidFill>
                <a:latin typeface="Arial"/>
              </a:defRPr>
            </a:pPr>
            <a:r>
              <a:t>État sérialisé en JSON.</a:t>
            </a:r>
          </a:p>
          <a:p>
            <a:pPr>
              <a:lnSpc>
                <a:spcPts val="2000"/>
              </a:lnSpc>
              <a:spcBef>
                <a:spcPts val="0"/>
              </a:spcBef>
              <a:spcAft>
                <a:spcPts val="0"/>
              </a:spcAft>
              <a:defRPr sz="1600" b="0">
                <a:solidFill>
                  <a:srgbClr val="F4F6FA"/>
                </a:solidFill>
                <a:latin typeface="Arial"/>
              </a:defRPr>
            </a:pPr>
            <a:r>
              <a:t>Partie terminée non rechargeable.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RÈGLES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par session.</a:t>
            </a:r>
          </a:p>
          <a:p>
            <a:pPr>
              <a:lnSpc>
                <a:spcPts val="2000"/>
              </a:lnSpc>
              <a:spcBef>
                <a:spcPts val="0"/>
              </a:spcBef>
              <a:spcAft>
                <a:spcPts val="0"/>
              </a:spcAft>
              <a:defRPr sz="1600" b="0">
                <a:solidFill>
                  <a:srgbClr val="F4F6FA"/>
                </a:solidFill>
                <a:latin typeface="Arial"/>
              </a:defRPr>
            </a:pPr>
            <a:r>
              <a:t>Soins et dégâts côté serveur.</a:t>
            </a:r>
          </a:p>
          <a:p>
            <a:pPr>
              <a:lnSpc>
                <a:spcPts val="2000"/>
              </a:lnSpc>
              <a:spcBef>
                <a:spcPts val="0"/>
              </a:spcBef>
              <a:spcAft>
                <a:spcPts val="0"/>
              </a:spcAft>
              <a:defRPr sz="1600" b="0">
                <a:solidFill>
                  <a:srgbClr val="F4F6FA"/>
                </a:solidFill>
                <a:latin typeface="Arial"/>
              </a:defRPr>
            </a:pPr>
            <a:r>
              <a:t>Propriété des sauvegardes.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persistée.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portent sur les transitions et les droits, au-delà du rendu des pages.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src/django/game/models.py ; services/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SÉCURITÉ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Protéger les requêtes et les données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contrôles concrets, avec des limites de production identifiées.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sur les POST navigateur.</a:t>
            </a:r>
          </a:p>
          <a:p>
            <a:pPr>
              <a:lnSpc>
                <a:spcPts val="2000"/>
              </a:lnSpc>
              <a:spcBef>
                <a:spcPts val="0"/>
              </a:spcBef>
              <a:spcAft>
                <a:spcPts val="0"/>
              </a:spcAft>
              <a:defRPr sz="1600" b="0">
                <a:solidFill>
                  <a:srgbClr val="F4F6FA"/>
                </a:solidFill>
                <a:latin typeface="Arial"/>
              </a:defRPr>
            </a:pPr>
            <a:r>
              <a:t>Taille JSON limitée.</a:t>
            </a:r>
          </a:p>
          <a:p>
            <a:pPr>
              <a:lnSpc>
                <a:spcPts val="2000"/>
              </a:lnSpc>
              <a:spcBef>
                <a:spcPts val="0"/>
              </a:spcBef>
              <a:spcAft>
                <a:spcPts val="0"/>
              </a:spcAft>
              <a:defRPr sz="1600" b="0">
                <a:solidFill>
                  <a:srgbClr val="F4F6FA"/>
                </a:solidFill>
                <a:latin typeface="Arial"/>
              </a:defRPr>
            </a:pPr>
            <a:r>
              <a:t>Quota sur les routes IA.</a:t>
            </a:r>
          </a:p>
          <a:p>
            <a:pPr>
              <a:lnSpc>
                <a:spcPts val="2000"/>
              </a:lnSpc>
              <a:spcBef>
                <a:spcPts val="0"/>
              </a:spcBef>
              <a:spcAft>
                <a:spcPts val="0"/>
              </a:spcAft>
              <a:defRPr sz="1600" b="0">
                <a:solidFill>
                  <a:srgbClr val="F4F6FA"/>
                </a:solidFill>
                <a:latin typeface="Arial"/>
              </a:defRPr>
            </a:pPr>
            <a:r>
              <a:t>Contenu dynamique via</a:t>
            </a:r>
          </a:p>
          <a:p>
            <a:pPr>
              <a:lnSpc>
                <a:spcPts val="2000"/>
              </a:lnSpc>
              <a:spcBef>
                <a:spcPts val="0"/>
              </a:spcBef>
              <a:spcAft>
                <a:spcPts val="0"/>
              </a:spcAft>
              <a:defRPr sz="1600" b="0">
                <a:solidFill>
                  <a:srgbClr val="F4F6FA"/>
                </a:solidFill>
                <a:latin typeface="Arial"/>
              </a:defRPr>
            </a:pPr>
            <a:r>
              <a:t>textContent.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PROPRIÉTÉ / SECRETS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Filtres par utilisateur.</a:t>
            </a:r>
          </a:p>
          <a:p>
            <a:pPr>
              <a:lnSpc>
                <a:spcPts val="2000"/>
              </a:lnSpc>
              <a:spcBef>
                <a:spcPts val="0"/>
              </a:spcBef>
              <a:spcAft>
                <a:spcPts val="0"/>
              </a:spcAft>
              <a:defRPr sz="1600" b="0">
                <a:solidFill>
                  <a:srgbClr val="F4F6FA"/>
                </a:solidFill>
                <a:latin typeface="Arial"/>
              </a:defRPr>
            </a:pPr>
            <a:r>
              <a:t>État de combat isolé.</a:t>
            </a:r>
          </a:p>
          <a:p>
            <a:pPr>
              <a:lnSpc>
                <a:spcPts val="2000"/>
              </a:lnSpc>
              <a:spcBef>
                <a:spcPts val="0"/>
              </a:spcBef>
              <a:spcAft>
                <a:spcPts val="0"/>
              </a:spcAft>
              <a:defRPr sz="1600" b="0">
                <a:solidFill>
                  <a:srgbClr val="F4F6FA"/>
                </a:solidFill>
                <a:latin typeface="Arial"/>
              </a:defRPr>
            </a:pPr>
            <a:r>
              <a:t>Secret et hôtes de production via</a:t>
            </a:r>
          </a:p>
          <a:p>
            <a:pPr>
              <a:lnSpc>
                <a:spcPts val="2000"/>
              </a:lnSpc>
              <a:spcBef>
                <a:spcPts val="0"/>
              </a:spcBef>
              <a:spcAft>
                <a:spcPts val="0"/>
              </a:spcAft>
              <a:defRPr sz="1600" b="0">
                <a:solidFill>
                  <a:srgbClr val="F4F6FA"/>
                </a:solidFill>
                <a:latin typeface="Arial"/>
              </a:defRPr>
            </a:pPr>
            <a:r>
              <a:t>environnement.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Audit dépendances à compléter.</a:t>
            </a:r>
          </a:p>
          <a:p>
            <a:pPr>
              <a:lnSpc>
                <a:spcPts val="2000"/>
              </a:lnSpc>
              <a:spcBef>
                <a:spcPts val="0"/>
              </a:spcBef>
              <a:spcAft>
                <a:spcPts val="0"/>
              </a:spcAft>
              <a:defRPr sz="1600" b="0">
                <a:solidFill>
                  <a:srgbClr val="F4F6FA"/>
                </a:solidFill>
                <a:latin typeface="Arial"/>
              </a:defRPr>
            </a:pPr>
            <a:r>
              <a:t>Cache partagé pour plusieurs</a:t>
            </a:r>
          </a:p>
          <a:p>
            <a:pPr>
              <a:lnSpc>
                <a:spcPts val="2000"/>
              </a:lnSpc>
              <a:spcBef>
                <a:spcPts val="0"/>
              </a:spcBef>
              <a:spcAft>
                <a:spcPts val="0"/>
              </a:spcAft>
              <a:defRPr sz="1600" b="0">
                <a:solidFill>
                  <a:srgbClr val="F4F6FA"/>
                </a:solidFill>
                <a:latin typeface="Arial"/>
              </a:defRPr>
            </a:pPr>
            <a:r>
              <a:t>instances.</a:t>
            </a:r>
          </a:p>
          <a:p>
            <a:pPr>
              <a:lnSpc>
                <a:spcPts val="2000"/>
              </a:lnSpc>
              <a:spcBef>
                <a:spcPts val="0"/>
              </a:spcBef>
              <a:spcAft>
                <a:spcPts val="0"/>
              </a:spcAft>
              <a:defRPr sz="1600" b="0">
                <a:solidFill>
                  <a:srgbClr val="F4F6FA"/>
                </a:solidFill>
                <a:latin typeface="Arial"/>
              </a:defRPr>
            </a:pPr>
            <a:r>
              <a:t>Revue des appels longs et de la</a:t>
            </a:r>
          </a:p>
          <a:p>
            <a:pPr>
              <a:lnSpc>
                <a:spcPts val="2000"/>
              </a:lnSpc>
              <a:spcBef>
                <a:spcPts val="0"/>
              </a:spcBef>
              <a:spcAft>
                <a:spcPts val="0"/>
              </a:spcAft>
              <a:defRPr sz="1600" b="0">
                <a:solidFill>
                  <a:srgbClr val="F4F6FA"/>
                </a:solidFill>
                <a:latin typeface="Arial"/>
              </a:defRPr>
            </a:pPr>
            <a:r>
              <a:t>concurrence du graphe.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protections du navigateur ont évolué : le code courant prime sur les anciennes notes.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docs/block3/security-threat-model.md ; game/views.py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ACCESSIBILITÉ ET SOBRIÉTÉ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les interactions perceptibles et maîtrisées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Améliorations présentes ; validation manuelle encore nécessaire.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INTERACTIONS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Annonces de statut dynamiques.</a:t>
            </a:r>
          </a:p>
          <a:p>
            <a:pPr>
              <a:lnSpc>
                <a:spcPts val="2000"/>
              </a:lnSpc>
              <a:spcBef>
                <a:spcPts val="0"/>
              </a:spcBef>
              <a:spcAft>
                <a:spcPts val="0"/>
              </a:spcAft>
              <a:defRPr sz="1600" b="0">
                <a:solidFill>
                  <a:srgbClr val="F4F6FA"/>
                </a:solidFill>
                <a:latin typeface="Arial"/>
              </a:defRPr>
            </a:pPr>
            <a:r>
              <a:t>Onglets avec sémantique ARIA.</a:t>
            </a:r>
          </a:p>
          <a:p>
            <a:pPr>
              <a:lnSpc>
                <a:spcPts val="2000"/>
              </a:lnSpc>
              <a:spcBef>
                <a:spcPts val="0"/>
              </a:spcBef>
              <a:spcAft>
                <a:spcPts val="0"/>
              </a:spcAft>
              <a:defRPr sz="1600" b="0">
                <a:solidFill>
                  <a:srgbClr val="F4F6FA"/>
                </a:solidFill>
                <a:latin typeface="Arial"/>
              </a:defRPr>
            </a:pPr>
            <a:r>
              <a:t>Focus après mise à jour.</a:t>
            </a:r>
          </a:p>
          <a:p>
            <a:pPr>
              <a:lnSpc>
                <a:spcPts val="2000"/>
              </a:lnSpc>
              <a:spcBef>
                <a:spcPts val="0"/>
              </a:spcBef>
              <a:spcAft>
                <a:spcPts val="0"/>
              </a:spcAft>
              <a:defRPr sz="1600" b="0">
                <a:solidFill>
                  <a:srgbClr val="F4F6FA"/>
                </a:solidFill>
                <a:latin typeface="Arial"/>
              </a:defRPr>
            </a:pPr>
            <a:r>
              <a:t>Barres de vie exposées comme</a:t>
            </a:r>
          </a:p>
          <a:p>
            <a:pPr>
              <a:lnSpc>
                <a:spcPts val="2000"/>
              </a:lnSpc>
              <a:spcBef>
                <a:spcPts val="0"/>
              </a:spcBef>
              <a:spcAft>
                <a:spcPts val="0"/>
              </a:spcAft>
              <a:defRPr sz="1600" b="0">
                <a:solidFill>
                  <a:srgbClr val="F4F6FA"/>
                </a:solidFill>
                <a:latin typeface="Arial"/>
              </a:defRPr>
            </a:pPr>
            <a:r>
              <a:t>progression.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VÉRIFICATION MANUELLE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Parcours au clavier.</a:t>
            </a:r>
          </a:p>
          <a:p>
            <a:pPr>
              <a:lnSpc>
                <a:spcPts val="2000"/>
              </a:lnSpc>
              <a:spcBef>
                <a:spcPts val="0"/>
              </a:spcBef>
              <a:spcAft>
                <a:spcPts val="0"/>
              </a:spcAft>
              <a:defRPr sz="1600" b="0">
                <a:solidFill>
                  <a:srgbClr val="F4F6FA"/>
                </a:solidFill>
                <a:latin typeface="Arial"/>
              </a:defRPr>
            </a:pPr>
            <a:r>
              <a:t>Contrastes et zoom 200 %.</a:t>
            </a:r>
          </a:p>
          <a:p>
            <a:pPr>
              <a:lnSpc>
                <a:spcPts val="2000"/>
              </a:lnSpc>
              <a:spcBef>
                <a:spcPts val="0"/>
              </a:spcBef>
              <a:spcAft>
                <a:spcPts val="0"/>
              </a:spcAft>
              <a:defRPr sz="1600" b="0">
                <a:solidFill>
                  <a:srgbClr val="F4F6FA"/>
                </a:solidFill>
                <a:latin typeface="Arial"/>
              </a:defRPr>
            </a:pPr>
            <a:r>
              <a:t>Lecteur d’écran.</a:t>
            </a:r>
          </a:p>
          <a:p>
            <a:pPr>
              <a:lnSpc>
                <a:spcPts val="2000"/>
              </a:lnSpc>
              <a:spcBef>
                <a:spcPts val="0"/>
              </a:spcBef>
              <a:spcAft>
                <a:spcPts val="0"/>
              </a:spcAft>
              <a:defRPr sz="1600" b="0">
                <a:solidFill>
                  <a:srgbClr val="F4F6FA"/>
                </a:solidFill>
                <a:latin typeface="Arial"/>
              </a:defRPr>
            </a:pPr>
            <a:r>
              <a:t>Qualité des textes FR / EN.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Appels de jeu déclenchés par</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Réutilisation du retrieval.</a:t>
            </a:r>
          </a:p>
          <a:p>
            <a:pPr>
              <a:lnSpc>
                <a:spcPts val="2000"/>
              </a:lnSpc>
              <a:spcBef>
                <a:spcPts val="0"/>
              </a:spcBef>
              <a:spcAft>
                <a:spcPts val="0"/>
              </a:spcAft>
              <a:defRPr sz="1600" b="0">
                <a:solidFill>
                  <a:srgbClr val="F4F6FA"/>
                </a:solidFill>
                <a:latin typeface="Arial"/>
              </a:defRPr>
            </a:pPr>
            <a:r>
              <a:t>Images locales.</a:t>
            </a:r>
          </a:p>
          <a:p>
            <a:pPr>
              <a:lnSpc>
                <a:spcPts val="2000"/>
              </a:lnSpc>
              <a:spcBef>
                <a:spcPts val="0"/>
              </a:spcBef>
              <a:spcAft>
                <a:spcPts val="0"/>
              </a:spcAft>
              <a:defRPr sz="1600" b="0">
                <a:solidFill>
                  <a:srgbClr val="F4F6FA"/>
                </a:solidFill>
                <a:latin typeface="Arial"/>
              </a:defRPr>
            </a:pPr>
            <a:r>
              <a:t>Poids et consommation à mesurer.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d’attributs ARIA ne suffit pas à valider l’accessibilité réelle.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docs/block3/product-quality-audit.md ; ProductQualityTemplateTests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C18 · CONTRÔLES AUTOMATISÉS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44 tests ciblés réussis sur le bloc applicatif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locales du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LOT EXÉCUTÉ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et isolation.</a:t>
            </a:r>
          </a:p>
          <a:p>
            <a:pPr>
              <a:lnSpc>
                <a:spcPts val="2000"/>
              </a:lnSpc>
              <a:spcBef>
                <a:spcPts val="0"/>
              </a:spcBef>
              <a:spcAft>
                <a:spcPts val="0"/>
              </a:spcAft>
              <a:defRPr sz="1600" b="0">
                <a:solidFill>
                  <a:srgbClr val="F4F6FA"/>
                </a:solidFill>
                <a:latin typeface="Arial"/>
              </a:defRPr>
            </a:pPr>
            <a:r>
              <a:t>Sécurité des requêtes.</a:t>
            </a:r>
          </a:p>
          <a:p>
            <a:pPr>
              <a:lnSpc>
                <a:spcPts val="2000"/>
              </a:lnSpc>
              <a:spcBef>
                <a:spcPts val="0"/>
              </a:spcBef>
              <a:spcAft>
                <a:spcPts val="0"/>
              </a:spcAft>
              <a:defRPr sz="1600" b="0">
                <a:solidFill>
                  <a:srgbClr val="F4F6FA"/>
                </a:solidFill>
                <a:latin typeface="Arial"/>
              </a:defRPr>
            </a:pPr>
            <a:r>
              <a:t>Templates et parcours simulé.</a:t>
            </a:r>
          </a:p>
          <a:p>
            <a:pPr>
              <a:lnSpc>
                <a:spcPts val="2000"/>
              </a:lnSpc>
              <a:spcBef>
                <a:spcPts val="0"/>
              </a:spcBef>
              <a:spcAft>
                <a:spcPts val="0"/>
              </a:spcAft>
              <a:defRPr sz="1600" b="0">
                <a:solidFill>
                  <a:srgbClr val="F4F6FA"/>
                </a:solidFill>
                <a:latin typeface="Arial"/>
              </a:defRPr>
            </a:pPr>
            <a:r>
              <a:t>Sauvegardes, personnages,</a:t>
            </a:r>
          </a:p>
          <a:p>
            <a:pPr>
              <a:lnSpc>
                <a:spcPts val="2000"/>
              </a:lnSpc>
              <a:spcBef>
                <a:spcPts val="0"/>
              </a:spcBef>
              <a:spcAft>
                <a:spcPts val="0"/>
              </a:spcAft>
              <a:defRPr sz="1600" b="0">
                <a:solidFill>
                  <a:srgbClr val="F4F6FA"/>
                </a:solidFill>
                <a:latin typeface="Arial"/>
              </a:defRPr>
            </a:pPr>
            <a:r>
              <a:t>métriques.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Aucun changement détecté.</a:t>
            </a:r>
          </a:p>
          <a:p>
            <a:pPr>
              <a:lnSpc>
                <a:spcPts val="2000"/>
              </a:lnSpc>
              <a:spcBef>
                <a:spcPts val="0"/>
              </a:spcBef>
              <a:spcAft>
                <a:spcPts val="0"/>
              </a:spcAft>
              <a:defRPr sz="1600" b="0">
                <a:solidFill>
                  <a:srgbClr val="F4F6FA"/>
                </a:solidFill>
                <a:latin typeface="Arial"/>
              </a:defRPr>
            </a:pPr>
            <a:r>
              <a:t>Aucune migration créée.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 VERSIONNÉE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 push main / master, manuel.</a:t>
            </a:r>
          </a:p>
          <a:p>
            <a:pPr>
              <a:lnSpc>
                <a:spcPts val="2000"/>
              </a:lnSpc>
              <a:spcBef>
                <a:spcPts val="0"/>
              </a:spcBef>
              <a:spcAft>
                <a:spcPts val="0"/>
              </a:spcAft>
              <a:defRPr sz="1600" b="0">
                <a:solidFill>
                  <a:srgbClr val="F4F6FA"/>
                </a:solidFill>
                <a:latin typeface="Arial"/>
              </a:defRPr>
            </a:pPr>
            <a:r>
              <a:t>Lint, checks, tests et couverture.</a:t>
            </a:r>
          </a:p>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Résultats distants à 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44 tests ne désignent ni la suite complète ni un pourcentage de couverture.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.github/workflows/block3-ci-cd.yml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C19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vérifier et conserver le même artefact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conteneur constitue l’unité de livraison prévue.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BUILD / SMOKE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Dockerfile Python 3.12.</a:t>
            </a:r>
          </a:p>
          <a:p>
            <a:pPr>
              <a:lnSpc>
                <a:spcPts val="2000"/>
              </a:lnSpc>
              <a:spcBef>
                <a:spcPts val="0"/>
              </a:spcBef>
              <a:spcAft>
                <a:spcPts val="0"/>
              </a:spcAft>
              <a:defRPr sz="1600" b="0">
                <a:solidFill>
                  <a:srgbClr val="F4F6FA"/>
                </a:solidFill>
                <a:latin typeface="Arial"/>
              </a:defRPr>
            </a:pPr>
            <a:r>
              <a:t>Installation verrouillée.</a:t>
            </a:r>
          </a:p>
          <a:p>
            <a:pPr>
              <a:lnSpc>
                <a:spcPts val="2000"/>
              </a:lnSpc>
              <a:spcBef>
                <a:spcPts val="0"/>
              </a:spcBef>
              <a:spcAft>
                <a:spcPts val="0"/>
              </a:spcAft>
              <a:defRPr sz="1600" b="0">
                <a:solidFill>
                  <a:srgbClr val="F4F6FA"/>
                </a:solidFill>
                <a:latin typeface="Arial"/>
              </a:defRPr>
            </a:pPr>
            <a:r>
              <a:t>Démarrage Gunicorn.</a:t>
            </a:r>
          </a:p>
          <a:p>
            <a:pPr>
              <a:lnSpc>
                <a:spcPts val="2000"/>
              </a:lnSpc>
              <a:spcBef>
                <a:spcPts val="0"/>
              </a:spcBef>
              <a:spcAft>
                <a:spcPts val="0"/>
              </a:spcAft>
              <a:defRPr sz="1600" b="0">
                <a:solidFill>
                  <a:srgbClr val="F4F6FA"/>
                </a:solidFill>
                <a:latin typeface="Arial"/>
              </a:defRPr>
            </a:pPr>
            <a:r>
              <a:t>Image taguée SHA, test /health</a:t>
            </a:r>
          </a:p>
          <a:p>
            <a:pPr>
              <a:lnSpc>
                <a:spcPts val="2000"/>
              </a:lnSpc>
              <a:spcBef>
                <a:spcPts val="0"/>
              </a:spcBef>
              <a:spcAft>
                <a:spcPts val="0"/>
              </a:spcAft>
              <a:defRPr sz="1600" b="0">
                <a:solidFill>
                  <a:srgbClr val="F4F6FA"/>
                </a:solidFill>
                <a:latin typeface="Arial"/>
              </a:defRPr>
            </a:pPr>
            <a:r>
              <a:t>puis export tar en 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par environnement.</a:t>
            </a:r>
          </a:p>
          <a:p>
            <a:pPr>
              <a:lnSpc>
                <a:spcPts val="2000"/>
              </a:lnSpc>
              <a:spcBef>
                <a:spcPts val="0"/>
              </a:spcBef>
              <a:spcAft>
                <a:spcPts val="0"/>
              </a:spcAft>
              <a:defRPr sz="1600" b="0">
                <a:solidFill>
                  <a:srgbClr val="F4F6FA"/>
                </a:solidFill>
                <a:latin typeface="Arial"/>
              </a:defRPr>
            </a:pPr>
            <a:r>
              <a:t>Données persistantes à prévoir.</a:t>
            </a:r>
          </a:p>
          <a:p>
            <a:pPr>
              <a:lnSpc>
                <a:spcPts val="2000"/>
              </a:lnSpc>
              <a:spcBef>
                <a:spcPts val="0"/>
              </a:spcBef>
              <a:spcAft>
                <a:spcPts val="0"/>
              </a:spcAft>
              <a:defRPr sz="1600" b="0">
                <a:solidFill>
                  <a:srgbClr val="F4F6FA"/>
                </a:solidFill>
                <a:latin typeface="Arial"/>
              </a:defRPr>
            </a:pPr>
            <a:r>
              <a:t>Migrations au démarrage local.</a:t>
            </a:r>
          </a:p>
          <a:p>
            <a:pPr>
              <a:lnSpc>
                <a:spcPts val="2000"/>
              </a:lnSpc>
              <a:spcBef>
                <a:spcPts val="0"/>
              </a:spcBef>
              <a:spcAft>
                <a:spcPts val="0"/>
              </a:spcAft>
              <a:defRPr sz="1600" b="0">
                <a:solidFill>
                  <a:srgbClr val="F4F6FA"/>
                </a:solidFill>
                <a:latin typeface="Arial"/>
              </a:defRPr>
            </a:pPr>
            <a:r>
              <a:t>Étape de release à contrôler en</a:t>
            </a:r>
          </a:p>
          <a:p>
            <a:pPr>
              <a:lnSpc>
                <a:spcPts val="2000"/>
              </a:lnSpc>
              <a:spcBef>
                <a:spcPts val="0"/>
              </a:spcBef>
              <a:spcAft>
                <a:spcPts val="0"/>
              </a:spcAft>
              <a:defRPr sz="1600" b="0">
                <a:solidFill>
                  <a:srgbClr val="F4F6FA"/>
                </a:solidFill>
                <a:latin typeface="Arial"/>
              </a:defRPr>
            </a:pPr>
            <a:r>
              <a:t>production.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 / RETOUR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Déployer le digest vérifié.</a:t>
            </a:r>
          </a:p>
          <a:p>
            <a:pPr>
              <a:lnSpc>
                <a:spcPts val="2000"/>
              </a:lnSpc>
              <a:spcBef>
                <a:spcPts val="0"/>
              </a:spcBef>
              <a:spcAft>
                <a:spcPts val="0"/>
              </a:spcAft>
              <a:defRPr sz="1600" b="0">
                <a:solidFill>
                  <a:srgbClr val="F4F6FA"/>
                </a:solidFill>
                <a:latin typeface="Arial"/>
              </a:defRPr>
            </a:pPr>
            <a:r>
              <a:t>Conserver l’image précédente.</a:t>
            </a:r>
          </a:p>
          <a:p>
            <a:pPr>
              <a:lnSpc>
                <a:spcPts val="2000"/>
              </a:lnSpc>
              <a:spcBef>
                <a:spcPts val="0"/>
              </a:spcBef>
              <a:spcAft>
                <a:spcPts val="0"/>
              </a:spcAft>
              <a:defRPr sz="1600" b="0">
                <a:solidFill>
                  <a:srgbClr val="F4F6FA"/>
                </a:solidFill>
                <a:latin typeface="Arial"/>
              </a:defRPr>
            </a:pPr>
            <a:r>
              <a:t>Contrôler la compatibilité DB.</a:t>
            </a:r>
          </a:p>
          <a:p>
            <a:pPr>
              <a:lnSpc>
                <a:spcPts val="2000"/>
              </a:lnSpc>
              <a:spcBef>
                <a:spcPts val="0"/>
              </a:spcBef>
              <a:spcAft>
                <a:spcPts val="0"/>
              </a:spcAft>
              <a:defRPr sz="1600" b="0">
                <a:solidFill>
                  <a:srgbClr val="F4F6FA"/>
                </a:solidFill>
                <a:latin typeface="Arial"/>
              </a:defRPr>
            </a:pPr>
            <a:r>
              <a:t>Rejouer santé et parcours.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job staging est un placeholder : il ne déploie pas encore l’application.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.github/workflows/block3-ci-cd.yml ; Dockerfile ; docs/block3/ci-cd-delivery.md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le parcours, puis les garanties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préparée : 1 min 40, dans un environnement de démonstration.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00:00 → 00:35</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une aventure et un</a:t>
            </a:r>
          </a:p>
          <a:p>
            <a:pPr>
              <a:lnSpc>
                <a:spcPts val="2000"/>
              </a:lnSpc>
              <a:spcBef>
                <a:spcPts val="0"/>
              </a:spcBef>
              <a:spcAft>
                <a:spcPts val="0"/>
              </a:spcAft>
              <a:defRPr sz="1600" b="0">
                <a:solidFill>
                  <a:srgbClr val="F4F6FA"/>
                </a:solidFill>
                <a:latin typeface="Arial"/>
              </a:defRPr>
            </a:pPr>
            <a:r>
              <a:t>personnage déjà prêts.</a:t>
            </a:r>
          </a:p>
          <a:p>
            <a:pPr>
              <a:lnSpc>
                <a:spcPts val="2000"/>
              </a:lnSpc>
              <a:spcBef>
                <a:spcPts val="0"/>
              </a:spcBef>
              <a:spcAft>
                <a:spcPts val="0"/>
              </a:spcAft>
              <a:defRPr sz="1600" b="0">
                <a:solidFill>
                  <a:srgbClr val="F4F6FA"/>
                </a:solidFill>
                <a:latin typeface="Arial"/>
              </a:defRPr>
            </a:pPr>
            <a:r>
              <a:t>Afficher récit et choix.</a:t>
            </a:r>
          </a:p>
          <a:p>
            <a:pPr>
              <a:lnSpc>
                <a:spcPts val="2000"/>
              </a:lnSpc>
              <a:spcBef>
                <a:spcPts val="0"/>
              </a:spcBef>
              <a:spcAft>
                <a:spcPts val="0"/>
              </a:spcAft>
              <a:defRPr sz="1600" b="0">
                <a:solidFill>
                  <a:srgbClr val="F4F6FA"/>
                </a:solidFill>
                <a:latin typeface="Arial"/>
              </a:defRPr>
            </a:pPr>
            <a:r>
              <a:t>Exécuter une action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00:35 → 01:10</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une sauvegarde du</a:t>
            </a:r>
          </a:p>
          <a:p>
            <a:pPr>
              <a:lnSpc>
                <a:spcPts val="2000"/>
              </a:lnSpc>
              <a:spcBef>
                <a:spcPts val="0"/>
              </a:spcBef>
              <a:spcAft>
                <a:spcPts val="0"/>
              </a:spcAft>
              <a:defRPr sz="1600" b="0">
                <a:solidFill>
                  <a:srgbClr val="F4F6FA"/>
                </a:solidFill>
                <a:latin typeface="Arial"/>
              </a:defRPr>
            </a:pPr>
            <a:r>
              <a:t>compte de test et sa reprise.</a:t>
            </a:r>
          </a:p>
          <a:p>
            <a:pPr>
              <a:lnSpc>
                <a:spcPts val="2000"/>
              </a:lnSpc>
              <a:spcBef>
                <a:spcPts val="0"/>
              </a:spcBef>
              <a:spcAft>
                <a:spcPts val="0"/>
              </a:spcAft>
              <a:defRPr sz="1600" b="0">
                <a:solidFill>
                  <a:srgbClr val="F4F6FA"/>
                </a:solidFill>
                <a:latin typeface="Arial"/>
              </a:defRPr>
            </a:pPr>
            <a:r>
              <a:t>Présenter le résultat du test de</a:t>
            </a:r>
          </a:p>
          <a:p>
            <a:pPr>
              <a:lnSpc>
                <a:spcPts val="2000"/>
              </a:lnSpc>
              <a:spcBef>
                <a:spcPts val="0"/>
              </a:spcBef>
              <a:spcAft>
                <a:spcPts val="0"/>
              </a:spcAft>
              <a:defRPr sz="1600" b="0">
                <a:solidFill>
                  <a:srgbClr val="F4F6FA"/>
                </a:solidFill>
                <a:latin typeface="Arial"/>
              </a:defRPr>
            </a:pPr>
            <a:r>
              <a:t>propriété.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01:10 → 01:40</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les résultats locaux et le</a:t>
            </a:r>
          </a:p>
          <a:p>
            <a:pPr>
              <a:lnSpc>
                <a:spcPts val="2000"/>
              </a:lnSpc>
              <a:spcBef>
                <a:spcPts val="0"/>
              </a:spcBef>
              <a:spcAft>
                <a:spcPts val="0"/>
              </a:spcAft>
              <a:defRPr sz="1600" b="0">
                <a:solidFill>
                  <a:srgbClr val="F4F6FA"/>
                </a:solidFill>
                <a:latin typeface="Arial"/>
              </a:defRPr>
            </a:pPr>
            <a:r>
              <a:t>workflow.</a:t>
            </a:r>
          </a:p>
          <a:p>
            <a:pPr>
              <a:lnSpc>
                <a:spcPts val="2000"/>
              </a:lnSpc>
              <a:spcBef>
                <a:spcPts val="0"/>
              </a:spcBef>
              <a:spcAft>
                <a:spcPts val="0"/>
              </a:spcAft>
              <a:defRPr sz="1600" b="0">
                <a:solidFill>
                  <a:srgbClr val="F4F6FA"/>
                </a:solidFill>
                <a:latin typeface="Arial"/>
              </a:defRPr>
            </a:pPr>
            <a:r>
              <a:t>Nommer les preuves manquantes.</a:t>
            </a:r>
          </a:p>
          <a:p>
            <a:pPr>
              <a:lnSpc>
                <a:spcPts val="2000"/>
              </a:lnSpc>
              <a:spcBef>
                <a:spcPts val="0"/>
              </a:spcBef>
              <a:spcAft>
                <a:spcPts val="0"/>
              </a:spcAft>
              <a:defRPr sz="1600" b="0">
                <a:solidFill>
                  <a:srgbClr val="F4F6FA"/>
                </a:solidFill>
                <a:latin typeface="Arial"/>
              </a:defRPr>
            </a:pPr>
            <a:r>
              <a:t>Introduire le cas d’incident E5.</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Prévoir une capture de secours ; annoncer toute simulation utilisée.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C20 ET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Surveiller et résoudre un incident technique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Cas étudié : interférence entre deux combats dans un même processus.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SURVEILLER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journaux et règles</a:t>
            </a:r>
          </a:p>
          <a:p>
            <a:pPr>
              <a:lnSpc>
                <a:spcPts val="2000"/>
              </a:lnSpc>
              <a:spcBef>
                <a:spcPts val="0"/>
              </a:spcBef>
              <a:spcAft>
                <a:spcPts val="0"/>
              </a:spcAft>
              <a:defRPr sz="1600" b="0">
                <a:solidFill>
                  <a:srgbClr val="F4F6FA"/>
                </a:solidFill>
                <a:latin typeface="Arial"/>
              </a:defRPr>
            </a:pPr>
            <a:r>
              <a:t>d’alerte du projet.</a:t>
            </a:r>
          </a:p>
          <a:p>
            <a:pPr>
              <a:lnSpc>
                <a:spcPts val="2000"/>
              </a:lnSpc>
              <a:spcBef>
                <a:spcPts val="0"/>
              </a:spcBef>
              <a:spcAft>
                <a:spcPts val="0"/>
              </a:spcAft>
              <a:defRPr sz="1600" b="0">
                <a:solidFill>
                  <a:srgbClr val="F4F6FA"/>
                </a:solidFill>
                <a:latin typeface="Arial"/>
              </a:defRPr>
            </a:pPr>
            <a:r>
              <a:t>Distinguer fonctionnement</a:t>
            </a:r>
          </a:p>
          <a:p>
            <a:pPr>
              <a:lnSpc>
                <a:spcPts val="2000"/>
              </a:lnSpc>
              <a:spcBef>
                <a:spcPts val="0"/>
              </a:spcBef>
              <a:spcAft>
                <a:spcPts val="0"/>
              </a:spcAft>
              <a:defRPr sz="1600" b="0">
                <a:solidFill>
                  <a:srgbClr val="F4F6FA"/>
                </a:solidFill>
                <a:latin typeface="Arial"/>
              </a:defRPr>
            </a:pPr>
            <a:r>
              <a:t>technique et intégrité métier.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REPRODUIRE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Ancien code extrait de Git.</a:t>
            </a:r>
          </a:p>
          <a:p>
            <a:pPr>
              <a:lnSpc>
                <a:spcPts val="2000"/>
              </a:lnSpc>
              <a:spcBef>
                <a:spcPts val="0"/>
              </a:spcBef>
              <a:spcAft>
                <a:spcPts val="0"/>
              </a:spcAft>
              <a:defRPr sz="1600" b="0">
                <a:solidFill>
                  <a:srgbClr val="F4F6FA"/>
                </a:solidFill>
                <a:latin typeface="Arial"/>
              </a:defRPr>
            </a:pPr>
            <a:r>
              <a:t>Deux états A et B.</a:t>
            </a:r>
          </a:p>
          <a:p>
            <a:pPr>
              <a:lnSpc>
                <a:spcPts val="2000"/>
              </a:lnSpc>
              <a:spcBef>
                <a:spcPts val="0"/>
              </a:spcBef>
              <a:spcAft>
                <a:spcPts val="0"/>
              </a:spcAft>
              <a:defRPr sz="1600" b="0">
                <a:solidFill>
                  <a:srgbClr val="F4F6FA"/>
                </a:solidFill>
                <a:latin typeface="Arial"/>
              </a:defRPr>
            </a:pPr>
            <a:r>
              <a:t>Imbrication déterministe.</a:t>
            </a:r>
          </a:p>
          <a:p>
            <a:pPr>
              <a:lnSpc>
                <a:spcPts val="2000"/>
              </a:lnSpc>
              <a:spcBef>
                <a:spcPts val="0"/>
              </a:spcBef>
              <a:spcAft>
                <a:spcPts val="0"/>
              </a:spcAft>
              <a:defRPr sz="1600" b="0">
                <a:solidFill>
                  <a:srgbClr val="F4F6FA"/>
                </a:solidFill>
                <a:latin typeface="Arial"/>
              </a:defRPr>
            </a:pPr>
            <a:r>
              <a:t>Aucun incident de production</a:t>
            </a:r>
          </a:p>
          <a:p>
            <a:pPr>
              <a:lnSpc>
                <a:spcPts val="2000"/>
              </a:lnSpc>
              <a:spcBef>
                <a:spcPts val="0"/>
              </a:spcBef>
              <a:spcAft>
                <a:spcPts val="0"/>
              </a:spcAft>
              <a:defRPr sz="1600" b="0">
                <a:solidFill>
                  <a:srgbClr val="F4F6FA"/>
                </a:solidFill>
                <a:latin typeface="Arial"/>
              </a:defRPr>
            </a:pPr>
            <a:r>
              <a:t>supposé.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Identifier le correctif versionné.</a:t>
            </a:r>
          </a:p>
          <a:p>
            <a:pPr>
              <a:lnSpc>
                <a:spcPts val="2000"/>
              </a:lnSpc>
              <a:spcBef>
                <a:spcPts val="0"/>
              </a:spcBef>
              <a:spcAft>
                <a:spcPts val="0"/>
              </a:spcAft>
              <a:defRPr sz="1600" b="0">
                <a:solidFill>
                  <a:srgbClr val="F4F6FA"/>
                </a:solidFill>
                <a:latin typeface="Arial"/>
              </a:defRPr>
            </a:pPr>
            <a:r>
              <a:t>Expliquer les limites et les suites</a:t>
            </a:r>
          </a:p>
          <a:p>
            <a:pPr>
              <a:lnSpc>
                <a:spcPts val="2000"/>
              </a:lnSpc>
              <a:spcBef>
                <a:spcPts val="0"/>
              </a:spcBef>
              <a:spcAft>
                <a:spcPts val="0"/>
              </a:spcAft>
              <a:defRPr sz="1600" b="0">
                <a:solidFill>
                  <a:srgbClr val="F4F6FA"/>
                </a:solidFill>
                <a:latin typeface="Arial"/>
              </a:defRPr>
            </a:pPr>
            <a:r>
              <a:t>opérationnelles.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E5 : 10 minutes ; dossier technique complémentaire joint au support.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p. 17 et 22–23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SURVEILLANCE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le parcours complet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Django /metrics → Prometheus → Grafana ; journaux de services en console.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APPLICATION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Démarrages, tours et résultats.</a:t>
            </a:r>
          </a:p>
          <a:p>
            <a:pPr>
              <a:lnSpc>
                <a:spcPts val="2000"/>
              </a:lnSpc>
              <a:spcBef>
                <a:spcPts val="0"/>
              </a:spcBef>
              <a:spcAft>
                <a:spcPts val="0"/>
              </a:spcAft>
              <a:defRPr sz="1600" b="0">
                <a:solidFill>
                  <a:srgbClr val="F4F6FA"/>
                </a:solidFill>
                <a:latin typeface="Arial"/>
              </a:defRPr>
            </a:pPr>
            <a:r>
              <a:t>Combats et actions.</a:t>
            </a:r>
          </a:p>
          <a:p>
            <a:pPr>
              <a:lnSpc>
                <a:spcPts val="2000"/>
              </a:lnSpc>
              <a:spcBef>
                <a:spcPts val="0"/>
              </a:spcBef>
              <a:spcAft>
                <a:spcPts val="0"/>
              </a:spcAft>
              <a:defRPr sz="1600" b="0">
                <a:solidFill>
                  <a:srgbClr val="F4F6FA"/>
                </a:solidFill>
                <a:latin typeface="Arial"/>
              </a:defRPr>
            </a:pPr>
            <a:r>
              <a:t>Délai navigateur jusqu’au retour de</a:t>
            </a:r>
          </a:p>
          <a:p>
            <a:pPr>
              <a:lnSpc>
                <a:spcPts val="2000"/>
              </a:lnSpc>
              <a:spcBef>
                <a:spcPts val="0"/>
              </a:spcBef>
              <a:spcAft>
                <a:spcPts val="0"/>
              </a:spcAft>
              <a:defRPr sz="1600" b="0">
                <a:solidFill>
                  <a:srgbClr val="F4F6FA"/>
                </a:solidFill>
                <a:latin typeface="Arial"/>
              </a:defRPr>
            </a:pPr>
            <a:r>
              <a:t>choix utilisables.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Opérations, tentatives et retries.</a:t>
            </a:r>
          </a:p>
          <a:p>
            <a:pPr>
              <a:lnSpc>
                <a:spcPts val="2000"/>
              </a:lnSpc>
              <a:spcBef>
                <a:spcPts val="0"/>
              </a:spcBef>
              <a:spcAft>
                <a:spcPts val="0"/>
              </a:spcAft>
              <a:defRPr sz="1600" b="0">
                <a:solidFill>
                  <a:srgbClr val="F4F6FA"/>
                </a:solidFill>
                <a:latin typeface="Arial"/>
              </a:defRPr>
            </a:pPr>
            <a:r>
              <a:t>Durée logique incluant reprises.</a:t>
            </a:r>
          </a:p>
          <a:p>
            <a:pPr>
              <a:lnSpc>
                <a:spcPts val="2000"/>
              </a:lnSpc>
              <a:spcBef>
                <a:spcPts val="0"/>
              </a:spcBef>
              <a:spcAft>
                <a:spcPts val="0"/>
              </a:spcAft>
              <a:defRPr sz="1600" b="0">
                <a:solidFill>
                  <a:srgbClr val="F4F6FA"/>
                </a:solidFill>
                <a:latin typeface="Arial"/>
              </a:defRPr>
            </a:pPr>
            <a:r>
              <a:t>Échecs, sorties invalides et RAG.</a:t>
            </a:r>
          </a:p>
          <a:p>
            <a:pPr>
              <a:lnSpc>
                <a:spcPts val="2000"/>
              </a:lnSpc>
              <a:spcBef>
                <a:spcPts val="0"/>
              </a:spcBef>
              <a:spcAft>
                <a:spcPts val="0"/>
              </a:spcAft>
              <a:defRPr sz="1600" b="0">
                <a:solidFill>
                  <a:srgbClr val="F4F6FA"/>
                </a:solidFill>
                <a:latin typeface="Arial"/>
              </a:defRPr>
            </a:pPr>
            <a:r>
              <a:t>Coût estimé si tarifs configurés.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JOURNAUX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Date, niveau, logger, message.</a:t>
            </a:r>
          </a:p>
          <a:p>
            <a:pPr>
              <a:lnSpc>
                <a:spcPts val="2000"/>
              </a:lnSpc>
              <a:spcBef>
                <a:spcPts val="0"/>
              </a:spcBef>
              <a:spcAft>
                <a:spcPts val="0"/>
              </a:spcAft>
              <a:defRPr sz="1600" b="0">
                <a:solidFill>
                  <a:srgbClr val="F4F6FA"/>
                </a:solidFill>
                <a:latin typeface="Arial"/>
              </a:defRPr>
            </a:pPr>
            <a:r>
              <a:t>Loggers agents et retrieval.</a:t>
            </a:r>
          </a:p>
          <a:p>
            <a:pPr>
              <a:lnSpc>
                <a:spcPts val="2000"/>
              </a:lnSpc>
              <a:spcBef>
                <a:spcPts val="0"/>
              </a:spcBef>
              <a:spcAft>
                <a:spcPts val="0"/>
              </a:spcAft>
              <a:defRPr sz="1600" b="0">
                <a:solidFill>
                  <a:srgbClr val="F4F6FA"/>
                </a:solidFill>
                <a:latin typeface="Arial"/>
              </a:defRPr>
            </a:pPr>
            <a:r>
              <a:t>Erreurs contextualisées.</a:t>
            </a:r>
          </a:p>
          <a:p>
            <a:pPr>
              <a:lnSpc>
                <a:spcPts val="2000"/>
              </a:lnSpc>
              <a:spcBef>
                <a:spcPts val="0"/>
              </a:spcBef>
              <a:spcAft>
                <a:spcPts val="0"/>
              </a:spcAft>
              <a:defRPr sz="1600" b="0">
                <a:solidFill>
                  <a:srgbClr val="F4F6FA"/>
                </a:solidFill>
                <a:latin typeface="Arial"/>
              </a:defRPr>
            </a:pPr>
            <a:r>
              <a:t>Contenu à revoir avant partage.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métriques évitent les identités ; les messages et traces doivent aussi être contrôlés.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docs/monitoring.md ; settings.py ; src/observability/metrics.py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SEUILS ET DÉTECTION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Les alertes techniques ne détectent pas tout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existantes dans monitoring/prometheus/alerts.yml.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INDISPONIBILITÉ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Plus de 2 opérations indisponibles</a:t>
            </a:r>
          </a:p>
          <a:p>
            <a:pPr>
              <a:lnSpc>
                <a:spcPts val="2000"/>
              </a:lnSpc>
              <a:spcBef>
                <a:spcPts val="0"/>
              </a:spcBef>
              <a:spcAft>
                <a:spcPts val="0"/>
              </a:spcAft>
              <a:defRPr sz="1600" b="0">
                <a:solidFill>
                  <a:srgbClr val="F4F6FA"/>
                </a:solidFill>
                <a:latin typeface="Arial"/>
              </a:defRPr>
            </a:pPr>
            <a:r>
              <a:t>sur 10 min.</a:t>
            </a:r>
          </a:p>
          <a:p>
            <a:pPr>
              <a:lnSpc>
                <a:spcPts val="2000"/>
              </a:lnSpc>
              <a:spcBef>
                <a:spcPts val="0"/>
              </a:spcBef>
              <a:spcAft>
                <a:spcPts val="0"/>
              </a:spcAft>
              <a:defRPr sz="1600" b="0">
                <a:solidFill>
                  <a:srgbClr val="F4F6FA"/>
                </a:solidFill>
                <a:latin typeface="Arial"/>
              </a:defRPr>
            </a:pPr>
            <a:r>
              <a:t>Condition maintenue 2 min.</a:t>
            </a:r>
          </a:p>
          <a:p>
            <a:pPr>
              <a:lnSpc>
                <a:spcPts val="2000"/>
              </a:lnSpc>
              <a:spcBef>
                <a:spcPts val="0"/>
              </a:spcBef>
              <a:spcAft>
                <a:spcPts val="0"/>
              </a:spcAft>
              <a:defRPr sz="1600" b="0">
                <a:solidFill>
                  <a:srgbClr val="F4F6FA"/>
                </a:solidFill>
                <a:latin typeface="Arial"/>
              </a:defRPr>
            </a:pPr>
            <a:r>
              <a:t>Signal pour diagnostic 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LATENCE / 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p95 &gt; 30 s sur fenêtre 15 min,</a:t>
            </a:r>
          </a:p>
          <a:p>
            <a:pPr>
              <a:lnSpc>
                <a:spcPts val="2000"/>
              </a:lnSpc>
              <a:spcBef>
                <a:spcPts val="0"/>
              </a:spcBef>
              <a:spcAft>
                <a:spcPts val="0"/>
              </a:spcAft>
              <a:defRPr sz="1600" b="0">
                <a:solidFill>
                  <a:srgbClr val="F4F6FA"/>
                </a:solidFill>
                <a:latin typeface="Arial"/>
              </a:defRPr>
            </a:pPr>
            <a:r>
              <a:t>pendant 10 min.</a:t>
            </a:r>
          </a:p>
          <a:p>
            <a:pPr>
              <a:lnSpc>
                <a:spcPts val="2000"/>
              </a:lnSpc>
              <a:spcBef>
                <a:spcPts val="0"/>
              </a:spcBef>
              <a:spcAft>
                <a:spcPts val="0"/>
              </a:spcAft>
              <a:defRPr sz="1600" b="0">
                <a:solidFill>
                  <a:srgbClr val="F4F6FA"/>
                </a:solidFill>
                <a:latin typeface="Arial"/>
              </a:defRPr>
            </a:pPr>
            <a:r>
              <a:t>Sortie invalide : fenêtre 15 min,</a:t>
            </a:r>
          </a:p>
          <a:p>
            <a:pPr>
              <a:lnSpc>
                <a:spcPts val="2000"/>
              </a:lnSpc>
              <a:spcBef>
                <a:spcPts val="0"/>
              </a:spcBef>
              <a:spcAft>
                <a:spcPts val="0"/>
              </a:spcAft>
              <a:defRPr sz="1600" b="0">
                <a:solidFill>
                  <a:srgbClr val="F4F6FA"/>
                </a:solidFill>
                <a:latin typeface="Arial"/>
              </a:defRPr>
            </a:pPr>
            <a:r>
              <a:t>maintien 1 min.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ANGLE MORT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combat peut renvoyer HTTP</a:t>
            </a:r>
          </a:p>
          <a:p>
            <a:pPr>
              <a:lnSpc>
                <a:spcPts val="2000"/>
              </a:lnSpc>
              <a:spcBef>
                <a:spcPts val="0"/>
              </a:spcBef>
              <a:spcAft>
                <a:spcPts val="0"/>
              </a:spcAft>
              <a:defRPr sz="1600" b="0">
                <a:solidFill>
                  <a:srgbClr val="F4F6FA"/>
                </a:solidFill>
                <a:latin typeface="Arial"/>
              </a:defRPr>
            </a:pPr>
            <a:r>
              <a:t>200 tout en modifiant le mauvais</a:t>
            </a:r>
          </a:p>
          <a:p>
            <a:pPr>
              <a:lnSpc>
                <a:spcPts val="2000"/>
              </a:lnSpc>
              <a:spcBef>
                <a:spcPts val="0"/>
              </a:spcBef>
              <a:spcAft>
                <a:spcPts val="0"/>
              </a:spcAft>
              <a:defRPr sz="1600" b="0">
                <a:solidFill>
                  <a:srgbClr val="F4F6FA"/>
                </a:solidFill>
                <a:latin typeface="Arial"/>
              </a:defRPr>
            </a:pPr>
            <a:r>
              <a:t>état.</a:t>
            </a:r>
          </a:p>
          <a:p>
            <a:pPr>
              <a:lnSpc>
                <a:spcPts val="2000"/>
              </a:lnSpc>
              <a:spcBef>
                <a:spcPts val="0"/>
              </a:spcBef>
              <a:spcAft>
                <a:spcPts val="0"/>
              </a:spcAft>
              <a:defRPr sz="1600" b="0">
                <a:solidFill>
                  <a:srgbClr val="F4F6FA"/>
                </a:solidFill>
                <a:latin typeface="Arial"/>
              </a:defRPr>
            </a:pPr>
            <a:r>
              <a:t>Aucune règle actuelle ne détecte</a:t>
            </a:r>
          </a:p>
          <a:p>
            <a:pPr>
              <a:lnSpc>
                <a:spcPts val="2000"/>
              </a:lnSpc>
              <a:spcBef>
                <a:spcPts val="0"/>
              </a:spcBef>
              <a:spcAft>
                <a:spcPts val="0"/>
              </a:spcAft>
              <a:defRPr sz="1600" b="0">
                <a:solidFill>
                  <a:srgbClr val="F4F6FA"/>
                </a:solidFill>
                <a:latin typeface="Arial"/>
              </a:defRPr>
            </a:pPr>
            <a:r>
              <a:t>cet invariant.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récepteur Alertmanager est vide : aucune réception externe démontrée.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monitoring/prometheus/alerts.yml ; monitoring/alertmanager/alertmanager.yml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REPRODUCTION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L’ancienne version attaque le mauvais monstre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Scénario contrôlé : chaque monstre démarre à 8 PV ; dégâts fixés à 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1 / RESTAURER A</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processus charge le joueur A et</a:t>
            </a:r>
          </a:p>
          <a:p>
            <a:pPr>
              <a:lnSpc>
                <a:spcPts val="2000"/>
              </a:lnSpc>
              <a:spcBef>
                <a:spcPts val="0"/>
              </a:spcBef>
              <a:spcAft>
                <a:spcPts val="0"/>
              </a:spcAft>
              <a:defRPr sz="1600" b="0">
                <a:solidFill>
                  <a:srgbClr val="F4F6FA"/>
                </a:solidFill>
                <a:latin typeface="Arial"/>
              </a:defRPr>
            </a:pPr>
            <a:r>
              <a:t>son monstre dans des variables</a:t>
            </a:r>
          </a:p>
          <a:p>
            <a:pPr>
              <a:lnSpc>
                <a:spcPts val="2000"/>
              </a:lnSpc>
              <a:spcBef>
                <a:spcPts val="0"/>
              </a:spcBef>
              <a:spcAft>
                <a:spcPts val="0"/>
              </a:spcAft>
              <a:defRPr sz="1600" b="0">
                <a:solidFill>
                  <a:srgbClr val="F4F6FA"/>
                </a:solidFill>
                <a:latin typeface="Arial"/>
              </a:defRPr>
            </a:pPr>
            <a:r>
              <a:t>globales.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2 / RESTAURER B</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Avant l’attaque de A, B charge son</a:t>
            </a:r>
          </a:p>
          <a:p>
            <a:pPr>
              <a:lnSpc>
                <a:spcPts val="2000"/>
              </a:lnSpc>
              <a:spcBef>
                <a:spcPts val="0"/>
              </a:spcBef>
              <a:spcAft>
                <a:spcPts val="0"/>
              </a:spcAft>
              <a:defRPr sz="1600" b="0">
                <a:solidFill>
                  <a:srgbClr val="F4F6FA"/>
                </a:solidFill>
                <a:latin typeface="Arial"/>
              </a:defRPr>
            </a:pPr>
            <a:r>
              <a:t>combat.</a:t>
            </a:r>
          </a:p>
          <a:p>
            <a:pPr>
              <a:lnSpc>
                <a:spcPts val="2000"/>
              </a:lnSpc>
              <a:spcBef>
                <a:spcPts val="0"/>
              </a:spcBef>
              <a:spcAft>
                <a:spcPts val="0"/>
              </a:spcAft>
              <a:defRPr sz="1600" b="0">
                <a:solidFill>
                  <a:srgbClr val="F4F6FA"/>
                </a:solidFill>
                <a:latin typeface="Arial"/>
              </a:defRPr>
            </a:pPr>
            <a:r>
              <a:t>Les mêmes variables globales</a:t>
            </a:r>
          </a:p>
          <a:p>
            <a:pPr>
              <a:lnSpc>
                <a:spcPts val="2000"/>
              </a:lnSpc>
              <a:spcBef>
                <a:spcPts val="0"/>
              </a:spcBef>
              <a:spcAft>
                <a:spcPts val="0"/>
              </a:spcAft>
              <a:defRPr sz="1600" b="0">
                <a:solidFill>
                  <a:srgbClr val="F4F6FA"/>
                </a:solidFill>
                <a:latin typeface="Arial"/>
              </a:defRPr>
            </a:pPr>
            <a:r>
              <a:t>pointent maintenant vers B.</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3 / REPRENDRE 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L’action destinée à A utilise l’état</a:t>
            </a:r>
          </a:p>
          <a:p>
            <a:pPr>
              <a:lnSpc>
                <a:spcPts val="2000"/>
              </a:lnSpc>
              <a:spcBef>
                <a:spcPts val="0"/>
              </a:spcBef>
              <a:spcAft>
                <a:spcPts val="0"/>
              </a:spcAft>
              <a:defRPr sz="1600" b="0">
                <a:solidFill>
                  <a:srgbClr val="F4F6FA"/>
                </a:solidFill>
                <a:latin typeface="Arial"/>
              </a:defRPr>
            </a:pPr>
            <a:r>
              <a:t>global de B.</a:t>
            </a:r>
          </a:p>
          <a:p>
            <a:pPr>
              <a:lnSpc>
                <a:spcPts val="2000"/>
              </a:lnSpc>
              <a:spcBef>
                <a:spcPts val="0"/>
              </a:spcBef>
              <a:spcAft>
                <a:spcPts val="0"/>
              </a:spcAft>
              <a:defRPr sz="1600" b="0">
                <a:solidFill>
                  <a:srgbClr val="F4F6FA"/>
                </a:solidFill>
                <a:latin typeface="Arial"/>
              </a:defRPr>
            </a:pPr>
            <a:r>
              <a:t>Monstre A : 8 PV.</a:t>
            </a:r>
          </a:p>
          <a:p>
            <a:pPr>
              <a:lnSpc>
                <a:spcPts val="2000"/>
              </a:lnSpc>
              <a:spcBef>
                <a:spcPts val="0"/>
              </a:spcBef>
              <a:spcAft>
                <a:spcPts val="0"/>
              </a:spcAft>
              <a:defRPr sz="1600" b="0">
                <a:solidFill>
                  <a:srgbClr val="F4F6FA"/>
                </a:solidFill>
                <a:latin typeface="Arial"/>
              </a:defRPr>
            </a:pPr>
            <a:r>
              <a:t>Monstre B : 5 PV.</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Attendu : A perd 3 PV ; observé avant correctif : B perd 3 PV.</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reproduce_incident.py ; preuves/incident-combat.json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CAUSE RACINE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état global partage une identité implicite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sélection du combat dépendait du dernier appel de restauration.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player et current_monster au</a:t>
            </a:r>
          </a:p>
          <a:p>
            <a:pPr>
              <a:lnSpc>
                <a:spcPts val="2000"/>
              </a:lnSpc>
              <a:spcBef>
                <a:spcPts val="0"/>
              </a:spcBef>
              <a:spcAft>
                <a:spcPts val="0"/>
              </a:spcAft>
              <a:defRPr sz="1600" b="0">
                <a:solidFill>
                  <a:srgbClr val="F4F6FA"/>
                </a:solidFill>
                <a:latin typeface="Arial"/>
              </a:defRPr>
            </a:pPr>
            <a:r>
              <a:t>niveau du module.</a:t>
            </a:r>
          </a:p>
          <a:p>
            <a:pPr>
              <a:lnSpc>
                <a:spcPts val="2000"/>
              </a:lnSpc>
              <a:spcBef>
                <a:spcPts val="0"/>
              </a:spcBef>
              <a:spcAft>
                <a:spcPts val="0"/>
              </a:spcAft>
              <a:defRPr sz="1600" b="0">
                <a:solidFill>
                  <a:srgbClr val="F4F6FA"/>
                </a:solidFill>
                <a:latin typeface="Arial"/>
              </a:defRPr>
            </a:pPr>
            <a:r>
              <a:t>restore_combat remplace leurs</a:t>
            </a:r>
          </a:p>
          <a:p>
            <a:pPr>
              <a:lnSpc>
                <a:spcPts val="2000"/>
              </a:lnSpc>
              <a:spcBef>
                <a:spcPts val="0"/>
              </a:spcBef>
              <a:spcAft>
                <a:spcPts val="0"/>
              </a:spcAft>
              <a:defRPr sz="1600" b="0">
                <a:solidFill>
                  <a:srgbClr val="F4F6FA"/>
                </a:solidFill>
                <a:latin typeface="Arial"/>
              </a:defRPr>
            </a:pPr>
            <a:r>
              <a:t>références.</a:t>
            </a:r>
          </a:p>
          <a:p>
            <a:pPr>
              <a:lnSpc>
                <a:spcPts val="2000"/>
              </a:lnSpc>
              <a:spcBef>
                <a:spcPts val="0"/>
              </a:spcBef>
              <a:spcAft>
                <a:spcPts val="0"/>
              </a:spcAft>
              <a:defRPr sz="1600" b="0">
                <a:solidFill>
                  <a:srgbClr val="F4F6FA"/>
                </a:solidFill>
                <a:latin typeface="Arial"/>
              </a:defRPr>
            </a:pPr>
            <a:r>
              <a:t>player_action les lit implicitement.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MÉCANISME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Chaque session web possède ses</a:t>
            </a:r>
          </a:p>
          <a:p>
            <a:pPr>
              <a:lnSpc>
                <a:spcPts val="2000"/>
              </a:lnSpc>
              <a:spcBef>
                <a:spcPts val="0"/>
              </a:spcBef>
              <a:spcAft>
                <a:spcPts val="0"/>
              </a:spcAft>
              <a:defRPr sz="1600" b="0">
                <a:solidFill>
                  <a:srgbClr val="F4F6FA"/>
                </a:solidFill>
                <a:latin typeface="Arial"/>
              </a:defRPr>
            </a:pPr>
            <a:r>
              <a:t>données, mais la fonction métier</a:t>
            </a:r>
          </a:p>
          <a:p>
            <a:pPr>
              <a:lnSpc>
                <a:spcPts val="2000"/>
              </a:lnSpc>
              <a:spcBef>
                <a:spcPts val="0"/>
              </a:spcBef>
              <a:spcAft>
                <a:spcPts val="0"/>
              </a:spcAft>
              <a:defRPr sz="1600" b="0">
                <a:solidFill>
                  <a:srgbClr val="F4F6FA"/>
                </a:solidFill>
                <a:latin typeface="Arial"/>
              </a:defRPr>
            </a:pPr>
            <a:r>
              <a:t>réutilise une mémoire de</a:t>
            </a:r>
          </a:p>
          <a:p>
            <a:pPr>
              <a:lnSpc>
                <a:spcPts val="2000"/>
              </a:lnSpc>
              <a:spcBef>
                <a:spcPts val="0"/>
              </a:spcBef>
              <a:spcAft>
                <a:spcPts val="0"/>
              </a:spcAft>
              <a:defRPr sz="1600" b="0">
                <a:solidFill>
                  <a:srgbClr val="F4F6FA"/>
                </a:solidFill>
                <a:latin typeface="Arial"/>
              </a:defRPr>
            </a:pPr>
            <a:r>
              <a:t>processus partagée.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CONSÉQUENCE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interruption entre restauration</a:t>
            </a:r>
          </a:p>
          <a:p>
            <a:pPr>
              <a:lnSpc>
                <a:spcPts val="2000"/>
              </a:lnSpc>
              <a:spcBef>
                <a:spcPts val="0"/>
              </a:spcBef>
              <a:spcAft>
                <a:spcPts val="0"/>
              </a:spcAft>
              <a:defRPr sz="1600" b="0">
                <a:solidFill>
                  <a:srgbClr val="F4F6FA"/>
                </a:solidFill>
                <a:latin typeface="Arial"/>
              </a:defRPr>
            </a:pPr>
            <a:r>
              <a:t>et résolution peut cibler un autre</a:t>
            </a:r>
          </a:p>
          <a:p>
            <a:pPr>
              <a:lnSpc>
                <a:spcPts val="2000"/>
              </a:lnSpc>
              <a:spcBef>
                <a:spcPts val="0"/>
              </a:spcBef>
              <a:spcAft>
                <a:spcPts val="0"/>
              </a:spcAft>
              <a:defRPr sz="1600" b="0">
                <a:solidFill>
                  <a:srgbClr val="F4F6FA"/>
                </a:solidFill>
                <a:latin typeface="Arial"/>
              </a:defRPr>
            </a:pPr>
            <a:r>
              <a:t>combat.</a:t>
            </a:r>
          </a:p>
          <a:p>
            <a:pPr>
              <a:lnSpc>
                <a:spcPts val="2000"/>
              </a:lnSpc>
              <a:spcBef>
                <a:spcPts val="0"/>
              </a:spcBef>
              <a:spcAft>
                <a:spcPts val="0"/>
              </a:spcAft>
              <a:defRPr sz="1600" b="0">
                <a:solidFill>
                  <a:srgbClr val="F4F6FA"/>
                </a:solidFill>
                <a:latin typeface="Arial"/>
              </a:defRPr>
            </a:pPr>
            <a:r>
              <a:t>Les compteurs HTTP ne voient pas</a:t>
            </a:r>
          </a:p>
          <a:p>
            <a:pPr>
              <a:lnSpc>
                <a:spcPts val="2000"/>
              </a:lnSpc>
              <a:spcBef>
                <a:spcPts val="0"/>
              </a:spcBef>
              <a:spcAft>
                <a:spcPts val="0"/>
              </a:spcAft>
              <a:defRPr sz="1600" b="0">
                <a:solidFill>
                  <a:srgbClr val="F4F6FA"/>
                </a:solidFill>
                <a:latin typeface="Arial"/>
              </a:defRPr>
            </a:pPr>
            <a:r>
              <a:t>cette erreur métier.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L’isolement de la session web doit être conservé jusque dans les fonctions métier.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 : parent de 8a3cf39, src/combat/core.py ; diff 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CORRECTION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Passer le combat explicitement aux fonctions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Correctif versionné le 3 septembre 2026 : commit 8a3cf39.</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OBJET DÉDIÉ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CombatSession regroupe joueur,</a:t>
            </a:r>
          </a:p>
          <a:p>
            <a:pPr>
              <a:lnSpc>
                <a:spcPts val="2000"/>
              </a:lnSpc>
              <a:spcBef>
                <a:spcPts val="0"/>
              </a:spcBef>
              <a:spcAft>
                <a:spcPts val="0"/>
              </a:spcAft>
              <a:defRPr sz="1600" b="0">
                <a:solidFill>
                  <a:srgbClr val="F4F6FA"/>
                </a:solidFill>
                <a:latin typeface="Arial"/>
              </a:defRPr>
            </a:pPr>
            <a:r>
              <a:t>monstre, journal et défense.</a:t>
            </a:r>
          </a:p>
          <a:p>
            <a:pPr>
              <a:lnSpc>
                <a:spcPts val="2000"/>
              </a:lnSpc>
              <a:spcBef>
                <a:spcPts val="0"/>
              </a:spcBef>
              <a:spcAft>
                <a:spcPts val="0"/>
              </a:spcAft>
              <a:defRPr sz="1600" b="0">
                <a:solidFill>
                  <a:srgbClr val="F4F6FA"/>
                </a:solidFill>
                <a:latin typeface="Arial"/>
              </a:defRPr>
            </a:pPr>
            <a:r>
              <a:t>Une instance liée à l’état traité.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APPELS EXPLICITES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restore_combat_session(...)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resolve_player_action(session,</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resolve_monster_attack(session)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À JOUR LOCALE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 récupère joueur et</a:t>
            </a:r>
          </a:p>
          <a:p>
            <a:pPr>
              <a:lnSpc>
                <a:spcPts val="2000"/>
              </a:lnSpc>
              <a:spcBef>
                <a:spcPts val="0"/>
              </a:spcBef>
              <a:spcAft>
                <a:spcPts val="0"/>
              </a:spcAft>
              <a:defRPr sz="1600" b="0">
                <a:solidFill>
                  <a:srgbClr val="F4F6FA"/>
                </a:solidFill>
                <a:latin typeface="Arial"/>
              </a:defRPr>
            </a:pPr>
            <a:r>
              <a:t>monstre dans cette instance, puis</a:t>
            </a:r>
          </a:p>
          <a:p>
            <a:pPr>
              <a:lnSpc>
                <a:spcPts val="2000"/>
              </a:lnSpc>
              <a:spcBef>
                <a:spcPts val="0"/>
              </a:spcBef>
              <a:spcAft>
                <a:spcPts val="0"/>
              </a:spcAft>
              <a:defRPr sz="1600" b="0">
                <a:solidFill>
                  <a:srgbClr val="F4F6FA"/>
                </a:solidFill>
                <a:latin typeface="Arial"/>
              </a:defRPr>
            </a:pPr>
            <a:r>
              <a:t>met à jour son état de partie.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résolution du combat Django ne dépend plus du dernier combat restauré globalement.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src/combat/core.py ; services/game_engine.py ; commit 8a3cf39</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VALIDATION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même scénario touche désormais le bon état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Résultats vérifiés le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 CORRECTIF</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Monstre A : 8 → 8 PV.</a:t>
            </a:r>
          </a:p>
          <a:p>
            <a:pPr>
              <a:lnSpc>
                <a:spcPts val="2000"/>
              </a:lnSpc>
              <a:spcBef>
                <a:spcPts val="0"/>
              </a:spcBef>
              <a:spcAft>
                <a:spcPts val="0"/>
              </a:spcAft>
              <a:defRPr sz="1600" b="0">
                <a:solidFill>
                  <a:srgbClr val="F4F6FA"/>
                </a:solidFill>
                <a:latin typeface="Arial"/>
              </a:defRPr>
            </a:pPr>
            <a:r>
              <a:t>Monstre B : 8 → 5 PV.</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Le mauvais combat est modifié.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CODE ACTUEL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Monstre A : 8 → 5 PV.</a:t>
            </a:r>
          </a:p>
          <a:p>
            <a:pPr>
              <a:lnSpc>
                <a:spcPts val="2000"/>
              </a:lnSpc>
              <a:spcBef>
                <a:spcPts val="0"/>
              </a:spcBef>
              <a:spcAft>
                <a:spcPts val="0"/>
              </a:spcAft>
              <a:defRPr sz="1600" b="0">
                <a:solidFill>
                  <a:srgbClr val="F4F6FA"/>
                </a:solidFill>
                <a:latin typeface="Arial"/>
              </a:defRPr>
            </a:pPr>
            <a:r>
              <a:t>Monstre B : 8 → 8 PV.</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L’action reste dans la session A.</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RÉGRESSION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 d’isolation Django réussi.</a:t>
            </a:r>
          </a:p>
          <a:p>
            <a:pPr>
              <a:lnSpc>
                <a:spcPts val="2000"/>
              </a:lnSpc>
              <a:spcBef>
                <a:spcPts val="0"/>
              </a:spcBef>
              <a:spcAft>
                <a:spcPts val="0"/>
              </a:spcAft>
              <a:defRPr sz="1600" b="0">
                <a:solidFill>
                  <a:srgbClr val="F4F6FA"/>
                </a:solidFill>
                <a:latin typeface="Arial"/>
              </a:defRPr>
            </a:pPr>
            <a:r>
              <a:t>44 tests applicatifs ciblés réussis.</a:t>
            </a:r>
          </a:p>
          <a:p>
            <a:pPr>
              <a:lnSpc>
                <a:spcPts val="2000"/>
              </a:lnSpc>
              <a:spcBef>
                <a:spcPts val="0"/>
              </a:spcBef>
              <a:spcAft>
                <a:spcPts val="0"/>
              </a:spcAft>
              <a:defRPr sz="1600" b="0">
                <a:solidFill>
                  <a:srgbClr val="F4F6FA"/>
                </a:solidFill>
                <a:latin typeface="Arial"/>
              </a:defRPr>
            </a:pPr>
            <a:r>
              <a:t>Cas absent / invalide et reprise de</a:t>
            </a:r>
          </a:p>
          <a:p>
            <a:pPr>
              <a:lnSpc>
                <a:spcPts val="2000"/>
              </a:lnSpc>
              <a:spcBef>
                <a:spcPts val="0"/>
              </a:spcBef>
              <a:spcAft>
                <a:spcPts val="0"/>
              </a:spcAft>
              <a:defRPr sz="1600" b="0">
                <a:solidFill>
                  <a:srgbClr val="F4F6FA"/>
                </a:solidFill>
                <a:latin typeface="Arial"/>
              </a:defRPr>
            </a:pPr>
            <a:r>
              <a:t>combat également exercés.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L’imbrication est prouvée ; la montée en charge et les requêtes simultanées restent à tester.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preuves/incident-combat.json ; game.tests.CombatEngineTests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CAPITALISATION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le correctif à l’exploitation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résolution documentée et des actions opérationnelles encore à compléter.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PREUVES DISPONIBLES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Scénario, cause et correctif.</a:t>
            </a:r>
          </a:p>
          <a:p>
            <a:pPr>
              <a:lnSpc>
                <a:spcPts val="2000"/>
              </a:lnSpc>
              <a:spcBef>
                <a:spcPts val="0"/>
              </a:spcBef>
              <a:spcAft>
                <a:spcPts val="0"/>
              </a:spcAft>
              <a:defRPr sz="1600" b="0">
                <a:solidFill>
                  <a:srgbClr val="F4F6FA"/>
                </a:solidFill>
                <a:latin typeface="Arial"/>
              </a:defRPr>
            </a:pPr>
            <a:r>
              <a:t>Commit historique identifié.</a:t>
            </a:r>
          </a:p>
          <a:p>
            <a:pPr>
              <a:lnSpc>
                <a:spcPts val="2000"/>
              </a:lnSpc>
              <a:spcBef>
                <a:spcPts val="0"/>
              </a:spcBef>
              <a:spcAft>
                <a:spcPts val="0"/>
              </a:spcAft>
              <a:defRPr sz="1600" b="0">
                <a:solidFill>
                  <a:srgbClr val="F4F6FA"/>
                </a:solidFill>
                <a:latin typeface="Arial"/>
              </a:defRPr>
            </a:pPr>
            <a:r>
              <a:t>Reproduction avant / après.</a:t>
            </a:r>
          </a:p>
          <a:p>
            <a:pPr>
              <a:lnSpc>
                <a:spcPts val="2000"/>
              </a:lnSpc>
              <a:spcBef>
                <a:spcPts val="0"/>
              </a:spcBef>
              <a:spcAft>
                <a:spcPts val="0"/>
              </a:spcAft>
              <a:defRPr sz="1600" b="0">
                <a:solidFill>
                  <a:srgbClr val="F4F6FA"/>
                </a:solidFill>
                <a:latin typeface="Arial"/>
              </a:defRPr>
            </a:pPr>
            <a:r>
              <a:t>Test de non-régression et</a:t>
            </a:r>
          </a:p>
          <a:p>
            <a:pPr>
              <a:lnSpc>
                <a:spcPts val="2000"/>
              </a:lnSpc>
              <a:spcBef>
                <a:spcPts val="0"/>
              </a:spcBef>
              <a:spcAft>
                <a:spcPts val="0"/>
              </a:spcAft>
              <a:defRPr sz="1600" b="0">
                <a:solidFill>
                  <a:srgbClr val="F4F6FA"/>
                </a:solidFill>
                <a:latin typeface="Arial"/>
              </a:defRPr>
            </a:pPr>
            <a:r>
              <a:t>commandes.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JOINDRE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Ticket dans l’outil de suivi.</a:t>
            </a:r>
          </a:p>
          <a:p>
            <a:pPr>
              <a:lnSpc>
                <a:spcPts val="2000"/>
              </a:lnSpc>
              <a:spcBef>
                <a:spcPts val="0"/>
              </a:spcBef>
              <a:spcAft>
                <a:spcPts val="0"/>
              </a:spcAft>
              <a:defRPr sz="1600" b="0">
                <a:solidFill>
                  <a:srgbClr val="F4F6FA"/>
                </a:solidFill>
                <a:latin typeface="Arial"/>
              </a:defRPr>
            </a:pPr>
            <a:r>
              <a:t>Chronologie de découverte réelle.</a:t>
            </a:r>
          </a:p>
          <a:p>
            <a:pPr>
              <a:lnSpc>
                <a:spcPts val="2000"/>
              </a:lnSpc>
              <a:spcBef>
                <a:spcPts val="0"/>
              </a:spcBef>
              <a:spcAft>
                <a:spcPts val="0"/>
              </a:spcAft>
              <a:defRPr sz="1600" b="0">
                <a:solidFill>
                  <a:srgbClr val="F4F6FA"/>
                </a:solidFill>
                <a:latin typeface="Arial"/>
              </a:defRPr>
            </a:pPr>
            <a:r>
              <a:t>Alerte reçue en environnement</a:t>
            </a:r>
          </a:p>
          <a:p>
            <a:pPr>
              <a:lnSpc>
                <a:spcPts val="2000"/>
              </a:lnSpc>
              <a:spcBef>
                <a:spcPts val="0"/>
              </a:spcBef>
              <a:spcAft>
                <a:spcPts val="0"/>
              </a:spcAft>
              <a:defRPr sz="1600" b="0">
                <a:solidFill>
                  <a:srgbClr val="F4F6FA"/>
                </a:solidFill>
                <a:latin typeface="Arial"/>
              </a:defRPr>
            </a:pPr>
            <a:r>
              <a:t>test.</a:t>
            </a:r>
          </a:p>
          <a:p>
            <a:pPr>
              <a:lnSpc>
                <a:spcPts val="2000"/>
              </a:lnSpc>
              <a:spcBef>
                <a:spcPts val="0"/>
              </a:spcBef>
              <a:spcAft>
                <a:spcPts val="0"/>
              </a:spcAft>
              <a:defRPr sz="1600" b="0">
                <a:solidFill>
                  <a:srgbClr val="F4F6FA"/>
                </a:solidFill>
                <a:latin typeface="Arial"/>
              </a:defRPr>
            </a:pPr>
            <a:r>
              <a:t>Déploiement du correctif et</a:t>
            </a:r>
          </a:p>
          <a:p>
            <a:pPr>
              <a:lnSpc>
                <a:spcPts val="2000"/>
              </a:lnSpc>
              <a:spcBef>
                <a:spcPts val="0"/>
              </a:spcBef>
              <a:spcAft>
                <a:spcPts val="0"/>
              </a:spcAft>
              <a:defRPr sz="1600" b="0">
                <a:solidFill>
                  <a:srgbClr val="F4F6FA"/>
                </a:solidFill>
                <a:latin typeface="Arial"/>
              </a:defRPr>
            </a:pPr>
            <a:r>
              <a:t>contrôle après livraison.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PRÉVENIR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les invariants métier.</a:t>
            </a:r>
          </a:p>
          <a:p>
            <a:pPr>
              <a:lnSpc>
                <a:spcPts val="2000"/>
              </a:lnSpc>
              <a:spcBef>
                <a:spcPts val="0"/>
              </a:spcBef>
              <a:spcAft>
                <a:spcPts val="0"/>
              </a:spcAft>
              <a:defRPr sz="1600" b="0">
                <a:solidFill>
                  <a:srgbClr val="F4F6FA"/>
                </a:solidFill>
                <a:latin typeface="Arial"/>
              </a:defRPr>
            </a:pPr>
            <a:r>
              <a:t>Revoir les autres états partagés.</a:t>
            </a:r>
          </a:p>
          <a:p>
            <a:pPr>
              <a:lnSpc>
                <a:spcPts val="2000"/>
              </a:lnSpc>
              <a:spcBef>
                <a:spcPts val="0"/>
              </a:spcBef>
              <a:spcAft>
                <a:spcPts val="0"/>
              </a:spcAft>
              <a:defRPr sz="1600" b="0">
                <a:solidFill>
                  <a:srgbClr val="F4F6FA"/>
                </a:solidFill>
                <a:latin typeface="Arial"/>
              </a:defRPr>
            </a:pPr>
            <a:r>
              <a:t>Tester concurrence et charge.</a:t>
            </a:r>
          </a:p>
          <a:p>
            <a:pPr>
              <a:lnSpc>
                <a:spcPts val="2000"/>
              </a:lnSpc>
              <a:spcBef>
                <a:spcPts val="0"/>
              </a:spcBef>
              <a:spcAft>
                <a:spcPts val="0"/>
              </a:spcAft>
              <a:defRPr sz="1600" b="0">
                <a:solidFill>
                  <a:srgbClr val="F4F6FA"/>
                </a:solidFill>
                <a:latin typeface="Arial"/>
              </a:defRPr>
            </a:pPr>
            <a:r>
              <a:t>Mettre à jour le guide de</a:t>
            </a:r>
          </a:p>
          <a:p>
            <a:pPr>
              <a:lnSpc>
                <a:spcPts val="2000"/>
              </a:lnSpc>
              <a:spcBef>
                <a:spcPts val="0"/>
              </a:spcBef>
              <a:spcAft>
                <a:spcPts val="0"/>
              </a:spcAft>
              <a:defRPr sz="1600" b="0">
                <a:solidFill>
                  <a:srgbClr val="F4F6FA"/>
                </a:solidFill>
                <a:latin typeface="Arial"/>
              </a:defRPr>
            </a:pPr>
            <a:r>
              <a:t>diagnostic.</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dossier E5 distingue les faits historiques, la reconstruction et les actions proposées.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Dossier_incident_E5.md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COMMANDES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Rejouer les preuves sans toucher au jeu</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Depuis la racine du dépôt ; aucune génération réelle requise.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 / APRÈS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certif/presentation-bloc3/</a:t>
            </a:r>
          </a:p>
          <a:p>
            <a:pPr>
              <a:lnSpc>
                <a:spcPts val="2000"/>
              </a:lnSpc>
              <a:spcBef>
                <a:spcPts val="0"/>
              </a:spcBef>
              <a:spcAft>
                <a:spcPts val="0"/>
              </a:spcAft>
              <a:defRPr sz="1600" b="0">
                <a:solidFill>
                  <a:srgbClr val="F4F6FA"/>
                </a:solidFill>
                <a:latin typeface="Arial"/>
              </a:defRPr>
            </a:pPr>
            <a:r>
              <a:t>reproduce_incident.py</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Ancien code lu via Git.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TEST D’ISOLATION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src/django/manage.py test</a:t>
            </a:r>
          </a:p>
          <a:p>
            <a:pPr>
              <a:lnSpc>
                <a:spcPts val="2000"/>
              </a:lnSpc>
              <a:spcBef>
                <a:spcPts val="0"/>
              </a:spcBef>
              <a:spcAft>
                <a:spcPts val="0"/>
              </a:spcAft>
              <a:defRPr sz="1600" b="0">
                <a:solidFill>
                  <a:srgbClr val="F4F6FA"/>
                </a:solidFill>
                <a:latin typeface="Arial"/>
              </a:defRPr>
            </a:pPr>
            <a:r>
              <a:t>game.tests.CombatEngineTests</a:t>
            </a:r>
          </a:p>
          <a:p>
            <a:pPr>
              <a:lnSpc>
                <a:spcPts val="2000"/>
              </a:lnSpc>
              <a:spcBef>
                <a:spcPts val="0"/>
              </a:spcBef>
              <a:spcAft>
                <a:spcPts val="0"/>
              </a:spcAft>
              <a:defRPr sz="1600" b="0">
                <a:solidFill>
                  <a:srgbClr val="F4F6FA"/>
                </a:solidFill>
                <a:latin typeface="Arial"/>
              </a:defRPr>
            </a:pPr>
            <a:r>
              <a:t>--noinput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src/django/manage.py</a:t>
            </a:r>
          </a:p>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commandes exactes et le lot complet figurent dans preuves/verification.md.</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reproduce_incident.py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C14 À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pièces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Documentation applicative sous docs/block3/.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CADRAGE / RÉALISATION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C14 : besoins et traçabilité.</a:t>
            </a:r>
          </a:p>
          <a:p>
            <a:pPr>
              <a:lnSpc>
                <a:spcPts val="2000"/>
              </a:lnSpc>
              <a:spcBef>
                <a:spcPts val="0"/>
              </a:spcBef>
              <a:spcAft>
                <a:spcPts val="0"/>
              </a:spcAft>
              <a:defRPr sz="1600" b="0">
                <a:solidFill>
                  <a:srgbClr val="F4F6FA"/>
                </a:solidFill>
                <a:latin typeface="Arial"/>
              </a:defRPr>
            </a:pPr>
            <a:r>
              <a:t>C15 : modèles et décisions.</a:t>
            </a:r>
          </a:p>
          <a:p>
            <a:pPr>
              <a:lnSpc>
                <a:spcPts val="2000"/>
              </a:lnSpc>
              <a:spcBef>
                <a:spcPts val="0"/>
              </a:spcBef>
              <a:spcAft>
                <a:spcPts val="0"/>
              </a:spcAft>
              <a:defRPr sz="1600" b="0">
                <a:solidFill>
                  <a:srgbClr val="F4F6FA"/>
                </a:solidFill>
                <a:latin typeface="Arial"/>
              </a:defRPr>
            </a:pPr>
            <a:r>
              <a:t>C16 : backlog et revues.</a:t>
            </a:r>
          </a:p>
          <a:p>
            <a:pPr>
              <a:lnSpc>
                <a:spcPts val="2000"/>
              </a:lnSpc>
              <a:spcBef>
                <a:spcPts val="0"/>
              </a:spcBef>
              <a:spcAft>
                <a:spcPts val="0"/>
              </a:spcAft>
              <a:defRPr sz="1600" b="0">
                <a:solidFill>
                  <a:srgbClr val="F4F6FA"/>
                </a:solidFill>
                <a:latin typeface="Arial"/>
              </a:defRPr>
            </a:pPr>
            <a:r>
              <a:t>C17 : code, qualité et sécurité.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C18 : tests et workflow CI.</a:t>
            </a:r>
          </a:p>
          <a:p>
            <a:pPr>
              <a:lnSpc>
                <a:spcPts val="2000"/>
              </a:lnSpc>
              <a:spcBef>
                <a:spcPts val="0"/>
              </a:spcBef>
              <a:spcAft>
                <a:spcPts val="0"/>
              </a:spcAft>
              <a:defRPr sz="1600" b="0">
                <a:solidFill>
                  <a:srgbClr val="F4F6FA"/>
                </a:solidFill>
                <a:latin typeface="Arial"/>
              </a:defRPr>
            </a:pPr>
            <a:r>
              <a:t>C19 : Dockerfile, artefact et</a:t>
            </a:r>
          </a:p>
          <a:p>
            <a:pPr>
              <a:lnSpc>
                <a:spcPts val="2000"/>
              </a:lnSpc>
              <a:spcBef>
                <a:spcPts val="0"/>
              </a:spcBef>
              <a:spcAft>
                <a:spcPts val="0"/>
              </a:spcAft>
              <a:defRPr sz="1600" b="0">
                <a:solidFill>
                  <a:srgbClr val="F4F6FA"/>
                </a:solidFill>
                <a:latin typeface="Arial"/>
              </a:defRPr>
            </a:pPr>
            <a:r>
              <a:t>procédure de promotion.</a:t>
            </a:r>
          </a:p>
          <a:p>
            <a:pPr>
              <a:lnSpc>
                <a:spcPts val="2000"/>
              </a:lnSpc>
              <a:spcBef>
                <a:spcPts val="0"/>
              </a:spcBef>
              <a:spcAft>
                <a:spcPts val="0"/>
              </a:spcAft>
              <a:defRPr sz="1600" b="0">
                <a:solidFill>
                  <a:srgbClr val="F4F6FA"/>
                </a:solidFill>
                <a:latin typeface="Arial"/>
              </a:defRPr>
            </a:pPr>
            <a:r>
              <a:t>Preuves distantes à ajouter.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C20 : monitoring, règles et logs.</a:t>
            </a:r>
          </a:p>
          <a:p>
            <a:pPr>
              <a:lnSpc>
                <a:spcPts val="2000"/>
              </a:lnSpc>
              <a:spcBef>
                <a:spcPts val="0"/>
              </a:spcBef>
              <a:spcAft>
                <a:spcPts val="0"/>
              </a:spcAft>
              <a:defRPr sz="1600" b="0">
                <a:solidFill>
                  <a:srgbClr val="F4F6FA"/>
                </a:solidFill>
                <a:latin typeface="Arial"/>
              </a:defRPr>
            </a:pPr>
            <a:r>
              <a:t>C21 : dossier d’incident, correctif</a:t>
            </a:r>
          </a:p>
          <a:p>
            <a:pPr>
              <a:lnSpc>
                <a:spcPts val="2000"/>
              </a:lnSpc>
              <a:spcBef>
                <a:spcPts val="0"/>
              </a:spcBef>
              <a:spcAft>
                <a:spcPts val="0"/>
              </a:spcAft>
              <a:defRPr sz="1600" b="0">
                <a:solidFill>
                  <a:srgbClr val="F4F6FA"/>
                </a:solidFill>
                <a:latin typeface="Arial"/>
              </a:defRPr>
            </a:pPr>
            <a:r>
              <a:t>Git et reproduction.</a:t>
            </a:r>
          </a:p>
          <a:p>
            <a:pPr>
              <a:lnSpc>
                <a:spcPts val="2000"/>
              </a:lnSpc>
              <a:spcBef>
                <a:spcPts val="0"/>
              </a:spcBef>
              <a:spcAft>
                <a:spcPts val="0"/>
              </a:spcAft>
              <a:defRPr sz="1600" b="0">
                <a:solidFill>
                  <a:srgbClr val="F4F6FA"/>
                </a:solidFill>
                <a:latin typeface="Arial"/>
              </a:defRPr>
            </a:pPr>
            <a:r>
              <a:t>Ticket et déploiement à ajouter.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statuts des anciennes notes peuvent être en retard sur le code : dater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 ; docs/monitoring.md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Expliquer les frontières de la preuve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questions probables du jury.</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EST-CE DÉPLOYÉ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packaging et la procédure</a:t>
            </a:r>
          </a:p>
          <a:p>
            <a:pPr>
              <a:lnSpc>
                <a:spcPts val="2000"/>
              </a:lnSpc>
              <a:spcBef>
                <a:spcPts val="0"/>
              </a:spcBef>
              <a:spcAft>
                <a:spcPts val="0"/>
              </a:spcAft>
              <a:defRPr sz="1600" b="0">
                <a:solidFill>
                  <a:srgbClr val="F4F6FA"/>
                </a:solidFill>
                <a:latin typeface="Arial"/>
              </a:defRPr>
            </a:pPr>
            <a:r>
              <a:t>existent. Le job staging reste à</a:t>
            </a:r>
          </a:p>
          <a:p>
            <a:pPr>
              <a:lnSpc>
                <a:spcPts val="2000"/>
              </a:lnSpc>
              <a:spcBef>
                <a:spcPts val="0"/>
              </a:spcBef>
              <a:spcAft>
                <a:spcPts val="0"/>
              </a:spcAft>
              <a:defRPr sz="1600" b="0">
                <a:solidFill>
                  <a:srgbClr val="F4F6FA"/>
                </a:solidFill>
                <a:latin typeface="Arial"/>
              </a:defRPr>
            </a:pPr>
            <a:r>
              <a:t>compléter ; aucune mise en</a:t>
            </a:r>
          </a:p>
          <a:p>
            <a:pPr>
              <a:lnSpc>
                <a:spcPts val="2000"/>
              </a:lnSpc>
              <a:spcBef>
                <a:spcPts val="0"/>
              </a:spcBef>
              <a:spcAft>
                <a:spcPts val="0"/>
              </a:spcAft>
              <a:defRPr sz="1600" b="0">
                <a:solidFill>
                  <a:srgbClr val="F4F6FA"/>
                </a:solidFill>
                <a:latin typeface="Arial"/>
              </a:defRPr>
            </a:pPr>
            <a:r>
              <a:t>production prouvée ici.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EST-CE ACCESSIBLE ?</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Des améliorations et tests de</a:t>
            </a:r>
          </a:p>
          <a:p>
            <a:pPr>
              <a:lnSpc>
                <a:spcPts val="2000"/>
              </a:lnSpc>
              <a:spcBef>
                <a:spcPts val="0"/>
              </a:spcBef>
              <a:spcAft>
                <a:spcPts val="0"/>
              </a:spcAft>
              <a:defRPr sz="1600" b="0">
                <a:solidFill>
                  <a:srgbClr val="F4F6FA"/>
                </a:solidFill>
                <a:latin typeface="Arial"/>
              </a:defRPr>
            </a:pPr>
            <a:r>
              <a:t>structure existent. Clavier,</a:t>
            </a:r>
          </a:p>
          <a:p>
            <a:pPr>
              <a:lnSpc>
                <a:spcPts val="2000"/>
              </a:lnSpc>
              <a:spcBef>
                <a:spcPts val="0"/>
              </a:spcBef>
              <a:spcAft>
                <a:spcPts val="0"/>
              </a:spcAft>
              <a:defRPr sz="1600" b="0">
                <a:solidFill>
                  <a:srgbClr val="F4F6FA"/>
                </a:solidFill>
                <a:latin typeface="Arial"/>
              </a:defRPr>
            </a:pPr>
            <a:r>
              <a:t>contraste, zoom et lecteur d’écran</a:t>
            </a:r>
          </a:p>
          <a:p>
            <a:pPr>
              <a:lnSpc>
                <a:spcPts val="2000"/>
              </a:lnSpc>
              <a:spcBef>
                <a:spcPts val="0"/>
              </a:spcBef>
              <a:spcAft>
                <a:spcPts val="0"/>
              </a:spcAft>
              <a:defRPr sz="1600" b="0">
                <a:solidFill>
                  <a:srgbClr val="F4F6FA"/>
                </a:solidFill>
                <a:latin typeface="Arial"/>
              </a:defRPr>
            </a:pPr>
            <a:r>
              <a:t>restent à auditer.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INCIDENT DÉTECTÉ</a:t>
            </a:r>
          </a:p>
          <a:p>
            <a:pPr>
              <a:lnSpc>
                <a:spcPts val="2250"/>
              </a:lnSpc>
              <a:spcBef>
                <a:spcPts val="0"/>
              </a:spcBef>
              <a:spcAft>
                <a:spcPts val="0"/>
              </a:spcAft>
              <a:defRPr sz="1800" b="1">
                <a:solidFill>
                  <a:srgbClr val="60DFBD"/>
                </a:solidFill>
                <a:latin typeface="Arial"/>
              </a:defRPr>
            </a:pPr>
            <a:r>
              <a:t>COMMENT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Défaut historique reconstruit par</a:t>
            </a:r>
          </a:p>
          <a:p>
            <a:pPr>
              <a:lnSpc>
                <a:spcPts val="2000"/>
              </a:lnSpc>
              <a:spcBef>
                <a:spcPts val="0"/>
              </a:spcBef>
              <a:spcAft>
                <a:spcPts val="0"/>
              </a:spcAft>
              <a:defRPr sz="1600" b="0">
                <a:solidFill>
                  <a:srgbClr val="F4F6FA"/>
                </a:solidFill>
                <a:latin typeface="Arial"/>
              </a:defRPr>
            </a:pPr>
            <a:r>
              <a:t>imbrication contrôlée. Aucune</a:t>
            </a:r>
          </a:p>
          <a:p>
            <a:pPr>
              <a:lnSpc>
                <a:spcPts val="2000"/>
              </a:lnSpc>
              <a:spcBef>
                <a:spcPts val="0"/>
              </a:spcBef>
              <a:spcAft>
                <a:spcPts val="0"/>
              </a:spcAft>
              <a:defRPr sz="1600" b="0">
                <a:solidFill>
                  <a:srgbClr val="F4F6FA"/>
                </a:solidFill>
                <a:latin typeface="Arial"/>
              </a:defRPr>
            </a:pPr>
            <a:r>
              <a:t>alerte de production ni détection</a:t>
            </a:r>
          </a:p>
          <a:p>
            <a:pPr>
              <a:lnSpc>
                <a:spcPts val="2000"/>
              </a:lnSpc>
              <a:spcBef>
                <a:spcPts val="0"/>
              </a:spcBef>
              <a:spcAft>
                <a:spcPts val="0"/>
              </a:spcAft>
              <a:defRPr sz="1600" b="0">
                <a:solidFill>
                  <a:srgbClr val="F4F6FA"/>
                </a:solidFill>
                <a:latin typeface="Arial"/>
              </a:defRPr>
            </a:pPr>
            <a:r>
              <a:t>automatique de ce défaut n’est</a:t>
            </a:r>
          </a:p>
          <a:p>
            <a:pPr>
              <a:lnSpc>
                <a:spcPts val="2000"/>
              </a:lnSpc>
              <a:spcBef>
                <a:spcPts val="0"/>
              </a:spcBef>
              <a:spcAft>
                <a:spcPts val="0"/>
              </a:spcAft>
              <a:defRPr sz="1600" b="0">
                <a:solidFill>
                  <a:srgbClr val="F4F6FA"/>
                </a:solidFill>
                <a:latin typeface="Arial"/>
              </a:defRPr>
            </a:pPr>
            <a:r>
              <a:t>revendiquée.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Présenter exactement ce qui a été observé, testé et livré.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docs/block3/README.md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