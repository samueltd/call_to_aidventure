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identité, rôle, commanditaire et contexte scolaire. Le passage isolé du bloc prévoit E4 20 minutes, E5 10 minutes, puis 10 minutes de questions. Personnaliser les contributions réelles et les éventuelles aides reçues. Les slides ne remplacent pas le rapport E4 ni les documentations E5.</a:t>
            </a:r>
          </a:p>
          <a:p/>
          <a:p>
            <a:r>
              <a:t>Sources : Référentiel 2023, p. 16–21 ; règlement, p.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Expliquer les acteurs et la valeur du service avant la technologie. La session anonyme n’offre pas la même reprise durable qu’une sauvegarde authentifiée. Le commanditaire et les contraintes de volume/budget restent à confirmer dans le document de cadrage ; ne pas les inventer.</a:t>
            </a:r>
          </a:p>
          <a:p/>
          <a:p>
            <a:r>
              <a:t>Sources : docs/block3/project-brief-requirements.md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Relier FR-10 à SaveGame, NFR-06 aux filtres de propriétaire et NFR-07 à la frontière de persistance. Les critères d’accessibilité doivent être intégrés aux user stories et associés à un standard choisi. Une cible WCAG/RGAA documentée n’est pas une conformité auditée.</a:t>
            </a:r>
          </a:p>
          <a:p/>
          <a:p>
            <a:r>
              <a:t>Sources : docs/block3/traceability.md ; project-brief-requirements.md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une architecture en couches, pas des microservices déployés qui n’existent pas. Les appels de génération transmettent le contexte utile au service distant. Les secrets restent dans l’environnement. Le schéma est une vue simplifiée ; les modèles du dossier détaillent les flux et les zones de stockage.</a:t>
            </a:r>
          </a:p>
          <a:p/>
          <a:p>
            <a:r>
              <a:t>Sources : docs/block3/technical-framework-models.md ; services/game_engine.py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Défendre chaque choix avec ses alternatives et ses conséquences. Ne pas appeler l’environnement local une préproduction déployée. Le référentiel C15 attend une preuve de concept accessible en préproduction et une conclusion de poursuite ; joindre cette preuve. Les critères de sobriété des prestataires restent à compléter lorsque le choix est arrêté.</a:t>
            </a:r>
          </a:p>
          <a:p/>
          <a:p>
            <a:r>
              <a:t>Sources : docs/block3/architecture-decisions.md ; technical-framework-models.md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dépôt décrit une démarche légère solo avec assistance outillée. Ne pas revendiquer une équipe Scrum, des cérémonies ou des échanges non attestés. Personnaliser calendrier, temps investi, imprévus et arbitrages. Les documents proposent une définition de prêt et de terminé ; l’historique des revues reste à enrichir.</a:t>
            </a:r>
          </a:p>
          <a:p/>
          <a:p>
            <a:r>
              <a:t>Sources : docs/block3/agile-execution.md ; historique Git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Décrire comment une vue délègue au moteur puis décide de persister. Les tests de sauvegarde couvrent l’échec du service IA, les fins de partie et la propriété. Le jeu implique des tirages aléatoires, mais ces règles ne sont pas décidées par le modèle ; les tests contrôlent l’aléatoire pour vérifier les résultats.</a:t>
            </a:r>
          </a:p>
          <a:p/>
          <a:p>
            <a:r>
              <a:t>Sources : src/django/game/models.py ; services/ ; tests.py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test CSRF exécuté utilise api_play comme route représentative ; ne pas affirmer qu’il teste individuellement chaque POST. D’autres contrôles testent 413, quota et propriété. Les anciennes notes bloc 1/2 mentionnent encore des exemptions CSRF ; les documents bloc 3 et le code courant décrivent leur migration. Aucun audit global OWASP n’est revendiqué.</a:t>
            </a:r>
          </a:p>
          <a:p/>
          <a:p>
            <a:r>
              <a:t>Sources : docs/block3/security-threat-model.md ; game/views.py ; tests.py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tests exécutés lisent des templates ou leurs réponses HTML ; ils ne font pas fonctionner un lecteur d’écran ni le JavaScript dans un navigateur. L’écoconception repose sur des pratiques, sans score environnemental mesuré. Le dépôt mentionne une ancienne taille Docker : elle n’a pas été revérifiée et n’est pas affichée comme résultat actuel.</a:t>
            </a:r>
          </a:p>
          <a:p/>
          <a:p>
            <a:r>
              <a:t>Sources : docs/block3/product-quality-audit.md ; ProductQualityTemplateTests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lot a terminé en 6,091 secondes : c’est une durée de tests, pas une performance de l’application. BrowserSmokeJourneyTests utilise le client Django et un moteur simulé, sans navigateur réel. Le seuil de couverture configuré reste 55 %, mais la couverture n’a pas été recalculée pour ce support. Aucune exécution CI distante n’a été consultée.</a:t>
            </a:r>
          </a:p>
          <a:p/>
          <a:p>
            <a:r>
              <a:t>Sources : preuves/verification.md ; .github/workflows/block3-ci-cd.yml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job staging-deploy-placeholder affiche des instructions : il n’y a aucune commande de déploiement effectif. Ne pas assimiler permission packages:write à une publication d’image. Le health de conteneur utilise une clé factice dans le workflow et ne prouve pas une génération IA. Joindre digest, URL de staging et preuve de rollback réels avant de revendiquer la chaîne complète.</a:t>
            </a:r>
          </a:p>
          <a:p/>
          <a:p>
            <a:r>
              <a:t>Sources : .github/workflows/block3-ci-cd.yml ; Dockerfile ; docs/block3/ci-cd-delivery.md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autres slides sont également prévues sur 100 secondes, soit E4 en 20 minutes. Préparer les onglets, une sauvegarde de test et le contexte sans données réelles. Une capture du produit n’a pas été créée pendant ce travail. La démonstration manuelle complète et la génération réelle nécessitent l’environnement configuré ; les tests seuls ne les remplacent pas.</a:t>
            </a:r>
          </a:p>
          <a:p/>
          <a:p>
            <a:r>
              <a:t>Sources : docs/block3/traceability.md ; preuves/verification.md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E4 · C14 À C19</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Construire une application intégrant l’IA</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Bloc 3 · E4 : 20 minutes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PRODUIT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aventure interactive dans le</a:t>
            </a:r>
          </a:p>
          <a:p>
            <a:pPr>
              <a:lnSpc>
                <a:spcPts val="2000"/>
              </a:lnSpc>
              <a:spcBef>
                <a:spcPts val="0"/>
              </a:spcBef>
              <a:spcAft>
                <a:spcPts val="0"/>
              </a:spcAft>
              <a:defRPr sz="1600" b="0">
                <a:solidFill>
                  <a:srgbClr val="F4F6FA"/>
                </a:solidFill>
                <a:latin typeface="Arial"/>
              </a:defRPr>
            </a:pPr>
            <a:r>
              <a:t>navigateur, avec narration IA et</a:t>
            </a:r>
          </a:p>
          <a:p>
            <a:pPr>
              <a:lnSpc>
                <a:spcPts val="2000"/>
              </a:lnSpc>
              <a:spcBef>
                <a:spcPts val="0"/>
              </a:spcBef>
              <a:spcAft>
                <a:spcPts val="0"/>
              </a:spcAft>
              <a:defRPr sz="1600" b="0">
                <a:solidFill>
                  <a:srgbClr val="F4F6FA"/>
                </a:solidFill>
                <a:latin typeface="Arial"/>
              </a:defRPr>
            </a:pPr>
            <a:r>
              <a:t>règles de jeu côté serveur.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Cadrer, concevoir, organiser et</a:t>
            </a:r>
          </a:p>
          <a:p>
            <a:pPr>
              <a:lnSpc>
                <a:spcPts val="2000"/>
              </a:lnSpc>
              <a:spcBef>
                <a:spcPts val="0"/>
              </a:spcBef>
              <a:spcAft>
                <a:spcPts val="0"/>
              </a:spcAft>
              <a:defRPr sz="1600" b="0">
                <a:solidFill>
                  <a:srgbClr val="F4F6FA"/>
                </a:solidFill>
                <a:latin typeface="Arial"/>
              </a:defRPr>
            </a:pPr>
            <a:r>
              <a:t>développer les parcours du joueur.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LIVRAISON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Tester le métier et les accès.</a:t>
            </a:r>
          </a:p>
          <a:p>
            <a:pPr>
              <a:lnSpc>
                <a:spcPts val="2000"/>
              </a:lnSpc>
              <a:spcBef>
                <a:spcPts val="0"/>
              </a:spcBef>
              <a:spcAft>
                <a:spcPts val="0"/>
              </a:spcAft>
              <a:defRPr sz="1600" b="0">
                <a:solidFill>
                  <a:srgbClr val="F4F6FA"/>
                </a:solidFill>
                <a:latin typeface="Arial"/>
              </a:defRPr>
            </a:pPr>
            <a:r>
              <a:t>Automatiser les contrôles.</a:t>
            </a:r>
          </a:p>
          <a:p>
            <a:pPr>
              <a:lnSpc>
                <a:spcPts val="2000"/>
              </a:lnSpc>
              <a:spcBef>
                <a:spcPts val="0"/>
              </a:spcBef>
              <a:spcAft>
                <a:spcPts val="0"/>
              </a:spcAft>
              <a:defRPr sz="1600" b="0">
                <a:solidFill>
                  <a:srgbClr val="F4F6FA"/>
                </a:solidFill>
                <a:latin typeface="Arial"/>
              </a:defRPr>
            </a:pPr>
            <a:r>
              <a:t>Préparer un artefact déployable.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bloc 3 relie les besoins du joueur aux preuves de fonctionnement.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2023, p. 16–21 ; règlement, p. 12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C14 · BESOIN ET UTILISATEURS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Permettre de jouer et de retrouver sa progression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parcours distinguent le visiteur et le joueur connecté.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VISITEUR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Choisir une aventure.</a:t>
            </a:r>
          </a:p>
          <a:p>
            <a:pPr>
              <a:lnSpc>
                <a:spcPts val="2000"/>
              </a:lnSpc>
              <a:spcBef>
                <a:spcPts val="0"/>
              </a:spcBef>
              <a:spcAft>
                <a:spcPts val="0"/>
              </a:spcAft>
              <a:defRPr sz="1600" b="0">
                <a:solidFill>
                  <a:srgbClr val="F4F6FA"/>
                </a:solidFill>
                <a:latin typeface="Arial"/>
              </a:defRPr>
            </a:pPr>
            <a:r>
              <a:t>Créer un personnage valide.</a:t>
            </a:r>
          </a:p>
          <a:p>
            <a:pPr>
              <a:lnSpc>
                <a:spcPts val="2000"/>
              </a:lnSpc>
              <a:spcBef>
                <a:spcPts val="0"/>
              </a:spcBef>
              <a:spcAft>
                <a:spcPts val="0"/>
              </a:spcAft>
              <a:defRPr sz="1600" b="0">
                <a:solidFill>
                  <a:srgbClr val="F4F6FA"/>
                </a:solidFill>
                <a:latin typeface="Arial"/>
              </a:defRPr>
            </a:pPr>
            <a:r>
              <a:t>Jouer sans créer de compte.</a:t>
            </a:r>
          </a:p>
          <a:p>
            <a:pPr>
              <a:lnSpc>
                <a:spcPts val="2000"/>
              </a:lnSpc>
              <a:spcBef>
                <a:spcPts val="0"/>
              </a:spcBef>
              <a:spcAft>
                <a:spcPts val="0"/>
              </a:spcAft>
              <a:defRPr sz="1600" b="0">
                <a:solidFill>
                  <a:srgbClr val="F4F6FA"/>
                </a:solidFill>
                <a:latin typeface="Arial"/>
              </a:defRPr>
            </a:pPr>
            <a:r>
              <a:t>Progression liée à la session.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JOUEUR CONNECTÉ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Retrouver ses sauvegardes.</a:t>
            </a:r>
          </a:p>
          <a:p>
            <a:pPr>
              <a:lnSpc>
                <a:spcPts val="2000"/>
              </a:lnSpc>
              <a:spcBef>
                <a:spcPts val="0"/>
              </a:spcBef>
              <a:spcAft>
                <a:spcPts val="0"/>
              </a:spcAft>
              <a:defRPr sz="1600" b="0">
                <a:solidFill>
                  <a:srgbClr val="F4F6FA"/>
                </a:solidFill>
                <a:latin typeface="Arial"/>
              </a:defRPr>
            </a:pPr>
            <a:r>
              <a:t>Reprendre une partie active.</a:t>
            </a:r>
          </a:p>
          <a:p>
            <a:pPr>
              <a:lnSpc>
                <a:spcPts val="2000"/>
              </a:lnSpc>
              <a:spcBef>
                <a:spcPts val="0"/>
              </a:spcBef>
              <a:spcAft>
                <a:spcPts val="0"/>
              </a:spcAft>
              <a:defRPr sz="1600" b="0">
                <a:solidFill>
                  <a:srgbClr val="F4F6FA"/>
                </a:solidFill>
                <a:latin typeface="Arial"/>
              </a:defRPr>
            </a:pPr>
            <a:r>
              <a:t>Réutiliser ses personnages.</a:t>
            </a:r>
          </a:p>
          <a:p>
            <a:pPr>
              <a:lnSpc>
                <a:spcPts val="2000"/>
              </a:lnSpc>
              <a:spcBef>
                <a:spcPts val="0"/>
              </a:spcBef>
              <a:spcAft>
                <a:spcPts val="0"/>
              </a:spcAft>
              <a:defRPr sz="1600" b="0">
                <a:solidFill>
                  <a:srgbClr val="F4F6FA"/>
                </a:solidFill>
                <a:latin typeface="Arial"/>
              </a:defRPr>
            </a:pPr>
            <a:r>
              <a:t>Gérer ses propres données.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EXPLOITANT / JURY</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Installer et vérifier le service.</a:t>
            </a:r>
          </a:p>
          <a:p>
            <a:pPr>
              <a:lnSpc>
                <a:spcPts val="2000"/>
              </a:lnSpc>
              <a:spcBef>
                <a:spcPts val="0"/>
              </a:spcBef>
              <a:spcAft>
                <a:spcPts val="0"/>
              </a:spcAft>
              <a:defRPr sz="1600" b="0">
                <a:solidFill>
                  <a:srgbClr val="F4F6FA"/>
                </a:solidFill>
                <a:latin typeface="Arial"/>
              </a:defRPr>
            </a:pPr>
            <a:r>
              <a:t>Comprendre les choix techniques.</a:t>
            </a:r>
          </a:p>
          <a:p>
            <a:pPr>
              <a:lnSpc>
                <a:spcPts val="2000"/>
              </a:lnSpc>
              <a:spcBef>
                <a:spcPts val="0"/>
              </a:spcBef>
              <a:spcAft>
                <a:spcPts val="0"/>
              </a:spcAft>
              <a:defRPr sz="1600" b="0">
                <a:solidFill>
                  <a:srgbClr val="F4F6FA"/>
                </a:solidFill>
                <a:latin typeface="Arial"/>
              </a:defRPr>
            </a:pPr>
            <a:r>
              <a:t>Relier exigences, code, tests et</a:t>
            </a:r>
          </a:p>
          <a:p>
            <a:pPr>
              <a:lnSpc>
                <a:spcPts val="2000"/>
              </a:lnSpc>
              <a:spcBef>
                <a:spcPts val="0"/>
              </a:spcBef>
              <a:spcAft>
                <a:spcPts val="0"/>
              </a:spcAft>
              <a:defRPr sz="1600" b="0">
                <a:solidFill>
                  <a:srgbClr val="F4F6FA"/>
                </a:solidFill>
                <a:latin typeface="Arial"/>
              </a:defRPr>
            </a:pPr>
            <a:r>
              <a:t>démonstration.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continuité de la partie et la propriété des données orientent la conception.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docs/block3/project-brief-requirements.md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C14 · SPÉCIFICATIONS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Transformer le besoin en critères vérifiables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Exemples issus des exigences et des tests du projet.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REPRENDRE SA PARTIE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joueur peut charger sa</a:t>
            </a:r>
          </a:p>
          <a:p>
            <a:pPr>
              <a:lnSpc>
                <a:spcPts val="2000"/>
              </a:lnSpc>
              <a:spcBef>
                <a:spcPts val="0"/>
              </a:spcBef>
              <a:spcAft>
                <a:spcPts val="0"/>
              </a:spcAft>
              <a:defRPr sz="1600" b="0">
                <a:solidFill>
                  <a:srgbClr val="F4F6FA"/>
                </a:solidFill>
                <a:latin typeface="Arial"/>
              </a:defRPr>
            </a:pPr>
            <a:r>
              <a:t>sauvegarde active.</a:t>
            </a:r>
          </a:p>
          <a:p>
            <a:pPr>
              <a:lnSpc>
                <a:spcPts val="2000"/>
              </a:lnSpc>
              <a:spcBef>
                <a:spcPts val="0"/>
              </a:spcBef>
              <a:spcAft>
                <a:spcPts val="0"/>
              </a:spcAft>
              <a:defRPr sz="1600" b="0">
                <a:solidFill>
                  <a:srgbClr val="F4F6FA"/>
                </a:solidFill>
                <a:latin typeface="Arial"/>
              </a:defRPr>
            </a:pPr>
            <a:r>
              <a:t>Un autre utilisateur ne peut ni la</a:t>
            </a:r>
          </a:p>
          <a:p>
            <a:pPr>
              <a:lnSpc>
                <a:spcPts val="2000"/>
              </a:lnSpc>
              <a:spcBef>
                <a:spcPts val="0"/>
              </a:spcBef>
              <a:spcAft>
                <a:spcPts val="0"/>
              </a:spcAft>
              <a:defRPr sz="1600" b="0">
                <a:solidFill>
                  <a:srgbClr val="F4F6FA"/>
                </a:solidFill>
                <a:latin typeface="Arial"/>
              </a:defRPr>
            </a:pPr>
            <a:r>
              <a:t>charger ni la supprimer.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SURVIVRE À UNE PANNE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tour IA en échec retourne une</a:t>
            </a:r>
          </a:p>
          <a:p>
            <a:pPr>
              <a:lnSpc>
                <a:spcPts val="2000"/>
              </a:lnSpc>
              <a:spcBef>
                <a:spcPts val="0"/>
              </a:spcBef>
              <a:spcAft>
                <a:spcPts val="0"/>
              </a:spcAft>
              <a:defRPr sz="1600" b="0">
                <a:solidFill>
                  <a:srgbClr val="F4F6FA"/>
                </a:solidFill>
                <a:latin typeface="Arial"/>
              </a:defRPr>
            </a:pPr>
            <a:r>
              <a:t>erreur contrôlée.</a:t>
            </a:r>
          </a:p>
          <a:p>
            <a:pPr>
              <a:lnSpc>
                <a:spcPts val="2000"/>
              </a:lnSpc>
              <a:spcBef>
                <a:spcPts val="0"/>
              </a:spcBef>
              <a:spcAft>
                <a:spcPts val="0"/>
              </a:spcAft>
              <a:defRPr sz="1600" b="0">
                <a:solidFill>
                  <a:srgbClr val="F4F6FA"/>
                </a:solidFill>
                <a:latin typeface="Arial"/>
              </a:defRPr>
            </a:pPr>
            <a:r>
              <a:t>La progression sauvegardée ne</a:t>
            </a:r>
          </a:p>
          <a:p>
            <a:pPr>
              <a:lnSpc>
                <a:spcPts val="2000"/>
              </a:lnSpc>
              <a:spcBef>
                <a:spcPts val="0"/>
              </a:spcBef>
              <a:spcAft>
                <a:spcPts val="0"/>
              </a:spcAft>
              <a:defRPr sz="1600" b="0">
                <a:solidFill>
                  <a:srgbClr val="F4F6FA"/>
                </a:solidFill>
                <a:latin typeface="Arial"/>
              </a:defRPr>
            </a:pPr>
            <a:r>
              <a:t>doit pas avancer.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UTILISER L’INTERFACE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Navigation et états</a:t>
            </a:r>
          </a:p>
          <a:p>
            <a:pPr>
              <a:lnSpc>
                <a:spcPts val="2000"/>
              </a:lnSpc>
              <a:spcBef>
                <a:spcPts val="0"/>
              </a:spcBef>
              <a:spcAft>
                <a:spcPts val="0"/>
              </a:spcAft>
              <a:defRPr sz="1600" b="0">
                <a:solidFill>
                  <a:srgbClr val="F4F6FA"/>
                </a:solidFill>
                <a:latin typeface="Arial"/>
              </a:defRPr>
            </a:pPr>
            <a:r>
              <a:t>compréhensibles.</a:t>
            </a:r>
          </a:p>
          <a:p>
            <a:pPr>
              <a:lnSpc>
                <a:spcPts val="2000"/>
              </a:lnSpc>
              <a:spcBef>
                <a:spcPts val="0"/>
              </a:spcBef>
              <a:spcAft>
                <a:spcPts val="0"/>
              </a:spcAft>
              <a:defRPr sz="1600" b="0">
                <a:solidFill>
                  <a:srgbClr val="F4F6FA"/>
                </a:solidFill>
                <a:latin typeface="Arial"/>
              </a:defRPr>
            </a:pPr>
            <a:r>
              <a:t>Critères clavier, focus et annonces.</a:t>
            </a:r>
          </a:p>
          <a:p>
            <a:pPr>
              <a:lnSpc>
                <a:spcPts val="2000"/>
              </a:lnSpc>
              <a:spcBef>
                <a:spcPts val="0"/>
              </a:spcBef>
              <a:spcAft>
                <a:spcPts val="0"/>
              </a:spcAft>
              <a:defRPr sz="1600" b="0">
                <a:solidFill>
                  <a:srgbClr val="F4F6FA"/>
                </a:solidFill>
                <a:latin typeface="Arial"/>
              </a:defRPr>
            </a:pPr>
            <a:r>
              <a:t>Cible d’accessibilité à valider.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Chaque exigence doit avoir un composant, un test et une preuve de démonstration.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docs/block3/traceability.md ; project-brief-requirements.md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C15 · ARCHITECTURE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Séparer présentation, métier et persistance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Une application Django avec des services Python internes.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PRÉSENTATION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Templates HTML / CSS / JS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Vues Django et endpoints JSON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Sessions, auth et CSRF</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MÉTIER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GameEngine</a:t>
            </a:r>
          </a:p>
          <a:p>
            <a:pPr>
              <a:lnSpc>
                <a:spcPts val="2000"/>
              </a:lnSpc>
              <a:spcBef>
                <a:spcPts val="0"/>
              </a:spcBef>
              <a:spcAft>
                <a:spcPts val="0"/>
              </a:spcAft>
              <a:defRPr sz="1600" b="0">
                <a:solidFill>
                  <a:srgbClr val="F4F6FA"/>
                </a:solidFill>
                <a:latin typeface="Arial"/>
              </a:defRPr>
            </a:pPr>
            <a:r>
              <a:t>↙ ↘</a:t>
            </a:r>
          </a:p>
          <a:p>
            <a:pPr>
              <a:lnSpc>
                <a:spcPts val="2000"/>
              </a:lnSpc>
              <a:spcBef>
                <a:spcPts val="0"/>
              </a:spcBef>
              <a:spcAft>
                <a:spcPts val="0"/>
              </a:spcAft>
              <a:defRPr sz="1600" b="0">
                <a:solidFill>
                  <a:srgbClr val="F4F6FA"/>
                </a:solidFill>
                <a:latin typeface="Arial"/>
              </a:defRPr>
            </a:pPr>
            <a:r>
              <a:t>LangGraph Combat</a:t>
            </a:r>
          </a:p>
          <a:p>
            <a:pPr>
              <a:lnSpc>
                <a:spcPts val="2000"/>
              </a:lnSpc>
              <a:spcBef>
                <a:spcPts val="0"/>
              </a:spcBef>
              <a:spcAft>
                <a:spcPts val="0"/>
              </a:spcAft>
              <a:defRPr sz="1600" b="0">
                <a:solidFill>
                  <a:srgbClr val="F4F6FA"/>
                </a:solidFill>
                <a:latin typeface="Arial"/>
              </a:defRPr>
            </a:pPr>
            <a:r>
              <a:t>IA + RAG règles serveur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STOCKAGE / SERVICES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Base Django : comptes / parties.</a:t>
            </a:r>
          </a:p>
          <a:p>
            <a:pPr>
              <a:lnSpc>
                <a:spcPts val="2000"/>
              </a:lnSpc>
              <a:spcBef>
                <a:spcPts val="0"/>
              </a:spcBef>
              <a:spcAft>
                <a:spcPts val="0"/>
              </a:spcAft>
              <a:defRPr sz="1600" b="0">
                <a:solidFill>
                  <a:srgbClr val="F4F6FA"/>
                </a:solidFill>
                <a:latin typeface="Arial"/>
              </a:defRPr>
            </a:pPr>
            <a:r>
              <a:t>SQLite catalogue : références.</a:t>
            </a:r>
          </a:p>
          <a:p>
            <a:pPr>
              <a:lnSpc>
                <a:spcPts val="2000"/>
              </a:lnSpc>
              <a:spcBef>
                <a:spcPts val="0"/>
              </a:spcBef>
              <a:spcAft>
                <a:spcPts val="0"/>
              </a:spcAft>
              <a:defRPr sz="1600" b="0">
                <a:solidFill>
                  <a:srgbClr val="F4F6FA"/>
                </a:solidFill>
                <a:latin typeface="Arial"/>
              </a:defRPr>
            </a:pPr>
            <a:r>
              <a:t>Chroma / Ollama : contexte.</a:t>
            </a:r>
          </a:p>
          <a:p>
            <a:pPr>
              <a:lnSpc>
                <a:spcPts val="2000"/>
              </a:lnSpc>
              <a:spcBef>
                <a:spcPts val="0"/>
              </a:spcBef>
              <a:spcAft>
                <a:spcPts val="0"/>
              </a:spcAft>
              <a:defRPr sz="1600" b="0">
                <a:solidFill>
                  <a:srgbClr val="F4F6FA"/>
                </a:solidFill>
                <a:latin typeface="Arial"/>
              </a:defRPr>
            </a:pPr>
            <a:r>
              <a:t>Fournisseur externe : génération.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navigateur envoie des actions ; le serveur décide des mutations autorisées.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docs/block3/technical-framework-models.md ; services/game_engine.py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C15 · DÉCISIONS TECHNIQUES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Choisir une architecture adaptée au périmètre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choix actuels favorisent une démonstration locale reproductible.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DJANGO</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Comptes, sessions, ORM et</a:t>
            </a:r>
          </a:p>
          <a:p>
            <a:pPr>
              <a:lnSpc>
                <a:spcPts val="2000"/>
              </a:lnSpc>
              <a:spcBef>
                <a:spcPts val="0"/>
              </a:spcBef>
              <a:spcAft>
                <a:spcPts val="0"/>
              </a:spcAft>
              <a:defRPr sz="1600" b="0">
                <a:solidFill>
                  <a:srgbClr val="F4F6FA"/>
                </a:solidFill>
                <a:latin typeface="Arial"/>
              </a:defRPr>
            </a:pPr>
            <a:r>
              <a:t>templates dans un même cadre.</a:t>
            </a:r>
          </a:p>
          <a:p>
            <a:pPr>
              <a:lnSpc>
                <a:spcPts val="2000"/>
              </a:lnSpc>
              <a:spcBef>
                <a:spcPts val="0"/>
              </a:spcBef>
              <a:spcAft>
                <a:spcPts val="0"/>
              </a:spcAft>
              <a:defRPr sz="1600" b="0">
                <a:solidFill>
                  <a:srgbClr val="F4F6FA"/>
                </a:solidFill>
                <a:latin typeface="Arial"/>
              </a:defRPr>
            </a:pPr>
            <a:r>
              <a:t>Moins de couches à exploiter pour</a:t>
            </a:r>
          </a:p>
          <a:p>
            <a:pPr>
              <a:lnSpc>
                <a:spcPts val="2000"/>
              </a:lnSpc>
              <a:spcBef>
                <a:spcPts val="0"/>
              </a:spcBef>
              <a:spcAft>
                <a:spcPts val="0"/>
              </a:spcAft>
              <a:defRPr sz="1600" b="0">
                <a:solidFill>
                  <a:srgbClr val="F4F6FA"/>
                </a:solidFill>
                <a:latin typeface="Arial"/>
              </a:defRPr>
            </a:pPr>
            <a:r>
              <a:t>ce projet solo.</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SQLITE / SERVICES IA</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Données locales de taille modeste.</a:t>
            </a:r>
          </a:p>
          <a:p>
            <a:pPr>
              <a:lnSpc>
                <a:spcPts val="2000"/>
              </a:lnSpc>
              <a:spcBef>
                <a:spcPts val="0"/>
              </a:spcBef>
              <a:spcAft>
                <a:spcPts val="0"/>
              </a:spcAft>
              <a:defRPr sz="1600" b="0">
                <a:solidFill>
                  <a:srgbClr val="F4F6FA"/>
                </a:solidFill>
                <a:latin typeface="Arial"/>
              </a:defRPr>
            </a:pPr>
            <a:r>
              <a:t>IA hébergée et retrieval local.</a:t>
            </a:r>
          </a:p>
          <a:p>
            <a:pPr>
              <a:lnSpc>
                <a:spcPts val="2000"/>
              </a:lnSpc>
              <a:spcBef>
                <a:spcPts val="0"/>
              </a:spcBef>
              <a:spcAft>
                <a:spcPts val="0"/>
              </a:spcAft>
              <a:defRPr sz="1600" b="0">
                <a:solidFill>
                  <a:srgbClr val="F4F6FA"/>
                </a:solidFill>
                <a:latin typeface="Arial"/>
              </a:defRPr>
            </a:pPr>
            <a:r>
              <a:t>Limites de concurrence et de</a:t>
            </a:r>
          </a:p>
          <a:p>
            <a:pPr>
              <a:lnSpc>
                <a:spcPts val="2000"/>
              </a:lnSpc>
              <a:spcBef>
                <a:spcPts val="0"/>
              </a:spcBef>
              <a:spcAft>
                <a:spcPts val="0"/>
              </a:spcAft>
              <a:defRPr sz="1600" b="0">
                <a:solidFill>
                  <a:srgbClr val="F4F6FA"/>
                </a:solidFill>
                <a:latin typeface="Arial"/>
              </a:defRPr>
            </a:pPr>
            <a:r>
              <a:t>dépendance externe documentées.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CIBLE DE DÉPLOIEMENT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Conteneur web et proxy HTTPS.</a:t>
            </a:r>
          </a:p>
          <a:p>
            <a:pPr>
              <a:lnSpc>
                <a:spcPts val="2000"/>
              </a:lnSpc>
              <a:spcBef>
                <a:spcPts val="0"/>
              </a:spcBef>
              <a:spcAft>
                <a:spcPts val="0"/>
              </a:spcAft>
              <a:defRPr sz="1600" b="0">
                <a:solidFill>
                  <a:srgbClr val="F4F6FA"/>
                </a:solidFill>
                <a:latin typeface="Arial"/>
              </a:defRPr>
            </a:pPr>
            <a:r>
              <a:t>Secrets externes, stockage</a:t>
            </a:r>
          </a:p>
          <a:p>
            <a:pPr>
              <a:lnSpc>
                <a:spcPts val="2000"/>
              </a:lnSpc>
              <a:spcBef>
                <a:spcPts val="0"/>
              </a:spcBef>
              <a:spcAft>
                <a:spcPts val="0"/>
              </a:spcAft>
              <a:defRPr sz="1600" b="0">
                <a:solidFill>
                  <a:srgbClr val="F4F6FA"/>
                </a:solidFill>
                <a:latin typeface="Arial"/>
              </a:defRPr>
            </a:pPr>
            <a:r>
              <a:t>durable.</a:t>
            </a:r>
          </a:p>
          <a:p>
            <a:pPr>
              <a:lnSpc>
                <a:spcPts val="2000"/>
              </a:lnSpc>
              <a:spcBef>
                <a:spcPts val="0"/>
              </a:spcBef>
              <a:spcAft>
                <a:spcPts val="0"/>
              </a:spcAft>
              <a:defRPr sz="1600" b="0">
                <a:solidFill>
                  <a:srgbClr val="F4F6FA"/>
                </a:solidFill>
                <a:latin typeface="Arial"/>
              </a:defRPr>
            </a:pPr>
            <a:r>
              <a:t>Hébergement et SGBD de</a:t>
            </a:r>
          </a:p>
          <a:p>
            <a:pPr>
              <a:lnSpc>
                <a:spcPts val="2000"/>
              </a:lnSpc>
              <a:spcBef>
                <a:spcPts val="0"/>
              </a:spcBef>
              <a:spcAft>
                <a:spcPts val="0"/>
              </a:spcAft>
              <a:defRPr sz="1600" b="0">
                <a:solidFill>
                  <a:srgbClr val="F4F6FA"/>
                </a:solidFill>
                <a:latin typeface="Arial"/>
              </a:defRPr>
            </a:pPr>
            <a:r>
              <a:t>production à confirmer.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préproduction cible est décrite ; son accessibilité réelle reste à prouver.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docs/block3/architecture-decisions.md ; technical-framework-models.md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C16 · ORGANISATION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Piloter un projet solo avec des critères explicites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Backlog, priorités, risques et décisions sont documentés.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PRÉPARER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Besoin formulé.</a:t>
            </a:r>
          </a:p>
          <a:p>
            <a:pPr>
              <a:lnSpc>
                <a:spcPts val="2000"/>
              </a:lnSpc>
              <a:spcBef>
                <a:spcPts val="0"/>
              </a:spcBef>
              <a:spcAft>
                <a:spcPts val="0"/>
              </a:spcAft>
              <a:defRPr sz="1600" b="0">
                <a:solidFill>
                  <a:srgbClr val="F4F6FA"/>
                </a:solidFill>
                <a:latin typeface="Arial"/>
              </a:defRPr>
            </a:pPr>
            <a:r>
              <a:t>Critères testables.</a:t>
            </a:r>
          </a:p>
          <a:p>
            <a:pPr>
              <a:lnSpc>
                <a:spcPts val="2000"/>
              </a:lnSpc>
              <a:spcBef>
                <a:spcPts val="0"/>
              </a:spcBef>
              <a:spcAft>
                <a:spcPts val="0"/>
              </a:spcAft>
              <a:defRPr sz="1600" b="0">
                <a:solidFill>
                  <a:srgbClr val="F4F6FA"/>
                </a:solidFill>
                <a:latin typeface="Arial"/>
              </a:defRPr>
            </a:pPr>
            <a:r>
              <a:t>Composants concernés.</a:t>
            </a:r>
          </a:p>
          <a:p>
            <a:pPr>
              <a:lnSpc>
                <a:spcPts val="2000"/>
              </a:lnSpc>
              <a:spcBef>
                <a:spcPts val="0"/>
              </a:spcBef>
              <a:spcAft>
                <a:spcPts val="0"/>
              </a:spcAft>
              <a:defRPr sz="1600" b="0">
                <a:solidFill>
                  <a:srgbClr val="F4F6FA"/>
                </a:solidFill>
                <a:latin typeface="Arial"/>
              </a:defRPr>
            </a:pPr>
            <a:r>
              <a:t>Risques et preuve attendue.</a:t>
            </a:r>
          </a:p>
          <a:p>
            <a:pPr>
              <a:lnSpc>
                <a:spcPts val="2000"/>
              </a:lnSpc>
              <a:spcBef>
                <a:spcPts val="0"/>
              </a:spcBef>
              <a:spcAft>
                <a:spcPts val="0"/>
              </a:spcAft>
              <a:defRPr sz="1600" b="0">
                <a:solidFill>
                  <a:srgbClr val="F4F6FA"/>
                </a:solidFill>
                <a:latin typeface="Arial"/>
              </a:defRPr>
            </a:pPr>
            <a:r>
              <a:t>Définition de prêt.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Sécurité → cadrage → qualité</a:t>
            </a:r>
          </a:p>
          <a:p>
            <a:pPr>
              <a:lnSpc>
                <a:spcPts val="2000"/>
              </a:lnSpc>
              <a:spcBef>
                <a:spcPts val="0"/>
              </a:spcBef>
              <a:spcAft>
                <a:spcPts val="0"/>
              </a:spcAft>
              <a:defRPr sz="1600" b="0">
                <a:solidFill>
                  <a:srgbClr val="F4F6FA"/>
                </a:solidFill>
                <a:latin typeface="Arial"/>
              </a:defRPr>
            </a:pPr>
            <a:r>
              <a:t>→ industrialisation → exploitation.</a:t>
            </a:r>
          </a:p>
          <a:p>
            <a:pPr>
              <a:lnSpc>
                <a:spcPts val="2000"/>
              </a:lnSpc>
              <a:spcBef>
                <a:spcPts val="0"/>
              </a:spcBef>
              <a:spcAft>
                <a:spcPts val="0"/>
              </a:spcAft>
              <a:defRPr sz="1600" b="0">
                <a:solidFill>
                  <a:srgbClr val="F4F6FA"/>
                </a:solidFill>
                <a:latin typeface="Arial"/>
              </a:defRPr>
            </a:pPr>
            <a:r>
              <a:t>Suivi par éléments de backlog et</a:t>
            </a:r>
          </a:p>
          <a:p>
            <a:pPr>
              <a:lnSpc>
                <a:spcPts val="2000"/>
              </a:lnSpc>
              <a:spcBef>
                <a:spcPts val="0"/>
              </a:spcBef>
              <a:spcAft>
                <a:spcPts val="0"/>
              </a:spcAft>
              <a:defRPr sz="1600" b="0">
                <a:solidFill>
                  <a:srgbClr val="F4F6FA"/>
                </a:solidFill>
                <a:latin typeface="Arial"/>
              </a:defRPr>
            </a:pPr>
            <a:r>
              <a:t>commits.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TERMINER / REVOIR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Code et documentation cohérents.</a:t>
            </a:r>
          </a:p>
          <a:p>
            <a:pPr>
              <a:lnSpc>
                <a:spcPts val="2000"/>
              </a:lnSpc>
              <a:spcBef>
                <a:spcPts val="0"/>
              </a:spcBef>
              <a:spcAft>
                <a:spcPts val="0"/>
              </a:spcAft>
              <a:defRPr sz="1600" b="0">
                <a:solidFill>
                  <a:srgbClr val="F4F6FA"/>
                </a:solidFill>
                <a:latin typeface="Arial"/>
              </a:defRPr>
            </a:pPr>
            <a:r>
              <a:t>Tests pertinents.</a:t>
            </a:r>
          </a:p>
          <a:p>
            <a:pPr>
              <a:lnSpc>
                <a:spcPts val="2000"/>
              </a:lnSpc>
              <a:spcBef>
                <a:spcPts val="0"/>
              </a:spcBef>
              <a:spcAft>
                <a:spcPts val="0"/>
              </a:spcAft>
              <a:defRPr sz="1600" b="0">
                <a:solidFill>
                  <a:srgbClr val="F4F6FA"/>
                </a:solidFill>
                <a:latin typeface="Arial"/>
              </a:defRPr>
            </a:pPr>
            <a:r>
              <a:t>Preuve conservée.</a:t>
            </a:r>
          </a:p>
          <a:p>
            <a:pPr>
              <a:lnSpc>
                <a:spcPts val="2000"/>
              </a:lnSpc>
              <a:spcBef>
                <a:spcPts val="0"/>
              </a:spcBef>
              <a:spcAft>
                <a:spcPts val="0"/>
              </a:spcAft>
              <a:defRPr sz="1600" b="0">
                <a:solidFill>
                  <a:srgbClr val="F4F6FA"/>
                </a:solidFill>
                <a:latin typeface="Arial"/>
              </a:defRPr>
            </a:pPr>
            <a:r>
              <a:t>Notes de revue et rétrospective à</a:t>
            </a:r>
          </a:p>
          <a:p>
            <a:pPr>
              <a:lnSpc>
                <a:spcPts val="2000"/>
              </a:lnSpc>
              <a:spcBef>
                <a:spcPts val="0"/>
              </a:spcBef>
              <a:spcAft>
                <a:spcPts val="0"/>
              </a:spcAft>
              <a:defRPr sz="1600" b="0">
                <a:solidFill>
                  <a:srgbClr val="F4F6FA"/>
                </a:solidFill>
                <a:latin typeface="Arial"/>
              </a:defRPr>
            </a:pPr>
            <a:r>
              <a:t>maintenir.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rituels, dates et échanges réels doivent compléter les supports de pilotage.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docs/block3/agile-execution.md ; historique Git</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PARCOURS ET ÉTAT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Conserver une progression cohérente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moteur expose des transitions de jeu et des règles de persistance.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PARCOURS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Accueil → personnage → récit</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Choix → combat éventuel</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Victoire, défaite ou poursuite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Anonyme : session Django.</a:t>
            </a:r>
          </a:p>
          <a:p>
            <a:pPr>
              <a:lnSpc>
                <a:spcPts val="2000"/>
              </a:lnSpc>
              <a:spcBef>
                <a:spcPts val="0"/>
              </a:spcBef>
              <a:spcAft>
                <a:spcPts val="0"/>
              </a:spcAft>
              <a:defRPr sz="1600" b="0">
                <a:solidFill>
                  <a:srgbClr val="F4F6FA"/>
                </a:solidFill>
                <a:latin typeface="Arial"/>
              </a:defRPr>
            </a:pPr>
            <a:r>
              <a:t>Connecté : SaveGame + session.</a:t>
            </a:r>
          </a:p>
          <a:p>
            <a:pPr>
              <a:lnSpc>
                <a:spcPts val="2000"/>
              </a:lnSpc>
              <a:spcBef>
                <a:spcPts val="0"/>
              </a:spcBef>
              <a:spcAft>
                <a:spcPts val="0"/>
              </a:spcAft>
              <a:defRPr sz="1600" b="0">
                <a:solidFill>
                  <a:srgbClr val="F4F6FA"/>
                </a:solidFill>
                <a:latin typeface="Arial"/>
              </a:defRPr>
            </a:pPr>
            <a:r>
              <a:t>État sérialisé en JSON.</a:t>
            </a:r>
          </a:p>
          <a:p>
            <a:pPr>
              <a:lnSpc>
                <a:spcPts val="2000"/>
              </a:lnSpc>
              <a:spcBef>
                <a:spcPts val="0"/>
              </a:spcBef>
              <a:spcAft>
                <a:spcPts val="0"/>
              </a:spcAft>
              <a:defRPr sz="1600" b="0">
                <a:solidFill>
                  <a:srgbClr val="F4F6FA"/>
                </a:solidFill>
                <a:latin typeface="Arial"/>
              </a:defRPr>
            </a:pPr>
            <a:r>
              <a:t>Partie terminée non rechargeable.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RÈGLES MÉTIER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 par session.</a:t>
            </a:r>
          </a:p>
          <a:p>
            <a:pPr>
              <a:lnSpc>
                <a:spcPts val="2000"/>
              </a:lnSpc>
              <a:spcBef>
                <a:spcPts val="0"/>
              </a:spcBef>
              <a:spcAft>
                <a:spcPts val="0"/>
              </a:spcAft>
              <a:defRPr sz="1600" b="0">
                <a:solidFill>
                  <a:srgbClr val="F4F6FA"/>
                </a:solidFill>
                <a:latin typeface="Arial"/>
              </a:defRPr>
            </a:pPr>
            <a:r>
              <a:t>Soins et dégâts côté serveur.</a:t>
            </a:r>
          </a:p>
          <a:p>
            <a:pPr>
              <a:lnSpc>
                <a:spcPts val="2000"/>
              </a:lnSpc>
              <a:spcBef>
                <a:spcPts val="0"/>
              </a:spcBef>
              <a:spcAft>
                <a:spcPts val="0"/>
              </a:spcAft>
              <a:defRPr sz="1600" b="0">
                <a:solidFill>
                  <a:srgbClr val="F4F6FA"/>
                </a:solidFill>
                <a:latin typeface="Arial"/>
              </a:defRPr>
            </a:pPr>
            <a:r>
              <a:t>Propriété des sauvegardes.</a:t>
            </a:r>
          </a:p>
          <a:p>
            <a:pPr>
              <a:lnSpc>
                <a:spcPts val="2000"/>
              </a:lnSpc>
              <a:spcBef>
                <a:spcPts val="0"/>
              </a:spcBef>
              <a:spcAft>
                <a:spcPts val="0"/>
              </a:spcAft>
              <a:defRPr sz="1600" b="0">
                <a:solidFill>
                  <a:srgbClr val="F4F6FA"/>
                </a:solidFill>
                <a:latin typeface="Arial"/>
              </a:defRPr>
            </a:pPr>
            <a:r>
              <a:t>Échec IA sans progression</a:t>
            </a:r>
          </a:p>
          <a:p>
            <a:pPr>
              <a:lnSpc>
                <a:spcPts val="2000"/>
              </a:lnSpc>
              <a:spcBef>
                <a:spcPts val="0"/>
              </a:spcBef>
              <a:spcAft>
                <a:spcPts val="0"/>
              </a:spcAft>
              <a:defRPr sz="1600" b="0">
                <a:solidFill>
                  <a:srgbClr val="F4F6FA"/>
                </a:solidFill>
                <a:latin typeface="Arial"/>
              </a:defRPr>
            </a:pPr>
            <a:r>
              <a:t>persistée.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portent sur les transitions et les droits, au-delà du rendu des pages.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src/django/game/models.py ; services/ ; 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SÉCURITÉ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Protéger les requêtes et les données du joueur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contrôles concrets, avec des limites de production identifiées.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REQUÊTES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CSRF sur les POST navigateur.</a:t>
            </a:r>
          </a:p>
          <a:p>
            <a:pPr>
              <a:lnSpc>
                <a:spcPts val="2000"/>
              </a:lnSpc>
              <a:spcBef>
                <a:spcPts val="0"/>
              </a:spcBef>
              <a:spcAft>
                <a:spcPts val="0"/>
              </a:spcAft>
              <a:defRPr sz="1600" b="0">
                <a:solidFill>
                  <a:srgbClr val="F4F6FA"/>
                </a:solidFill>
                <a:latin typeface="Arial"/>
              </a:defRPr>
            </a:pPr>
            <a:r>
              <a:t>Taille JSON limitée.</a:t>
            </a:r>
          </a:p>
          <a:p>
            <a:pPr>
              <a:lnSpc>
                <a:spcPts val="2000"/>
              </a:lnSpc>
              <a:spcBef>
                <a:spcPts val="0"/>
              </a:spcBef>
              <a:spcAft>
                <a:spcPts val="0"/>
              </a:spcAft>
              <a:defRPr sz="1600" b="0">
                <a:solidFill>
                  <a:srgbClr val="F4F6FA"/>
                </a:solidFill>
                <a:latin typeface="Arial"/>
              </a:defRPr>
            </a:pPr>
            <a:r>
              <a:t>Quota sur les routes IA.</a:t>
            </a:r>
          </a:p>
          <a:p>
            <a:pPr>
              <a:lnSpc>
                <a:spcPts val="2000"/>
              </a:lnSpc>
              <a:spcBef>
                <a:spcPts val="0"/>
              </a:spcBef>
              <a:spcAft>
                <a:spcPts val="0"/>
              </a:spcAft>
              <a:defRPr sz="1600" b="0">
                <a:solidFill>
                  <a:srgbClr val="F4F6FA"/>
                </a:solidFill>
                <a:latin typeface="Arial"/>
              </a:defRPr>
            </a:pPr>
            <a:r>
              <a:t>Contenu dynamique via</a:t>
            </a:r>
          </a:p>
          <a:p>
            <a:pPr>
              <a:lnSpc>
                <a:spcPts val="2000"/>
              </a:lnSpc>
              <a:spcBef>
                <a:spcPts val="0"/>
              </a:spcBef>
              <a:spcAft>
                <a:spcPts val="0"/>
              </a:spcAft>
              <a:defRPr sz="1600" b="0">
                <a:solidFill>
                  <a:srgbClr val="F4F6FA"/>
                </a:solidFill>
                <a:latin typeface="Arial"/>
              </a:defRPr>
            </a:pPr>
            <a:r>
              <a:t>textContent.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PROPRIÉTÉ / SECRETS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Filtres par utilisateur.</a:t>
            </a:r>
          </a:p>
          <a:p>
            <a:pPr>
              <a:lnSpc>
                <a:spcPts val="2000"/>
              </a:lnSpc>
              <a:spcBef>
                <a:spcPts val="0"/>
              </a:spcBef>
              <a:spcAft>
                <a:spcPts val="0"/>
              </a:spcAft>
              <a:defRPr sz="1600" b="0">
                <a:solidFill>
                  <a:srgbClr val="F4F6FA"/>
                </a:solidFill>
                <a:latin typeface="Arial"/>
              </a:defRPr>
            </a:pPr>
            <a:r>
              <a:t>État de combat isolé.</a:t>
            </a:r>
          </a:p>
          <a:p>
            <a:pPr>
              <a:lnSpc>
                <a:spcPts val="2000"/>
              </a:lnSpc>
              <a:spcBef>
                <a:spcPts val="0"/>
              </a:spcBef>
              <a:spcAft>
                <a:spcPts val="0"/>
              </a:spcAft>
              <a:defRPr sz="1600" b="0">
                <a:solidFill>
                  <a:srgbClr val="F4F6FA"/>
                </a:solidFill>
                <a:latin typeface="Arial"/>
              </a:defRPr>
            </a:pPr>
            <a:r>
              <a:t>Secret et hôtes de production via</a:t>
            </a:r>
          </a:p>
          <a:p>
            <a:pPr>
              <a:lnSpc>
                <a:spcPts val="2000"/>
              </a:lnSpc>
              <a:spcBef>
                <a:spcPts val="0"/>
              </a:spcBef>
              <a:spcAft>
                <a:spcPts val="0"/>
              </a:spcAft>
              <a:defRPr sz="1600" b="0">
                <a:solidFill>
                  <a:srgbClr val="F4F6FA"/>
                </a:solidFill>
                <a:latin typeface="Arial"/>
              </a:defRPr>
            </a:pPr>
            <a:r>
              <a:t>environnement.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LIMITES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Audit dépendances à compléter.</a:t>
            </a:r>
          </a:p>
          <a:p>
            <a:pPr>
              <a:lnSpc>
                <a:spcPts val="2000"/>
              </a:lnSpc>
              <a:spcBef>
                <a:spcPts val="0"/>
              </a:spcBef>
              <a:spcAft>
                <a:spcPts val="0"/>
              </a:spcAft>
              <a:defRPr sz="1600" b="0">
                <a:solidFill>
                  <a:srgbClr val="F4F6FA"/>
                </a:solidFill>
                <a:latin typeface="Arial"/>
              </a:defRPr>
            </a:pPr>
            <a:r>
              <a:t>Cache partagé pour plusieurs</a:t>
            </a:r>
          </a:p>
          <a:p>
            <a:pPr>
              <a:lnSpc>
                <a:spcPts val="2000"/>
              </a:lnSpc>
              <a:spcBef>
                <a:spcPts val="0"/>
              </a:spcBef>
              <a:spcAft>
                <a:spcPts val="0"/>
              </a:spcAft>
              <a:defRPr sz="1600" b="0">
                <a:solidFill>
                  <a:srgbClr val="F4F6FA"/>
                </a:solidFill>
                <a:latin typeface="Arial"/>
              </a:defRPr>
            </a:pPr>
            <a:r>
              <a:t>instances.</a:t>
            </a:r>
          </a:p>
          <a:p>
            <a:pPr>
              <a:lnSpc>
                <a:spcPts val="2000"/>
              </a:lnSpc>
              <a:spcBef>
                <a:spcPts val="0"/>
              </a:spcBef>
              <a:spcAft>
                <a:spcPts val="0"/>
              </a:spcAft>
              <a:defRPr sz="1600" b="0">
                <a:solidFill>
                  <a:srgbClr val="F4F6FA"/>
                </a:solidFill>
                <a:latin typeface="Arial"/>
              </a:defRPr>
            </a:pPr>
            <a:r>
              <a:t>Revue des appels longs et de la</a:t>
            </a:r>
          </a:p>
          <a:p>
            <a:pPr>
              <a:lnSpc>
                <a:spcPts val="2000"/>
              </a:lnSpc>
              <a:spcBef>
                <a:spcPts val="0"/>
              </a:spcBef>
              <a:spcAft>
                <a:spcPts val="0"/>
              </a:spcAft>
              <a:defRPr sz="1600" b="0">
                <a:solidFill>
                  <a:srgbClr val="F4F6FA"/>
                </a:solidFill>
                <a:latin typeface="Arial"/>
              </a:defRPr>
            </a:pPr>
            <a:r>
              <a:t>concurrence du graphe.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protections du navigateur ont évolué : le code courant prime sur les anciennes notes.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docs/block3/security-threat-model.md ; game/views.py ; 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ACCESSIBILITÉ ET SOBRIÉTÉ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les interactions perceptibles et maîtrisées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Améliorations présentes ; validation manuelle encore nécessaire.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INTERACTIONS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Annonces de statut dynamiques.</a:t>
            </a:r>
          </a:p>
          <a:p>
            <a:pPr>
              <a:lnSpc>
                <a:spcPts val="2000"/>
              </a:lnSpc>
              <a:spcBef>
                <a:spcPts val="0"/>
              </a:spcBef>
              <a:spcAft>
                <a:spcPts val="0"/>
              </a:spcAft>
              <a:defRPr sz="1600" b="0">
                <a:solidFill>
                  <a:srgbClr val="F4F6FA"/>
                </a:solidFill>
                <a:latin typeface="Arial"/>
              </a:defRPr>
            </a:pPr>
            <a:r>
              <a:t>Onglets avec sémantique ARIA.</a:t>
            </a:r>
          </a:p>
          <a:p>
            <a:pPr>
              <a:lnSpc>
                <a:spcPts val="2000"/>
              </a:lnSpc>
              <a:spcBef>
                <a:spcPts val="0"/>
              </a:spcBef>
              <a:spcAft>
                <a:spcPts val="0"/>
              </a:spcAft>
              <a:defRPr sz="1600" b="0">
                <a:solidFill>
                  <a:srgbClr val="F4F6FA"/>
                </a:solidFill>
                <a:latin typeface="Arial"/>
              </a:defRPr>
            </a:pPr>
            <a:r>
              <a:t>Focus après mise à jour.</a:t>
            </a:r>
          </a:p>
          <a:p>
            <a:pPr>
              <a:lnSpc>
                <a:spcPts val="2000"/>
              </a:lnSpc>
              <a:spcBef>
                <a:spcPts val="0"/>
              </a:spcBef>
              <a:spcAft>
                <a:spcPts val="0"/>
              </a:spcAft>
              <a:defRPr sz="1600" b="0">
                <a:solidFill>
                  <a:srgbClr val="F4F6FA"/>
                </a:solidFill>
                <a:latin typeface="Arial"/>
              </a:defRPr>
            </a:pPr>
            <a:r>
              <a:t>Barres de vie exposées comme</a:t>
            </a:r>
          </a:p>
          <a:p>
            <a:pPr>
              <a:lnSpc>
                <a:spcPts val="2000"/>
              </a:lnSpc>
              <a:spcBef>
                <a:spcPts val="0"/>
              </a:spcBef>
              <a:spcAft>
                <a:spcPts val="0"/>
              </a:spcAft>
              <a:defRPr sz="1600" b="0">
                <a:solidFill>
                  <a:srgbClr val="F4F6FA"/>
                </a:solidFill>
                <a:latin typeface="Arial"/>
              </a:defRPr>
            </a:pPr>
            <a:r>
              <a:t>progression.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VÉRIFICATION MANUELLE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Parcours au clavier.</a:t>
            </a:r>
          </a:p>
          <a:p>
            <a:pPr>
              <a:lnSpc>
                <a:spcPts val="2000"/>
              </a:lnSpc>
              <a:spcBef>
                <a:spcPts val="0"/>
              </a:spcBef>
              <a:spcAft>
                <a:spcPts val="0"/>
              </a:spcAft>
              <a:defRPr sz="1600" b="0">
                <a:solidFill>
                  <a:srgbClr val="F4F6FA"/>
                </a:solidFill>
                <a:latin typeface="Arial"/>
              </a:defRPr>
            </a:pPr>
            <a:r>
              <a:t>Contrastes et zoom 200 %.</a:t>
            </a:r>
          </a:p>
          <a:p>
            <a:pPr>
              <a:lnSpc>
                <a:spcPts val="2000"/>
              </a:lnSpc>
              <a:spcBef>
                <a:spcPts val="0"/>
              </a:spcBef>
              <a:spcAft>
                <a:spcPts val="0"/>
              </a:spcAft>
              <a:defRPr sz="1600" b="0">
                <a:solidFill>
                  <a:srgbClr val="F4F6FA"/>
                </a:solidFill>
                <a:latin typeface="Arial"/>
              </a:defRPr>
            </a:pPr>
            <a:r>
              <a:t>Lecteur d’écran.</a:t>
            </a:r>
          </a:p>
          <a:p>
            <a:pPr>
              <a:lnSpc>
                <a:spcPts val="2000"/>
              </a:lnSpc>
              <a:spcBef>
                <a:spcPts val="0"/>
              </a:spcBef>
              <a:spcAft>
                <a:spcPts val="0"/>
              </a:spcAft>
              <a:defRPr sz="1600" b="0">
                <a:solidFill>
                  <a:srgbClr val="F4F6FA"/>
                </a:solidFill>
                <a:latin typeface="Arial"/>
              </a:defRPr>
            </a:pPr>
            <a:r>
              <a:t>Qualité des textes FR / EN.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SOBRIÉTÉ</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Appels de jeu déclenchés par</a:t>
            </a:r>
          </a:p>
          <a:p>
            <a:pPr>
              <a:lnSpc>
                <a:spcPts val="2000"/>
              </a:lnSpc>
              <a:spcBef>
                <a:spcPts val="0"/>
              </a:spcBef>
              <a:spcAft>
                <a:spcPts val="0"/>
              </a:spcAft>
              <a:defRPr sz="1600" b="0">
                <a:solidFill>
                  <a:srgbClr val="F4F6FA"/>
                </a:solidFill>
                <a:latin typeface="Arial"/>
              </a:defRPr>
            </a:pPr>
            <a:r>
              <a:t>action.</a:t>
            </a:r>
          </a:p>
          <a:p>
            <a:pPr>
              <a:lnSpc>
                <a:spcPts val="2000"/>
              </a:lnSpc>
              <a:spcBef>
                <a:spcPts val="0"/>
              </a:spcBef>
              <a:spcAft>
                <a:spcPts val="0"/>
              </a:spcAft>
              <a:defRPr sz="1600" b="0">
                <a:solidFill>
                  <a:srgbClr val="F4F6FA"/>
                </a:solidFill>
                <a:latin typeface="Arial"/>
              </a:defRPr>
            </a:pPr>
            <a:r>
              <a:t>Réutilisation du retrieval.</a:t>
            </a:r>
          </a:p>
          <a:p>
            <a:pPr>
              <a:lnSpc>
                <a:spcPts val="2000"/>
              </a:lnSpc>
              <a:spcBef>
                <a:spcPts val="0"/>
              </a:spcBef>
              <a:spcAft>
                <a:spcPts val="0"/>
              </a:spcAft>
              <a:defRPr sz="1600" b="0">
                <a:solidFill>
                  <a:srgbClr val="F4F6FA"/>
                </a:solidFill>
                <a:latin typeface="Arial"/>
              </a:defRPr>
            </a:pPr>
            <a:r>
              <a:t>Images locales.</a:t>
            </a:r>
          </a:p>
          <a:p>
            <a:pPr>
              <a:lnSpc>
                <a:spcPts val="2000"/>
              </a:lnSpc>
              <a:spcBef>
                <a:spcPts val="0"/>
              </a:spcBef>
              <a:spcAft>
                <a:spcPts val="0"/>
              </a:spcAft>
              <a:defRPr sz="1600" b="0">
                <a:solidFill>
                  <a:srgbClr val="F4F6FA"/>
                </a:solidFill>
                <a:latin typeface="Arial"/>
              </a:defRPr>
            </a:pPr>
            <a:r>
              <a:t>Poids et consommation à mesurer.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présence d’attributs ARIA ne suffit pas à valider l’accessibilité réelle.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docs/block3/product-quality-audit.md ; ProductQualityTemplateTests</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C18 · CONTRÔLES AUTOMATISÉS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44 tests ciblés réussis sur le bloc applicatif</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Vérifications locales du 14 septembre 2026.</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LOT EXÉCUTÉ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 et isolation.</a:t>
            </a:r>
          </a:p>
          <a:p>
            <a:pPr>
              <a:lnSpc>
                <a:spcPts val="2000"/>
              </a:lnSpc>
              <a:spcBef>
                <a:spcPts val="0"/>
              </a:spcBef>
              <a:spcAft>
                <a:spcPts val="0"/>
              </a:spcAft>
              <a:defRPr sz="1600" b="0">
                <a:solidFill>
                  <a:srgbClr val="F4F6FA"/>
                </a:solidFill>
                <a:latin typeface="Arial"/>
              </a:defRPr>
            </a:pPr>
            <a:r>
              <a:t>Sécurité des requêtes.</a:t>
            </a:r>
          </a:p>
          <a:p>
            <a:pPr>
              <a:lnSpc>
                <a:spcPts val="2000"/>
              </a:lnSpc>
              <a:spcBef>
                <a:spcPts val="0"/>
              </a:spcBef>
              <a:spcAft>
                <a:spcPts val="0"/>
              </a:spcAft>
              <a:defRPr sz="1600" b="0">
                <a:solidFill>
                  <a:srgbClr val="F4F6FA"/>
                </a:solidFill>
                <a:latin typeface="Arial"/>
              </a:defRPr>
            </a:pPr>
            <a:r>
              <a:t>Templates et parcours simulé.</a:t>
            </a:r>
          </a:p>
          <a:p>
            <a:pPr>
              <a:lnSpc>
                <a:spcPts val="2000"/>
              </a:lnSpc>
              <a:spcBef>
                <a:spcPts val="0"/>
              </a:spcBef>
              <a:spcAft>
                <a:spcPts val="0"/>
              </a:spcAft>
              <a:defRPr sz="1600" b="0">
                <a:solidFill>
                  <a:srgbClr val="F4F6FA"/>
                </a:solidFill>
                <a:latin typeface="Arial"/>
              </a:defRPr>
            </a:pPr>
            <a:r>
              <a:t>Sauvegardes, personnages,</a:t>
            </a:r>
          </a:p>
          <a:p>
            <a:pPr>
              <a:lnSpc>
                <a:spcPts val="2000"/>
              </a:lnSpc>
              <a:spcBef>
                <a:spcPts val="0"/>
              </a:spcBef>
              <a:spcAft>
                <a:spcPts val="0"/>
              </a:spcAft>
              <a:defRPr sz="1600" b="0">
                <a:solidFill>
                  <a:srgbClr val="F4F6FA"/>
                </a:solidFill>
                <a:latin typeface="Arial"/>
              </a:defRPr>
            </a:pPr>
            <a:r>
              <a:t>métriques.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MIGRATIONS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makemigrations --check</a:t>
            </a:r>
          </a:p>
          <a:p>
            <a:pPr>
              <a:lnSpc>
                <a:spcPts val="2000"/>
              </a:lnSpc>
              <a:spcBef>
                <a:spcPts val="0"/>
              </a:spcBef>
              <a:spcAft>
                <a:spcPts val="0"/>
              </a:spcAft>
              <a:defRPr sz="1600" b="0">
                <a:solidFill>
                  <a:srgbClr val="F4F6FA"/>
                </a:solidFill>
                <a:latin typeface="Arial"/>
              </a:defRPr>
            </a:pPr>
            <a:r>
              <a:t>--dry-run</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Aucun changement détecté.</a:t>
            </a:r>
          </a:p>
          <a:p>
            <a:pPr>
              <a:lnSpc>
                <a:spcPts val="2000"/>
              </a:lnSpc>
              <a:spcBef>
                <a:spcPts val="0"/>
              </a:spcBef>
              <a:spcAft>
                <a:spcPts val="0"/>
              </a:spcAft>
              <a:defRPr sz="1600" b="0">
                <a:solidFill>
                  <a:srgbClr val="F4F6FA"/>
                </a:solidFill>
                <a:latin typeface="Arial"/>
              </a:defRPr>
            </a:pPr>
            <a:r>
              <a:t>Aucune migration créée.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 VERSIONNÉE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 push main / master, manuel.</a:t>
            </a:r>
          </a:p>
          <a:p>
            <a:pPr>
              <a:lnSpc>
                <a:spcPts val="2000"/>
              </a:lnSpc>
              <a:spcBef>
                <a:spcPts val="0"/>
              </a:spcBef>
              <a:spcAft>
                <a:spcPts val="0"/>
              </a:spcAft>
              <a:defRPr sz="1600" b="0">
                <a:solidFill>
                  <a:srgbClr val="F4F6FA"/>
                </a:solidFill>
                <a:latin typeface="Arial"/>
              </a:defRPr>
            </a:pPr>
            <a:r>
              <a:t>Lint, checks, tests et couverture.</a:t>
            </a:r>
          </a:p>
          <a:p>
            <a:pPr>
              <a:lnSpc>
                <a:spcPts val="2000"/>
              </a:lnSpc>
              <a:spcBef>
                <a:spcPts val="0"/>
              </a:spcBef>
              <a:spcAft>
                <a:spcPts val="0"/>
              </a:spcAft>
              <a:defRPr sz="1600" b="0">
                <a:solidFill>
                  <a:srgbClr val="F4F6FA"/>
                </a:solidFill>
                <a:latin typeface="Arial"/>
              </a:defRPr>
            </a:pPr>
            <a:r>
              <a:t>Dépendances verrouillées.</a:t>
            </a:r>
          </a:p>
          <a:p>
            <a:pPr>
              <a:lnSpc>
                <a:spcPts val="2000"/>
              </a:lnSpc>
              <a:spcBef>
                <a:spcPts val="0"/>
              </a:spcBef>
              <a:spcAft>
                <a:spcPts val="0"/>
              </a:spcAft>
              <a:defRPr sz="1600" b="0">
                <a:solidFill>
                  <a:srgbClr val="F4F6FA"/>
                </a:solidFill>
                <a:latin typeface="Arial"/>
              </a:defRPr>
            </a:pPr>
            <a:r>
              <a:t>Résultats distants à joindre.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44 tests ne désignent ni la suite complète ni un pourcentage de couverture.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preuves/verification.md ; .github/workflows/block3-ci-cd.yml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C19 · LIVRAISON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Construire, vérifier et conserver le même artefact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conteneur constitue l’unité de livraison prévue.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BUILD / SMOKE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Dockerfile Python 3.12.</a:t>
            </a:r>
          </a:p>
          <a:p>
            <a:pPr>
              <a:lnSpc>
                <a:spcPts val="2000"/>
              </a:lnSpc>
              <a:spcBef>
                <a:spcPts val="0"/>
              </a:spcBef>
              <a:spcAft>
                <a:spcPts val="0"/>
              </a:spcAft>
              <a:defRPr sz="1600" b="0">
                <a:solidFill>
                  <a:srgbClr val="F4F6FA"/>
                </a:solidFill>
                <a:latin typeface="Arial"/>
              </a:defRPr>
            </a:pPr>
            <a:r>
              <a:t>Installation verrouillée.</a:t>
            </a:r>
          </a:p>
          <a:p>
            <a:pPr>
              <a:lnSpc>
                <a:spcPts val="2000"/>
              </a:lnSpc>
              <a:spcBef>
                <a:spcPts val="0"/>
              </a:spcBef>
              <a:spcAft>
                <a:spcPts val="0"/>
              </a:spcAft>
              <a:defRPr sz="1600" b="0">
                <a:solidFill>
                  <a:srgbClr val="F4F6FA"/>
                </a:solidFill>
                <a:latin typeface="Arial"/>
              </a:defRPr>
            </a:pPr>
            <a:r>
              <a:t>Démarrage Gunicorn.</a:t>
            </a:r>
          </a:p>
          <a:p>
            <a:pPr>
              <a:lnSpc>
                <a:spcPts val="2000"/>
              </a:lnSpc>
              <a:spcBef>
                <a:spcPts val="0"/>
              </a:spcBef>
              <a:spcAft>
                <a:spcPts val="0"/>
              </a:spcAft>
              <a:defRPr sz="1600" b="0">
                <a:solidFill>
                  <a:srgbClr val="F4F6FA"/>
                </a:solidFill>
                <a:latin typeface="Arial"/>
              </a:defRPr>
            </a:pPr>
            <a:r>
              <a:t>Image taguée SHA, test /health</a:t>
            </a:r>
          </a:p>
          <a:p>
            <a:pPr>
              <a:lnSpc>
                <a:spcPts val="2000"/>
              </a:lnSpc>
              <a:spcBef>
                <a:spcPts val="0"/>
              </a:spcBef>
              <a:spcAft>
                <a:spcPts val="0"/>
              </a:spcAft>
              <a:defRPr sz="1600" b="0">
                <a:solidFill>
                  <a:srgbClr val="F4F6FA"/>
                </a:solidFill>
                <a:latin typeface="Arial"/>
              </a:defRPr>
            </a:pPr>
            <a:r>
              <a:t>puis export tar en CI.</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Configuration par environnement.</a:t>
            </a:r>
          </a:p>
          <a:p>
            <a:pPr>
              <a:lnSpc>
                <a:spcPts val="2000"/>
              </a:lnSpc>
              <a:spcBef>
                <a:spcPts val="0"/>
              </a:spcBef>
              <a:spcAft>
                <a:spcPts val="0"/>
              </a:spcAft>
              <a:defRPr sz="1600" b="0">
                <a:solidFill>
                  <a:srgbClr val="F4F6FA"/>
                </a:solidFill>
                <a:latin typeface="Arial"/>
              </a:defRPr>
            </a:pPr>
            <a:r>
              <a:t>Données persistantes à prévoir.</a:t>
            </a:r>
          </a:p>
          <a:p>
            <a:pPr>
              <a:lnSpc>
                <a:spcPts val="2000"/>
              </a:lnSpc>
              <a:spcBef>
                <a:spcPts val="0"/>
              </a:spcBef>
              <a:spcAft>
                <a:spcPts val="0"/>
              </a:spcAft>
              <a:defRPr sz="1600" b="0">
                <a:solidFill>
                  <a:srgbClr val="F4F6FA"/>
                </a:solidFill>
                <a:latin typeface="Arial"/>
              </a:defRPr>
            </a:pPr>
            <a:r>
              <a:t>Migrations au démarrage local.</a:t>
            </a:r>
          </a:p>
          <a:p>
            <a:pPr>
              <a:lnSpc>
                <a:spcPts val="2000"/>
              </a:lnSpc>
              <a:spcBef>
                <a:spcPts val="0"/>
              </a:spcBef>
              <a:spcAft>
                <a:spcPts val="0"/>
              </a:spcAft>
              <a:defRPr sz="1600" b="0">
                <a:solidFill>
                  <a:srgbClr val="F4F6FA"/>
                </a:solidFill>
                <a:latin typeface="Arial"/>
              </a:defRPr>
            </a:pPr>
            <a:r>
              <a:t>Étape de release à contrôler en</a:t>
            </a:r>
          </a:p>
          <a:p>
            <a:pPr>
              <a:lnSpc>
                <a:spcPts val="2000"/>
              </a:lnSpc>
              <a:spcBef>
                <a:spcPts val="0"/>
              </a:spcBef>
              <a:spcAft>
                <a:spcPts val="0"/>
              </a:spcAft>
              <a:defRPr sz="1600" b="0">
                <a:solidFill>
                  <a:srgbClr val="F4F6FA"/>
                </a:solidFill>
                <a:latin typeface="Arial"/>
              </a:defRPr>
            </a:pPr>
            <a:r>
              <a:t>production.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PROMOTION / RETOUR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Déployer le digest vérifié.</a:t>
            </a:r>
          </a:p>
          <a:p>
            <a:pPr>
              <a:lnSpc>
                <a:spcPts val="2000"/>
              </a:lnSpc>
              <a:spcBef>
                <a:spcPts val="0"/>
              </a:spcBef>
              <a:spcAft>
                <a:spcPts val="0"/>
              </a:spcAft>
              <a:defRPr sz="1600" b="0">
                <a:solidFill>
                  <a:srgbClr val="F4F6FA"/>
                </a:solidFill>
                <a:latin typeface="Arial"/>
              </a:defRPr>
            </a:pPr>
            <a:r>
              <a:t>Conserver l’image précédente.</a:t>
            </a:r>
          </a:p>
          <a:p>
            <a:pPr>
              <a:lnSpc>
                <a:spcPts val="2000"/>
              </a:lnSpc>
              <a:spcBef>
                <a:spcPts val="0"/>
              </a:spcBef>
              <a:spcAft>
                <a:spcPts val="0"/>
              </a:spcAft>
              <a:defRPr sz="1600" b="0">
                <a:solidFill>
                  <a:srgbClr val="F4F6FA"/>
                </a:solidFill>
                <a:latin typeface="Arial"/>
              </a:defRPr>
            </a:pPr>
            <a:r>
              <a:t>Contrôler la compatibilité DB.</a:t>
            </a:r>
          </a:p>
          <a:p>
            <a:pPr>
              <a:lnSpc>
                <a:spcPts val="2000"/>
              </a:lnSpc>
              <a:spcBef>
                <a:spcPts val="0"/>
              </a:spcBef>
              <a:spcAft>
                <a:spcPts val="0"/>
              </a:spcAft>
              <a:defRPr sz="1600" b="0">
                <a:solidFill>
                  <a:srgbClr val="F4F6FA"/>
                </a:solidFill>
                <a:latin typeface="Arial"/>
              </a:defRPr>
            </a:pPr>
            <a:r>
              <a:t>Rejouer santé et parcours.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job staging est un placeholder : il ne déploie pas encore l’application.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.github/workflows/block3-ci-cd.yml ; Dockerfile ; docs/block3/ci-cd-delivery.md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E4 · DÉMONSTRATION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le parcours, puis les garanties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Séquence préparée : 1 min 40, dans un environnement de démonstration.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00:00 → 00:35</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Ouvrir une aventure et un</a:t>
            </a:r>
          </a:p>
          <a:p>
            <a:pPr>
              <a:lnSpc>
                <a:spcPts val="2000"/>
              </a:lnSpc>
              <a:spcBef>
                <a:spcPts val="0"/>
              </a:spcBef>
              <a:spcAft>
                <a:spcPts val="0"/>
              </a:spcAft>
              <a:defRPr sz="1600" b="0">
                <a:solidFill>
                  <a:srgbClr val="F4F6FA"/>
                </a:solidFill>
                <a:latin typeface="Arial"/>
              </a:defRPr>
            </a:pPr>
            <a:r>
              <a:t>personnage déjà prêts.</a:t>
            </a:r>
          </a:p>
          <a:p>
            <a:pPr>
              <a:lnSpc>
                <a:spcPts val="2000"/>
              </a:lnSpc>
              <a:spcBef>
                <a:spcPts val="0"/>
              </a:spcBef>
              <a:spcAft>
                <a:spcPts val="0"/>
              </a:spcAft>
              <a:defRPr sz="1600" b="0">
                <a:solidFill>
                  <a:srgbClr val="F4F6FA"/>
                </a:solidFill>
                <a:latin typeface="Arial"/>
              </a:defRPr>
            </a:pPr>
            <a:r>
              <a:t>Afficher récit et choix.</a:t>
            </a:r>
          </a:p>
          <a:p>
            <a:pPr>
              <a:lnSpc>
                <a:spcPts val="2000"/>
              </a:lnSpc>
              <a:spcBef>
                <a:spcPts val="0"/>
              </a:spcBef>
              <a:spcAft>
                <a:spcPts val="0"/>
              </a:spcAft>
              <a:defRPr sz="1600" b="0">
                <a:solidFill>
                  <a:srgbClr val="F4F6FA"/>
                </a:solidFill>
                <a:latin typeface="Arial"/>
              </a:defRPr>
            </a:pPr>
            <a:r>
              <a:t>Exécuter une action de jeu.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00:35 → 01:10</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une sauvegarde du</a:t>
            </a:r>
          </a:p>
          <a:p>
            <a:pPr>
              <a:lnSpc>
                <a:spcPts val="2000"/>
              </a:lnSpc>
              <a:spcBef>
                <a:spcPts val="0"/>
              </a:spcBef>
              <a:spcAft>
                <a:spcPts val="0"/>
              </a:spcAft>
              <a:defRPr sz="1600" b="0">
                <a:solidFill>
                  <a:srgbClr val="F4F6FA"/>
                </a:solidFill>
                <a:latin typeface="Arial"/>
              </a:defRPr>
            </a:pPr>
            <a:r>
              <a:t>compte de test et sa reprise.</a:t>
            </a:r>
          </a:p>
          <a:p>
            <a:pPr>
              <a:lnSpc>
                <a:spcPts val="2000"/>
              </a:lnSpc>
              <a:spcBef>
                <a:spcPts val="0"/>
              </a:spcBef>
              <a:spcAft>
                <a:spcPts val="0"/>
              </a:spcAft>
              <a:defRPr sz="1600" b="0">
                <a:solidFill>
                  <a:srgbClr val="F4F6FA"/>
                </a:solidFill>
                <a:latin typeface="Arial"/>
              </a:defRPr>
            </a:pPr>
            <a:r>
              <a:t>Présenter le résultat du test de</a:t>
            </a:r>
          </a:p>
          <a:p>
            <a:pPr>
              <a:lnSpc>
                <a:spcPts val="2000"/>
              </a:lnSpc>
              <a:spcBef>
                <a:spcPts val="0"/>
              </a:spcBef>
              <a:spcAft>
                <a:spcPts val="0"/>
              </a:spcAft>
              <a:defRPr sz="1600" b="0">
                <a:solidFill>
                  <a:srgbClr val="F4F6FA"/>
                </a:solidFill>
                <a:latin typeface="Arial"/>
              </a:defRPr>
            </a:pPr>
            <a:r>
              <a:t>propriété.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01:10 → 01:40</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Afficher les résultats locaux et le</a:t>
            </a:r>
          </a:p>
          <a:p>
            <a:pPr>
              <a:lnSpc>
                <a:spcPts val="2000"/>
              </a:lnSpc>
              <a:spcBef>
                <a:spcPts val="0"/>
              </a:spcBef>
              <a:spcAft>
                <a:spcPts val="0"/>
              </a:spcAft>
              <a:defRPr sz="1600" b="0">
                <a:solidFill>
                  <a:srgbClr val="F4F6FA"/>
                </a:solidFill>
                <a:latin typeface="Arial"/>
              </a:defRPr>
            </a:pPr>
            <a:r>
              <a:t>workflow.</a:t>
            </a:r>
          </a:p>
          <a:p>
            <a:pPr>
              <a:lnSpc>
                <a:spcPts val="2000"/>
              </a:lnSpc>
              <a:spcBef>
                <a:spcPts val="0"/>
              </a:spcBef>
              <a:spcAft>
                <a:spcPts val="0"/>
              </a:spcAft>
              <a:defRPr sz="1600" b="0">
                <a:solidFill>
                  <a:srgbClr val="F4F6FA"/>
                </a:solidFill>
                <a:latin typeface="Arial"/>
              </a:defRPr>
            </a:pPr>
            <a:r>
              <a:t>Nommer les preuves manquantes.</a:t>
            </a:r>
          </a:p>
          <a:p>
            <a:pPr>
              <a:lnSpc>
                <a:spcPts val="2000"/>
              </a:lnSpc>
              <a:spcBef>
                <a:spcPts val="0"/>
              </a:spcBef>
              <a:spcAft>
                <a:spcPts val="0"/>
              </a:spcAft>
              <a:defRPr sz="1600" b="0">
                <a:solidFill>
                  <a:srgbClr val="F4F6FA"/>
                </a:solidFill>
                <a:latin typeface="Arial"/>
              </a:defRPr>
            </a:pPr>
            <a:r>
              <a:t>Introduire le cas d’incident E5.</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Prévoir une capture de secours ; annoncer toute simulation utilisée.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docs/block3/traceability.md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