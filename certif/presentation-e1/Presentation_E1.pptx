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Présenter votre nom et votre rôle. Le fil conducteur est le catalogue de monstres utilisé par un jeu narratif avec IA. Le support adopte le format E1 isolé : 15 minutes, puis 10 minutes de questions. Pour un passage du titre complet, ajuster le minutage avec le centre.</a:t>
            </a:r>
          </a:p>
          <a:p/>
          <a:p>
            <a:r>
              <a:t>Sources : Référentiel Dev IA 2023, p. 1–6 ; règlement, p. 9 et 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Décrire le projet scolaire, les joueurs, le développeur et le jury. Le moteur narratif et le RAG donnent le contexte ; E1 porte ici sur les flux de données des monstres. Ne pas présenter le catalogue SQLite comme la base vectorielle du RAG.</a:t>
            </a:r>
          </a:p>
          <a:p/>
          <a:p>
            <a:r>
              <a:t>Sources : README.md ; docs/block3/project-brief-requirements.md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Compléter avant soutenance les éléments personnels attendus par le référentiel : commanditaire, contribution, planning et budget. Ne pas inventer de coût nul : distinguer poste local, hébergement éventuel et appels IA du jeu. L’ordre des étapes est un plan de présentation, pas un historique daté.</a:t>
            </a:r>
          </a:p>
          <a:p/>
          <a:p>
            <a:r>
              <a:t>Sources : pyproject.toml ; docs/block3/agile-execution.md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Suivre le trajet d’un monstre. Les fichiers bruts permettent d’inspecter l’entrée ; les données nettoyées portent le résultat de fusion ; le manifeste résume le traitement ; SQLite et l’API servent les consommateurs.</a:t>
            </a:r>
          </a:p>
          <a:p/>
          <a:p>
            <a:r>
              <a:t>Sources : src/data_pipeline/ ; docs/block1/data-pipeline.md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run vérifié charge des snapshots locaux : il ne prouve pas un scraping en direct. La documentation signale une page de vérification côté site. Aucune nouvelle collecte réseau n’a été exécutée pour ce support. Distinguer source de collecte et API d’exposition. Les exigences service web et big data ne sont pas couvertes par ces seuls fichiers.</a:t>
            </a:r>
          </a:p>
          <a:p/>
          <a:p>
            <a:r>
              <a:t>Sources : docs/block1/data-pipeline.md ; src/data_pipeline/sources.py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Expliquer la clé stable sans accent, le typage numérique et la conservation de la fraction initiale. Les valeurs absentes de difficulté peuvent devenir NULL. Le parsing extrait la composante entière des HP/armure : il ne s’agit pas d’une compréhension de toute expression de dés. Le cas invalide est testé même si les snapshots ne génèrent aucun rejet.</a:t>
            </a:r>
          </a:p>
          <a:p/>
          <a:p>
            <a:r>
              <a:t>Sources : src/data_pipeline/normalize.py ; tests/test_data_pipeline.py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Présenter cet exemple comme une fixture de test et non comme un conflit mesuré sur le catalogue réel. La fusion se fait sur la clé de nom normalisée. Limite : cette clé peut rapprocher des homonymes ; une identité métier plus robuste serait nécessaire si le périmètre évolue.</a:t>
            </a:r>
          </a:p>
          <a:p/>
          <a:p>
            <a:r>
              <a:t>Sources : src/data_pipeline/pipeline.py ; tests/test_data_pipeline.py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run de preuve a utilisé --no-database : il vérifie les sorties sans modifier la base du jeu. Le test de persistance crée une base temporaire et vérifie les sources et rejets. Les cinq tests ne sont pas la suite complète API, RGPD ou application. Aucun temps de performance ni résultat de tests API n’est revendiqué ici.</a:t>
            </a:r>
          </a:p>
          <a:p/>
          <a:p>
            <a:r>
              <a:t>Sources : preuves/20260914T093833Z-b0d37253/manifest.json ; tests/test_data_pipeline.py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Expliquer SELECT, WHERE, JOIN et GROUP BY avec les finalités métier. Q2 utilise :monster_id. Les index évitent des parcours inutiles selon le plan choisi. La commande explain_queries.py est disponible, mais aucun avant/après de performance n’a été exécuté pour ce support. Une annexe contient la requête exacte.</a:t>
            </a:r>
          </a:p>
          <a:p/>
          <a:p>
            <a:r>
              <a:t>Sources : db/sqlite/queries/monster_dataset.sql ; src/data_pipeline/storage.py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Distinguer MCD (entités et associations), MLD (clés et relations) et modèle physique (DDL SQLite). Chaque source acceptée est liée au monstre canonique et à l’import. Les rejets sont rattachés à l’import. Le modèle affiché est simplifié et ne remplace pas les modèles complets du dossier.</a:t>
            </a:r>
          </a:p>
          <a:p/>
          <a:p>
            <a:r>
              <a:t>Sources : docs/block1/data-models.md ; src/data_pipeline/storage.py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code remplace monsters et monster_sources. Ne pas affirmer qu’un ancien run permet de relire toutes ses anciennes lignées dans SQLite : les artefacts de run sont à conserver. Les IDs numériques du catalogue ne sont pas une identité stable entre imports. La procédure de restauration Django est documentée, pas exécutée pendant la création des slides.</a:t>
            </a:r>
          </a:p>
          <a:p/>
          <a:p>
            <a:r>
              <a:t>Sources : src/data_pipeline/storage.py ; docs/block1/backup-restore.md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Restituer le registre interne, sans présenter les durées proposées comme des obligations légales ou une conformité acquise. Montrer la différence entre données de référence et données liées aux comptes. La purge se prévisualise sans --apply. Ne jamais afficher un véritable export utilisateur devant le jury.</a:t>
            </a:r>
          </a:p>
          <a:p/>
          <a:p>
            <a:r>
              <a:t>Sources : docs/block1/gdpr-register.md ; docs/block1/backup-restore.md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 de lecture : /api/v1/monsters/?page_size=5&amp;challenge_max=1. Expliquer 400 pour paramètre invalide, 404 pour absence, 401/403 pour accès au résumé. Le rate limiting distribué du catalogue est une mesure prévue au reverse proxy, pas une protection démontrée ici. La documentation interactive dépend du CDN, contrairement au contrat YAML local.</a:t>
            </a:r>
          </a:p>
          <a:p/>
          <a:p>
            <a:r>
              <a:t>Sources : docs/block1/openapi.yaml ; docs/block1/api-security.md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lancer une reconstruction --reset sur une base utile pendant l’oral. Préparer un environnement de démonstration séparé. L’API nécessite Django configuré et une base construite ; elle n’a pas été démarrée pour générer ces slides. Si le serveur manque, montrer le contrat et annoncer explicitement que ce n’est pas une réponse HTTP en direct.</a:t>
            </a:r>
          </a:p>
          <a:p/>
          <a:p>
            <a:r>
              <a:t>Sources : Notes orales : commandes et prérequis ; preuves/ ; docs/block1/openapi.yaml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Conclure sur le résultat métier et les choix justifiés. Ne pas affirmer que le faible volume dispense des exigences big data écrites dans le référentiel. Faire traiter cet écart avec le centre. Inviter le jury à examiner les annexes sur SQL, les preuves et les arbitrages.</a:t>
            </a:r>
          </a:p>
          <a:p/>
          <a:p>
            <a:r>
              <a:t>Sources : Référentiel, C1–C5 ; docs/block1/ ; preuves/manifest.json (run horodaté)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cette annexe pour expliquer une jointure, la liaison du paramètre et le tri de la source sélectionnée. Ne pas remplacer le paramètre par une concaténation de texte.</a:t>
            </a:r>
          </a:p>
          <a:p/>
          <a:p>
            <a:r>
              <a:t>Sources : db/sqlite/queries/monster_dataset.sql, Q2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documents locaux de certification sont la référence de ce support ; aucune vérification d’une version réglementaire plus récente n’a été réalisée. Le rapport professionnel individuel reste un livrable distinct des slides.</a:t>
            </a:r>
          </a:p>
          <a:p/>
          <a:p>
            <a:r>
              <a:t>Sources : Dépôt local et documents de certification fournis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Préparer aussi : collision de clés stables, IDs renouvelés après import, conservation des anciens runs, validation des droits d’exploitation des sources, sécurité et durées des données personnelles.</a:t>
            </a:r>
          </a:p>
          <a:p/>
          <a:p>
            <a:r>
              <a:t>Sources : docs/block1/ ; tests/test_data_pipeline.py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E1 · BLOC 1</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Call To AIdventure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Des données brutes à un catalogue de monstres exploitable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COLLECTER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Des fichiers sources identifiés et</a:t>
            </a:r>
          </a:p>
          <a:p>
            <a:pPr>
              <a:lnSpc>
                <a:spcPts val="2000"/>
              </a:lnSpc>
              <a:spcBef>
                <a:spcPts val="0"/>
              </a:spcBef>
              <a:spcAft>
                <a:spcPts val="0"/>
              </a:spcAft>
              <a:defRPr sz="1600" b="0">
                <a:solidFill>
                  <a:srgbClr val="F4F6FA"/>
                </a:solidFill>
                <a:latin typeface="Arial"/>
              </a:defRPr>
            </a:pPr>
            <a:r>
              <a:t>conservés.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FIABILISER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Des règles explicites de validation</a:t>
            </a:r>
          </a:p>
          <a:p>
            <a:pPr>
              <a:lnSpc>
                <a:spcPts val="2000"/>
              </a:lnSpc>
              <a:spcBef>
                <a:spcPts val="0"/>
              </a:spcBef>
              <a:spcAft>
                <a:spcPts val="0"/>
              </a:spcAft>
              <a:defRPr sz="1600" b="0">
                <a:solidFill>
                  <a:srgbClr val="F4F6FA"/>
                </a:solidFill>
                <a:latin typeface="Arial"/>
              </a:defRPr>
            </a:pPr>
            <a:r>
              <a:t>et de fusion.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PARTAGER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stockage SQLite et une API</a:t>
            </a:r>
          </a:p>
          <a:p>
            <a:pPr>
              <a:lnSpc>
                <a:spcPts val="2000"/>
              </a:lnSpc>
              <a:spcBef>
                <a:spcPts val="0"/>
              </a:spcBef>
              <a:spcAft>
                <a:spcPts val="0"/>
              </a:spcAft>
              <a:defRPr sz="1600" b="0">
                <a:solidFill>
                  <a:srgbClr val="F4F6FA"/>
                </a:solidFill>
                <a:latin typeface="Arial"/>
              </a:defRPr>
            </a:pPr>
            <a:r>
              <a:t>REST documentée.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Collecte · SQL · Agrégation · Stockage · API</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Référentiel Dev IA 2023, p. 1–6 ; règlement, p. 9 et 12</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CONTEXTE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Une donnée fiable pour un jeu cohérent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besoin métier guide les choix techniques.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JOUEUR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Affronter des monstres aux</a:t>
            </a:r>
          </a:p>
          <a:p>
            <a:pPr>
              <a:lnSpc>
                <a:spcPts val="2000"/>
              </a:lnSpc>
              <a:spcBef>
                <a:spcPts val="0"/>
              </a:spcBef>
              <a:spcAft>
                <a:spcPts val="0"/>
              </a:spcAft>
              <a:defRPr sz="1600" b="0">
                <a:solidFill>
                  <a:srgbClr val="F4F6FA"/>
                </a:solidFill>
                <a:latin typeface="Arial"/>
              </a:defRPr>
            </a:pPr>
            <a:r>
              <a:t>statistiques exploitables : points de</a:t>
            </a:r>
          </a:p>
          <a:p>
            <a:pPr>
              <a:lnSpc>
                <a:spcPts val="2000"/>
              </a:lnSpc>
              <a:spcBef>
                <a:spcPts val="0"/>
              </a:spcBef>
              <a:spcAft>
                <a:spcPts val="0"/>
              </a:spcAft>
              <a:defRPr sz="1600" b="0">
                <a:solidFill>
                  <a:srgbClr val="F4F6FA"/>
                </a:solidFill>
                <a:latin typeface="Arial"/>
              </a:defRPr>
            </a:pPr>
            <a:r>
              <a:t>vie, armure, difficulté.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DÉVELOPPEMENT</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Disposer d’un catalogue normalisé,</a:t>
            </a:r>
          </a:p>
          <a:p>
            <a:pPr>
              <a:lnSpc>
                <a:spcPts val="2000"/>
              </a:lnSpc>
              <a:spcBef>
                <a:spcPts val="0"/>
              </a:spcBef>
              <a:spcAft>
                <a:spcPts val="0"/>
              </a:spcAft>
              <a:defRPr sz="1600" b="0">
                <a:solidFill>
                  <a:srgbClr val="F4F6FA"/>
                </a:solidFill>
                <a:latin typeface="Arial"/>
              </a:defRPr>
            </a:pPr>
            <a:r>
              <a:t>réutilisable par le jeu et consultable</a:t>
            </a:r>
          </a:p>
          <a:p>
            <a:pPr>
              <a:lnSpc>
                <a:spcPts val="2000"/>
              </a:lnSpc>
              <a:spcBef>
                <a:spcPts val="0"/>
              </a:spcBef>
              <a:spcAft>
                <a:spcPts val="0"/>
              </a:spcAft>
              <a:defRPr sz="1600" b="0">
                <a:solidFill>
                  <a:srgbClr val="F4F6FA"/>
                </a:solidFill>
                <a:latin typeface="Arial"/>
              </a:defRPr>
            </a:pPr>
            <a:r>
              <a:t>par API.</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EXPLOITATION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Reconstruire les données et</a:t>
            </a:r>
          </a:p>
          <a:p>
            <a:pPr>
              <a:lnSpc>
                <a:spcPts val="2000"/>
              </a:lnSpc>
              <a:spcBef>
                <a:spcPts val="0"/>
              </a:spcBef>
              <a:spcAft>
                <a:spcPts val="0"/>
              </a:spcAft>
              <a:defRPr sz="1600" b="0">
                <a:solidFill>
                  <a:srgbClr val="F4F6FA"/>
                </a:solidFill>
                <a:latin typeface="Arial"/>
              </a:defRPr>
            </a:pPr>
            <a:r>
              <a:t>expliquer leur origine après chaque</a:t>
            </a:r>
          </a:p>
          <a:p>
            <a:pPr>
              <a:lnSpc>
                <a:spcPts val="2000"/>
              </a:lnSpc>
              <a:spcBef>
                <a:spcPts val="0"/>
              </a:spcBef>
              <a:spcAft>
                <a:spcPts val="0"/>
              </a:spcAft>
              <a:defRPr sz="1600" b="0">
                <a:solidFill>
                  <a:srgbClr val="F4F6FA"/>
                </a:solidFill>
                <a:latin typeface="Arial"/>
              </a:defRPr>
            </a:pPr>
            <a:r>
              <a:t>import.</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L’IA raconte ; les données structurées alimentent les règles du jeu.</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README.md ; docs/block3/project-brief-requirements.md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CADRAGE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 périmètre local et reproductible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Python · Pydantic · SQLite · Django · OpenAPI</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CONTRAINTES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Quelques centaines de monstres.</a:t>
            </a:r>
          </a:p>
          <a:p>
            <a:pPr>
              <a:lnSpc>
                <a:spcPts val="2000"/>
              </a:lnSpc>
              <a:spcBef>
                <a:spcPts val="0"/>
              </a:spcBef>
              <a:spcAft>
                <a:spcPts val="0"/>
              </a:spcAft>
              <a:defRPr sz="1600" b="0">
                <a:solidFill>
                  <a:srgbClr val="F4F6FA"/>
                </a:solidFill>
                <a:latin typeface="Arial"/>
              </a:defRPr>
            </a:pPr>
            <a:r>
              <a:t>Exécution locale. Démonstration</a:t>
            </a:r>
          </a:p>
          <a:p>
            <a:pPr>
              <a:lnSpc>
                <a:spcPts val="2000"/>
              </a:lnSpc>
              <a:spcBef>
                <a:spcPts val="0"/>
              </a:spcBef>
              <a:spcAft>
                <a:spcPts val="0"/>
              </a:spcAft>
              <a:defRPr sz="1600" b="0">
                <a:solidFill>
                  <a:srgbClr val="F4F6FA"/>
                </a:solidFill>
                <a:latin typeface="Arial"/>
              </a:defRPr>
            </a:pPr>
            <a:r>
              <a:t>du pipeline sans appel au LLM.</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ORGANISATION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Projet solo avec assistance</a:t>
            </a:r>
          </a:p>
          <a:p>
            <a:pPr>
              <a:lnSpc>
                <a:spcPts val="2000"/>
              </a:lnSpc>
              <a:spcBef>
                <a:spcPts val="0"/>
              </a:spcBef>
              <a:spcAft>
                <a:spcPts val="0"/>
              </a:spcAft>
              <a:defRPr sz="1600" b="0">
                <a:solidFill>
                  <a:srgbClr val="F4F6FA"/>
                </a:solidFill>
                <a:latin typeface="Arial"/>
              </a:defRPr>
            </a:pPr>
            <a:r>
              <a:t>outillée. Étapes : collecte, qualité,</a:t>
            </a:r>
          </a:p>
          <a:p>
            <a:pPr>
              <a:lnSpc>
                <a:spcPts val="2000"/>
              </a:lnSpc>
              <a:spcBef>
                <a:spcPts val="0"/>
              </a:spcBef>
              <a:spcAft>
                <a:spcPts val="0"/>
              </a:spcAft>
              <a:defRPr sz="1600" b="0">
                <a:solidFill>
                  <a:srgbClr val="F4F6FA"/>
                </a:solidFill>
                <a:latin typeface="Arial"/>
              </a:defRPr>
            </a:pPr>
            <a:r>
              <a:t>stockage, exposition, preuves.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À PERSONNALISER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Nom et rôle exacts ; dates des</a:t>
            </a:r>
          </a:p>
          <a:p>
            <a:pPr>
              <a:lnSpc>
                <a:spcPts val="2000"/>
              </a:lnSpc>
              <a:spcBef>
                <a:spcPts val="0"/>
              </a:spcBef>
              <a:spcAft>
                <a:spcPts val="0"/>
              </a:spcAft>
              <a:defRPr sz="1600" b="0">
                <a:solidFill>
                  <a:srgbClr val="F4F6FA"/>
                </a:solidFill>
                <a:latin typeface="Arial"/>
              </a:defRPr>
            </a:pPr>
            <a:r>
              <a:t>étapes ; temps réellement passé ;</a:t>
            </a:r>
          </a:p>
          <a:p>
            <a:pPr>
              <a:lnSpc>
                <a:spcPts val="2000"/>
              </a:lnSpc>
              <a:spcBef>
                <a:spcPts val="0"/>
              </a:spcBef>
              <a:spcAft>
                <a:spcPts val="0"/>
              </a:spcAft>
              <a:defRPr sz="1600" b="0">
                <a:solidFill>
                  <a:srgbClr val="F4F6FA"/>
                </a:solidFill>
                <a:latin typeface="Arial"/>
              </a:defRPr>
            </a:pPr>
            <a:r>
              <a:t>budget engagé.</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budget et le calendrier réels ne sont pas chiffrés dans les documents disponibles.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pyproject.toml ; docs/block3/agile-execution.md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 → C5</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Une chaîne de données traçable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Chaque étape produit une donnée ou une preuve inspectable.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01 / SOURCES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Snapshot collecté + fichier corrigé</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Chargement et métadonnées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02 / QUALITÉ</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Normalisation + validation</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Fusion, rejets, manifeste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03 / DIFFUSION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SQLite + provenance</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Requêtes SQL et API Django</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Brut conservé → jeu nettoyé → catalogue partagé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src/data_pipeline/ ; docs/block1/data-pipeline.md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 · EXTRACTION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Deux entrées, une origine à expliciter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snapshots sont reproductibles ; la collecte web reste un sujet distinct.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SNAPSHOT EXTERNE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monster_scrapping/monsters.json</a:t>
            </a:r>
          </a:p>
          <a:p>
            <a:pPr>
              <a:lnSpc>
                <a:spcPts val="2000"/>
              </a:lnSpc>
              <a:spcBef>
                <a:spcPts val="0"/>
              </a:spcBef>
              <a:spcAft>
                <a:spcPts val="0"/>
              </a:spcAft>
              <a:defRPr sz="1600" b="0">
                <a:solidFill>
                  <a:srgbClr val="F4F6FA"/>
                </a:solidFill>
                <a:latin typeface="Arial"/>
              </a:defRPr>
            </a:pPr>
            <a:r>
              <a:t>510 enregistrements</a:t>
            </a:r>
          </a:p>
          <a:p>
            <a:pPr>
              <a:lnSpc>
                <a:spcPts val="2000"/>
              </a:lnSpc>
              <a:spcBef>
                <a:spcPts val="0"/>
              </a:spcBef>
              <a:spcAft>
                <a:spcPts val="0"/>
              </a:spcAft>
              <a:defRPr sz="1600" b="0">
                <a:solidFill>
                  <a:srgbClr val="F4F6FA"/>
                </a:solidFill>
                <a:latin typeface="Arial"/>
              </a:defRPr>
            </a:pPr>
            <a:r>
              <a:t>Statistiques issues de la collecte.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SOURCE CORRIGÉE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data/documents/monsters.json</a:t>
            </a:r>
          </a:p>
          <a:p>
            <a:pPr>
              <a:lnSpc>
                <a:spcPts val="2000"/>
              </a:lnSpc>
              <a:spcBef>
                <a:spcPts val="0"/>
              </a:spcBef>
              <a:spcAft>
                <a:spcPts val="0"/>
              </a:spcAft>
              <a:defRPr sz="1600" b="0">
                <a:solidFill>
                  <a:srgbClr val="F4F6FA"/>
                </a:solidFill>
                <a:latin typeface="Arial"/>
              </a:defRPr>
            </a:pPr>
            <a:r>
              <a:t>510 enregistrements</a:t>
            </a:r>
          </a:p>
          <a:p>
            <a:pPr>
              <a:lnSpc>
                <a:spcPts val="2000"/>
              </a:lnSpc>
              <a:spcBef>
                <a:spcPts val="0"/>
              </a:spcBef>
              <a:spcAft>
                <a:spcPts val="0"/>
              </a:spcAft>
              <a:defRPr sz="1600" b="0">
                <a:solidFill>
                  <a:srgbClr val="F4F6FA"/>
                </a:solidFill>
                <a:latin typeface="Arial"/>
              </a:defRPr>
            </a:pPr>
            <a:r>
              <a:t>Adaptations aux besoins du jeu.</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CONTRAINTES WEB</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Scraper documenté :</a:t>
            </a:r>
          </a:p>
          <a:p>
            <a:pPr>
              <a:lnSpc>
                <a:spcPts val="2000"/>
              </a:lnSpc>
              <a:spcBef>
                <a:spcPts val="0"/>
              </a:spcBef>
              <a:spcAft>
                <a:spcPts val="0"/>
              </a:spcAft>
              <a:defRPr sz="1600" b="0">
                <a:solidFill>
                  <a:srgbClr val="F4F6FA"/>
                </a:solidFill>
                <a:latin typeface="Arial"/>
              </a:defRPr>
            </a:pPr>
            <a:r>
              <a:t>temporisation, timeout, retries et</a:t>
            </a:r>
          </a:p>
          <a:p>
            <a:pPr>
              <a:lnSpc>
                <a:spcPts val="2000"/>
              </a:lnSpc>
              <a:spcBef>
                <a:spcPts val="0"/>
              </a:spcBef>
              <a:spcAft>
                <a:spcPts val="0"/>
              </a:spcAft>
              <a:defRPr sz="1600" b="0">
                <a:solidFill>
                  <a:srgbClr val="F4F6FA"/>
                </a:solidFill>
                <a:latin typeface="Arial"/>
              </a:defRPr>
            </a:pPr>
            <a:r>
              <a:t>robots. Preuve hors ligne par</a:t>
            </a:r>
          </a:p>
          <a:p>
            <a:pPr>
              <a:lnSpc>
                <a:spcPts val="2000"/>
              </a:lnSpc>
              <a:spcBef>
                <a:spcPts val="0"/>
              </a:spcBef>
              <a:spcAft>
                <a:spcPts val="0"/>
              </a:spcAft>
              <a:defRPr sz="1600" b="0">
                <a:solidFill>
                  <a:srgbClr val="F4F6FA"/>
                </a:solidFill>
                <a:latin typeface="Arial"/>
              </a:defRPr>
            </a:pPr>
            <a:r>
              <a:t>fixture.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deux fichiers sont liés : leur acceptation comme sources distinctes reste à confirmer.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docs/block1/data-pipeline.md ; src/data_pipeline/sources.py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C3 · NORMALISATION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Transformer sans perdre le sens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Exemple pédagogique repris des cas de test.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AVANT</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Nom : Élite Goblin</a:t>
            </a:r>
          </a:p>
          <a:p>
            <a:pPr>
              <a:lnSpc>
                <a:spcPts val="2000"/>
              </a:lnSpc>
              <a:spcBef>
                <a:spcPts val="0"/>
              </a:spcBef>
              <a:spcAft>
                <a:spcPts val="0"/>
              </a:spcAft>
              <a:defRPr sz="1600" b="0">
                <a:solidFill>
                  <a:srgbClr val="F4F6FA"/>
                </a:solidFill>
                <a:latin typeface="Arial"/>
              </a:defRPr>
            </a:pPr>
            <a:r>
              <a:t>HP : "12"</a:t>
            </a:r>
          </a:p>
          <a:p>
            <a:pPr>
              <a:lnSpc>
                <a:spcPts val="2000"/>
              </a:lnSpc>
              <a:spcBef>
                <a:spcPts val="0"/>
              </a:spcBef>
              <a:spcAft>
                <a:spcPts val="0"/>
              </a:spcAft>
              <a:defRPr sz="1600" b="0">
                <a:solidFill>
                  <a:srgbClr val="F4F6FA"/>
                </a:solidFill>
                <a:latin typeface="Arial"/>
              </a:defRPr>
            </a:pPr>
            <a:r>
              <a:t>Difficulté : "1/4"</a:t>
            </a:r>
          </a:p>
          <a:p>
            <a:pPr>
              <a:lnSpc>
                <a:spcPts val="2000"/>
              </a:lnSpc>
              <a:spcBef>
                <a:spcPts val="0"/>
              </a:spcBef>
              <a:spcAft>
                <a:spcPts val="0"/>
              </a:spcAft>
              <a:defRPr sz="1600" b="0">
                <a:solidFill>
                  <a:srgbClr val="F4F6FA"/>
                </a:solidFill>
                <a:latin typeface="Arial"/>
              </a:defRPr>
            </a:pPr>
            <a:r>
              <a:t>Description : " test "</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APRÈS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Clé : elite-goblin</a:t>
            </a:r>
          </a:p>
          <a:p>
            <a:pPr>
              <a:lnSpc>
                <a:spcPts val="2000"/>
              </a:lnSpc>
              <a:spcBef>
                <a:spcPts val="0"/>
              </a:spcBef>
              <a:spcAft>
                <a:spcPts val="0"/>
              </a:spcAft>
              <a:defRPr sz="1600" b="0">
                <a:solidFill>
                  <a:srgbClr val="F4F6FA"/>
                </a:solidFill>
                <a:latin typeface="Arial"/>
              </a:defRPr>
            </a:pPr>
            <a:r>
              <a:t>HP : 12 (entier)</a:t>
            </a:r>
          </a:p>
          <a:p>
            <a:pPr>
              <a:lnSpc>
                <a:spcPts val="2000"/>
              </a:lnSpc>
              <a:spcBef>
                <a:spcPts val="0"/>
              </a:spcBef>
              <a:spcAft>
                <a:spcPts val="0"/>
              </a:spcAft>
              <a:defRPr sz="1600" b="0">
                <a:solidFill>
                  <a:srgbClr val="F4F6FA"/>
                </a:solidFill>
                <a:latin typeface="Arial"/>
              </a:defRPr>
            </a:pPr>
            <a:r>
              <a:t>Difficulté : 0,25 + texte "1/4"</a:t>
            </a:r>
          </a:p>
          <a:p>
            <a:pPr>
              <a:lnSpc>
                <a:spcPts val="2000"/>
              </a:lnSpc>
              <a:spcBef>
                <a:spcPts val="0"/>
              </a:spcBef>
              <a:spcAft>
                <a:spcPts val="0"/>
              </a:spcAft>
              <a:defRPr sz="1600" b="0">
                <a:solidFill>
                  <a:srgbClr val="F4F6FA"/>
                </a:solidFill>
                <a:latin typeface="Arial"/>
              </a:defRPr>
            </a:pPr>
            <a:r>
              <a:t>Description : "test"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CONTRÔLES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Nom, armure et HP obligatoires.</a:t>
            </a:r>
          </a:p>
          <a:p>
            <a:pPr>
              <a:lnSpc>
                <a:spcPts val="2000"/>
              </a:lnSpc>
              <a:spcBef>
                <a:spcPts val="0"/>
              </a:spcBef>
              <a:spcAft>
                <a:spcPts val="0"/>
              </a:spcAft>
              <a:defRPr sz="1600" b="0">
                <a:solidFill>
                  <a:srgbClr val="F4F6FA"/>
                </a:solidFill>
                <a:latin typeface="Arial"/>
              </a:defRPr>
            </a:pPr>
            <a:r>
              <a:t>HP strictement positifs.</a:t>
            </a:r>
          </a:p>
          <a:p>
            <a:pPr>
              <a:lnSpc>
                <a:spcPts val="2000"/>
              </a:lnSpc>
              <a:spcBef>
                <a:spcPts val="0"/>
              </a:spcBef>
              <a:spcAft>
                <a:spcPts val="0"/>
              </a:spcAft>
              <a:defRPr sz="1600" b="0">
                <a:solidFill>
                  <a:srgbClr val="F4F6FA"/>
                </a:solidFill>
                <a:latin typeface="Arial"/>
              </a:defRPr>
            </a:pPr>
            <a:r>
              <a:t>Erreur → rejet avec motif</a:t>
            </a:r>
          </a:p>
          <a:p>
            <a:pPr>
              <a:lnSpc>
                <a:spcPts val="2000"/>
              </a:lnSpc>
              <a:spcBef>
                <a:spcPts val="0"/>
              </a:spcBef>
              <a:spcAft>
                <a:spcPts val="0"/>
              </a:spcAft>
              <a:defRPr sz="1600" b="0">
                <a:solidFill>
                  <a:srgbClr val="F4F6FA"/>
                </a:solidFill>
                <a:latin typeface="Arial"/>
              </a:defRPr>
            </a:pPr>
            <a:r>
              <a:t>VALIDATION_ERROR.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 enregistrement invalide est isolé et conservé pour diagnostic.</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src/data_pipeline/normalize.py ; tests/test_data_pipeline.py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C3 · AGRÉGATION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Résoudre les conflits de façon déterministe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Même clé stable → un seul monstre canonique.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SOURCE COLLECTÉE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Exemple de test : Goblin</a:t>
            </a:r>
          </a:p>
          <a:p>
            <a:pPr>
              <a:lnSpc>
                <a:spcPts val="2000"/>
              </a:lnSpc>
              <a:spcBef>
                <a:spcPts val="0"/>
              </a:spcBef>
              <a:spcAft>
                <a:spcPts val="0"/>
              </a:spcAft>
              <a:defRPr sz="1600" b="0">
                <a:solidFill>
                  <a:srgbClr val="F4F6FA"/>
                </a:solidFill>
                <a:latin typeface="Arial"/>
              </a:defRPr>
            </a:pPr>
            <a:r>
              <a:t>HP = 10</a:t>
            </a:r>
          </a:p>
          <a:p>
            <a:pPr>
              <a:lnSpc>
                <a:spcPts val="2000"/>
              </a:lnSpc>
              <a:spcBef>
                <a:spcPts val="0"/>
              </a:spcBef>
              <a:spcAft>
                <a:spcPts val="0"/>
              </a:spcAft>
              <a:defRPr sz="1600" b="0">
                <a:solidFill>
                  <a:srgbClr val="F4F6FA"/>
                </a:solidFill>
                <a:latin typeface="Arial"/>
              </a:defRPr>
            </a:pPr>
            <a:r>
              <a:t>Provenance conservée.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SOURCE CORRIGÉE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Exemple de test : Goblin</a:t>
            </a:r>
          </a:p>
          <a:p>
            <a:pPr>
              <a:lnSpc>
                <a:spcPts val="2000"/>
              </a:lnSpc>
              <a:spcBef>
                <a:spcPts val="0"/>
              </a:spcBef>
              <a:spcAft>
                <a:spcPts val="0"/>
              </a:spcAft>
              <a:defRPr sz="1600" b="0">
                <a:solidFill>
                  <a:srgbClr val="F4F6FA"/>
                </a:solidFill>
                <a:latin typeface="Arial"/>
              </a:defRPr>
            </a:pPr>
            <a:r>
              <a:t>HP = 20</a:t>
            </a:r>
          </a:p>
          <a:p>
            <a:pPr>
              <a:lnSpc>
                <a:spcPts val="2000"/>
              </a:lnSpc>
              <a:spcBef>
                <a:spcPts val="0"/>
              </a:spcBef>
              <a:spcAft>
                <a:spcPts val="0"/>
              </a:spcAft>
              <a:defRPr sz="1600" b="0">
                <a:solidFill>
                  <a:srgbClr val="F4F6FA"/>
                </a:solidFill>
                <a:latin typeface="Arial"/>
              </a:defRPr>
            </a:pPr>
            <a:r>
              <a:t>Priorité aux données corrigées.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RÉSULTAT</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Goblin : HP = 20</a:t>
            </a:r>
          </a:p>
          <a:p>
            <a:pPr>
              <a:lnSpc>
                <a:spcPts val="2000"/>
              </a:lnSpc>
              <a:spcBef>
                <a:spcPts val="0"/>
              </a:spcBef>
              <a:spcAft>
                <a:spcPts val="0"/>
              </a:spcAft>
              <a:defRPr sz="1600" b="0">
                <a:solidFill>
                  <a:srgbClr val="F4F6FA"/>
                </a:solidFill>
                <a:latin typeface="Arial"/>
              </a:defRPr>
            </a:pPr>
            <a:r>
              <a:t>Deux liens de provenance.</a:t>
            </a:r>
          </a:p>
          <a:p>
            <a:pPr>
              <a:lnSpc>
                <a:spcPts val="2000"/>
              </a:lnSpc>
              <a:spcBef>
                <a:spcPts val="0"/>
              </a:spcBef>
              <a:spcAft>
                <a:spcPts val="0"/>
              </a:spcAft>
              <a:defRPr sz="1600" b="0">
                <a:solidFill>
                  <a:srgbClr val="F4F6FA"/>
                </a:solidFill>
                <a:latin typeface="Arial"/>
              </a:defRPr>
            </a:pPr>
            <a:r>
              <a:t>Source gagnante marquée</a:t>
            </a:r>
          </a:p>
          <a:p>
            <a:pPr>
              <a:lnSpc>
                <a:spcPts val="2000"/>
              </a:lnSpc>
              <a:spcBef>
                <a:spcPts val="0"/>
              </a:spcBef>
              <a:spcAft>
                <a:spcPts val="0"/>
              </a:spcAft>
              <a:defRPr sz="1600" b="0">
                <a:solidFill>
                  <a:srgbClr val="F4F6FA"/>
                </a:solidFill>
                <a:latin typeface="Arial"/>
              </a:defRPr>
            </a:pPr>
            <a:r>
              <a:t>selected.</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priorité est une règle métier explicite, pas une preuve de vérité de la source.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src/data_pipeline/pipeline.py ; tests/test_data_pipeline.py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PREUVE · EXÉCUTION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1 020 entrées deviennent 510 monstres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Exécution locale du 14 septembre 2026 · snapshots du dépôt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1 020</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Enregistrements acceptés</a:t>
            </a:r>
          </a:p>
          <a:p>
            <a:pPr>
              <a:lnSpc>
                <a:spcPts val="2000"/>
              </a:lnSpc>
              <a:spcBef>
                <a:spcPts val="0"/>
              </a:spcBef>
              <a:spcAft>
                <a:spcPts val="0"/>
              </a:spcAft>
              <a:defRPr sz="1600" b="0">
                <a:solidFill>
                  <a:srgbClr val="F4F6FA"/>
                </a:solidFill>
                <a:latin typeface="Arial"/>
              </a:defRPr>
            </a:pPr>
            <a:r>
              <a:t>1 020 collectés</a:t>
            </a:r>
          </a:p>
          <a:p>
            <a:pPr>
              <a:lnSpc>
                <a:spcPts val="2000"/>
              </a:lnSpc>
              <a:spcBef>
                <a:spcPts val="0"/>
              </a:spcBef>
              <a:spcAft>
                <a:spcPts val="0"/>
              </a:spcAft>
              <a:defRPr sz="1600" b="0">
                <a:solidFill>
                  <a:srgbClr val="F4F6FA"/>
                </a:solidFill>
                <a:latin typeface="Arial"/>
              </a:defRPr>
            </a:pPr>
            <a:r>
              <a:t>0 rejet sur ces snapshots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510</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Monstres après fusion</a:t>
            </a:r>
          </a:p>
          <a:p>
            <a:pPr>
              <a:lnSpc>
                <a:spcPts val="2000"/>
              </a:lnSpc>
              <a:spcBef>
                <a:spcPts val="0"/>
              </a:spcBef>
              <a:spcAft>
                <a:spcPts val="0"/>
              </a:spcAft>
              <a:defRPr sz="1600" b="0">
                <a:solidFill>
                  <a:srgbClr val="F4F6FA"/>
                </a:solidFill>
                <a:latin typeface="Arial"/>
              </a:defRPr>
            </a:pPr>
            <a:r>
              <a:t>5 conflits détectés</a:t>
            </a:r>
          </a:p>
          <a:p>
            <a:pPr>
              <a:lnSpc>
                <a:spcPts val="2000"/>
              </a:lnSpc>
              <a:spcBef>
                <a:spcPts val="0"/>
              </a:spcBef>
              <a:spcAft>
                <a:spcPts val="0"/>
              </a:spcAft>
              <a:defRPr sz="1600" b="0">
                <a:solidFill>
                  <a:srgbClr val="F4F6FA"/>
                </a:solidFill>
                <a:latin typeface="Arial"/>
              </a:defRPr>
            </a:pPr>
            <a:r>
              <a:t>Priorité à la source corrigée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5 / 5</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Tests du pipeline réussis</a:t>
            </a:r>
          </a:p>
          <a:p>
            <a:pPr>
              <a:lnSpc>
                <a:spcPts val="2000"/>
              </a:lnSpc>
              <a:spcBef>
                <a:spcPts val="0"/>
              </a:spcBef>
              <a:spcAft>
                <a:spcPts val="0"/>
              </a:spcAft>
              <a:defRPr sz="1600" b="0">
                <a:solidFill>
                  <a:srgbClr val="F4F6FA"/>
                </a:solidFill>
                <a:latin typeface="Arial"/>
              </a:defRPr>
            </a:pPr>
            <a:r>
              <a:t>Normalisation, fractions, fusion,</a:t>
            </a:r>
          </a:p>
          <a:p>
            <a:pPr>
              <a:lnSpc>
                <a:spcPts val="2000"/>
              </a:lnSpc>
              <a:spcBef>
                <a:spcPts val="0"/>
              </a:spcBef>
              <a:spcAft>
                <a:spcPts val="0"/>
              </a:spcAft>
              <a:defRPr sz="1600" b="0">
                <a:solidFill>
                  <a:srgbClr val="F4F6FA"/>
                </a:solidFill>
                <a:latin typeface="Arial"/>
              </a:defRPr>
            </a:pPr>
            <a:r>
              <a:t>provenance et sorties JSONL</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succès du run ne démontre pas, à lui seul, la couverture complète de C1 à C5.</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preuves/20260914T093833Z-b0d37253/manifest.json ; tests/test_data_pipeline.py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 · REQUÊTES SQL</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Extraire une donnée utile et explicable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Quatre requêtes versionnées couvrent les usages du catalogue.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Q1 / Q2</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Q1 : sélectionner un catalogue</a:t>
            </a:r>
          </a:p>
          <a:p>
            <a:pPr>
              <a:lnSpc>
                <a:spcPts val="2000"/>
              </a:lnSpc>
              <a:spcBef>
                <a:spcPts val="0"/>
              </a:spcBef>
              <a:spcAft>
                <a:spcPts val="0"/>
              </a:spcAft>
              <a:defRPr sz="1600" b="0">
                <a:solidFill>
                  <a:srgbClr val="F4F6FA"/>
                </a:solidFill>
                <a:latin typeface="Arial"/>
              </a:defRPr>
            </a:pPr>
            <a:r>
              <a:t>valide et trié.</a:t>
            </a:r>
          </a:p>
          <a:p>
            <a:pPr>
              <a:lnSpc>
                <a:spcPts val="2000"/>
              </a:lnSpc>
              <a:spcBef>
                <a:spcPts val="0"/>
              </a:spcBef>
              <a:spcAft>
                <a:spcPts val="0"/>
              </a:spcAft>
              <a:defRPr sz="1600" b="0">
                <a:solidFill>
                  <a:srgbClr val="F4F6FA"/>
                </a:solidFill>
                <a:latin typeface="Arial"/>
              </a:defRPr>
            </a:pPr>
            <a:r>
              <a:t>Q2 : joindre chaque monstre à ses</a:t>
            </a:r>
          </a:p>
          <a:p>
            <a:pPr>
              <a:lnSpc>
                <a:spcPts val="2000"/>
              </a:lnSpc>
              <a:spcBef>
                <a:spcPts val="0"/>
              </a:spcBef>
              <a:spcAft>
                <a:spcPts val="0"/>
              </a:spcAft>
              <a:defRPr sz="1600" b="0">
                <a:solidFill>
                  <a:srgbClr val="F4F6FA"/>
                </a:solidFill>
                <a:latin typeface="Arial"/>
              </a:defRPr>
            </a:pPr>
            <a:r>
              <a:t>sources via un ID paramétré.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Q3 / Q4</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Q3 : agréger le bilan d’import.</a:t>
            </a:r>
          </a:p>
          <a:p>
            <a:pPr>
              <a:lnSpc>
                <a:spcPts val="2000"/>
              </a:lnSpc>
              <a:spcBef>
                <a:spcPts val="0"/>
              </a:spcBef>
              <a:spcAft>
                <a:spcPts val="0"/>
              </a:spcAft>
              <a:defRPr sz="1600" b="0">
                <a:solidFill>
                  <a:srgbClr val="F4F6FA"/>
                </a:solidFill>
                <a:latin typeface="Arial"/>
              </a:defRPr>
            </a:pPr>
            <a:r>
              <a:t>Q4 : regrouper par difficulté et</a:t>
            </a:r>
          </a:p>
          <a:p>
            <a:pPr>
              <a:lnSpc>
                <a:spcPts val="2000"/>
              </a:lnSpc>
              <a:spcBef>
                <a:spcPts val="0"/>
              </a:spcBef>
              <a:spcAft>
                <a:spcPts val="0"/>
              </a:spcAft>
              <a:defRPr sz="1600" b="0">
                <a:solidFill>
                  <a:srgbClr val="F4F6FA"/>
                </a:solidFill>
                <a:latin typeface="Arial"/>
              </a:defRPr>
            </a:pPr>
            <a:r>
              <a:t>calculer les moyennes HP /</a:t>
            </a:r>
          </a:p>
          <a:p>
            <a:pPr>
              <a:lnSpc>
                <a:spcPts val="2000"/>
              </a:lnSpc>
              <a:spcBef>
                <a:spcPts val="0"/>
              </a:spcBef>
              <a:spcAft>
                <a:spcPts val="0"/>
              </a:spcAft>
              <a:defRPr sz="1600" b="0">
                <a:solidFill>
                  <a:srgbClr val="F4F6FA"/>
                </a:solidFill>
                <a:latin typeface="Arial"/>
              </a:defRPr>
            </a:pPr>
            <a:r>
              <a:t>armure.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INDEX</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Nom insensible à la casse.</a:t>
            </a:r>
          </a:p>
          <a:p>
            <a:pPr>
              <a:lnSpc>
                <a:spcPts val="2000"/>
              </a:lnSpc>
              <a:spcBef>
                <a:spcPts val="0"/>
              </a:spcBef>
              <a:spcAft>
                <a:spcPts val="0"/>
              </a:spcAft>
              <a:defRPr sz="1600" b="0">
                <a:solidFill>
                  <a:srgbClr val="F4F6FA"/>
                </a:solidFill>
                <a:latin typeface="Arial"/>
              </a:defRPr>
            </a:pPr>
            <a:r>
              <a:t>Difficulté.</a:t>
            </a:r>
          </a:p>
          <a:p>
            <a:pPr>
              <a:lnSpc>
                <a:spcPts val="2000"/>
              </a:lnSpc>
              <a:spcBef>
                <a:spcPts val="0"/>
              </a:spcBef>
              <a:spcAft>
                <a:spcPts val="0"/>
              </a:spcAft>
              <a:defRPr sz="1600" b="0">
                <a:solidFill>
                  <a:srgbClr val="F4F6FA"/>
                </a:solidFill>
                <a:latin typeface="Arial"/>
              </a:defRPr>
            </a:pPr>
            <a:r>
              <a:t>Liens de provenance.</a:t>
            </a:r>
          </a:p>
          <a:p>
            <a:pPr>
              <a:lnSpc>
                <a:spcPts val="2000"/>
              </a:lnSpc>
              <a:spcBef>
                <a:spcPts val="0"/>
              </a:spcBef>
              <a:spcAft>
                <a:spcPts val="0"/>
              </a:spcAft>
              <a:defRPr sz="1600" b="0">
                <a:solidFill>
                  <a:srgbClr val="F4F6FA"/>
                </a:solidFill>
                <a:latin typeface="Arial"/>
              </a:defRPr>
            </a:pPr>
            <a:r>
              <a:t>Plans via EXPLAIN QUERY PLAN.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index répondent aux accès ; aucun gain de performance non mesuré n’est annoncé.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db/sqlite/queries/monster_dataset.sql ; src/data_pipeline/storage.py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C4 · MODÉLISATION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Séparer le catalogue et les données de compte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Vue simplifiée du modèle ; MCD et MLD complets dans la documentation.</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IMPORT</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INGESTION_RUN</a:t>
            </a:r>
          </a:p>
          <a:p>
            <a:pPr>
              <a:lnSpc>
                <a:spcPts val="2000"/>
              </a:lnSpc>
              <a:spcBef>
                <a:spcPts val="0"/>
              </a:spcBef>
              <a:spcAft>
                <a:spcPts val="0"/>
              </a:spcAft>
              <a:defRPr sz="1600" b="0">
                <a:solidFill>
                  <a:srgbClr val="F4F6FA"/>
                </a:solidFill>
                <a:latin typeface="Arial"/>
              </a:defRPr>
            </a:pPr>
            <a:r>
              <a:t>1 → N MONSTER</a:t>
            </a:r>
          </a:p>
          <a:p>
            <a:pPr>
              <a:lnSpc>
                <a:spcPts val="2000"/>
              </a:lnSpc>
              <a:spcBef>
                <a:spcPts val="0"/>
              </a:spcBef>
              <a:spcAft>
                <a:spcPts val="0"/>
              </a:spcAft>
              <a:defRPr sz="1600" b="0">
                <a:solidFill>
                  <a:srgbClr val="F4F6FA"/>
                </a:solidFill>
                <a:latin typeface="Arial"/>
              </a:defRPr>
            </a:pPr>
            <a:r>
              <a:t>1 → N REJECTED_RECORD</a:t>
            </a:r>
          </a:p>
          <a:p>
            <a:pPr>
              <a:lnSpc>
                <a:spcPts val="2000"/>
              </a:lnSpc>
              <a:spcBef>
                <a:spcPts val="0"/>
              </a:spcBef>
              <a:spcAft>
                <a:spcPts val="0"/>
              </a:spcAft>
              <a:defRPr sz="1600" b="0">
                <a:solidFill>
                  <a:srgbClr val="F4F6FA"/>
                </a:solidFill>
                <a:latin typeface="Arial"/>
              </a:defRPr>
            </a:pPr>
            <a:r>
              <a:t>1 → N MONSTER_SOURCE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PROVENANCE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MONSTER</a:t>
            </a:r>
          </a:p>
          <a:p>
            <a:pPr>
              <a:lnSpc>
                <a:spcPts val="2000"/>
              </a:lnSpc>
              <a:spcBef>
                <a:spcPts val="0"/>
              </a:spcBef>
              <a:spcAft>
                <a:spcPts val="0"/>
              </a:spcAft>
              <a:defRPr sz="1600" b="0">
                <a:solidFill>
                  <a:srgbClr val="F4F6FA"/>
                </a:solidFill>
                <a:latin typeface="Arial"/>
              </a:defRPr>
            </a:pPr>
            <a:r>
              <a:t>1 → N MONSTER_SOURCE</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Clés étrangères, unicité de</a:t>
            </a:r>
          </a:p>
          <a:p>
            <a:pPr>
              <a:lnSpc>
                <a:spcPts val="2000"/>
              </a:lnSpc>
              <a:spcBef>
                <a:spcPts val="0"/>
              </a:spcBef>
              <a:spcAft>
                <a:spcPts val="0"/>
              </a:spcAft>
              <a:defRPr sz="1600" b="0">
                <a:solidFill>
                  <a:srgbClr val="F4F6FA"/>
                </a:solidFill>
                <a:latin typeface="Arial"/>
              </a:defRPr>
            </a:pPr>
            <a:r>
              <a:t>stable_key, contraintes HP /</a:t>
            </a:r>
          </a:p>
          <a:p>
            <a:pPr>
              <a:lnSpc>
                <a:spcPts val="2000"/>
              </a:lnSpc>
              <a:spcBef>
                <a:spcPts val="0"/>
              </a:spcBef>
              <a:spcAft>
                <a:spcPts val="0"/>
              </a:spcAft>
              <a:defRPr sz="1600" b="0">
                <a:solidFill>
                  <a:srgbClr val="F4F6FA"/>
                </a:solidFill>
                <a:latin typeface="Arial"/>
              </a:defRPr>
            </a:pPr>
            <a:r>
              <a:t>armure.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DONNÉES PERSONNELLES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USER</a:t>
            </a:r>
          </a:p>
          <a:p>
            <a:pPr>
              <a:lnSpc>
                <a:spcPts val="2000"/>
              </a:lnSpc>
              <a:spcBef>
                <a:spcPts val="0"/>
              </a:spcBef>
              <a:spcAft>
                <a:spcPts val="0"/>
              </a:spcAft>
              <a:defRPr sz="1600" b="0">
                <a:solidFill>
                  <a:srgbClr val="F4F6FA"/>
                </a:solidFill>
                <a:latin typeface="Arial"/>
              </a:defRPr>
            </a:pPr>
            <a:r>
              <a:t>1 → N SAVE_GAME</a:t>
            </a:r>
          </a:p>
          <a:p>
            <a:pPr>
              <a:lnSpc>
                <a:spcPts val="2000"/>
              </a:lnSpc>
              <a:spcBef>
                <a:spcPts val="0"/>
              </a:spcBef>
              <a:spcAft>
                <a:spcPts val="0"/>
              </a:spcAft>
              <a:defRPr sz="1600" b="0">
                <a:solidFill>
                  <a:srgbClr val="F4F6FA"/>
                </a:solidFill>
                <a:latin typeface="Arial"/>
              </a:defRPr>
            </a:pPr>
            <a:r>
              <a:t>1 → N CHARACTER_TEMPLATE</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Base Django séparée du</a:t>
            </a:r>
          </a:p>
          <a:p>
            <a:pPr>
              <a:lnSpc>
                <a:spcPts val="2000"/>
              </a:lnSpc>
              <a:spcBef>
                <a:spcPts val="0"/>
              </a:spcBef>
              <a:spcAft>
                <a:spcPts val="0"/>
              </a:spcAft>
              <a:defRPr sz="1600" b="0">
                <a:solidFill>
                  <a:srgbClr val="F4F6FA"/>
                </a:solidFill>
                <a:latin typeface="Arial"/>
              </a:defRPr>
            </a:pPr>
            <a:r>
              <a:t>catalogue.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Chaque donnée a un rôle, des contraintes et une relation définis.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docs/block1/data-models.md ; src/data_pipeline/storage.py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C4 · STOCKAGE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SQLite répond au volume de la démonstration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Un choix proportionné, avec des limites opérationnelles identifiées.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POURQUOI SQLITE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Fichier local, peu de données,</a:t>
            </a:r>
          </a:p>
          <a:p>
            <a:pPr>
              <a:lnSpc>
                <a:spcPts val="2000"/>
              </a:lnSpc>
              <a:spcBef>
                <a:spcPts val="0"/>
              </a:spcBef>
              <a:spcAft>
                <a:spcPts val="0"/>
              </a:spcAft>
              <a:defRPr sz="1600" b="0">
                <a:solidFill>
                  <a:srgbClr val="F4F6FA"/>
                </a:solidFill>
                <a:latin typeface="Arial"/>
              </a:defRPr>
            </a:pPr>
            <a:r>
              <a:t>import par un seul processus et</a:t>
            </a:r>
          </a:p>
          <a:p>
            <a:pPr>
              <a:lnSpc>
                <a:spcPts val="2000"/>
              </a:lnSpc>
              <a:spcBef>
                <a:spcPts val="0"/>
              </a:spcBef>
              <a:spcAft>
                <a:spcPts val="0"/>
              </a:spcAft>
              <a:defRPr sz="1600" b="0">
                <a:solidFill>
                  <a:srgbClr val="F4F6FA"/>
                </a:solidFill>
                <a:latin typeface="Arial"/>
              </a:defRPr>
            </a:pPr>
            <a:r>
              <a:t>lectures fréquentes.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RECONSTRUCTION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Sources versionnées + pipeline.</a:t>
            </a:r>
          </a:p>
          <a:p>
            <a:pPr>
              <a:lnSpc>
                <a:spcPts val="2000"/>
              </a:lnSpc>
              <a:spcBef>
                <a:spcPts val="0"/>
              </a:spcBef>
              <a:spcAft>
                <a:spcPts val="0"/>
              </a:spcAft>
              <a:defRPr sz="1600" b="0">
                <a:solidFill>
                  <a:srgbClr val="F4F6FA"/>
                </a:solidFill>
                <a:latin typeface="Arial"/>
              </a:defRPr>
            </a:pPr>
            <a:r>
              <a:t>Schéma créé par le code.</a:t>
            </a:r>
          </a:p>
          <a:p>
            <a:pPr>
              <a:lnSpc>
                <a:spcPts val="2000"/>
              </a:lnSpc>
              <a:spcBef>
                <a:spcPts val="0"/>
              </a:spcBef>
              <a:spcAft>
                <a:spcPts val="0"/>
              </a:spcAft>
              <a:defRPr sz="1600" b="0">
                <a:solidFill>
                  <a:srgbClr val="F4F6FA"/>
                </a:solidFill>
                <a:latin typeface="Arial"/>
              </a:defRPr>
            </a:pPr>
            <a:r>
              <a:t>Import transactionnel avec</a:t>
            </a:r>
          </a:p>
          <a:p>
            <a:pPr>
              <a:lnSpc>
                <a:spcPts val="2000"/>
              </a:lnSpc>
              <a:spcBef>
                <a:spcPts val="0"/>
              </a:spcBef>
              <a:spcAft>
                <a:spcPts val="0"/>
              </a:spcAft>
              <a:defRPr sz="1600" b="0">
                <a:solidFill>
                  <a:srgbClr val="F4F6FA"/>
                </a:solidFill>
                <a:latin typeface="Arial"/>
              </a:defRPr>
            </a:pPr>
            <a:r>
              <a:t>provenance.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LIMITES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Le catalogue est remplacé à</a:t>
            </a:r>
          </a:p>
          <a:p>
            <a:pPr>
              <a:lnSpc>
                <a:spcPts val="2000"/>
              </a:lnSpc>
              <a:spcBef>
                <a:spcPts val="0"/>
              </a:spcBef>
              <a:spcAft>
                <a:spcPts val="0"/>
              </a:spcAft>
              <a:defRPr sz="1600" b="0">
                <a:solidFill>
                  <a:srgbClr val="F4F6FA"/>
                </a:solidFill>
                <a:latin typeface="Arial"/>
              </a:defRPr>
            </a:pPr>
            <a:r>
              <a:t>chaque import. Historique complet</a:t>
            </a:r>
          </a:p>
          <a:p>
            <a:pPr>
              <a:lnSpc>
                <a:spcPts val="2000"/>
              </a:lnSpc>
              <a:spcBef>
                <a:spcPts val="0"/>
              </a:spcBef>
              <a:spcAft>
                <a:spcPts val="0"/>
              </a:spcAft>
              <a:defRPr sz="1600" b="0">
                <a:solidFill>
                  <a:srgbClr val="F4F6FA"/>
                </a:solidFill>
                <a:latin typeface="Arial"/>
              </a:defRPr>
            </a:pPr>
            <a:r>
              <a:t>non garanti. PostgreSQL à</a:t>
            </a:r>
          </a:p>
          <a:p>
            <a:pPr>
              <a:lnSpc>
                <a:spcPts val="2000"/>
              </a:lnSpc>
              <a:spcBef>
                <a:spcPts val="0"/>
              </a:spcBef>
              <a:spcAft>
                <a:spcPts val="0"/>
              </a:spcAft>
              <a:defRPr sz="1600" b="0">
                <a:solidFill>
                  <a:srgbClr val="F4F6FA"/>
                </a:solidFill>
                <a:latin typeface="Arial"/>
              </a:defRPr>
            </a:pPr>
            <a:r>
              <a:t>envisager pour plusieurs écrivains.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données de compte nécessitent une sauvegarde distincte et une restauration testée.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src/data_pipeline/storage.py ; docs/block1/backup-restore.md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C4 · DONNÉES PERSONNELLES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Documenter les traitements et les droits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État du registre et des procédures du projet.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PÉRIMÈTRE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Comptes, e-mails, mots de passe</a:t>
            </a:r>
          </a:p>
          <a:p>
            <a:pPr>
              <a:lnSpc>
                <a:spcPts val="2000"/>
              </a:lnSpc>
              <a:spcBef>
                <a:spcPts val="0"/>
              </a:spcBef>
              <a:spcAft>
                <a:spcPts val="0"/>
              </a:spcAft>
              <a:defRPr sz="1600" b="0">
                <a:solidFill>
                  <a:srgbClr val="F4F6FA"/>
                </a:solidFill>
                <a:latin typeface="Arial"/>
              </a:defRPr>
            </a:pPr>
            <a:r>
              <a:t>hachés, sauvegardes et</a:t>
            </a:r>
          </a:p>
          <a:p>
            <a:pPr>
              <a:lnSpc>
                <a:spcPts val="2000"/>
              </a:lnSpc>
              <a:spcBef>
                <a:spcPts val="0"/>
              </a:spcBef>
              <a:spcAft>
                <a:spcPts val="0"/>
              </a:spcAft>
              <a:defRPr sz="1600" b="0">
                <a:solidFill>
                  <a:srgbClr val="F4F6FA"/>
                </a:solidFill>
                <a:latin typeface="Arial"/>
              </a:defRPr>
            </a:pPr>
            <a:r>
              <a:t>personnages rattachés à un</a:t>
            </a:r>
          </a:p>
          <a:p>
            <a:pPr>
              <a:lnSpc>
                <a:spcPts val="2000"/>
              </a:lnSpc>
              <a:spcBef>
                <a:spcPts val="0"/>
              </a:spcBef>
              <a:spcAft>
                <a:spcPts val="0"/>
              </a:spcAft>
              <a:defRPr sz="1600" b="0">
                <a:solidFill>
                  <a:srgbClr val="F4F6FA"/>
                </a:solidFill>
                <a:latin typeface="Arial"/>
              </a:defRPr>
            </a:pPr>
            <a:r>
              <a:t>compte.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PROCÉDURES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Export utilisateur.</a:t>
            </a:r>
          </a:p>
          <a:p>
            <a:pPr>
              <a:lnSpc>
                <a:spcPts val="2000"/>
              </a:lnSpc>
              <a:spcBef>
                <a:spcPts val="0"/>
              </a:spcBef>
              <a:spcAft>
                <a:spcPts val="0"/>
              </a:spcAft>
              <a:defRPr sz="1600" b="0">
                <a:solidFill>
                  <a:srgbClr val="F4F6FA"/>
                </a:solidFill>
                <a:latin typeface="Arial"/>
              </a:defRPr>
            </a:pPr>
            <a:r>
              <a:t>Rectification via administration.</a:t>
            </a:r>
          </a:p>
          <a:p>
            <a:pPr>
              <a:lnSpc>
                <a:spcPts val="2000"/>
              </a:lnSpc>
              <a:spcBef>
                <a:spcPts val="0"/>
              </a:spcBef>
              <a:spcAft>
                <a:spcPts val="0"/>
              </a:spcAft>
              <a:defRPr sz="1600" b="0">
                <a:solidFill>
                  <a:srgbClr val="F4F6FA"/>
                </a:solidFill>
                <a:latin typeface="Arial"/>
              </a:defRPr>
            </a:pPr>
            <a:r>
              <a:t>Suppression du compte et</a:t>
            </a:r>
          </a:p>
          <a:p>
            <a:pPr>
              <a:lnSpc>
                <a:spcPts val="2000"/>
              </a:lnSpc>
              <a:spcBef>
                <a:spcPts val="0"/>
              </a:spcBef>
              <a:spcAft>
                <a:spcPts val="0"/>
              </a:spcAft>
              <a:defRPr sz="1600" b="0">
                <a:solidFill>
                  <a:srgbClr val="F4F6FA"/>
                </a:solidFill>
                <a:latin typeface="Arial"/>
              </a:defRPr>
            </a:pPr>
            <a:r>
              <a:t>cascades.</a:t>
            </a:r>
          </a:p>
          <a:p>
            <a:pPr>
              <a:lnSpc>
                <a:spcPts val="2000"/>
              </a:lnSpc>
              <a:spcBef>
                <a:spcPts val="0"/>
              </a:spcBef>
              <a:spcAft>
                <a:spcPts val="0"/>
              </a:spcAft>
              <a:defRPr sz="1600" b="0">
                <a:solidFill>
                  <a:srgbClr val="F4F6FA"/>
                </a:solidFill>
                <a:latin typeface="Arial"/>
              </a:defRPr>
            </a:pPr>
            <a:r>
              <a:t>Nettoyage avec prévisualisation.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À VALIDER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Bases légales et durées</a:t>
            </a:r>
          </a:p>
          <a:p>
            <a:pPr>
              <a:lnSpc>
                <a:spcPts val="2000"/>
              </a:lnSpc>
              <a:spcBef>
                <a:spcPts val="0"/>
              </a:spcBef>
              <a:spcAft>
                <a:spcPts val="0"/>
              </a:spcAft>
              <a:defRPr sz="1600" b="0">
                <a:solidFill>
                  <a:srgbClr val="F4F6FA"/>
                </a:solidFill>
                <a:latin typeface="Arial"/>
              </a:defRPr>
            </a:pPr>
            <a:r>
              <a:t>proposées.</a:t>
            </a:r>
          </a:p>
          <a:p>
            <a:pPr>
              <a:lnSpc>
                <a:spcPts val="2000"/>
              </a:lnSpc>
              <a:spcBef>
                <a:spcPts val="0"/>
              </a:spcBef>
              <a:spcAft>
                <a:spcPts val="0"/>
              </a:spcAft>
              <a:defRPr sz="1600" b="0">
                <a:solidFill>
                  <a:srgbClr val="F4F6FA"/>
                </a:solidFill>
                <a:latin typeface="Arial"/>
              </a:defRPr>
            </a:pPr>
            <a:r>
              <a:t>Sauvegardes terminées : 365</a:t>
            </a:r>
          </a:p>
          <a:p>
            <a:pPr>
              <a:lnSpc>
                <a:spcPts val="2000"/>
              </a:lnSpc>
              <a:spcBef>
                <a:spcPts val="0"/>
              </a:spcBef>
              <a:spcAft>
                <a:spcPts val="0"/>
              </a:spcAft>
              <a:defRPr sz="1600" b="0">
                <a:solidFill>
                  <a:srgbClr val="F4F6FA"/>
                </a:solidFill>
                <a:latin typeface="Arial"/>
              </a:defRPr>
            </a:pPr>
            <a:r>
              <a:t>jours.</a:t>
            </a:r>
          </a:p>
          <a:p>
            <a:pPr>
              <a:lnSpc>
                <a:spcPts val="2000"/>
              </a:lnSpc>
              <a:spcBef>
                <a:spcPts val="0"/>
              </a:spcBef>
              <a:spcAft>
                <a:spcPts val="0"/>
              </a:spcAft>
              <a:defRPr sz="1600" b="0">
                <a:solidFill>
                  <a:srgbClr val="F4F6FA"/>
                </a:solidFill>
                <a:latin typeface="Arial"/>
              </a:defRPr>
            </a:pPr>
            <a:r>
              <a:t>Logs : 30 jours proposés.</a:t>
            </a:r>
          </a:p>
          <a:p>
            <a:pPr>
              <a:lnSpc>
                <a:spcPts val="2000"/>
              </a:lnSpc>
              <a:spcBef>
                <a:spcPts val="0"/>
              </a:spcBef>
              <a:spcAft>
                <a:spcPts val="0"/>
              </a:spcAft>
              <a:defRPr sz="1600" b="0">
                <a:solidFill>
                  <a:srgbClr val="F4F6FA"/>
                </a:solidFill>
                <a:latin typeface="Arial"/>
              </a:defRPr>
            </a:pPr>
            <a:r>
              <a:t>Validation par le responsable.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 registre et des commandes constituent des éléments de démarche ; pas une certification de conformité.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docs/block1/gdpr-register.md ; docs/block1/backup-restore.md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C5 · API REST</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Partager le catalogue avec un contrat clair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API en lecture seule · version v1 · documentation OpenAPI</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LECTURE PUBLIQUE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GET /api/v1/monsters/</a:t>
            </a:r>
          </a:p>
          <a:p>
            <a:pPr>
              <a:lnSpc>
                <a:spcPts val="2000"/>
              </a:lnSpc>
              <a:spcBef>
                <a:spcPts val="0"/>
              </a:spcBef>
              <a:spcAft>
                <a:spcPts val="0"/>
              </a:spcAft>
              <a:defRPr sz="1600" b="0">
                <a:solidFill>
                  <a:srgbClr val="F4F6FA"/>
                </a:solidFill>
                <a:latin typeface="Arial"/>
              </a:defRPr>
            </a:pPr>
            <a:r>
              <a:t>GET /api/v1/monsters/{id}/</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Filtres, tri et pagination</a:t>
            </a:r>
          </a:p>
          <a:p>
            <a:pPr>
              <a:lnSpc>
                <a:spcPts val="2000"/>
              </a:lnSpc>
              <a:spcBef>
                <a:spcPts val="0"/>
              </a:spcBef>
              <a:spcAft>
                <a:spcPts val="0"/>
              </a:spcAft>
              <a:defRPr sz="1600" b="0">
                <a:solidFill>
                  <a:srgbClr val="F4F6FA"/>
                </a:solidFill>
                <a:latin typeface="Arial"/>
              </a:defRPr>
            </a:pPr>
            <a:r>
              <a:t>100 résultats maximum par page.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ACCÈS RESTREINT</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Résumé d’import :</a:t>
            </a:r>
          </a:p>
          <a:p>
            <a:pPr>
              <a:lnSpc>
                <a:spcPts val="2000"/>
              </a:lnSpc>
              <a:spcBef>
                <a:spcPts val="0"/>
              </a:spcBef>
              <a:spcAft>
                <a:spcPts val="0"/>
              </a:spcAft>
              <a:defRPr sz="1600" b="0">
                <a:solidFill>
                  <a:srgbClr val="F4F6FA"/>
                </a:solidFill>
                <a:latin typeface="Arial"/>
              </a:defRPr>
            </a:pPr>
            <a:r>
              <a:t>/api/v1/ingestion-runs/</a:t>
            </a:r>
          </a:p>
          <a:p>
            <a:pPr>
              <a:lnSpc>
                <a:spcPts val="2000"/>
              </a:lnSpc>
              <a:spcBef>
                <a:spcPts val="0"/>
              </a:spcBef>
              <a:spcAft>
                <a:spcPts val="0"/>
              </a:spcAft>
              <a:defRPr sz="1600" b="0">
                <a:solidFill>
                  <a:srgbClr val="F4F6FA"/>
                </a:solidFill>
                <a:latin typeface="Arial"/>
              </a:defRPr>
            </a:pPr>
            <a:r>
              <a:t>{run_id}/summary/</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Session Django + compte staff.</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CONTRAT</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/api/v1/docs/</a:t>
            </a:r>
          </a:p>
          <a:p>
            <a:pPr>
              <a:lnSpc>
                <a:spcPts val="2000"/>
              </a:lnSpc>
              <a:spcBef>
                <a:spcPts val="0"/>
              </a:spcBef>
              <a:spcAft>
                <a:spcPts val="0"/>
              </a:spcAft>
              <a:defRPr sz="1600" b="0">
                <a:solidFill>
                  <a:srgbClr val="F4F6FA"/>
                </a:solidFill>
                <a:latin typeface="Arial"/>
              </a:defRPr>
            </a:pPr>
            <a:r>
              <a:t>/api/v1/openapi.yaml</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Paramètres validés ; SQL</a:t>
            </a:r>
          </a:p>
          <a:p>
            <a:pPr>
              <a:lnSpc>
                <a:spcPts val="2000"/>
              </a:lnSpc>
              <a:spcBef>
                <a:spcPts val="0"/>
              </a:spcBef>
              <a:spcAft>
                <a:spcPts val="0"/>
              </a:spcAft>
              <a:defRPr sz="1600" b="0">
                <a:solidFill>
                  <a:srgbClr val="F4F6FA"/>
                </a:solidFill>
                <a:latin typeface="Arial"/>
              </a:defRPr>
            </a:pPr>
            <a:r>
              <a:t>paramétré ; erreurs structurées.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Public pour le catalogue ; réservé au personnel pour les informations d’import.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docs/block1/openapi.yaml ; docs/block1/api-security.md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DÉMONSTRATION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Suivre un résultat de bout en bout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Séquence proposée : 1 min 45, avec preuves hors ligne en secours.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1 / MANIFESTE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Afficher les compteurs :</a:t>
            </a:r>
          </a:p>
          <a:p>
            <a:pPr>
              <a:lnSpc>
                <a:spcPts val="2000"/>
              </a:lnSpc>
              <a:spcBef>
                <a:spcPts val="0"/>
              </a:spcBef>
              <a:spcAft>
                <a:spcPts val="0"/>
              </a:spcAft>
              <a:defRPr sz="1600" b="0">
                <a:solidFill>
                  <a:srgbClr val="F4F6FA"/>
                </a:solidFill>
                <a:latin typeface="Arial"/>
              </a:defRPr>
            </a:pPr>
            <a:r>
              <a:t>1 020 → 510</a:t>
            </a:r>
          </a:p>
          <a:p>
            <a:pPr>
              <a:lnSpc>
                <a:spcPts val="2000"/>
              </a:lnSpc>
              <a:spcBef>
                <a:spcPts val="0"/>
              </a:spcBef>
              <a:spcAft>
                <a:spcPts val="0"/>
              </a:spcAft>
              <a:defRPr sz="1600" b="0">
                <a:solidFill>
                  <a:srgbClr val="F4F6FA"/>
                </a:solidFill>
                <a:latin typeface="Arial"/>
              </a:defRPr>
            </a:pPr>
            <a:r>
              <a:t>5 conflits, 0 rejet.</a:t>
            </a:r>
          </a:p>
          <a:p>
            <a:pPr>
              <a:lnSpc>
                <a:spcPts val="2000"/>
              </a:lnSpc>
              <a:spcBef>
                <a:spcPts val="0"/>
              </a:spcBef>
              <a:spcAft>
                <a:spcPts val="0"/>
              </a:spcAft>
              <a:defRPr sz="1600" b="0">
                <a:solidFill>
                  <a:srgbClr val="F4F6FA"/>
                </a:solidFill>
                <a:latin typeface="Arial"/>
              </a:defRPr>
            </a:pPr>
            <a:r>
              <a:t>Ouvrir un objet nettoyé.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2 / PROVENANCE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Montrer le test de fusion.</a:t>
            </a:r>
          </a:p>
          <a:p>
            <a:pPr>
              <a:lnSpc>
                <a:spcPts val="2000"/>
              </a:lnSpc>
              <a:spcBef>
                <a:spcPts val="0"/>
              </a:spcBef>
              <a:spcAft>
                <a:spcPts val="0"/>
              </a:spcAft>
              <a:defRPr sz="1600" b="0">
                <a:solidFill>
                  <a:srgbClr val="F4F6FA"/>
                </a:solidFill>
                <a:latin typeface="Arial"/>
              </a:defRPr>
            </a:pPr>
            <a:r>
              <a:t>Puis Q2 : un monstre, ses sources</a:t>
            </a:r>
          </a:p>
          <a:p>
            <a:pPr>
              <a:lnSpc>
                <a:spcPts val="2000"/>
              </a:lnSpc>
              <a:spcBef>
                <a:spcPts val="0"/>
              </a:spcBef>
              <a:spcAft>
                <a:spcPts val="0"/>
              </a:spcAft>
              <a:defRPr sz="1600" b="0">
                <a:solidFill>
                  <a:srgbClr val="F4F6FA"/>
                </a:solidFill>
                <a:latin typeface="Arial"/>
              </a:defRPr>
            </a:pPr>
            <a:r>
              <a:t>et la source sélectionnée.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3 / API</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Ouvrir la collection filtrée.</a:t>
            </a:r>
          </a:p>
          <a:p>
            <a:pPr>
              <a:lnSpc>
                <a:spcPts val="2000"/>
              </a:lnSpc>
              <a:spcBef>
                <a:spcPts val="0"/>
              </a:spcBef>
              <a:spcAft>
                <a:spcPts val="0"/>
              </a:spcAft>
              <a:defRPr sz="1600" b="0">
                <a:solidFill>
                  <a:srgbClr val="F4F6FA"/>
                </a:solidFill>
                <a:latin typeface="Arial"/>
              </a:defRPr>
            </a:pPr>
            <a:r>
              <a:t>Afficher le détail d’un monstre.</a:t>
            </a:r>
          </a:p>
          <a:p>
            <a:pPr>
              <a:lnSpc>
                <a:spcPts val="2000"/>
              </a:lnSpc>
              <a:spcBef>
                <a:spcPts val="0"/>
              </a:spcBef>
              <a:spcAft>
                <a:spcPts val="0"/>
              </a:spcAft>
              <a:defRPr sz="1600" b="0">
                <a:solidFill>
                  <a:srgbClr val="F4F6FA"/>
                </a:solidFill>
                <a:latin typeface="Arial"/>
              </a:defRPr>
            </a:pPr>
            <a:r>
              <a:t>Relier les champs au contrat</a:t>
            </a:r>
          </a:p>
          <a:p>
            <a:pPr>
              <a:lnSpc>
                <a:spcPts val="2000"/>
              </a:lnSpc>
              <a:spcBef>
                <a:spcPts val="0"/>
              </a:spcBef>
              <a:spcAft>
                <a:spcPts val="0"/>
              </a:spcAft>
              <a:defRPr sz="1600" b="0">
                <a:solidFill>
                  <a:srgbClr val="F4F6FA"/>
                </a:solidFill>
                <a:latin typeface="Arial"/>
              </a:defRPr>
            </a:pPr>
            <a:r>
              <a:t>OpenAPI.</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Préparer la base et le serveur avant l’oral ; conserver le manifeste comme solution de secours.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Notes orales : commandes et prérequis ; preuves/ ; docs/block1/openapi.yaml</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BILAN · C1 À C5</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 socle concret, des écarts à traiter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La couverture technique doit rester distincte de la validation par le jury.</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DÉMONTRABLE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Pipeline sur fichiers, normalisation,</a:t>
            </a:r>
          </a:p>
          <a:p>
            <a:pPr>
              <a:lnSpc>
                <a:spcPts val="2000"/>
              </a:lnSpc>
              <a:spcBef>
                <a:spcPts val="0"/>
              </a:spcBef>
              <a:spcAft>
                <a:spcPts val="0"/>
              </a:spcAft>
              <a:defRPr sz="1600" b="0">
                <a:solidFill>
                  <a:srgbClr val="F4F6FA"/>
                </a:solidFill>
                <a:latin typeface="Arial"/>
              </a:defRPr>
            </a:pPr>
            <a:r>
              <a:t>fusion et persistance testées. SQL,</a:t>
            </a:r>
          </a:p>
          <a:p>
            <a:pPr>
              <a:lnSpc>
                <a:spcPts val="2000"/>
              </a:lnSpc>
              <a:spcBef>
                <a:spcPts val="0"/>
              </a:spcBef>
              <a:spcAft>
                <a:spcPts val="0"/>
              </a:spcAft>
              <a:defRPr sz="1600" b="0">
                <a:solidFill>
                  <a:srgbClr val="F4F6FA"/>
                </a:solidFill>
                <a:latin typeface="Arial"/>
              </a:defRPr>
            </a:pPr>
            <a:r>
              <a:t>modèles et contrat API présents.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ÉCARTS E1</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Aucune source big data.</a:t>
            </a:r>
          </a:p>
          <a:p>
            <a:pPr>
              <a:lnSpc>
                <a:spcPts val="2000"/>
              </a:lnSpc>
              <a:spcBef>
                <a:spcPts val="0"/>
              </a:spcBef>
              <a:spcAft>
                <a:spcPts val="0"/>
              </a:spcAft>
              <a:defRPr sz="1600" b="0">
                <a:solidFill>
                  <a:srgbClr val="F4F6FA"/>
                </a:solidFill>
                <a:latin typeface="Arial"/>
              </a:defRPr>
            </a:pPr>
            <a:r>
              <a:t>Pas de collecte depuis une API</a:t>
            </a:r>
          </a:p>
          <a:p>
            <a:pPr>
              <a:lnSpc>
                <a:spcPts val="2000"/>
              </a:lnSpc>
              <a:spcBef>
                <a:spcPts val="0"/>
              </a:spcBef>
              <a:spcAft>
                <a:spcPts val="0"/>
              </a:spcAft>
              <a:defRPr sz="1600" b="0">
                <a:solidFill>
                  <a:srgbClr val="F4F6FA"/>
                </a:solidFill>
                <a:latin typeface="Arial"/>
              </a:defRPr>
            </a:pPr>
            <a:r>
              <a:t>externe.</a:t>
            </a:r>
          </a:p>
          <a:p>
            <a:pPr>
              <a:lnSpc>
                <a:spcPts val="2000"/>
              </a:lnSpc>
              <a:spcBef>
                <a:spcPts val="0"/>
              </a:spcBef>
              <a:spcAft>
                <a:spcPts val="0"/>
              </a:spcAft>
              <a:defRPr sz="1600" b="0">
                <a:solidFill>
                  <a:srgbClr val="F4F6FA"/>
                </a:solidFill>
                <a:latin typeface="Arial"/>
              </a:defRPr>
            </a:pPr>
            <a:r>
              <a:t>Deux snapshots liés.</a:t>
            </a:r>
          </a:p>
          <a:p>
            <a:pPr>
              <a:lnSpc>
                <a:spcPts val="2000"/>
              </a:lnSpc>
              <a:spcBef>
                <a:spcPts val="0"/>
              </a:spcBef>
              <a:spcAft>
                <a:spcPts val="0"/>
              </a:spcAft>
              <a:defRPr sz="1600" b="0">
                <a:solidFill>
                  <a:srgbClr val="F4F6FA"/>
                </a:solidFill>
                <a:latin typeface="Arial"/>
              </a:defRPr>
            </a:pPr>
            <a:r>
              <a:t>Collecte web directe non</a:t>
            </a:r>
          </a:p>
          <a:p>
            <a:pPr>
              <a:lnSpc>
                <a:spcPts val="2000"/>
              </a:lnSpc>
              <a:spcBef>
                <a:spcPts val="0"/>
              </a:spcBef>
              <a:spcAft>
                <a:spcPts val="0"/>
              </a:spcAft>
              <a:defRPr sz="1600" b="0">
                <a:solidFill>
                  <a:srgbClr val="F4F6FA"/>
                </a:solidFill>
                <a:latin typeface="Arial"/>
              </a:defRPr>
            </a:pPr>
            <a:r>
              <a:t>démontrée.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AVANT L’ORAL</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Compléter budget et planning.</a:t>
            </a:r>
          </a:p>
          <a:p>
            <a:pPr>
              <a:lnSpc>
                <a:spcPts val="2000"/>
              </a:lnSpc>
              <a:spcBef>
                <a:spcPts val="0"/>
              </a:spcBef>
              <a:spcAft>
                <a:spcPts val="0"/>
              </a:spcAft>
              <a:defRPr sz="1600" b="0">
                <a:solidFill>
                  <a:srgbClr val="F4F6FA"/>
                </a:solidFill>
                <a:latin typeface="Arial"/>
              </a:defRPr>
            </a:pPr>
            <a:r>
              <a:t>Répéter API et restauration.</a:t>
            </a:r>
          </a:p>
          <a:p>
            <a:pPr>
              <a:lnSpc>
                <a:spcPts val="2000"/>
              </a:lnSpc>
              <a:spcBef>
                <a:spcPts val="0"/>
              </a:spcBef>
              <a:spcAft>
                <a:spcPts val="0"/>
              </a:spcAft>
              <a:defRPr sz="1600" b="0">
                <a:solidFill>
                  <a:srgbClr val="F4F6FA"/>
                </a:solidFill>
                <a:latin typeface="Arial"/>
              </a:defRPr>
            </a:pPr>
            <a:r>
              <a:t>Valider les choix de sources.</a:t>
            </a:r>
          </a:p>
          <a:p>
            <a:pPr>
              <a:lnSpc>
                <a:spcPts val="2000"/>
              </a:lnSpc>
              <a:spcBef>
                <a:spcPts val="0"/>
              </a:spcBef>
              <a:spcAft>
                <a:spcPts val="0"/>
              </a:spcAft>
              <a:defRPr sz="1600" b="0">
                <a:solidFill>
                  <a:srgbClr val="F4F6FA"/>
                </a:solidFill>
                <a:latin typeface="Arial"/>
              </a:defRPr>
            </a:pPr>
            <a:r>
              <a:t>Rapprocher chaque preuve du</a:t>
            </a:r>
          </a:p>
          <a:p>
            <a:pPr>
              <a:lnSpc>
                <a:spcPts val="2000"/>
              </a:lnSpc>
              <a:spcBef>
                <a:spcPts val="0"/>
              </a:spcBef>
              <a:spcAft>
                <a:spcPts val="0"/>
              </a:spcAft>
              <a:defRPr sz="1600" b="0">
                <a:solidFill>
                  <a:srgbClr val="F4F6FA"/>
                </a:solidFill>
                <a:latin typeface="Arial"/>
              </a:defRPr>
            </a:pPr>
            <a:r>
              <a:t>référentiel.</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résultat : un catalogue exploitable dont les transformations sont explicables.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Référentiel, C1–C5 ; docs/block1/ ; preuves/manifest.json (run horodaté)</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A · SQL</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Revenir à l’origine d’un monstre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Extrait exact de Q2, catalogue SQL du dépôt.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SÉLECTION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SELECT m.name, s.source,</a:t>
            </a:r>
          </a:p>
          <a:p>
            <a:pPr>
              <a:lnSpc>
                <a:spcPts val="2000"/>
              </a:lnSpc>
              <a:spcBef>
                <a:spcPts val="0"/>
              </a:spcBef>
              <a:spcAft>
                <a:spcPts val="0"/>
              </a:spcAft>
              <a:defRPr sz="1600" b="0">
                <a:solidFill>
                  <a:srgbClr val="F4F6FA"/>
                </a:solidFill>
                <a:latin typeface="Arial"/>
              </a:defRPr>
            </a:pPr>
            <a:r>
              <a:t>s.source_record_id, s.source_url,</a:t>
            </a:r>
          </a:p>
          <a:p>
            <a:pPr>
              <a:lnSpc>
                <a:spcPts val="2000"/>
              </a:lnSpc>
              <a:spcBef>
                <a:spcPts val="0"/>
              </a:spcBef>
              <a:spcAft>
                <a:spcPts val="0"/>
              </a:spcAft>
              <a:defRPr sz="1600" b="0">
                <a:solidFill>
                  <a:srgbClr val="F4F6FA"/>
                </a:solidFill>
                <a:latin typeface="Arial"/>
              </a:defRPr>
            </a:pPr>
            <a:r>
              <a:t>s.collected_at, s.selected,</a:t>
            </a:r>
          </a:p>
          <a:p>
            <a:pPr>
              <a:lnSpc>
                <a:spcPts val="2000"/>
              </a:lnSpc>
              <a:spcBef>
                <a:spcPts val="0"/>
              </a:spcBef>
              <a:spcAft>
                <a:spcPts val="0"/>
              </a:spcAft>
              <a:defRPr sz="1600" b="0">
                <a:solidFill>
                  <a:srgbClr val="F4F6FA"/>
                </a:solidFill>
                <a:latin typeface="Arial"/>
              </a:defRPr>
            </a:pPr>
            <a:r>
              <a:t>s.ingestion_run_id</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JOINTURE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FROM monsters AS m</a:t>
            </a:r>
          </a:p>
          <a:p>
            <a:pPr>
              <a:lnSpc>
                <a:spcPts val="2000"/>
              </a:lnSpc>
              <a:spcBef>
                <a:spcPts val="0"/>
              </a:spcBef>
              <a:spcAft>
                <a:spcPts val="0"/>
              </a:spcAft>
              <a:defRPr sz="1600" b="0">
                <a:solidFill>
                  <a:srgbClr val="F4F6FA"/>
                </a:solidFill>
                <a:latin typeface="Arial"/>
              </a:defRPr>
            </a:pPr>
            <a:r>
              <a:t>JOIN monster_sources AS s</a:t>
            </a:r>
          </a:p>
          <a:p>
            <a:pPr>
              <a:lnSpc>
                <a:spcPts val="2000"/>
              </a:lnSpc>
              <a:spcBef>
                <a:spcPts val="0"/>
              </a:spcBef>
              <a:spcAft>
                <a:spcPts val="0"/>
              </a:spcAft>
              <a:defRPr sz="1600" b="0">
                <a:solidFill>
                  <a:srgbClr val="F4F6FA"/>
                </a:solidFill>
                <a:latin typeface="Arial"/>
              </a:defRPr>
            </a:pPr>
            <a:r>
              <a:t>ON s.monster_id = m.id</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PARAMÈTRE ET TRI</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WHERE m.id = :monster_id</a:t>
            </a:r>
          </a:p>
          <a:p>
            <a:pPr>
              <a:lnSpc>
                <a:spcPts val="2000"/>
              </a:lnSpc>
              <a:spcBef>
                <a:spcPts val="0"/>
              </a:spcBef>
              <a:spcAft>
                <a:spcPts val="0"/>
              </a:spcAft>
              <a:defRPr sz="1600" b="0">
                <a:solidFill>
                  <a:srgbClr val="F4F6FA"/>
                </a:solidFill>
                <a:latin typeface="Arial"/>
              </a:defRPr>
            </a:pPr>
            <a:r>
              <a:t>ORDER BY s.selected DESC,</a:t>
            </a:r>
          </a:p>
          <a:p>
            <a:pPr>
              <a:lnSpc>
                <a:spcPts val="2000"/>
              </a:lnSpc>
              <a:spcBef>
                <a:spcPts val="0"/>
              </a:spcBef>
              <a:spcAft>
                <a:spcPts val="0"/>
              </a:spcAft>
              <a:defRPr sz="1600" b="0">
                <a:solidFill>
                  <a:srgbClr val="F4F6FA"/>
                </a:solidFill>
                <a:latin typeface="Arial"/>
              </a:defRPr>
            </a:pPr>
            <a:r>
              <a:t>s.source;</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ID lié comme paramètre SQL.</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résultat explique à la fois la provenance et la priorité de fusion.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db/sqlite/queries/monster_dataset.sql, Q2</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B · PREUVES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Où retrouver les éléments du dossier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chemins sont relatifs à la racine du dépôt.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C1 / C3</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src/data_pipeline/</a:t>
            </a:r>
          </a:p>
          <a:p>
            <a:pPr>
              <a:lnSpc>
                <a:spcPts val="2000"/>
              </a:lnSpc>
              <a:spcBef>
                <a:spcPts val="0"/>
              </a:spcBef>
              <a:spcAft>
                <a:spcPts val="0"/>
              </a:spcAft>
              <a:defRPr sz="1600" b="0">
                <a:solidFill>
                  <a:srgbClr val="F4F6FA"/>
                </a:solidFill>
                <a:latin typeface="Arial"/>
              </a:defRPr>
            </a:pPr>
            <a:r>
              <a:t>tests/test_data_pipeline.py</a:t>
            </a:r>
          </a:p>
          <a:p>
            <a:pPr>
              <a:lnSpc>
                <a:spcPts val="2000"/>
              </a:lnSpc>
              <a:spcBef>
                <a:spcPts val="0"/>
              </a:spcBef>
              <a:spcAft>
                <a:spcPts val="0"/>
              </a:spcAft>
              <a:defRPr sz="1600" b="0">
                <a:solidFill>
                  <a:srgbClr val="F4F6FA"/>
                </a:solidFill>
                <a:latin typeface="Arial"/>
              </a:defRPr>
            </a:pPr>
            <a:r>
              <a:t>docs/block1/data-pipeline.md</a:t>
            </a:r>
          </a:p>
          <a:p>
            <a:pPr>
              <a:lnSpc>
                <a:spcPts val="2000"/>
              </a:lnSpc>
              <a:spcBef>
                <a:spcPts val="0"/>
              </a:spcBef>
              <a:spcAft>
                <a:spcPts val="0"/>
              </a:spcAft>
              <a:defRPr sz="1600" b="0">
                <a:solidFill>
                  <a:srgbClr val="F4F6FA"/>
                </a:solidFill>
                <a:latin typeface="Arial"/>
              </a:defRPr>
            </a:pPr>
            <a:r>
              <a:t>preuves/&lt;run&gt;/manifest.json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C2 / C4</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db/sqlite/queries/</a:t>
            </a:r>
          </a:p>
          <a:p>
            <a:pPr>
              <a:lnSpc>
                <a:spcPts val="2000"/>
              </a:lnSpc>
              <a:spcBef>
                <a:spcPts val="0"/>
              </a:spcBef>
              <a:spcAft>
                <a:spcPts val="0"/>
              </a:spcAft>
              <a:defRPr sz="1600" b="0">
                <a:solidFill>
                  <a:srgbClr val="F4F6FA"/>
                </a:solidFill>
                <a:latin typeface="Arial"/>
              </a:defRPr>
            </a:pPr>
            <a:r>
              <a:t>docs/block1/data-models.md</a:t>
            </a:r>
          </a:p>
          <a:p>
            <a:pPr>
              <a:lnSpc>
                <a:spcPts val="2000"/>
              </a:lnSpc>
              <a:spcBef>
                <a:spcPts val="0"/>
              </a:spcBef>
              <a:spcAft>
                <a:spcPts val="0"/>
              </a:spcAft>
              <a:defRPr sz="1600" b="0">
                <a:solidFill>
                  <a:srgbClr val="F4F6FA"/>
                </a:solidFill>
                <a:latin typeface="Arial"/>
              </a:defRPr>
            </a:pPr>
            <a:r>
              <a:t>docs/block1/database-and-sql.md</a:t>
            </a:r>
          </a:p>
          <a:p>
            <a:pPr>
              <a:lnSpc>
                <a:spcPts val="2000"/>
              </a:lnSpc>
              <a:spcBef>
                <a:spcPts val="0"/>
              </a:spcBef>
              <a:spcAft>
                <a:spcPts val="0"/>
              </a:spcAft>
              <a:defRPr sz="1600" b="0">
                <a:solidFill>
                  <a:srgbClr val="F4F6FA"/>
                </a:solidFill>
                <a:latin typeface="Arial"/>
              </a:defRPr>
            </a:pPr>
            <a:r>
              <a:t>docs/block1/gdpr-register.md</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C5 / CADRAGE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docs/block1/openapi.yaml</a:t>
            </a:r>
          </a:p>
          <a:p>
            <a:pPr>
              <a:lnSpc>
                <a:spcPts val="2000"/>
              </a:lnSpc>
              <a:spcBef>
                <a:spcPts val="0"/>
              </a:spcBef>
              <a:spcAft>
                <a:spcPts val="0"/>
              </a:spcAft>
              <a:defRPr sz="1600" b="0">
                <a:solidFill>
                  <a:srgbClr val="F4F6FA"/>
                </a:solidFill>
                <a:latin typeface="Arial"/>
              </a:defRPr>
            </a:pPr>
            <a:r>
              <a:t>docs/block1/api-security.md</a:t>
            </a:r>
          </a:p>
          <a:p>
            <a:pPr>
              <a:lnSpc>
                <a:spcPts val="2000"/>
              </a:lnSpc>
              <a:spcBef>
                <a:spcPts val="0"/>
              </a:spcBef>
              <a:spcAft>
                <a:spcPts val="0"/>
              </a:spcAft>
              <a:defRPr sz="1600" b="0">
                <a:solidFill>
                  <a:srgbClr val="F4F6FA"/>
                </a:solidFill>
                <a:latin typeface="Arial"/>
              </a:defRPr>
            </a:pPr>
            <a:r>
              <a:t>certif/*Referentiel*.pdf</a:t>
            </a:r>
          </a:p>
          <a:p>
            <a:pPr>
              <a:lnSpc>
                <a:spcPts val="2000"/>
              </a:lnSpc>
              <a:spcBef>
                <a:spcPts val="0"/>
              </a:spcBef>
              <a:spcAft>
                <a:spcPts val="0"/>
              </a:spcAft>
              <a:defRPr sz="1600" b="0">
                <a:solidFill>
                  <a:srgbClr val="F4F6FA"/>
                </a:solidFill>
                <a:latin typeface="Arial"/>
              </a:defRPr>
            </a:pPr>
            <a:r>
              <a:t>certif/*Règlement*.pdf</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Preuves générées dans certif/presentation-e1/preuves/.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Dépôt local et documents de certification fournis</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C · QUESTIONS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Défendre les choix et leurs limites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Quatre questions probables du jury.</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POURQUOI CES SOURCES ?</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Elles répondent au besoin du jeu.</a:t>
            </a:r>
          </a:p>
          <a:p>
            <a:pPr>
              <a:lnSpc>
                <a:spcPts val="2000"/>
              </a:lnSpc>
              <a:spcBef>
                <a:spcPts val="0"/>
              </a:spcBef>
              <a:spcAft>
                <a:spcPts val="0"/>
              </a:spcAft>
              <a:defRPr sz="1600" b="0">
                <a:solidFill>
                  <a:srgbClr val="F4F6FA"/>
                </a:solidFill>
                <a:latin typeface="Arial"/>
              </a:defRPr>
            </a:pPr>
            <a:r>
              <a:t>Leur lien est déclaré ; les</a:t>
            </a:r>
          </a:p>
          <a:p>
            <a:pPr>
              <a:lnSpc>
                <a:spcPts val="2000"/>
              </a:lnSpc>
              <a:spcBef>
                <a:spcPts val="0"/>
              </a:spcBef>
              <a:spcAft>
                <a:spcPts val="0"/>
              </a:spcAft>
              <a:defRPr sz="1600" b="0">
                <a:solidFill>
                  <a:srgbClr val="F4F6FA"/>
                </a:solidFill>
                <a:latin typeface="Arial"/>
              </a:defRPr>
            </a:pPr>
            <a:r>
              <a:t>catégories de sources manquantes</a:t>
            </a:r>
          </a:p>
          <a:p>
            <a:pPr>
              <a:lnSpc>
                <a:spcPts val="2000"/>
              </a:lnSpc>
              <a:spcBef>
                <a:spcPts val="0"/>
              </a:spcBef>
              <a:spcAft>
                <a:spcPts val="0"/>
              </a:spcAft>
              <a:defRPr sz="1600" b="0">
                <a:solidFill>
                  <a:srgbClr val="F4F6FA"/>
                </a:solidFill>
                <a:latin typeface="Arial"/>
              </a:defRPr>
            </a:pPr>
            <a:r>
              <a:t>restent un écart.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POURQUOI SQLITE ?</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Volume modeste et démo locale.</a:t>
            </a:r>
          </a:p>
          <a:p>
            <a:pPr>
              <a:lnSpc>
                <a:spcPts val="2000"/>
              </a:lnSpc>
              <a:spcBef>
                <a:spcPts val="0"/>
              </a:spcBef>
              <a:spcAft>
                <a:spcPts val="0"/>
              </a:spcAft>
              <a:defRPr sz="1600" b="0">
                <a:solidFill>
                  <a:srgbClr val="F4F6FA"/>
                </a:solidFill>
                <a:latin typeface="Arial"/>
              </a:defRPr>
            </a:pPr>
            <a:r>
              <a:t>Plusieurs écrivains ou instances</a:t>
            </a:r>
          </a:p>
          <a:p>
            <a:pPr>
              <a:lnSpc>
                <a:spcPts val="2000"/>
              </a:lnSpc>
              <a:spcBef>
                <a:spcPts val="0"/>
              </a:spcBef>
              <a:spcAft>
                <a:spcPts val="0"/>
              </a:spcAft>
              <a:defRPr sz="1600" b="0">
                <a:solidFill>
                  <a:srgbClr val="F4F6FA"/>
                </a:solidFill>
                <a:latin typeface="Arial"/>
              </a:defRPr>
            </a:pPr>
            <a:r>
              <a:t>conduiraient à revoir le SGBD.</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ET LA QUALITÉ ?</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Règles déterministes, rejets</a:t>
            </a:r>
          </a:p>
          <a:p>
            <a:pPr>
              <a:lnSpc>
                <a:spcPts val="2000"/>
              </a:lnSpc>
              <a:spcBef>
                <a:spcPts val="0"/>
              </a:spcBef>
              <a:spcAft>
                <a:spcPts val="0"/>
              </a:spcAft>
              <a:defRPr sz="1600" b="0">
                <a:solidFill>
                  <a:srgbClr val="F4F6FA"/>
                </a:solidFill>
                <a:latin typeface="Arial"/>
              </a:defRPr>
            </a:pPr>
            <a:r>
              <a:t>conservés, provenance et tests.</a:t>
            </a:r>
          </a:p>
          <a:p>
            <a:pPr>
              <a:lnSpc>
                <a:spcPts val="2000"/>
              </a:lnSpc>
              <a:spcBef>
                <a:spcPts val="0"/>
              </a:spcBef>
              <a:spcAft>
                <a:spcPts val="0"/>
              </a:spcAft>
              <a:defRPr sz="1600" b="0">
                <a:solidFill>
                  <a:srgbClr val="F4F6FA"/>
                </a:solidFill>
                <a:latin typeface="Arial"/>
              </a:defRPr>
            </a:pPr>
            <a:r>
              <a:t>Aucun rejet sur un run ne signifie</a:t>
            </a:r>
          </a:p>
          <a:p>
            <a:pPr>
              <a:lnSpc>
                <a:spcPts val="2000"/>
              </a:lnSpc>
              <a:spcBef>
                <a:spcPts val="0"/>
              </a:spcBef>
              <a:spcAft>
                <a:spcPts val="0"/>
              </a:spcAft>
              <a:defRPr sz="1600" b="0">
                <a:solidFill>
                  <a:srgbClr val="F4F6FA"/>
                </a:solidFill>
                <a:latin typeface="Arial"/>
              </a:defRPr>
            </a:pPr>
            <a:r>
              <a:t>pas absence de défaut possible.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Pourquoi l’API est publique ? Elle expose un catalogue de référence ; les résumés d’import sont restreints.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docs/block1/ ; tests/test_data_pipeline.py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